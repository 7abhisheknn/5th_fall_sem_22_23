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notesMasterIdLst>
    <p:notesMasterId r:id="rId122"/>
  </p:notesMasterIdLst>
  <p:sldIdLst>
    <p:sldId id="256" r:id="rId5"/>
    <p:sldId id="355" r:id="rId6"/>
    <p:sldId id="356" r:id="rId7"/>
    <p:sldId id="285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0" r:id="rId31"/>
    <p:sldId id="381" r:id="rId32"/>
    <p:sldId id="382" r:id="rId33"/>
    <p:sldId id="383" r:id="rId34"/>
    <p:sldId id="384" r:id="rId35"/>
    <p:sldId id="385" r:id="rId36"/>
    <p:sldId id="386" r:id="rId37"/>
    <p:sldId id="387" r:id="rId38"/>
    <p:sldId id="388" r:id="rId39"/>
    <p:sldId id="389" r:id="rId40"/>
    <p:sldId id="390" r:id="rId41"/>
    <p:sldId id="391" r:id="rId42"/>
    <p:sldId id="392" r:id="rId43"/>
    <p:sldId id="393" r:id="rId44"/>
    <p:sldId id="394" r:id="rId45"/>
    <p:sldId id="395" r:id="rId46"/>
    <p:sldId id="396" r:id="rId47"/>
    <p:sldId id="397" r:id="rId48"/>
    <p:sldId id="398" r:id="rId49"/>
    <p:sldId id="399" r:id="rId50"/>
    <p:sldId id="400" r:id="rId51"/>
    <p:sldId id="401" r:id="rId52"/>
    <p:sldId id="404" r:id="rId53"/>
    <p:sldId id="405" r:id="rId54"/>
    <p:sldId id="406" r:id="rId55"/>
    <p:sldId id="407" r:id="rId56"/>
    <p:sldId id="408" r:id="rId57"/>
    <p:sldId id="409" r:id="rId58"/>
    <p:sldId id="410" r:id="rId59"/>
    <p:sldId id="411" r:id="rId60"/>
    <p:sldId id="412" r:id="rId61"/>
    <p:sldId id="413" r:id="rId62"/>
    <p:sldId id="414" r:id="rId63"/>
    <p:sldId id="415" r:id="rId64"/>
    <p:sldId id="416" r:id="rId65"/>
    <p:sldId id="417" r:id="rId66"/>
    <p:sldId id="418" r:id="rId67"/>
    <p:sldId id="419" r:id="rId68"/>
    <p:sldId id="420" r:id="rId69"/>
    <p:sldId id="421" r:id="rId70"/>
    <p:sldId id="422" r:id="rId71"/>
    <p:sldId id="423" r:id="rId72"/>
    <p:sldId id="468" r:id="rId73"/>
    <p:sldId id="424" r:id="rId74"/>
    <p:sldId id="472" r:id="rId75"/>
    <p:sldId id="471" r:id="rId76"/>
    <p:sldId id="473" r:id="rId77"/>
    <p:sldId id="425" r:id="rId78"/>
    <p:sldId id="469" r:id="rId79"/>
    <p:sldId id="470" r:id="rId80"/>
    <p:sldId id="426" r:id="rId81"/>
    <p:sldId id="427" r:id="rId82"/>
    <p:sldId id="428" r:id="rId83"/>
    <p:sldId id="429" r:id="rId84"/>
    <p:sldId id="430" r:id="rId85"/>
    <p:sldId id="431" r:id="rId86"/>
    <p:sldId id="432" r:id="rId87"/>
    <p:sldId id="433" r:id="rId88"/>
    <p:sldId id="434" r:id="rId89"/>
    <p:sldId id="436" r:id="rId90"/>
    <p:sldId id="437" r:id="rId91"/>
    <p:sldId id="438" r:id="rId92"/>
    <p:sldId id="439" r:id="rId93"/>
    <p:sldId id="440" r:id="rId94"/>
    <p:sldId id="441" r:id="rId95"/>
    <p:sldId id="442" r:id="rId96"/>
    <p:sldId id="443" r:id="rId97"/>
    <p:sldId id="444" r:id="rId98"/>
    <p:sldId id="445" r:id="rId99"/>
    <p:sldId id="446" r:id="rId100"/>
    <p:sldId id="447" r:id="rId101"/>
    <p:sldId id="448" r:id="rId102"/>
    <p:sldId id="449" r:id="rId103"/>
    <p:sldId id="450" r:id="rId104"/>
    <p:sldId id="451" r:id="rId105"/>
    <p:sldId id="452" r:id="rId106"/>
    <p:sldId id="453" r:id="rId107"/>
    <p:sldId id="454" r:id="rId108"/>
    <p:sldId id="455" r:id="rId109"/>
    <p:sldId id="456" r:id="rId110"/>
    <p:sldId id="457" r:id="rId111"/>
    <p:sldId id="458" r:id="rId112"/>
    <p:sldId id="459" r:id="rId113"/>
    <p:sldId id="460" r:id="rId114"/>
    <p:sldId id="461" r:id="rId115"/>
    <p:sldId id="462" r:id="rId116"/>
    <p:sldId id="463" r:id="rId117"/>
    <p:sldId id="464" r:id="rId118"/>
    <p:sldId id="465" r:id="rId119"/>
    <p:sldId id="466" r:id="rId120"/>
    <p:sldId id="467" r:id="rId1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7612" autoAdjust="0"/>
  </p:normalViewPr>
  <p:slideViewPr>
    <p:cSldViewPr>
      <p:cViewPr>
        <p:scale>
          <a:sx n="108" d="100"/>
          <a:sy n="108" d="100"/>
        </p:scale>
        <p:origin x="-300" y="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2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16" Type="http://schemas.openxmlformats.org/officeDocument/2006/relationships/slide" Target="slides/slide112.xml"/><Relationship Id="rId124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11" Type="http://schemas.openxmlformats.org/officeDocument/2006/relationships/slide" Target="slides/slide10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95501-73F2-41BA-85CC-22557878FAFE}" type="datetimeFigureOut">
              <a:rPr lang="en-IN" smtClean="0"/>
              <a:t>08-08-2022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130DD-32EB-4721-81EC-BC5717B4C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24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87468"/>
            <a:ext cx="7315200" cy="194626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74898"/>
            <a:ext cx="7315200" cy="858474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F12E-1E87-4B1A-A947-DBF022AF93C8}" type="datetime1">
              <a:rPr lang="en-US" smtClean="0"/>
              <a:t>8/8/2022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5638800" y="4781550"/>
            <a:ext cx="2246489" cy="225920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 dirty="0" smtClean="0"/>
              <a:t>Dr. B </a:t>
            </a:r>
            <a:r>
              <a:rPr lang="en-US" dirty="0" err="1" smtClean="0"/>
              <a:t>Sathis</a:t>
            </a:r>
            <a:r>
              <a:rPr lang="en-US" dirty="0" smtClean="0"/>
              <a:t> Kumar VIT Chennai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9B06-8CAF-47A1-98E8-D0DEFE91BD99}" type="datetime1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77000" y="4781550"/>
            <a:ext cx="2246489" cy="225920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 smtClean="0"/>
              <a:t>Dr. B Sathis Kumar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763179"/>
            <a:ext cx="7315200" cy="970194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898823"/>
            <a:ext cx="7315200" cy="82382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6C00-2141-4DE3-93A2-AE8DF0305A8C}" type="datetime1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 Sathis Kumar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25BD-EAB6-44E1-9559-FDE7E669CA7F}" type="datetime1">
              <a:rPr lang="en-US" smtClean="0"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 Sathis Kumar VIT Chennai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158537"/>
            <a:ext cx="7315200" cy="86557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057400"/>
            <a:ext cx="3566160" cy="269519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057401"/>
            <a:ext cx="3566160" cy="269676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057400"/>
            <a:ext cx="3364992" cy="466344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057400"/>
            <a:ext cx="3362062" cy="466344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CA8A-4212-4A2B-BA3D-8C8DCA382C7F}" type="datetime1">
              <a:rPr lang="en-US" smtClean="0"/>
              <a:t>8/8/2022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 Sathis Kumar VIT Chennai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158537"/>
            <a:ext cx="7315200" cy="86557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2537460"/>
            <a:ext cx="3566160" cy="221513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2537460"/>
            <a:ext cx="3566160" cy="221513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8C3A-91D1-4689-BE52-489814C7014B}" type="datetime1">
              <a:rPr lang="en-US" smtClean="0"/>
              <a:t>8/8/2022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 Sathis Kumar VIT Chennai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6FFA-DD3A-44CD-832C-54EEAFAF22B1}" type="datetime1">
              <a:rPr lang="en-US" smtClean="0"/>
              <a:t>8/8/2022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 Sathis Kumar VIT Chennai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69022"/>
            <a:ext cx="2950936" cy="1629761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370032"/>
            <a:ext cx="4207848" cy="3357461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045822"/>
            <a:ext cx="2950936" cy="16840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3FD9-D8FC-4057-8980-901DCF8D4B58}" type="datetime1">
              <a:rPr lang="en-US" smtClean="0"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 Sathis Kumar VIT Chennai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2953512" cy="1632204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1714500"/>
            <a:ext cx="4038600" cy="25146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044952"/>
            <a:ext cx="2953512" cy="16870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383D8-D646-43BE-8CB5-3BCA23A1F3B7}" type="datetime1">
              <a:rPr lang="en-US" smtClean="0"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 Sathis Kumar VIT Chennai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73A9F-3EAC-4347-B865-CDC9AD438DD1}" type="datetime1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 Sathis Kumar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1" y="1370032"/>
            <a:ext cx="1492499" cy="336334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370032"/>
            <a:ext cx="5241476" cy="336334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5727-0AAB-4D1A-BCCF-2C5F8D400B69}" type="datetime1">
              <a:rPr lang="en-US" smtClean="0"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 Sathis Kumar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430355"/>
            <a:ext cx="86236" cy="4292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430355"/>
            <a:ext cx="576072" cy="4292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158537"/>
            <a:ext cx="7315200" cy="8655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077375"/>
            <a:ext cx="7315200" cy="265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411597"/>
            <a:ext cx="1189132" cy="2234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9DF4238E-6F86-4843-8AD3-C5FD56701C9B}" type="datetime1">
              <a:rPr lang="en-US" smtClean="0"/>
              <a:t>8/8/2022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6" y="411598"/>
            <a:ext cx="941203" cy="226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9" y="641968"/>
            <a:ext cx="2246489" cy="225920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Dr. B Sathis Kumar VIT Chennai</a:t>
            </a:r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1.png"/><Relationship Id="rId4" Type="http://schemas.openxmlformats.org/officeDocument/2006/relationships/image" Target="../media/image24.png"/><Relationship Id="rId9" Type="http://schemas.openxmlformats.org/officeDocument/2006/relationships/image" Target="../media/image3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hyperlink" Target="http://www.cs.kent.edu/~wcheng/Graphics%20Processing%20Unit.ppt" TargetMode="External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jpg"/><Relationship Id="rId5" Type="http://schemas.openxmlformats.org/officeDocument/2006/relationships/image" Target="../media/image53.png"/><Relationship Id="rId10" Type="http://schemas.openxmlformats.org/officeDocument/2006/relationships/image" Target="../media/image58.jp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0" y="701681"/>
            <a:ext cx="4724400" cy="1946269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CSE4001 – Parallel and Distributed Computing</a:t>
            </a:r>
            <a:endParaRPr lang="en-IN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2876550"/>
            <a:ext cx="4724400" cy="1905000"/>
          </a:xfrm>
        </p:spPr>
        <p:txBody>
          <a:bodyPr>
            <a:normAutofit/>
          </a:bodyPr>
          <a:lstStyle/>
          <a:p>
            <a:r>
              <a:rPr lang="en-IN" b="1" dirty="0" smtClean="0"/>
              <a:t>Module 2:  </a:t>
            </a:r>
            <a:r>
              <a:rPr lang="en-IN" b="1" dirty="0"/>
              <a:t>Parallel Architectures</a:t>
            </a:r>
            <a:r>
              <a:rPr lang="en-IN" b="1" dirty="0" smtClean="0"/>
              <a:t> </a:t>
            </a:r>
            <a:r>
              <a:rPr lang="en-IN" dirty="0" smtClean="0"/>
              <a:t>- </a:t>
            </a:r>
            <a:r>
              <a:rPr lang="en-IN" dirty="0"/>
              <a:t>Introduction to </a:t>
            </a:r>
            <a:r>
              <a:rPr lang="en-IN" dirty="0" err="1" smtClean="0"/>
              <a:t>OpenMP</a:t>
            </a:r>
            <a:r>
              <a:rPr lang="en-IN" dirty="0" smtClean="0"/>
              <a:t> Programming</a:t>
            </a:r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6360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133350"/>
            <a:ext cx="4114800" cy="865573"/>
          </a:xfrm>
        </p:spPr>
        <p:txBody>
          <a:bodyPr/>
          <a:lstStyle/>
          <a:p>
            <a:r>
              <a:rPr lang="en-IN" dirty="0" smtClean="0"/>
              <a:t>Reference Books: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2057095"/>
            <a:ext cx="5334000" cy="2654645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Introduction to Parallel Computing, Second Edition by </a:t>
            </a:r>
            <a:r>
              <a:rPr lang="en-US" sz="1800" dirty="0" err="1"/>
              <a:t>Ananth</a:t>
            </a:r>
            <a:r>
              <a:rPr lang="en-US" sz="1800" dirty="0"/>
              <a:t> </a:t>
            </a:r>
            <a:r>
              <a:rPr lang="en-US" sz="1800" dirty="0" err="1"/>
              <a:t>Grama</a:t>
            </a:r>
            <a:r>
              <a:rPr lang="en-US" sz="1800" dirty="0"/>
              <a:t>, </a:t>
            </a:r>
            <a:r>
              <a:rPr lang="en-US" sz="1800" dirty="0" err="1"/>
              <a:t>Anshul</a:t>
            </a:r>
            <a:r>
              <a:rPr lang="en-US" sz="1800" dirty="0"/>
              <a:t> Gupta, George </a:t>
            </a:r>
            <a:r>
              <a:rPr lang="en-US" sz="1800" dirty="0" err="1"/>
              <a:t>Karypis</a:t>
            </a:r>
            <a:r>
              <a:rPr lang="en-US" sz="1800" dirty="0"/>
              <a:t>, </a:t>
            </a:r>
            <a:r>
              <a:rPr lang="en-US" sz="1800" dirty="0" err="1"/>
              <a:t>Vipin</a:t>
            </a:r>
            <a:r>
              <a:rPr lang="en-US" sz="1800" dirty="0"/>
              <a:t> </a:t>
            </a:r>
            <a:r>
              <a:rPr lang="en-US" sz="1800" dirty="0" smtClean="0"/>
              <a:t>Kumar.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Computer Architecture: A Quantitative Approach, Fifth Edition by John L. Hennessy, David A. </a:t>
            </a:r>
            <a:r>
              <a:rPr lang="en-US" sz="1800" dirty="0" smtClean="0"/>
              <a:t>Patterson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800" dirty="0" smtClean="0"/>
              <a:t>Computer Architecture &amp; Parallel Processing </a:t>
            </a:r>
            <a:r>
              <a:rPr lang="en-IN" sz="1800" dirty="0"/>
              <a:t>by </a:t>
            </a:r>
            <a:r>
              <a:rPr lang="en-IN" sz="1800" dirty="0" smtClean="0"/>
              <a:t>Kai </a:t>
            </a:r>
            <a:r>
              <a:rPr lang="en-IN" sz="1800" dirty="0"/>
              <a:t>Hwang &amp; Briggs</a:t>
            </a:r>
          </a:p>
        </p:txBody>
      </p:sp>
    </p:spTree>
    <p:extLst>
      <p:ext uri="{BB962C8B-B14F-4D97-AF65-F5344CB8AC3E}">
        <p14:creationId xmlns:p14="http://schemas.microsoft.com/office/powerpoint/2010/main" val="49602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5400" y="209550"/>
            <a:ext cx="3200400" cy="865573"/>
          </a:xfrm>
        </p:spPr>
        <p:txBody>
          <a:bodyPr/>
          <a:lstStyle/>
          <a:p>
            <a:r>
              <a:rPr lang="en-IN" dirty="0" smtClean="0"/>
              <a:t>Module 2: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0" y="1123950"/>
            <a:ext cx="4876800" cy="2654645"/>
          </a:xfrm>
        </p:spPr>
        <p:txBody>
          <a:bodyPr>
            <a:noAutofit/>
          </a:bodyPr>
          <a:lstStyle/>
          <a:p>
            <a:r>
              <a:rPr lang="en-US" sz="1800" dirty="0"/>
              <a:t>Introduction to </a:t>
            </a:r>
            <a:r>
              <a:rPr lang="en-US" sz="1800" dirty="0" err="1"/>
              <a:t>OpenMP</a:t>
            </a:r>
            <a:r>
              <a:rPr lang="en-US" sz="1800" dirty="0"/>
              <a:t> Programming - Instruction Level Support for Parallel </a:t>
            </a:r>
            <a:r>
              <a:rPr lang="en-US" sz="1800" dirty="0" smtClean="0"/>
              <a:t>Programming- </a:t>
            </a:r>
            <a:r>
              <a:rPr lang="en-US" sz="1800" dirty="0"/>
              <a:t>SIMD – </a:t>
            </a:r>
            <a:r>
              <a:rPr lang="en-US" sz="1800" dirty="0" smtClean="0"/>
              <a:t>Vector </a:t>
            </a:r>
            <a:r>
              <a:rPr lang="en-IN" sz="1800" dirty="0" smtClean="0"/>
              <a:t>Processing </a:t>
            </a:r>
            <a:r>
              <a:rPr lang="en-IN" sz="1800" dirty="0"/>
              <a:t>- GPUs</a:t>
            </a:r>
          </a:p>
        </p:txBody>
      </p:sp>
    </p:spTree>
    <p:extLst>
      <p:ext uri="{BB962C8B-B14F-4D97-AF65-F5344CB8AC3E}">
        <p14:creationId xmlns:p14="http://schemas.microsoft.com/office/powerpoint/2010/main" val="326758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0089" y="1657350"/>
            <a:ext cx="4343400" cy="11430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3200" dirty="0"/>
              <a:t>Instruction Level Support for Parallel Programming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63347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236075"/>
            <a:ext cx="4114800" cy="865573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Basic Five – Stage Pipeline</a:t>
            </a:r>
            <a:endParaRPr lang="en-IN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034742"/>
            <a:ext cx="4398677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5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86465"/>
            <a:ext cx="4114800" cy="865573"/>
          </a:xfrm>
        </p:spPr>
        <p:txBody>
          <a:bodyPr>
            <a:normAutofit/>
          </a:bodyPr>
          <a:lstStyle/>
          <a:p>
            <a:r>
              <a:rPr lang="en-IN" b="1" dirty="0" smtClean="0"/>
              <a:t>Pipeline Structure</a:t>
            </a: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240" y="1276350"/>
            <a:ext cx="5877519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37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86465"/>
            <a:ext cx="4114800" cy="865573"/>
          </a:xfrm>
        </p:spPr>
        <p:txBody>
          <a:bodyPr>
            <a:normAutofit/>
          </a:bodyPr>
          <a:lstStyle/>
          <a:p>
            <a:r>
              <a:rPr lang="en-IN" b="1" dirty="0" smtClean="0"/>
              <a:t>Pipeline Hazards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114800" y="1276350"/>
            <a:ext cx="5029200" cy="2654645"/>
          </a:xfrm>
        </p:spPr>
        <p:txBody>
          <a:bodyPr>
            <a:noAutofit/>
          </a:bodyPr>
          <a:lstStyle/>
          <a:p>
            <a:r>
              <a:rPr lang="en-US" sz="1800" dirty="0"/>
              <a:t>Structural Hazards</a:t>
            </a:r>
          </a:p>
          <a:p>
            <a:endParaRPr lang="en-US" sz="1800" dirty="0"/>
          </a:p>
          <a:p>
            <a:r>
              <a:rPr lang="en-US" sz="1800" dirty="0"/>
              <a:t>Data Hazards</a:t>
            </a:r>
          </a:p>
          <a:p>
            <a:endParaRPr lang="en-US" sz="1800" dirty="0"/>
          </a:p>
          <a:p>
            <a:r>
              <a:rPr lang="en-US" sz="1800" dirty="0"/>
              <a:t>Control Hazards</a:t>
            </a:r>
          </a:p>
        </p:txBody>
      </p:sp>
    </p:spTree>
    <p:extLst>
      <p:ext uri="{BB962C8B-B14F-4D97-AF65-F5344CB8AC3E}">
        <p14:creationId xmlns:p14="http://schemas.microsoft.com/office/powerpoint/2010/main" val="204428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86465"/>
            <a:ext cx="4114800" cy="865573"/>
          </a:xfrm>
        </p:spPr>
        <p:txBody>
          <a:bodyPr>
            <a:normAutofit/>
          </a:bodyPr>
          <a:lstStyle/>
          <a:p>
            <a:r>
              <a:rPr lang="en-IN" b="1" dirty="0" smtClean="0"/>
              <a:t>Structural Hazards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114800" y="1276350"/>
            <a:ext cx="5029200" cy="2654645"/>
          </a:xfrm>
        </p:spPr>
        <p:txBody>
          <a:bodyPr>
            <a:noAutofit/>
          </a:bodyPr>
          <a:lstStyle/>
          <a:p>
            <a:pPr fontAlgn="base"/>
            <a:r>
              <a:rPr lang="en-US" i="1" dirty="0"/>
              <a:t>Structural hazards:</a:t>
            </a:r>
            <a:endParaRPr lang="en-US" dirty="0"/>
          </a:p>
          <a:p>
            <a:pPr lvl="1" fontAlgn="base"/>
            <a:r>
              <a:rPr lang="en-US" i="1" dirty="0" smtClean="0"/>
              <a:t>Structural </a:t>
            </a:r>
            <a:r>
              <a:rPr lang="en-US" i="1" dirty="0"/>
              <a:t>hazards are those that occur because of resource</a:t>
            </a:r>
            <a:r>
              <a:rPr lang="en-US" dirty="0"/>
              <a:t> </a:t>
            </a:r>
            <a:r>
              <a:rPr lang="en-US" i="1" dirty="0"/>
              <a:t>conflicts.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183" y="2409279"/>
            <a:ext cx="5932817" cy="1946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537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86465"/>
            <a:ext cx="4114800" cy="865573"/>
          </a:xfrm>
        </p:spPr>
        <p:txBody>
          <a:bodyPr>
            <a:normAutofit/>
          </a:bodyPr>
          <a:lstStyle/>
          <a:p>
            <a:r>
              <a:rPr lang="en-IN" b="1" dirty="0" smtClean="0"/>
              <a:t>Data Hazards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114800" y="1276350"/>
            <a:ext cx="5029200" cy="265464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/>
              <a:t>DADD R1,R2,R3 </a:t>
            </a:r>
            <a:r>
              <a:rPr lang="en-US" sz="1400" dirty="0">
                <a:sym typeface="Wingdings" pitchFamily="2" charset="2"/>
              </a:rPr>
              <a:t>(D in the front means double, add double data)</a:t>
            </a:r>
            <a:endParaRPr lang="en-US" sz="1400" dirty="0"/>
          </a:p>
          <a:p>
            <a:pPr>
              <a:buNone/>
            </a:pPr>
            <a:r>
              <a:rPr lang="en-US" dirty="0"/>
              <a:t>DSUB R4,R1,R5</a:t>
            </a:r>
          </a:p>
          <a:p>
            <a:pPr>
              <a:buNone/>
            </a:pPr>
            <a:r>
              <a:rPr lang="en-US" dirty="0"/>
              <a:t>AND   R6,R1,R7</a:t>
            </a:r>
          </a:p>
          <a:p>
            <a:pPr>
              <a:buNone/>
            </a:pPr>
            <a:r>
              <a:rPr lang="en-US" dirty="0"/>
              <a:t>OR      R8,R1,R9</a:t>
            </a:r>
          </a:p>
          <a:p>
            <a:pPr>
              <a:buNone/>
            </a:pPr>
            <a:r>
              <a:rPr lang="en-US" dirty="0"/>
              <a:t>XOR   R10,R1,R11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Dependency on data that stalls the pipeline execution is called data hazard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865008"/>
            <a:ext cx="13681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Output of R1 needed for Executing Sub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299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86465"/>
            <a:ext cx="4114800" cy="865573"/>
          </a:xfrm>
        </p:spPr>
        <p:txBody>
          <a:bodyPr>
            <a:normAutofit/>
          </a:bodyPr>
          <a:lstStyle/>
          <a:p>
            <a:r>
              <a:rPr lang="en-IN" b="1" dirty="0" smtClean="0"/>
              <a:t>Data Hazards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48362" y="895350"/>
            <a:ext cx="5029200" cy="2654645"/>
          </a:xfrm>
        </p:spPr>
        <p:txBody>
          <a:bodyPr>
            <a:noAutofit/>
          </a:bodyPr>
          <a:lstStyle/>
          <a:p>
            <a:r>
              <a:rPr lang="en-US" dirty="0"/>
              <a:t>R1 in DADD(Write) and DSUB (Read) and </a:t>
            </a:r>
            <a:r>
              <a:rPr lang="en-US" dirty="0" err="1"/>
              <a:t>AND</a:t>
            </a:r>
            <a:r>
              <a:rPr lang="en-US" dirty="0"/>
              <a:t> (Read), OR(Read), XOR(Read)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481" y="1595375"/>
            <a:ext cx="4775081" cy="31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31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86465"/>
            <a:ext cx="4114800" cy="865573"/>
          </a:xfrm>
        </p:spPr>
        <p:txBody>
          <a:bodyPr>
            <a:normAutofit/>
          </a:bodyPr>
          <a:lstStyle/>
          <a:p>
            <a:r>
              <a:rPr lang="en-IN" b="1" dirty="0" smtClean="0"/>
              <a:t>Control Hazards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114800" y="1276350"/>
            <a:ext cx="5029200" cy="2654645"/>
          </a:xfrm>
        </p:spPr>
        <p:txBody>
          <a:bodyPr>
            <a:noAutofit/>
          </a:bodyPr>
          <a:lstStyle/>
          <a:p>
            <a:r>
              <a:rPr lang="en-US" dirty="0"/>
              <a:t>Instructions that disrupt the sequential flow of control present problems for pipelines.</a:t>
            </a:r>
          </a:p>
          <a:p>
            <a:r>
              <a:rPr lang="en-US" dirty="0"/>
              <a:t>Unconditional branches.</a:t>
            </a:r>
          </a:p>
          <a:p>
            <a:r>
              <a:rPr lang="en-US" dirty="0"/>
              <a:t>Conditional branches.</a:t>
            </a:r>
          </a:p>
          <a:p>
            <a:r>
              <a:rPr lang="en-US" dirty="0"/>
              <a:t>Indirect branches.</a:t>
            </a:r>
          </a:p>
          <a:p>
            <a:r>
              <a:rPr lang="en-US" dirty="0"/>
              <a:t>Procedure calls.</a:t>
            </a:r>
          </a:p>
          <a:p>
            <a:r>
              <a:rPr lang="en-US" dirty="0"/>
              <a:t>Procedure returns.</a:t>
            </a:r>
          </a:p>
        </p:txBody>
      </p:sp>
    </p:spTree>
    <p:extLst>
      <p:ext uri="{BB962C8B-B14F-4D97-AF65-F5344CB8AC3E}">
        <p14:creationId xmlns:p14="http://schemas.microsoft.com/office/powerpoint/2010/main" val="241307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00400" y="133350"/>
            <a:ext cx="7315200" cy="865573"/>
          </a:xfrm>
        </p:spPr>
        <p:txBody>
          <a:bodyPr/>
          <a:lstStyle/>
          <a:p>
            <a:pPr eaLnBrk="1" hangingPunct="1"/>
            <a:r>
              <a:rPr lang="en-US" b="1" dirty="0" smtClean="0"/>
              <a:t>Performance 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3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810000" y="1200150"/>
                <a:ext cx="5181600" cy="3810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Amdahl's Law and parallel efficiency</a:t>
                </a:r>
              </a:p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Speedup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of one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enhancement is given by:</a:t>
                </a:r>
              </a:p>
              <a:p>
                <a:pPr marL="32004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775" i="1"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2775" i="1">
                              <a:latin typeface="Cambria Math"/>
                              <a:cs typeface="Times New Roman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775" i="1">
                              <a:latin typeface="Cambria Math"/>
                              <a:cs typeface="Times New Roman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en-US" sz="2775" i="1">
                                  <a:latin typeface="Cambria Math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775" i="1">
                                  <a:latin typeface="Cambria Math"/>
                                  <a:cs typeface="Times New Roman" pitchFamily="18" charset="0"/>
                                </a:rPr>
                                <m:t>1−</m:t>
                              </m:r>
                              <m:r>
                                <a:rPr lang="en-US" sz="2775" i="1">
                                  <a:latin typeface="Cambria Math"/>
                                  <a:cs typeface="Times New Roman" pitchFamily="18" charset="0"/>
                                </a:rPr>
                                <m:t>𝐹</m:t>
                              </m:r>
                            </m:e>
                          </m:d>
                          <m:r>
                            <a:rPr lang="en-US" sz="2775" i="1">
                              <a:latin typeface="Cambria Math"/>
                              <a:cs typeface="Times New Roman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775" i="1">
                                  <a:latin typeface="Cambria Math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775" i="1">
                                      <a:latin typeface="Cambria Math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775" i="1">
                                      <a:latin typeface="Cambria Math"/>
                                      <a:cs typeface="Times New Roman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sz="2775" i="1">
                                      <a:latin typeface="Cambria Math"/>
                                      <a:cs typeface="Times New Roman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  <m:r>
                            <a:rPr lang="en-US" sz="2775" i="1">
                              <a:latin typeface="Cambria Math"/>
                              <a:cs typeface="Times New Roman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775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2"/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F = fraction of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instruction that are parallelized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2"/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= No of Processors</a:t>
                </a:r>
              </a:p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Efficiency is given by:</a:t>
                </a:r>
              </a:p>
              <a:p>
                <a:pPr marL="502920" lvl="2" indent="0">
                  <a:buNone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	E = S/N</a:t>
                </a:r>
              </a:p>
              <a:p>
                <a:pPr lvl="2" indent="0">
                  <a:buNone/>
                </a:pP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/>
                <a:endParaRPr lang="en-US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 eaLnBrk="1" hangingPunct="1"/>
                <a:endParaRPr lang="en-US" sz="15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 eaLnBrk="1" hangingPunct="1"/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 eaLnBrk="1" hangingPunct="1"/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/>
                <a:endParaRPr lang="en-US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 eaLnBrk="1" hangingPunct="1">
                  <a:buFont typeface="Wingdings" pitchFamily="2" charset="2"/>
                  <a:buNone/>
                </a:pPr>
                <a:endParaRPr lang="en-US" sz="15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2" eaLnBrk="1" hangingPunct="1">
                  <a:buFont typeface="Wingdings" pitchFamily="2" charset="2"/>
                  <a:buNone/>
                </a:pPr>
                <a:endParaRPr lang="en-US" baseline="-25000" dirty="0" smtClean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40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0" y="1200150"/>
                <a:ext cx="5181600" cy="3810000"/>
              </a:xfrm>
              <a:blipFill rotWithShape="0">
                <a:blip r:embed="rId2"/>
                <a:stretch>
                  <a:fillRect l="-1176" t="-9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4940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209550"/>
            <a:ext cx="4572000" cy="865573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Processor Performance Equation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1200150"/>
            <a:ext cx="5257800" cy="342900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CPU time = CPU clock cycles for a program × Clock cycle </a:t>
            </a:r>
            <a:r>
              <a:rPr lang="en-IN" dirty="0" smtClean="0"/>
              <a:t>time</a:t>
            </a:r>
          </a:p>
          <a:p>
            <a:endParaRPr lang="en-IN" dirty="0"/>
          </a:p>
          <a:p>
            <a:r>
              <a:rPr lang="en-IN" dirty="0"/>
              <a:t>CPU time =CPU clock cycles for a </a:t>
            </a:r>
            <a:r>
              <a:rPr lang="en-IN" dirty="0" smtClean="0"/>
              <a:t>program/Clock rate</a:t>
            </a:r>
          </a:p>
          <a:p>
            <a:endParaRPr lang="en-IN" dirty="0"/>
          </a:p>
          <a:p>
            <a:r>
              <a:rPr lang="en-IN" dirty="0" smtClean="0"/>
              <a:t>CPI = </a:t>
            </a:r>
            <a:r>
              <a:rPr lang="en-IN" dirty="0"/>
              <a:t>CPU clock cycles for a </a:t>
            </a:r>
            <a:r>
              <a:rPr lang="en-IN" dirty="0" smtClean="0"/>
              <a:t>program/ </a:t>
            </a:r>
            <a:r>
              <a:rPr lang="en-IN" dirty="0"/>
              <a:t>Instruction </a:t>
            </a:r>
            <a:r>
              <a:rPr lang="en-IN" dirty="0" smtClean="0"/>
              <a:t>count</a:t>
            </a:r>
          </a:p>
          <a:p>
            <a:endParaRPr lang="en-IN" dirty="0"/>
          </a:p>
          <a:p>
            <a:r>
              <a:rPr lang="en-IN" dirty="0"/>
              <a:t>CPU time = Instruction count × Cycles per instruction × Clock cycle time</a:t>
            </a:r>
          </a:p>
        </p:txBody>
      </p:sp>
    </p:spTree>
    <p:extLst>
      <p:ext uri="{BB962C8B-B14F-4D97-AF65-F5344CB8AC3E}">
        <p14:creationId xmlns:p14="http://schemas.microsoft.com/office/powerpoint/2010/main" val="89744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733800" y="29272"/>
            <a:ext cx="6096000" cy="865573"/>
          </a:xfrm>
        </p:spPr>
        <p:txBody>
          <a:bodyPr/>
          <a:lstStyle/>
          <a:p>
            <a:pPr eaLnBrk="1" hangingPunct="1"/>
            <a:r>
              <a:rPr lang="en-US" sz="3000" b="1" dirty="0" smtClean="0"/>
              <a:t>Instruction </a:t>
            </a:r>
            <a:r>
              <a:rPr lang="en-US" sz="3000" b="1" dirty="0"/>
              <a:t>Level </a:t>
            </a:r>
            <a:r>
              <a:rPr lang="en-US" sz="3000" b="1" dirty="0" smtClean="0"/>
              <a:t>Parallelism</a:t>
            </a:r>
            <a:endParaRPr lang="en-US" sz="3000" b="1" dirty="0"/>
          </a:p>
        </p:txBody>
      </p:sp>
      <p:pic>
        <p:nvPicPr>
          <p:cNvPr id="4813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81400" y="1123950"/>
            <a:ext cx="5487749" cy="2895600"/>
          </a:xfrm>
        </p:spPr>
      </p:pic>
    </p:spTree>
    <p:extLst>
      <p:ext uri="{BB962C8B-B14F-4D97-AF65-F5344CB8AC3E}">
        <p14:creationId xmlns:p14="http://schemas.microsoft.com/office/powerpoint/2010/main" val="9546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733800" y="29272"/>
            <a:ext cx="6096000" cy="865573"/>
          </a:xfrm>
        </p:spPr>
        <p:txBody>
          <a:bodyPr/>
          <a:lstStyle/>
          <a:p>
            <a:pPr eaLnBrk="1" hangingPunct="1"/>
            <a:r>
              <a:rPr lang="en-US" sz="3000" b="1" dirty="0" smtClean="0"/>
              <a:t>Instruction </a:t>
            </a:r>
            <a:r>
              <a:rPr lang="en-US" sz="3000" b="1" dirty="0"/>
              <a:t>Level </a:t>
            </a:r>
            <a:r>
              <a:rPr lang="en-US" sz="3000" b="1" dirty="0" smtClean="0"/>
              <a:t>Parallelism</a:t>
            </a:r>
            <a:endParaRPr lang="en-US" sz="30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3800" y="971550"/>
            <a:ext cx="5334000" cy="40386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ILP is a measure of the number of instructions that can be performed during a single clock cycle.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Parallel instructions are a set of instructions that do not depend on each other to be executed.</a:t>
            </a:r>
          </a:p>
          <a:p>
            <a:pPr lvl="2" algn="just">
              <a:buClr>
                <a:schemeClr val="hlink"/>
              </a:buClr>
              <a:buSzPct val="80000"/>
              <a:buFont typeface="Arial" charset="0"/>
              <a:buChar char="►"/>
            </a:pP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Hierarchy</a:t>
            </a:r>
          </a:p>
          <a:p>
            <a:pPr lvl="3" algn="just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Bit level Parallelism </a:t>
            </a:r>
          </a:p>
          <a:p>
            <a:pPr lvl="4" algn="just">
              <a:buClr>
                <a:schemeClr val="hlink"/>
              </a:buClr>
              <a:buSzPct val="80000"/>
              <a:buFont typeface="Arial" charset="0"/>
              <a:buChar char="►"/>
            </a:pP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16 bit add on 8 bit processor</a:t>
            </a:r>
          </a:p>
          <a:p>
            <a:pPr lvl="3" algn="just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Instruction level Parallelism </a:t>
            </a:r>
          </a:p>
          <a:p>
            <a:pPr lvl="3" algn="just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Loop level Parallelism </a:t>
            </a:r>
          </a:p>
          <a:p>
            <a:pPr lvl="4" algn="just">
              <a:buClr>
                <a:schemeClr val="hlink"/>
              </a:buClr>
              <a:buSzPct val="80000"/>
              <a:buFont typeface="Arial" charset="0"/>
              <a:buChar char="►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for 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=1;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&lt;=1000;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= i+1)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  x[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] = x[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] + y[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pPr lvl="3" algn="just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Thread level Parallelism (SMT, multi-core computers)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49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09550"/>
            <a:ext cx="4724400" cy="86557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Making Computers Think Parallel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0" y="1276350"/>
            <a:ext cx="4495800" cy="2654645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Human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Write code yourself, directly controlling each processor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Compiler 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Let the compiler convert your sequential code into parallel instructions.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Hardware</a:t>
            </a:r>
          </a:p>
          <a:p>
            <a:pPr lvl="1"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charset="0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13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400" y="133350"/>
            <a:ext cx="4572000" cy="865573"/>
          </a:xfrm>
        </p:spPr>
        <p:txBody>
          <a:bodyPr/>
          <a:lstStyle/>
          <a:p>
            <a:r>
              <a:rPr lang="en-US" b="1" dirty="0" smtClean="0"/>
              <a:t>Two basic approach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6659" y="1200150"/>
            <a:ext cx="4419600" cy="2654645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on hardware to discover and exploit parallelism dynamically, and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on software to restructure programs to statically facilitate parallelism. </a:t>
            </a:r>
          </a:p>
        </p:txBody>
      </p:sp>
    </p:spTree>
    <p:extLst>
      <p:ext uri="{BB962C8B-B14F-4D97-AF65-F5344CB8AC3E}">
        <p14:creationId xmlns:p14="http://schemas.microsoft.com/office/powerpoint/2010/main" val="328337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209550"/>
            <a:ext cx="5181600" cy="865573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Program Challenges and Opportunities to ILP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346" y="1075123"/>
            <a:ext cx="7315200" cy="2654645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Basic 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Block: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straight-line code sequence with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single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entry point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single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exit point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Remember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the average branch frequency is 15%–25%;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thus there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only 3–6 instructions on average between a pair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branches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Loop level parallelism: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opportunity to use multiple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iterations of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loop to expose additional parallelism. Example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techniques –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exploit loop level parallelism: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vectorization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data parallel,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loop unrolling.</a:t>
            </a:r>
          </a:p>
        </p:txBody>
      </p:sp>
    </p:spTree>
    <p:extLst>
      <p:ext uri="{BB962C8B-B14F-4D97-AF65-F5344CB8AC3E}">
        <p14:creationId xmlns:p14="http://schemas.microsoft.com/office/powerpoint/2010/main" val="325116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590550"/>
            <a:ext cx="5486400" cy="86557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Dependencies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Hazards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0" y="1023336"/>
            <a:ext cx="4648200" cy="372144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types of dependencies:</a:t>
            </a:r>
          </a:p>
          <a:p>
            <a:pPr algn="just"/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dependencies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(or true data dependencies),</a:t>
            </a:r>
          </a:p>
          <a:p>
            <a:pPr algn="just"/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name dependencies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algn="just"/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control 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dependencies.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Dependencies are artifacts of programs; hazards 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artifacts of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pipeline organization.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all dependencies become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hazards 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pipeline.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is, dependencies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turn into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hazards within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pipeline depending on the architecture of the pipeline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20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133350"/>
            <a:ext cx="7315200" cy="865573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0" y="1276350"/>
            <a:ext cx="5638800" cy="26546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Data Dependencies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An 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data dependent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on 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if: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produces a result that may be used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 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or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data dependent on 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data dependent on 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285750"/>
            <a:ext cx="6324600" cy="86557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Name Dependencies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not true dependencies)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1303723"/>
            <a:ext cx="5181600" cy="3706427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Occurring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when two instructions use the same register 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memory location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but there is no flow in data between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instructions associated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with that name.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2 types of name dependencies between an instruction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precedes 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the execution order: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antidependence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when 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writes a register 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memory location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that 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reads.</a:t>
            </a:r>
          </a:p>
          <a:p>
            <a:pPr lvl="1" algn="just"/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output 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dependence: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when 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instruction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write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same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register or memory location.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Because these are not true dependencies, the instructions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could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potentially be executed in parallel if these dependencies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are some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how removed (by using distinct register or memory locations).</a:t>
            </a: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13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0" y="590550"/>
            <a:ext cx="7315200" cy="86557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Hazards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0" y="1036116"/>
            <a:ext cx="5715000" cy="265464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hazard exists whenever there is a name or data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dependence between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two instructions and they are close enough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their overlapped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execution would violate the program’s order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dependency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Possible data hazards: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RAW (read after write)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WAW (write after write)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WAR (write after read)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RAR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(read after read) is not a hazard.</a:t>
            </a: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78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200" y="133350"/>
            <a:ext cx="4876800" cy="86557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Control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0" y="1200150"/>
            <a:ext cx="4876800" cy="3531870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Dependency of instructions to the sequential flow of execution and preserves branch (or any flow altering operation) behavior of the program.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general, two constraints are imposed by control dependencies:</a:t>
            </a:r>
          </a:p>
          <a:p>
            <a:pPr lvl="1" algn="just"/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An instruction that is control dependent on a branch cannot be moved before the branch so that its execution is no longer controlled by the branch.</a:t>
            </a:r>
          </a:p>
          <a:p>
            <a:pPr lvl="1" algn="just"/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An instruction that is not control dependent on a branch cannot be moved after the branch so that the execution is controlled by the branch.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65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832816"/>
            <a:ext cx="4381500" cy="865573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Compiler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Techniques for Exposing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ILP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5400" y="1262513"/>
            <a:ext cx="6172200" cy="3394472"/>
          </a:xfrm>
        </p:spPr>
        <p:txBody>
          <a:bodyPr>
            <a:noAutofit/>
          </a:bodyPr>
          <a:lstStyle/>
          <a:p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loop unrolling</a:t>
            </a:r>
          </a:p>
          <a:p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instruction scheduling</a:t>
            </a:r>
          </a:p>
          <a:p>
            <a:pPr marL="0" indent="0">
              <a:buNone/>
            </a:pPr>
            <a:endParaRPr lang="en-US" sz="225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22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285750"/>
            <a:ext cx="4572000" cy="86557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Advanced Branch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0" y="1276350"/>
            <a:ext cx="5707566" cy="3394472"/>
          </a:xfrm>
        </p:spPr>
        <p:txBody>
          <a:bodyPr>
            <a:noAutofit/>
          </a:bodyPr>
          <a:lstStyle/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Correlating branch predictors (or two-level predictors): 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make use of outcome of most recent branches to make prediction.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Tournament predictors: run multiple predictors and run a tournament between them; use the most successful.</a:t>
            </a:r>
          </a:p>
          <a:p>
            <a:pPr marL="0" indent="0" algn="just">
              <a:buNone/>
            </a:pPr>
            <a:endParaRPr lang="en-US" sz="225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81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400" y="18121"/>
            <a:ext cx="4495800" cy="865573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Dynamic Scheduling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6600" y="1200150"/>
            <a:ext cx="5854390" cy="3394472"/>
          </a:xfrm>
        </p:spPr>
        <p:txBody>
          <a:bodyPr>
            <a:noAutofit/>
          </a:bodyPr>
          <a:lstStyle/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Designing the hardware so that it can dynamically rearrange instruction execution to reduce stalls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while maintaining data flow and exception behavior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Two techniques: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Scoreboarding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 centralized scoreboard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Tomasulo’s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Algorithm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distributed reservation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stations</a:t>
            </a:r>
          </a:p>
          <a:p>
            <a:pPr marL="0" indent="0" algn="just">
              <a:buNone/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96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6179" y="894381"/>
            <a:ext cx="5200650" cy="3394472"/>
          </a:xfrm>
        </p:spPr>
        <p:txBody>
          <a:bodyPr>
            <a:noAutofit/>
          </a:bodyPr>
          <a:lstStyle/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Instructions are issued to the pipeline in-order but executed and completed out-of-order.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out-of-order execution leading to the possibility of out-of-order completion.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out-of-order execution introduces the possibility of WAR and WAW hazards which do not occur in statically scheduled pipelines.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out-of-order completion creates major complications in exception handling</a:t>
            </a:r>
            <a:endParaRPr lang="en-US" sz="22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62400" y="18121"/>
            <a:ext cx="4495800" cy="86557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smtClean="0">
                <a:latin typeface="Times New Roman" pitchFamily="18" charset="0"/>
                <a:cs typeface="Times New Roman" pitchFamily="18" charset="0"/>
              </a:rPr>
              <a:t>Dynamic Scheduling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34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0" y="666750"/>
            <a:ext cx="7315200" cy="86557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Limits of ILP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1047750"/>
            <a:ext cx="6172200" cy="368427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Consider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ideal processor:</a:t>
            </a:r>
          </a:p>
          <a:p>
            <a:pPr marL="300038" lvl="1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1. Infinite number of registers for register renaming.</a:t>
            </a:r>
          </a:p>
          <a:p>
            <a:pPr marL="300038" lvl="1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2. Perfect branch prediction</a:t>
            </a:r>
          </a:p>
          <a:p>
            <a:pPr marL="300038" lvl="1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3. Perfect jump prediction</a:t>
            </a:r>
          </a:p>
          <a:p>
            <a:pPr marL="300038" lvl="1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4. Perfect memory address analysis</a:t>
            </a:r>
          </a:p>
          <a:p>
            <a:pPr marL="300038" lvl="1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5. All memory accesses occur in one cycle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Effectively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all control dependencies and all but true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dependencies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That is, all instructions can be scheduled as early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their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data dependency allows.</a:t>
            </a: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72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133350"/>
            <a:ext cx="1828800" cy="865573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Limits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0180" y="998923"/>
            <a:ext cx="5257800" cy="373309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pipelined clock rate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at some point,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each increase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clock rate has corresponding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CPI increase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(branches, other hazards)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2)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instruction fetch and decode: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some point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its hard to fetch and decode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more instructions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per clock cycle</a:t>
            </a:r>
          </a:p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cache hit rate: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some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long-running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scientific) programs have very large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sets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accessed with poor locality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others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have continuous data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streams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multimedia) and hence poor locality</a:t>
            </a:r>
          </a:p>
        </p:txBody>
      </p:sp>
    </p:spTree>
    <p:extLst>
      <p:ext uri="{BB962C8B-B14F-4D97-AF65-F5344CB8AC3E}">
        <p14:creationId xmlns:p14="http://schemas.microsoft.com/office/powerpoint/2010/main" val="35607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905" y="2038350"/>
            <a:ext cx="4343400" cy="4572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2800" dirty="0"/>
              <a:t>Introduction to </a:t>
            </a:r>
            <a:r>
              <a:rPr lang="en-US" sz="2800" dirty="0" err="1"/>
              <a:t>OpenMP</a:t>
            </a:r>
            <a:r>
              <a:rPr lang="en-US" sz="2800" dirty="0"/>
              <a:t> Programming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65237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86465"/>
            <a:ext cx="4114800" cy="865573"/>
          </a:xfrm>
        </p:spPr>
        <p:txBody>
          <a:bodyPr>
            <a:normAutofit/>
          </a:bodyPr>
          <a:lstStyle/>
          <a:p>
            <a:r>
              <a:rPr lang="en-IN" b="1" dirty="0" err="1" smtClean="0"/>
              <a:t>OpenMP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114800" y="1809750"/>
            <a:ext cx="5029200" cy="2654645"/>
          </a:xfrm>
        </p:spPr>
        <p:txBody>
          <a:bodyPr>
            <a:noAutofit/>
          </a:bodyPr>
          <a:lstStyle/>
          <a:p>
            <a:r>
              <a:rPr lang="en-US" dirty="0"/>
              <a:t>An abbreviation for: </a:t>
            </a:r>
            <a:r>
              <a:rPr lang="en-US" b="1" dirty="0"/>
              <a:t>Open Multi-Processing</a:t>
            </a:r>
            <a:endParaRPr lang="en-US" dirty="0"/>
          </a:p>
          <a:p>
            <a:r>
              <a:rPr lang="en-US" dirty="0" smtClean="0"/>
              <a:t>An </a:t>
            </a:r>
            <a:r>
              <a:rPr lang="en-US" dirty="0"/>
              <a:t>Application Program Interface (API) that may be used to explicitly direct </a:t>
            </a:r>
            <a:r>
              <a:rPr lang="en-US" b="1" i="1" dirty="0"/>
              <a:t>multi-threaded, shared memory</a:t>
            </a:r>
            <a:r>
              <a:rPr lang="en-US" dirty="0"/>
              <a:t> parallelism.</a:t>
            </a:r>
          </a:p>
          <a:p>
            <a:r>
              <a:rPr lang="en-US" dirty="0"/>
              <a:t>Comprised of three primary API components:</a:t>
            </a:r>
          </a:p>
          <a:p>
            <a:pPr lvl="1"/>
            <a:r>
              <a:rPr lang="en-US" dirty="0"/>
              <a:t>Compiler Directives</a:t>
            </a:r>
          </a:p>
          <a:p>
            <a:pPr lvl="1"/>
            <a:r>
              <a:rPr lang="en-US" dirty="0"/>
              <a:t>Runtime Library Routines</a:t>
            </a:r>
          </a:p>
          <a:p>
            <a:pPr lvl="1"/>
            <a:r>
              <a:rPr lang="en-US" dirty="0"/>
              <a:t>Environment </a:t>
            </a:r>
            <a:r>
              <a:rPr lang="en-US" dirty="0" smtClean="0"/>
              <a:t>Variables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009419"/>
            <a:ext cx="20002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1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86465"/>
            <a:ext cx="4114800" cy="865573"/>
          </a:xfrm>
        </p:spPr>
        <p:txBody>
          <a:bodyPr>
            <a:normAutofit/>
          </a:bodyPr>
          <a:lstStyle/>
          <a:p>
            <a:r>
              <a:rPr lang="en-IN" b="1" dirty="0"/>
              <a:t>Goals of </a:t>
            </a:r>
            <a:r>
              <a:rPr lang="en-IN" b="1" dirty="0" err="1"/>
              <a:t>OpenMP</a:t>
            </a:r>
            <a:r>
              <a:rPr lang="en-IN" b="1" dirty="0"/>
              <a:t>: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38600" y="1123950"/>
            <a:ext cx="5029200" cy="2654645"/>
          </a:xfrm>
        </p:spPr>
        <p:txBody>
          <a:bodyPr>
            <a:noAutofit/>
          </a:bodyPr>
          <a:lstStyle/>
          <a:p>
            <a:r>
              <a:rPr lang="en-US" sz="1600" b="1" dirty="0"/>
              <a:t>Standardization:</a:t>
            </a:r>
            <a:endParaRPr lang="en-US" sz="1600" dirty="0"/>
          </a:p>
          <a:p>
            <a:pPr lvl="1"/>
            <a:r>
              <a:rPr lang="en-US" sz="1600" dirty="0"/>
              <a:t>Provide a standard among a variety of shared memory architectures/platforms</a:t>
            </a:r>
          </a:p>
          <a:p>
            <a:pPr lvl="1"/>
            <a:r>
              <a:rPr lang="en-US" sz="1600" dirty="0"/>
              <a:t>Jointly defined and endorsed by a group of major computer hardware and software vendors</a:t>
            </a:r>
          </a:p>
          <a:p>
            <a:r>
              <a:rPr lang="en-US" sz="1600" b="1" dirty="0"/>
              <a:t>Lean and Mean:</a:t>
            </a:r>
            <a:endParaRPr lang="en-US" sz="1600" dirty="0"/>
          </a:p>
          <a:p>
            <a:pPr lvl="1"/>
            <a:r>
              <a:rPr lang="en-US" sz="1600" dirty="0"/>
              <a:t>Establish a simple and limited set of directives for programming shared memory machines.</a:t>
            </a:r>
          </a:p>
          <a:p>
            <a:pPr lvl="1"/>
            <a:r>
              <a:rPr lang="en-US" sz="1600" dirty="0"/>
              <a:t>Significant parallelism can be implemented by using just 3 or 4 directives.</a:t>
            </a:r>
          </a:p>
          <a:p>
            <a:pPr lvl="1"/>
            <a:r>
              <a:rPr lang="en-US" sz="1600" dirty="0"/>
              <a:t>This goal is becoming less meaningful with each new release, apparently</a:t>
            </a:r>
            <a:r>
              <a:rPr lang="en-US" sz="1600" dirty="0" smtClean="0"/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1077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86465"/>
            <a:ext cx="4114800" cy="865573"/>
          </a:xfrm>
        </p:spPr>
        <p:txBody>
          <a:bodyPr>
            <a:normAutofit/>
          </a:bodyPr>
          <a:lstStyle/>
          <a:p>
            <a:r>
              <a:rPr lang="en-IN" b="1" dirty="0"/>
              <a:t>Goals of </a:t>
            </a:r>
            <a:r>
              <a:rPr lang="en-IN" b="1" dirty="0" err="1"/>
              <a:t>OpenMP</a:t>
            </a:r>
            <a:r>
              <a:rPr lang="en-IN" b="1" dirty="0"/>
              <a:t>: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38600" y="1123950"/>
            <a:ext cx="5029200" cy="2654645"/>
          </a:xfrm>
        </p:spPr>
        <p:txBody>
          <a:bodyPr>
            <a:noAutofit/>
          </a:bodyPr>
          <a:lstStyle/>
          <a:p>
            <a:r>
              <a:rPr lang="en-US" sz="1600" b="1" dirty="0"/>
              <a:t>Ease of Use:</a:t>
            </a:r>
            <a:endParaRPr lang="en-US" sz="1600" dirty="0"/>
          </a:p>
          <a:p>
            <a:pPr lvl="1"/>
            <a:r>
              <a:rPr lang="en-US" sz="1600" dirty="0"/>
              <a:t>Provide capability to incrementally parallelize a serial program, unlike message-passing libraries which typically require an all or nothing approach</a:t>
            </a:r>
          </a:p>
          <a:p>
            <a:pPr lvl="1"/>
            <a:r>
              <a:rPr lang="en-US" sz="1600" dirty="0"/>
              <a:t>Provide the capability to implement both coarse-grain and fine-grain parallelism</a:t>
            </a:r>
          </a:p>
          <a:p>
            <a:r>
              <a:rPr lang="en-US" sz="1600" b="1" dirty="0"/>
              <a:t>Portability:</a:t>
            </a:r>
            <a:endParaRPr lang="en-US" sz="1600" dirty="0"/>
          </a:p>
          <a:p>
            <a:pPr lvl="1"/>
            <a:r>
              <a:rPr lang="en-US" sz="1600" dirty="0"/>
              <a:t>The API is specified for C/C++ and Fortran</a:t>
            </a:r>
          </a:p>
          <a:p>
            <a:pPr lvl="1"/>
            <a:r>
              <a:rPr lang="en-US" sz="1600" dirty="0"/>
              <a:t>Public forum for API and membership</a:t>
            </a:r>
          </a:p>
          <a:p>
            <a:pPr lvl="1"/>
            <a:r>
              <a:rPr lang="en-US" sz="1600" dirty="0"/>
              <a:t>Most major platforms have been implemented including Unix/Linux platforms and Windows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8406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216032"/>
            <a:ext cx="4572000" cy="865573"/>
          </a:xfrm>
        </p:spPr>
        <p:txBody>
          <a:bodyPr>
            <a:normAutofit fontScale="90000"/>
          </a:bodyPr>
          <a:lstStyle/>
          <a:p>
            <a:r>
              <a:rPr lang="en-IN" b="1" dirty="0" err="1"/>
              <a:t>OpenMP</a:t>
            </a:r>
            <a:r>
              <a:rPr lang="en-IN" b="1" dirty="0"/>
              <a:t> Programming </a:t>
            </a:r>
            <a:r>
              <a:rPr lang="en-IN" b="1" dirty="0" smtClean="0"/>
              <a:t>Model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352800" y="971550"/>
            <a:ext cx="5715000" cy="1905000"/>
          </a:xfrm>
        </p:spPr>
        <p:txBody>
          <a:bodyPr>
            <a:noAutofit/>
          </a:bodyPr>
          <a:lstStyle/>
          <a:p>
            <a:r>
              <a:rPr lang="en-US" sz="1600" b="1" dirty="0"/>
              <a:t>Shared Memory Model:</a:t>
            </a:r>
            <a:endParaRPr lang="en-US" sz="1600" dirty="0"/>
          </a:p>
          <a:p>
            <a:pPr lvl="1"/>
            <a:r>
              <a:rPr lang="en-US" sz="1600" dirty="0" err="1"/>
              <a:t>OpenMP</a:t>
            </a:r>
            <a:r>
              <a:rPr lang="en-US" sz="1600" dirty="0"/>
              <a:t> is designed for multi-processor/core, shared memory machines. The underlying architecture can be shared memory UMA or NUMA</a:t>
            </a:r>
            <a:r>
              <a:rPr lang="en-US" sz="1600" dirty="0" smtClean="0"/>
              <a:t>. </a:t>
            </a:r>
          </a:p>
          <a:p>
            <a:pPr lvl="1"/>
            <a:r>
              <a:rPr lang="en-US" sz="1600" dirty="0" smtClean="0"/>
              <a:t>Because </a:t>
            </a:r>
            <a:r>
              <a:rPr lang="en-US" sz="1600" dirty="0" err="1"/>
              <a:t>OpenMP</a:t>
            </a:r>
            <a:r>
              <a:rPr lang="en-US" sz="1600" dirty="0"/>
              <a:t> is designed for shared memory parallel programming, it largely limited to </a:t>
            </a:r>
            <a:r>
              <a:rPr lang="en-US" sz="1600" b="1" dirty="0"/>
              <a:t>single node</a:t>
            </a:r>
            <a:r>
              <a:rPr lang="en-US" sz="1600" dirty="0"/>
              <a:t> parallelism. Typically, the number of processing elements (cores) on a node determine how much parallelism can be implemented.</a:t>
            </a:r>
            <a:endParaRPr lang="en-US" sz="16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50" y="3072958"/>
            <a:ext cx="2438400" cy="19249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575" y="3072958"/>
            <a:ext cx="3274425" cy="170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227786"/>
            <a:ext cx="4114800" cy="8655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Motivation for Using </a:t>
            </a:r>
            <a:r>
              <a:rPr lang="en-US" b="1" dirty="0" err="1"/>
              <a:t>OpenMP</a:t>
            </a:r>
            <a:r>
              <a:rPr lang="en-US" b="1" dirty="0"/>
              <a:t> in HPC</a:t>
            </a:r>
            <a:r>
              <a:rPr lang="en-IN" b="1" dirty="0" smtClean="0"/>
              <a:t>: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05200" y="1123950"/>
            <a:ext cx="5562600" cy="2654645"/>
          </a:xfrm>
        </p:spPr>
        <p:txBody>
          <a:bodyPr>
            <a:noAutofit/>
          </a:bodyPr>
          <a:lstStyle/>
          <a:p>
            <a:r>
              <a:rPr lang="en-US" sz="1400" dirty="0" err="1"/>
              <a:t>OpenMP</a:t>
            </a:r>
            <a:r>
              <a:rPr lang="en-US" sz="1400" dirty="0"/>
              <a:t> parallelism is limited to a single node.</a:t>
            </a:r>
          </a:p>
          <a:p>
            <a:r>
              <a:rPr lang="en-US" sz="1400" dirty="0"/>
              <a:t>For High Performance Computing (HPC) applications, </a:t>
            </a:r>
            <a:r>
              <a:rPr lang="en-US" sz="1400" dirty="0" err="1"/>
              <a:t>OpenMP</a:t>
            </a:r>
            <a:r>
              <a:rPr lang="en-US" sz="1400" dirty="0"/>
              <a:t> is combined with MPI for the distributed memory parallelism. This is often referred to as </a:t>
            </a:r>
            <a:r>
              <a:rPr lang="en-US" sz="1400" b="1" dirty="0"/>
              <a:t>Hybrid Parallel Programming</a:t>
            </a:r>
            <a:r>
              <a:rPr lang="en-US" sz="1400" dirty="0"/>
              <a:t>.</a:t>
            </a:r>
          </a:p>
          <a:p>
            <a:pPr lvl="1"/>
            <a:r>
              <a:rPr lang="en-US" sz="1400" dirty="0" err="1"/>
              <a:t>OpenMP</a:t>
            </a:r>
            <a:r>
              <a:rPr lang="en-US" sz="1400" dirty="0"/>
              <a:t> is used for computationally intensive work on each node</a:t>
            </a:r>
          </a:p>
          <a:p>
            <a:pPr lvl="1"/>
            <a:r>
              <a:rPr lang="en-US" sz="1400" dirty="0"/>
              <a:t>MPI is used to accomplish communications and data sharing between nodes</a:t>
            </a:r>
          </a:p>
          <a:p>
            <a:r>
              <a:rPr lang="en-US" sz="1400" dirty="0"/>
              <a:t>This allows parallelism to be implemented to the full scale of a cluster.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3096769"/>
            <a:ext cx="3276600" cy="177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7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27786"/>
            <a:ext cx="3886200" cy="86557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Thread Based </a:t>
            </a:r>
            <a:r>
              <a:rPr lang="en-IN" b="1" dirty="0" smtClean="0"/>
              <a:t>Parallelism: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05200" y="1123950"/>
            <a:ext cx="5562600" cy="2654645"/>
          </a:xfrm>
        </p:spPr>
        <p:txBody>
          <a:bodyPr>
            <a:noAutofit/>
          </a:bodyPr>
          <a:lstStyle/>
          <a:p>
            <a:r>
              <a:rPr lang="en-US" sz="1600" dirty="0" err="1"/>
              <a:t>OpenMP</a:t>
            </a:r>
            <a:r>
              <a:rPr lang="en-US" sz="1600" dirty="0"/>
              <a:t> programs accomplish parallelism exclusively through the use of threads.</a:t>
            </a:r>
          </a:p>
          <a:p>
            <a:r>
              <a:rPr lang="en-US" sz="1600" dirty="0"/>
              <a:t>A thread of execution is the smallest unit of processing that can be scheduled by an operating system. The idea of a subroutine that can be scheduled to run autonomously might help explain what a thread is.</a:t>
            </a:r>
          </a:p>
          <a:p>
            <a:r>
              <a:rPr lang="en-US" sz="1600" dirty="0"/>
              <a:t>Threads exist within the resources of a single process. Without the process, they cease to exist.</a:t>
            </a:r>
          </a:p>
          <a:p>
            <a:r>
              <a:rPr lang="en-US" sz="1600" dirty="0"/>
              <a:t>Typically, the number of threads match the number of machine processors/cores. However, the actual use of threads is up to the application.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6166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27786"/>
            <a:ext cx="3886200" cy="86557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Explicit Parallelism: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05200" y="1123950"/>
            <a:ext cx="5562600" cy="2654645"/>
          </a:xfrm>
        </p:spPr>
        <p:txBody>
          <a:bodyPr>
            <a:noAutofit/>
          </a:bodyPr>
          <a:lstStyle/>
          <a:p>
            <a:r>
              <a:rPr lang="en-US" sz="1600" dirty="0" err="1"/>
              <a:t>OpenMP</a:t>
            </a:r>
            <a:r>
              <a:rPr lang="en-US" sz="1600" dirty="0"/>
              <a:t> is an explicit (not automatic) programming model, offering the programmer full control over parallelization.</a:t>
            </a:r>
          </a:p>
          <a:p>
            <a:r>
              <a:rPr lang="en-US" sz="1600" dirty="0"/>
              <a:t>Parallelization can be as simple as taking a serial program and inserting compiler directives</a:t>
            </a:r>
            <a:r>
              <a:rPr lang="en-US" sz="1600" dirty="0" smtClean="0"/>
              <a:t>.</a:t>
            </a:r>
            <a:endParaRPr lang="en-US" sz="1600" dirty="0"/>
          </a:p>
          <a:p>
            <a:r>
              <a:rPr lang="en-US" sz="1600" dirty="0"/>
              <a:t>Or as complex as inserting subroutines to set multiple levels of parallelism, locks and even nested locks.</a:t>
            </a:r>
          </a:p>
        </p:txBody>
      </p:sp>
    </p:spTree>
    <p:extLst>
      <p:ext uri="{BB962C8B-B14F-4D97-AF65-F5344CB8AC3E}">
        <p14:creationId xmlns:p14="http://schemas.microsoft.com/office/powerpoint/2010/main" val="180877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27786"/>
            <a:ext cx="3886200" cy="86557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Fork - Join Model: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05200" y="1123950"/>
            <a:ext cx="5562600" cy="2654645"/>
          </a:xfrm>
        </p:spPr>
        <p:txBody>
          <a:bodyPr>
            <a:noAutofit/>
          </a:bodyPr>
          <a:lstStyle/>
          <a:p>
            <a:r>
              <a:rPr lang="en-US" sz="1600" dirty="0"/>
              <a:t>All </a:t>
            </a:r>
            <a:r>
              <a:rPr lang="en-US" sz="1600" dirty="0" err="1"/>
              <a:t>OpenMP</a:t>
            </a:r>
            <a:r>
              <a:rPr lang="en-US" sz="1600" dirty="0"/>
              <a:t> programs begin as a single process: the </a:t>
            </a:r>
            <a:r>
              <a:rPr lang="en-US" sz="1600" b="1" dirty="0"/>
              <a:t>master thread</a:t>
            </a:r>
            <a:r>
              <a:rPr lang="en-US" sz="1600" dirty="0"/>
              <a:t>. The master thread executes sequentially until the first </a:t>
            </a:r>
            <a:r>
              <a:rPr lang="en-US" sz="1600" b="1" dirty="0"/>
              <a:t>parallel region</a:t>
            </a:r>
            <a:r>
              <a:rPr lang="en-US" sz="1600" dirty="0"/>
              <a:t> construct is encountered.</a:t>
            </a:r>
          </a:p>
          <a:p>
            <a:r>
              <a:rPr lang="en-US" sz="1600" b="1" dirty="0"/>
              <a:t>FORK:</a:t>
            </a:r>
            <a:r>
              <a:rPr lang="en-US" sz="1600" dirty="0"/>
              <a:t> the master thread then creates a team of parallel </a:t>
            </a:r>
            <a:r>
              <a:rPr lang="en-US" sz="1600" b="1" i="1" dirty="0"/>
              <a:t>threads</a:t>
            </a:r>
            <a:r>
              <a:rPr lang="en-US" sz="1600" dirty="0"/>
              <a:t>.</a:t>
            </a:r>
          </a:p>
          <a:p>
            <a:r>
              <a:rPr lang="en-US" sz="1600" dirty="0"/>
              <a:t>The statements in the program that are enclosed by the parallel region construct are then executed in parallel among the various team threads.</a:t>
            </a:r>
          </a:p>
          <a:p>
            <a:r>
              <a:rPr lang="en-US" sz="1600" b="1" dirty="0"/>
              <a:t>JOIN:</a:t>
            </a:r>
            <a:r>
              <a:rPr lang="en-US" sz="1600" dirty="0"/>
              <a:t> When the team threads complete the statements in the parallel region construct, they synchronize and terminate, leaving only the master thread.</a:t>
            </a:r>
          </a:p>
          <a:p>
            <a:r>
              <a:rPr lang="en-US" sz="1600" dirty="0"/>
              <a:t>The number of parallel regions and the threads that comprise them are arbitrary.</a:t>
            </a:r>
          </a:p>
        </p:txBody>
      </p:sp>
    </p:spTree>
    <p:extLst>
      <p:ext uri="{BB962C8B-B14F-4D97-AF65-F5344CB8AC3E}">
        <p14:creationId xmlns:p14="http://schemas.microsoft.com/office/powerpoint/2010/main" val="100136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27786"/>
            <a:ext cx="3886200" cy="86557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Fork - Join Model:</a:t>
            </a:r>
          </a:p>
        </p:txBody>
      </p:sp>
      <p:pic>
        <p:nvPicPr>
          <p:cNvPr id="2050" name="Picture 2" descr="https://computing.llnl.gov/tutorials/openMP/images/fork_join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508" y="1200150"/>
            <a:ext cx="566442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05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27786"/>
            <a:ext cx="3886200" cy="865573"/>
          </a:xfrm>
        </p:spPr>
        <p:txBody>
          <a:bodyPr>
            <a:normAutofit/>
          </a:bodyPr>
          <a:lstStyle/>
          <a:p>
            <a:r>
              <a:rPr lang="en-IN" b="1" dirty="0"/>
              <a:t>Data Scoping</a:t>
            </a:r>
            <a:r>
              <a:rPr lang="en-IN" b="1" dirty="0" smtClean="0"/>
              <a:t>: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05200" y="1123950"/>
            <a:ext cx="5562600" cy="2654645"/>
          </a:xfrm>
        </p:spPr>
        <p:txBody>
          <a:bodyPr>
            <a:noAutofit/>
          </a:bodyPr>
          <a:lstStyle/>
          <a:p>
            <a:r>
              <a:rPr lang="en-US" sz="1600" dirty="0"/>
              <a:t>Because </a:t>
            </a:r>
            <a:r>
              <a:rPr lang="en-US" sz="1600" dirty="0" err="1"/>
              <a:t>OpenMP</a:t>
            </a:r>
            <a:r>
              <a:rPr lang="en-US" sz="1600" dirty="0"/>
              <a:t> is a shared memory programming model, most data within a parallel region is shared by default.</a:t>
            </a:r>
          </a:p>
          <a:p>
            <a:r>
              <a:rPr lang="en-US" sz="1600" dirty="0"/>
              <a:t>All threads in a parallel region can access this shared data simultaneously.</a:t>
            </a:r>
          </a:p>
          <a:p>
            <a:r>
              <a:rPr lang="en-US" sz="1600" dirty="0" err="1"/>
              <a:t>OpenMP</a:t>
            </a:r>
            <a:r>
              <a:rPr lang="en-US" sz="1600" dirty="0"/>
              <a:t> provides a way for the programmer to explicitly specify how data is "scoped" if the default shared scoping is not desired.</a:t>
            </a:r>
          </a:p>
        </p:txBody>
      </p:sp>
    </p:spTree>
    <p:extLst>
      <p:ext uri="{BB962C8B-B14F-4D97-AF65-F5344CB8AC3E}">
        <p14:creationId xmlns:p14="http://schemas.microsoft.com/office/powerpoint/2010/main" val="30026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27786"/>
            <a:ext cx="3886200" cy="86557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Nested Parallelism</a:t>
            </a:r>
            <a:r>
              <a:rPr lang="en-IN" b="1" dirty="0" smtClean="0"/>
              <a:t>: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05200" y="1123950"/>
            <a:ext cx="5562600" cy="2654645"/>
          </a:xfrm>
        </p:spPr>
        <p:txBody>
          <a:bodyPr>
            <a:noAutofit/>
          </a:bodyPr>
          <a:lstStyle/>
          <a:p>
            <a:r>
              <a:rPr lang="en-US" sz="1600" dirty="0"/>
              <a:t>The API provides for the placement of parallel regions inside other parallel regions.</a:t>
            </a:r>
          </a:p>
          <a:p>
            <a:r>
              <a:rPr lang="en-US" sz="1600" dirty="0"/>
              <a:t>Implementations may or may not support this feature.</a:t>
            </a:r>
          </a:p>
        </p:txBody>
      </p:sp>
    </p:spTree>
    <p:extLst>
      <p:ext uri="{BB962C8B-B14F-4D97-AF65-F5344CB8AC3E}">
        <p14:creationId xmlns:p14="http://schemas.microsoft.com/office/powerpoint/2010/main" val="255786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27786"/>
            <a:ext cx="3886200" cy="86557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Dynamic Threads</a:t>
            </a:r>
            <a:r>
              <a:rPr lang="en-IN" b="1" dirty="0" smtClean="0"/>
              <a:t>: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05200" y="1123950"/>
            <a:ext cx="5562600" cy="2654645"/>
          </a:xfrm>
        </p:spPr>
        <p:txBody>
          <a:bodyPr>
            <a:noAutofit/>
          </a:bodyPr>
          <a:lstStyle/>
          <a:p>
            <a:r>
              <a:rPr lang="en-US" sz="1600" dirty="0"/>
              <a:t>The API provides for the runtime environment to dynamically alter the number of threads used to execute parallel regions. Intended to promote more efficient use of resources, if possible.</a:t>
            </a:r>
          </a:p>
          <a:p>
            <a:r>
              <a:rPr lang="en-US" sz="1600" dirty="0"/>
              <a:t>Implementations may or may not support this feature.</a:t>
            </a:r>
          </a:p>
        </p:txBody>
      </p:sp>
    </p:spTree>
    <p:extLst>
      <p:ext uri="{BB962C8B-B14F-4D97-AF65-F5344CB8AC3E}">
        <p14:creationId xmlns:p14="http://schemas.microsoft.com/office/powerpoint/2010/main" val="252734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27786"/>
            <a:ext cx="3886200" cy="865573"/>
          </a:xfrm>
        </p:spPr>
        <p:txBody>
          <a:bodyPr>
            <a:normAutofit/>
          </a:bodyPr>
          <a:lstStyle/>
          <a:p>
            <a:r>
              <a:rPr lang="en-IN" dirty="0"/>
              <a:t> </a:t>
            </a:r>
            <a:r>
              <a:rPr lang="en-IN" b="1" dirty="0"/>
              <a:t>I/O: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419600" y="1123950"/>
            <a:ext cx="4648200" cy="2654645"/>
          </a:xfrm>
        </p:spPr>
        <p:txBody>
          <a:bodyPr>
            <a:noAutofit/>
          </a:bodyPr>
          <a:lstStyle/>
          <a:p>
            <a:r>
              <a:rPr lang="en-US" sz="1600" dirty="0" err="1"/>
              <a:t>OpenMP</a:t>
            </a:r>
            <a:r>
              <a:rPr lang="en-US" sz="1600" dirty="0"/>
              <a:t> specifies nothing about parallel I/O. This is particularly important if multiple threads attempt to write/read from the same file.</a:t>
            </a:r>
          </a:p>
          <a:p>
            <a:r>
              <a:rPr lang="en-US" sz="1600" dirty="0"/>
              <a:t>If every thread conducts I/O to a different file, the issues are not as significant.</a:t>
            </a:r>
          </a:p>
          <a:p>
            <a:r>
              <a:rPr lang="en-US" sz="1600" dirty="0"/>
              <a:t>It is entirely up to the programmer to ensure that I/O is conducted correctly within the context of a multi-threaded program.</a:t>
            </a:r>
          </a:p>
        </p:txBody>
      </p:sp>
    </p:spTree>
    <p:extLst>
      <p:ext uri="{BB962C8B-B14F-4D97-AF65-F5344CB8AC3E}">
        <p14:creationId xmlns:p14="http://schemas.microsoft.com/office/powerpoint/2010/main" val="131063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27786"/>
            <a:ext cx="3886200" cy="86557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Three </a:t>
            </a:r>
            <a:r>
              <a:rPr lang="en-IN" b="1" dirty="0" smtClean="0"/>
              <a:t>Components of </a:t>
            </a:r>
            <a:r>
              <a:rPr lang="en-IN" b="1" dirty="0" err="1" smtClean="0"/>
              <a:t>OpenMP</a:t>
            </a:r>
            <a:r>
              <a:rPr lang="en-IN" b="1" dirty="0" smtClean="0"/>
              <a:t>: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419600" y="1123950"/>
            <a:ext cx="4648200" cy="2654645"/>
          </a:xfrm>
        </p:spPr>
        <p:txBody>
          <a:bodyPr>
            <a:noAutofit/>
          </a:bodyPr>
          <a:lstStyle/>
          <a:p>
            <a:r>
              <a:rPr lang="en-US" sz="1600" dirty="0"/>
              <a:t>The </a:t>
            </a:r>
            <a:r>
              <a:rPr lang="en-US" sz="1600" dirty="0" err="1"/>
              <a:t>OpenMP</a:t>
            </a:r>
            <a:r>
              <a:rPr lang="en-US" sz="1600" dirty="0"/>
              <a:t> 3.1 API is comprised of three distinct components:</a:t>
            </a:r>
          </a:p>
          <a:p>
            <a:pPr lvl="1"/>
            <a:r>
              <a:rPr lang="en-US" sz="1600" dirty="0"/>
              <a:t>Compiler Directives (19)</a:t>
            </a:r>
          </a:p>
          <a:p>
            <a:pPr lvl="1"/>
            <a:r>
              <a:rPr lang="en-US" sz="1600" dirty="0"/>
              <a:t>Runtime Library Routines (32)</a:t>
            </a:r>
          </a:p>
          <a:p>
            <a:pPr lvl="1"/>
            <a:r>
              <a:rPr lang="en-US" sz="1600" dirty="0"/>
              <a:t>Environment Variables (9)</a:t>
            </a:r>
          </a:p>
          <a:p>
            <a:r>
              <a:rPr lang="en-US" sz="1600" dirty="0"/>
              <a:t>Later APIs include the same three components, but increase the number of directives, runtime library routines and environment variables.</a:t>
            </a:r>
          </a:p>
          <a:p>
            <a:r>
              <a:rPr lang="en-US" sz="1600" dirty="0"/>
              <a:t>The application developer decides how to employ these components. In the simplest case, only a few of them are needed.</a:t>
            </a:r>
          </a:p>
          <a:p>
            <a:r>
              <a:rPr lang="en-US" sz="1600" dirty="0"/>
              <a:t>Implementations differ in their support of all API components.</a:t>
            </a:r>
          </a:p>
        </p:txBody>
      </p:sp>
    </p:spTree>
    <p:extLst>
      <p:ext uri="{BB962C8B-B14F-4D97-AF65-F5344CB8AC3E}">
        <p14:creationId xmlns:p14="http://schemas.microsoft.com/office/powerpoint/2010/main" val="40816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27786"/>
            <a:ext cx="3886200" cy="86557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Compiler Directives</a:t>
            </a:r>
            <a:r>
              <a:rPr lang="en-IN" b="1" dirty="0" smtClean="0"/>
              <a:t>: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419600" y="1123950"/>
            <a:ext cx="4648200" cy="2654645"/>
          </a:xfrm>
        </p:spPr>
        <p:txBody>
          <a:bodyPr>
            <a:noAutofit/>
          </a:bodyPr>
          <a:lstStyle/>
          <a:p>
            <a:r>
              <a:rPr lang="en-US" sz="1600" dirty="0"/>
              <a:t>Compiler directives appear as comments in your source code and are ignored by compilers unless you tell them otherwise - usually by specifying the appropriate compiler </a:t>
            </a:r>
            <a:r>
              <a:rPr lang="en-US" sz="1600" dirty="0" smtClean="0"/>
              <a:t>flag.</a:t>
            </a:r>
          </a:p>
          <a:p>
            <a:r>
              <a:rPr lang="en-US" sz="1600" dirty="0" err="1"/>
              <a:t>OpenMP</a:t>
            </a:r>
            <a:r>
              <a:rPr lang="en-US" sz="1600" dirty="0"/>
              <a:t> compiler directives are used for various purposes:</a:t>
            </a:r>
          </a:p>
          <a:p>
            <a:pPr lvl="1"/>
            <a:r>
              <a:rPr lang="en-US" sz="1600" dirty="0"/>
              <a:t>Spawning a parallel region</a:t>
            </a:r>
          </a:p>
          <a:p>
            <a:pPr lvl="1"/>
            <a:r>
              <a:rPr lang="en-US" sz="1600" dirty="0"/>
              <a:t>Dividing blocks of code among threads</a:t>
            </a:r>
          </a:p>
          <a:p>
            <a:pPr lvl="1"/>
            <a:r>
              <a:rPr lang="en-US" sz="1600" dirty="0"/>
              <a:t>Distributing loop iterations between threads</a:t>
            </a:r>
          </a:p>
          <a:p>
            <a:pPr lvl="1"/>
            <a:r>
              <a:rPr lang="en-US" sz="1600" dirty="0"/>
              <a:t>Serializing sections of code</a:t>
            </a:r>
          </a:p>
          <a:p>
            <a:pPr lvl="1"/>
            <a:r>
              <a:rPr lang="en-US" sz="1600" dirty="0"/>
              <a:t>Synchronization of work among </a:t>
            </a:r>
            <a:r>
              <a:rPr lang="en-US" sz="1600" dirty="0" smtClean="0"/>
              <a:t>threads</a:t>
            </a:r>
            <a:r>
              <a:rPr lang="en-US" sz="1600" dirty="0"/>
              <a:t/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3114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0" y="227786"/>
            <a:ext cx="4648200" cy="86557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Run-time Library </a:t>
            </a:r>
            <a:r>
              <a:rPr lang="en-IN" b="1" dirty="0" smtClean="0"/>
              <a:t>Routines: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57600" y="1123950"/>
            <a:ext cx="5410200" cy="2654645"/>
          </a:xfrm>
        </p:spPr>
        <p:txBody>
          <a:bodyPr>
            <a:noAutofit/>
          </a:bodyPr>
          <a:lstStyle/>
          <a:p>
            <a:r>
              <a:rPr lang="en-US" sz="1600" dirty="0"/>
              <a:t>The </a:t>
            </a:r>
            <a:r>
              <a:rPr lang="en-US" sz="1600" dirty="0" err="1"/>
              <a:t>OpenMP</a:t>
            </a:r>
            <a:r>
              <a:rPr lang="en-US" sz="1600" dirty="0"/>
              <a:t> API includes an ever-growing number of run-time library routines.</a:t>
            </a:r>
          </a:p>
          <a:p>
            <a:r>
              <a:rPr lang="en-US" sz="1600" dirty="0"/>
              <a:t>These routines are used for a variety of purposes:</a:t>
            </a:r>
          </a:p>
          <a:p>
            <a:pPr lvl="1"/>
            <a:r>
              <a:rPr lang="en-US" sz="1600" dirty="0"/>
              <a:t>Setting and querying the number of threads</a:t>
            </a:r>
          </a:p>
          <a:p>
            <a:pPr lvl="1"/>
            <a:r>
              <a:rPr lang="en-US" sz="1600" dirty="0"/>
              <a:t>Querying a thread's unique identifier (thread ID), a thread's ancestor's identifier, the thread team size</a:t>
            </a:r>
          </a:p>
          <a:p>
            <a:pPr lvl="1"/>
            <a:r>
              <a:rPr lang="en-US" sz="1600" dirty="0"/>
              <a:t>Setting and querying the dynamic threads feature</a:t>
            </a:r>
          </a:p>
          <a:p>
            <a:pPr lvl="1"/>
            <a:r>
              <a:rPr lang="en-US" sz="1600" dirty="0"/>
              <a:t>Querying if in a parallel region, and at what level</a:t>
            </a:r>
          </a:p>
          <a:p>
            <a:pPr lvl="1"/>
            <a:r>
              <a:rPr lang="en-US" sz="1600" dirty="0"/>
              <a:t>Setting and querying nested parallelism</a:t>
            </a:r>
          </a:p>
          <a:p>
            <a:pPr lvl="1"/>
            <a:r>
              <a:rPr lang="en-US" sz="1600" dirty="0"/>
              <a:t>Setting, initializing and terminating locks and nested locks</a:t>
            </a:r>
          </a:p>
          <a:p>
            <a:pPr lvl="1"/>
            <a:r>
              <a:rPr lang="en-US" sz="1600" dirty="0"/>
              <a:t>Querying wall clock time and resolution</a:t>
            </a:r>
          </a:p>
        </p:txBody>
      </p:sp>
    </p:spTree>
    <p:extLst>
      <p:ext uri="{BB962C8B-B14F-4D97-AF65-F5344CB8AC3E}">
        <p14:creationId xmlns:p14="http://schemas.microsoft.com/office/powerpoint/2010/main" val="162502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227786"/>
            <a:ext cx="4800600" cy="86557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Environment Variables: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57600" y="1123950"/>
            <a:ext cx="5410200" cy="2654645"/>
          </a:xfrm>
        </p:spPr>
        <p:txBody>
          <a:bodyPr>
            <a:noAutofit/>
          </a:bodyPr>
          <a:lstStyle/>
          <a:p>
            <a:r>
              <a:rPr lang="en-US" sz="1600" dirty="0" err="1"/>
              <a:t>OpenMP</a:t>
            </a:r>
            <a:r>
              <a:rPr lang="en-US" sz="1600" dirty="0"/>
              <a:t> provides several environment variables for controlling the execution of parallel code at run-time.</a:t>
            </a:r>
          </a:p>
          <a:p>
            <a:r>
              <a:rPr lang="en-US" sz="1600" dirty="0"/>
              <a:t>These environment variables can be used to control such things as:</a:t>
            </a:r>
          </a:p>
          <a:p>
            <a:pPr lvl="1"/>
            <a:r>
              <a:rPr lang="en-US" sz="1600" dirty="0"/>
              <a:t>Setting the number of threads</a:t>
            </a:r>
          </a:p>
          <a:p>
            <a:pPr lvl="1"/>
            <a:r>
              <a:rPr lang="en-US" sz="1600" dirty="0"/>
              <a:t>Specifying how loop iterations are divided</a:t>
            </a:r>
          </a:p>
          <a:p>
            <a:pPr lvl="1"/>
            <a:r>
              <a:rPr lang="en-US" sz="1600" dirty="0"/>
              <a:t>Binding threads to processors</a:t>
            </a:r>
          </a:p>
          <a:p>
            <a:pPr lvl="1"/>
            <a:r>
              <a:rPr lang="en-US" sz="1600" dirty="0"/>
              <a:t>Enabling/disabling nested parallelism; setting the maximum levels of nested parallelism</a:t>
            </a:r>
          </a:p>
          <a:p>
            <a:pPr lvl="1"/>
            <a:r>
              <a:rPr lang="en-US" sz="1600" dirty="0"/>
              <a:t>Enabling/disabling dynamic threads</a:t>
            </a:r>
          </a:p>
          <a:p>
            <a:pPr lvl="1"/>
            <a:r>
              <a:rPr lang="en-US" sz="1600" dirty="0"/>
              <a:t>Setting thread stack size</a:t>
            </a:r>
          </a:p>
          <a:p>
            <a:pPr lvl="1"/>
            <a:r>
              <a:rPr lang="en-US" sz="1600" dirty="0"/>
              <a:t>Setting thread wait policy</a:t>
            </a:r>
          </a:p>
        </p:txBody>
      </p:sp>
    </p:spTree>
    <p:extLst>
      <p:ext uri="{BB962C8B-B14F-4D97-AF65-F5344CB8AC3E}">
        <p14:creationId xmlns:p14="http://schemas.microsoft.com/office/powerpoint/2010/main" val="350110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209550"/>
            <a:ext cx="4800600" cy="865573"/>
          </a:xfrm>
        </p:spPr>
        <p:txBody>
          <a:bodyPr>
            <a:normAutofit fontScale="90000"/>
          </a:bodyPr>
          <a:lstStyle/>
          <a:p>
            <a:r>
              <a:rPr lang="en-IN" b="1" dirty="0" err="1"/>
              <a:t>OpenMP</a:t>
            </a:r>
            <a:r>
              <a:rPr lang="en-IN" b="1" dirty="0"/>
              <a:t> Code </a:t>
            </a:r>
            <a:r>
              <a:rPr lang="en-IN" b="1" dirty="0" smtClean="0"/>
              <a:t>Structure: Example</a:t>
            </a:r>
            <a:endParaRPr lang="en-IN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57600" y="971550"/>
            <a:ext cx="5410200" cy="4038600"/>
          </a:xfrm>
        </p:spPr>
        <p:txBody>
          <a:bodyPr>
            <a:noAutofit/>
          </a:bodyPr>
          <a:lstStyle/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#include &lt;</a:t>
            </a:r>
            <a:r>
              <a:rPr lang="en-US" sz="1100" dirty="0" err="1"/>
              <a:t>omp.h</a:t>
            </a:r>
            <a:r>
              <a:rPr lang="en-US" sz="1100" dirty="0"/>
              <a:t>&gt;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main ()  {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</a:t>
            </a:r>
            <a:r>
              <a:rPr lang="en-US" sz="1100" dirty="0" err="1"/>
              <a:t>int</a:t>
            </a:r>
            <a:r>
              <a:rPr lang="en-US" sz="1100" dirty="0"/>
              <a:t> var1, var2, var3;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 smtClean="0"/>
              <a:t>   </a:t>
            </a:r>
            <a:r>
              <a:rPr lang="en-US" sz="1100" dirty="0"/>
              <a:t>Serial code 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   .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   .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   .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 smtClean="0"/>
              <a:t>   </a:t>
            </a:r>
            <a:r>
              <a:rPr lang="en-US" sz="1100" dirty="0"/>
              <a:t>Beginning of parallel region. Fork a team of threads.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Specify variable scoping 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 smtClean="0"/>
              <a:t>   </a:t>
            </a:r>
            <a:r>
              <a:rPr lang="en-US" sz="1100" dirty="0"/>
              <a:t>#pragma </a:t>
            </a:r>
            <a:r>
              <a:rPr lang="en-US" sz="1100" dirty="0" err="1"/>
              <a:t>omp</a:t>
            </a:r>
            <a:r>
              <a:rPr lang="en-US" sz="1100" dirty="0"/>
              <a:t> parallel private(var1, var2) shared(var3)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{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Parallel region executed by all threads 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           .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Other </a:t>
            </a:r>
            <a:r>
              <a:rPr lang="en-US" sz="1100" dirty="0" err="1"/>
              <a:t>OpenMP</a:t>
            </a:r>
            <a:r>
              <a:rPr lang="en-US" sz="1100" dirty="0"/>
              <a:t> directives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           .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Run-time Library calls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           .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All threads join master thread and disband 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}  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 smtClean="0"/>
              <a:t>   </a:t>
            </a:r>
            <a:r>
              <a:rPr lang="en-US" sz="1100" dirty="0"/>
              <a:t>Resume serial code 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   .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   .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      .</a:t>
            </a:r>
          </a:p>
          <a:p>
            <a:pPr marL="45720" indent="0">
              <a:spcBef>
                <a:spcPts val="0"/>
              </a:spcBef>
              <a:buNone/>
            </a:pPr>
            <a:r>
              <a:rPr lang="en-US" sz="1100" dirty="0"/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261038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86200" y="209550"/>
            <a:ext cx="5105400" cy="865573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OpenMP</a:t>
            </a:r>
            <a:r>
              <a:rPr lang="en-US" altLang="en-US" dirty="0"/>
              <a:t> Programming Model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0" y="1056073"/>
            <a:ext cx="5181600" cy="387787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The clause list is used to specify conditional parallelization, number of threads, and data handling. </a:t>
            </a:r>
          </a:p>
          <a:p>
            <a:pPr lvl="1">
              <a:lnSpc>
                <a:spcPct val="90000"/>
              </a:lnSpc>
            </a:pPr>
            <a:r>
              <a:rPr lang="en-US" altLang="en-US" sz="1500" b="1" dirty="0"/>
              <a:t>Conditional Parallelization:</a:t>
            </a:r>
            <a:r>
              <a:rPr lang="en-US" altLang="en-US" sz="1500" dirty="0"/>
              <a:t> The clause </a:t>
            </a:r>
            <a:r>
              <a:rPr lang="en-US" altLang="en-US" sz="1500" dirty="0">
                <a:latin typeface="Courier" pitchFamily="49" charset="0"/>
              </a:rPr>
              <a:t>if (scalar expression)</a:t>
            </a:r>
            <a:r>
              <a:rPr lang="en-US" altLang="en-US" sz="1500" dirty="0"/>
              <a:t> determines whether the parallel construct results in creation of threads. </a:t>
            </a:r>
          </a:p>
          <a:p>
            <a:pPr lvl="1">
              <a:lnSpc>
                <a:spcPct val="90000"/>
              </a:lnSpc>
            </a:pPr>
            <a:r>
              <a:rPr lang="en-US" altLang="en-US" sz="1500" b="1" dirty="0"/>
              <a:t>Degree of Concurrency:</a:t>
            </a:r>
            <a:r>
              <a:rPr lang="en-US" altLang="en-US" sz="1500" dirty="0"/>
              <a:t> The clause </a:t>
            </a:r>
            <a:r>
              <a:rPr lang="en-US" altLang="en-US" sz="1500" dirty="0" err="1">
                <a:latin typeface="Courier" pitchFamily="49" charset="0"/>
              </a:rPr>
              <a:t>num_threads</a:t>
            </a:r>
            <a:r>
              <a:rPr lang="en-US" altLang="en-US" sz="1500" dirty="0">
                <a:latin typeface="Courier" pitchFamily="49" charset="0"/>
              </a:rPr>
              <a:t>(integer expression)</a:t>
            </a:r>
            <a:r>
              <a:rPr lang="en-US" altLang="en-US" sz="1500" dirty="0"/>
              <a:t> specifies the number of threads that are created. </a:t>
            </a:r>
          </a:p>
          <a:p>
            <a:pPr lvl="1">
              <a:lnSpc>
                <a:spcPct val="90000"/>
              </a:lnSpc>
            </a:pPr>
            <a:r>
              <a:rPr lang="en-US" altLang="en-US" sz="1500" b="1" dirty="0"/>
              <a:t>Data Handling:</a:t>
            </a:r>
            <a:r>
              <a:rPr lang="en-US" altLang="en-US" sz="1500" dirty="0"/>
              <a:t> The clause </a:t>
            </a:r>
            <a:r>
              <a:rPr lang="en-US" altLang="en-US" sz="1500" dirty="0">
                <a:latin typeface="Courier" pitchFamily="49" charset="0"/>
              </a:rPr>
              <a:t>private (variable list)</a:t>
            </a:r>
            <a:r>
              <a:rPr lang="en-US" altLang="en-US" sz="1500" dirty="0"/>
              <a:t> indicates variables local to each thread. The clause </a:t>
            </a:r>
            <a:r>
              <a:rPr lang="en-US" altLang="en-US" sz="1500" dirty="0" err="1">
                <a:latin typeface="Courier" pitchFamily="49" charset="0"/>
              </a:rPr>
              <a:t>firstprivate</a:t>
            </a:r>
            <a:r>
              <a:rPr lang="en-US" altLang="en-US" sz="1500" dirty="0">
                <a:latin typeface="Courier" pitchFamily="49" charset="0"/>
              </a:rPr>
              <a:t> (variable list)</a:t>
            </a:r>
            <a:r>
              <a:rPr lang="en-US" altLang="en-US" sz="1500" dirty="0"/>
              <a:t> is similar to the </a:t>
            </a:r>
            <a:r>
              <a:rPr lang="en-US" altLang="en-US" sz="1500" dirty="0">
                <a:latin typeface="Courier" pitchFamily="49" charset="0"/>
              </a:rPr>
              <a:t>private</a:t>
            </a:r>
            <a:r>
              <a:rPr lang="en-US" altLang="en-US" sz="1500" dirty="0"/>
              <a:t>, except values of variables are initialized to corresponding values before the parallel directive. The clause </a:t>
            </a:r>
            <a:r>
              <a:rPr lang="en-US" altLang="en-US" sz="1500" dirty="0">
                <a:latin typeface="Courier" pitchFamily="49" charset="0"/>
              </a:rPr>
              <a:t>shared (variable list)</a:t>
            </a:r>
            <a:r>
              <a:rPr lang="en-US" altLang="en-US" sz="1500" dirty="0"/>
              <a:t> indicates that variables are shared across all the threads.</a:t>
            </a:r>
          </a:p>
          <a:p>
            <a:pPr>
              <a:lnSpc>
                <a:spcPct val="90000"/>
              </a:lnSpc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8617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010025" y="214313"/>
            <a:ext cx="5238750" cy="857250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OpenMP</a:t>
            </a:r>
            <a:r>
              <a:rPr lang="en-US" altLang="en-US" dirty="0"/>
              <a:t> Programming Model 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6200" y="4355305"/>
            <a:ext cx="5610225" cy="76557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800" dirty="0"/>
              <a:t>A sample </a:t>
            </a:r>
            <a:r>
              <a:rPr lang="en-US" altLang="en-US" sz="1800" dirty="0" err="1"/>
              <a:t>OpenMP</a:t>
            </a:r>
            <a:r>
              <a:rPr lang="en-US" altLang="en-US" sz="1800" dirty="0"/>
              <a:t> program along with its </a:t>
            </a:r>
            <a:r>
              <a:rPr lang="en-US" altLang="en-US" sz="1800" dirty="0" err="1"/>
              <a:t>Pthreads</a:t>
            </a:r>
            <a:r>
              <a:rPr lang="en-US" altLang="en-US" sz="1800" dirty="0"/>
              <a:t> translation that might be performed by an </a:t>
            </a:r>
            <a:r>
              <a:rPr lang="en-US" altLang="en-US" sz="1800" dirty="0" err="1"/>
              <a:t>OpenMP</a:t>
            </a:r>
            <a:r>
              <a:rPr lang="en-US" altLang="en-US" sz="1800" dirty="0"/>
              <a:t> compiler.</a:t>
            </a:r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971550"/>
            <a:ext cx="5000625" cy="3392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438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OpenMP Programming Model 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1200151"/>
            <a:ext cx="6343650" cy="3394472"/>
          </a:xfrm>
        </p:spPr>
        <p:txBody>
          <a:bodyPr/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200">
                <a:latin typeface="Courier" pitchFamily="49" charset="0"/>
              </a:rPr>
              <a:t>#pragma omp parallel if (is_parallel== 1) num_threads(8) \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200">
                <a:latin typeface="Courier" pitchFamily="49" charset="0"/>
              </a:rPr>
              <a:t>	private (a) shared (b) firstprivate(c)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200">
                <a:latin typeface="Courier" pitchFamily="49" charset="0"/>
              </a:rPr>
              <a:t> /* structured block */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200">
                <a:latin typeface="Courier" pitchFamily="49" charset="0"/>
              </a:rPr>
              <a:t>}</a:t>
            </a:r>
            <a:r>
              <a:rPr lang="en-US" altLang="en-US" sz="1500">
                <a:latin typeface="Courier" pitchFamily="49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1800"/>
              <a:t>If the value of the variable is_parallel equals one, eight threads are created. </a:t>
            </a:r>
          </a:p>
          <a:p>
            <a:pPr>
              <a:lnSpc>
                <a:spcPct val="90000"/>
              </a:lnSpc>
            </a:pPr>
            <a:r>
              <a:rPr lang="en-US" altLang="en-US" sz="1800"/>
              <a:t>Each of these threads gets private copies of variables a and c, and shares a single value of variable b. </a:t>
            </a:r>
          </a:p>
          <a:p>
            <a:pPr>
              <a:lnSpc>
                <a:spcPct val="90000"/>
              </a:lnSpc>
            </a:pPr>
            <a:r>
              <a:rPr lang="en-US" altLang="en-US" sz="1800"/>
              <a:t>The value of each copy of c is initialized to the value of c before the parallel directive. </a:t>
            </a:r>
          </a:p>
          <a:p>
            <a:pPr>
              <a:lnSpc>
                <a:spcPct val="90000"/>
              </a:lnSpc>
            </a:pPr>
            <a:r>
              <a:rPr lang="en-US" altLang="en-US" sz="1800"/>
              <a:t>The default state of a variable is specified by the clause default (shared) or default (none). </a:t>
            </a:r>
          </a:p>
          <a:p>
            <a:pPr>
              <a:lnSpc>
                <a:spcPct val="90000"/>
              </a:lnSpc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06522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Reduction Clause in OpenMP 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1800"/>
              <a:t>The </a:t>
            </a:r>
            <a:r>
              <a:rPr lang="en-US" altLang="en-US" sz="1800">
                <a:latin typeface="Courier" pitchFamily="49" charset="0"/>
              </a:rPr>
              <a:t>reduction</a:t>
            </a:r>
            <a:r>
              <a:rPr lang="en-US" altLang="en-US" sz="1800"/>
              <a:t> clause specifies how multiple local copies of a variable at different threads are combined into a single copy at the master when threads exit. </a:t>
            </a:r>
          </a:p>
          <a:p>
            <a:pPr>
              <a:lnSpc>
                <a:spcPct val="90000"/>
              </a:lnSpc>
            </a:pPr>
            <a:r>
              <a:rPr lang="en-US" altLang="en-US" sz="1800"/>
              <a:t>The usage of the </a:t>
            </a:r>
            <a:r>
              <a:rPr lang="en-US" altLang="en-US" sz="1800">
                <a:latin typeface="Courier" pitchFamily="49" charset="0"/>
              </a:rPr>
              <a:t>reduction</a:t>
            </a:r>
            <a:r>
              <a:rPr lang="en-US" altLang="en-US" sz="1800"/>
              <a:t> clause is </a:t>
            </a:r>
            <a:r>
              <a:rPr lang="en-US" altLang="en-US" sz="1800">
                <a:latin typeface="Courier" pitchFamily="49" charset="0"/>
              </a:rPr>
              <a:t>reduction (operator: variable list)</a:t>
            </a:r>
            <a:r>
              <a:rPr lang="en-US" altLang="en-US" sz="1800"/>
              <a:t>. </a:t>
            </a:r>
          </a:p>
          <a:p>
            <a:pPr>
              <a:lnSpc>
                <a:spcPct val="90000"/>
              </a:lnSpc>
            </a:pPr>
            <a:r>
              <a:rPr lang="en-US" altLang="en-US" sz="1800"/>
              <a:t>The variables in the list are implicitly specified as being private to threads. </a:t>
            </a:r>
          </a:p>
          <a:p>
            <a:pPr>
              <a:lnSpc>
                <a:spcPct val="90000"/>
              </a:lnSpc>
            </a:pPr>
            <a:r>
              <a:rPr lang="en-US" altLang="en-US" sz="1800"/>
              <a:t>The </a:t>
            </a:r>
            <a:r>
              <a:rPr lang="en-US" altLang="en-US" sz="1800">
                <a:latin typeface="Courier" pitchFamily="49" charset="0"/>
              </a:rPr>
              <a:t>operator</a:t>
            </a:r>
            <a:r>
              <a:rPr lang="en-US" altLang="en-US" sz="1800"/>
              <a:t> can be one of </a:t>
            </a:r>
            <a:r>
              <a:rPr lang="en-US" altLang="en-US" sz="1800">
                <a:latin typeface="Courier" pitchFamily="49" charset="0"/>
              </a:rPr>
              <a:t>+, *, -, &amp;, |, ^, &amp;&amp;,</a:t>
            </a:r>
            <a:r>
              <a:rPr lang="en-US" altLang="en-US" sz="1800"/>
              <a:t> and </a:t>
            </a:r>
            <a:r>
              <a:rPr lang="en-US" altLang="en-US" sz="1800">
                <a:latin typeface="Courier" pitchFamily="49" charset="0"/>
              </a:rPr>
              <a:t>||</a:t>
            </a:r>
            <a:r>
              <a:rPr lang="en-US" altLang="en-US" sz="1800"/>
              <a:t>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350">
                <a:latin typeface="Courier" pitchFamily="49" charset="0"/>
              </a:rPr>
              <a:t>#pragma omp parallel reduction(+: sum) num_threads(8) {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350">
                <a:latin typeface="Courier" pitchFamily="49" charset="0"/>
              </a:rPr>
              <a:t>/* compute local sums here */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350">
                <a:latin typeface="Courier" pitchFamily="49" charset="0"/>
              </a:rPr>
              <a:t>}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350">
                <a:latin typeface="Courier" pitchFamily="49" charset="0"/>
              </a:rPr>
              <a:t>/*sum here contains sum of all local instances of sums */</a:t>
            </a:r>
            <a:r>
              <a:rPr lang="en-US" altLang="en-US" sz="1500">
                <a:latin typeface="Courier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53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00400" y="0"/>
            <a:ext cx="5257800" cy="865573"/>
          </a:xfrm>
        </p:spPr>
        <p:txBody>
          <a:bodyPr/>
          <a:lstStyle/>
          <a:p>
            <a:r>
              <a:rPr lang="en-US" altLang="en-US" sz="3000" dirty="0" err="1"/>
              <a:t>OpenMP</a:t>
            </a:r>
            <a:r>
              <a:rPr lang="en-US" altLang="en-US" sz="3000" dirty="0"/>
              <a:t> Programming: Example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5200" y="1047750"/>
            <a:ext cx="5562600" cy="265464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/* ******************************************************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An </a:t>
            </a:r>
            <a:r>
              <a:rPr lang="en-US" altLang="en-US" sz="1350" dirty="0" err="1">
                <a:latin typeface="Courier" pitchFamily="49" charset="0"/>
              </a:rPr>
              <a:t>OpenMP</a:t>
            </a:r>
            <a:r>
              <a:rPr lang="en-US" altLang="en-US" sz="1350" dirty="0">
                <a:latin typeface="Courier" pitchFamily="49" charset="0"/>
              </a:rPr>
              <a:t> version of a threaded program to compute PI.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******************************************************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#pragma </a:t>
            </a:r>
            <a:r>
              <a:rPr lang="en-US" altLang="en-US" sz="1350" dirty="0" err="1">
                <a:latin typeface="Courier" pitchFamily="49" charset="0"/>
              </a:rPr>
              <a:t>omp</a:t>
            </a:r>
            <a:r>
              <a:rPr lang="en-US" altLang="en-US" sz="1350" dirty="0">
                <a:latin typeface="Courier" pitchFamily="49" charset="0"/>
              </a:rPr>
              <a:t> parallel default(private) shared (</a:t>
            </a:r>
            <a:r>
              <a:rPr lang="en-US" altLang="en-US" sz="1350" dirty="0" err="1">
                <a:latin typeface="Courier" pitchFamily="49" charset="0"/>
              </a:rPr>
              <a:t>npoints</a:t>
            </a:r>
            <a:r>
              <a:rPr lang="en-US" altLang="en-US" sz="1350" dirty="0">
                <a:latin typeface="Courier" pitchFamily="49" charset="0"/>
              </a:rPr>
              <a:t>) \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reduction(+: sum) </a:t>
            </a:r>
            <a:r>
              <a:rPr lang="en-US" altLang="en-US" sz="1200" dirty="0" err="1">
                <a:latin typeface="Courier" pitchFamily="49" charset="0"/>
              </a:rPr>
              <a:t>num_threads</a:t>
            </a:r>
            <a:r>
              <a:rPr lang="en-US" altLang="en-US" sz="1200" dirty="0">
                <a:latin typeface="Courier" pitchFamily="49" charset="0"/>
              </a:rPr>
              <a:t>(8)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 err="1">
                <a:latin typeface="Courier" pitchFamily="49" charset="0"/>
              </a:rPr>
              <a:t>num_threads</a:t>
            </a:r>
            <a:r>
              <a:rPr lang="en-US" altLang="en-US" sz="1200" dirty="0">
                <a:latin typeface="Courier" pitchFamily="49" charset="0"/>
              </a:rPr>
              <a:t> = </a:t>
            </a:r>
            <a:r>
              <a:rPr lang="en-US" altLang="en-US" sz="1200" dirty="0" err="1">
                <a:latin typeface="Courier" pitchFamily="49" charset="0"/>
              </a:rPr>
              <a:t>omp_get_num_threads</a:t>
            </a:r>
            <a:r>
              <a:rPr lang="en-US" altLang="en-US" sz="1200" dirty="0">
                <a:latin typeface="Courier" pitchFamily="49" charset="0"/>
              </a:rPr>
              <a:t>();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 err="1">
                <a:latin typeface="Courier" pitchFamily="49" charset="0"/>
              </a:rPr>
              <a:t>sample_points_per_thread</a:t>
            </a:r>
            <a:r>
              <a:rPr lang="en-US" altLang="en-US" sz="1200" dirty="0">
                <a:latin typeface="Courier" pitchFamily="49" charset="0"/>
              </a:rPr>
              <a:t> = </a:t>
            </a:r>
            <a:r>
              <a:rPr lang="en-US" altLang="en-US" sz="1200" dirty="0" err="1">
                <a:latin typeface="Courier" pitchFamily="49" charset="0"/>
              </a:rPr>
              <a:t>npoints</a:t>
            </a:r>
            <a:r>
              <a:rPr lang="en-US" altLang="en-US" sz="1200" dirty="0">
                <a:latin typeface="Courier" pitchFamily="49" charset="0"/>
              </a:rPr>
              <a:t> / </a:t>
            </a:r>
            <a:r>
              <a:rPr lang="en-US" altLang="en-US" sz="1200" dirty="0" err="1">
                <a:latin typeface="Courier" pitchFamily="49" charset="0"/>
              </a:rPr>
              <a:t>num_threads</a:t>
            </a:r>
            <a:r>
              <a:rPr lang="en-US" altLang="en-US" sz="1200" dirty="0">
                <a:latin typeface="Courier" pitchFamily="49" charset="0"/>
              </a:rPr>
              <a:t>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sum = 0;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for (</a:t>
            </a:r>
            <a:r>
              <a:rPr lang="en-US" altLang="en-US" sz="1200" dirty="0" err="1">
                <a:latin typeface="Courier" pitchFamily="49" charset="0"/>
              </a:rPr>
              <a:t>i</a:t>
            </a:r>
            <a:r>
              <a:rPr lang="en-US" altLang="en-US" sz="1200" dirty="0">
                <a:latin typeface="Courier" pitchFamily="49" charset="0"/>
              </a:rPr>
              <a:t> = 0; </a:t>
            </a:r>
            <a:r>
              <a:rPr lang="en-US" altLang="en-US" sz="1200" dirty="0" err="1">
                <a:latin typeface="Courier" pitchFamily="49" charset="0"/>
              </a:rPr>
              <a:t>i</a:t>
            </a:r>
            <a:r>
              <a:rPr lang="en-US" altLang="en-US" sz="1200" dirty="0">
                <a:latin typeface="Courier" pitchFamily="49" charset="0"/>
              </a:rPr>
              <a:t> &lt; </a:t>
            </a:r>
            <a:r>
              <a:rPr lang="en-US" altLang="en-US" sz="1200" dirty="0" err="1">
                <a:latin typeface="Courier" pitchFamily="49" charset="0"/>
              </a:rPr>
              <a:t>sample_points_per_thread</a:t>
            </a:r>
            <a:r>
              <a:rPr lang="en-US" altLang="en-US" sz="1200" dirty="0">
                <a:latin typeface="Courier" pitchFamily="49" charset="0"/>
              </a:rPr>
              <a:t>; </a:t>
            </a:r>
            <a:r>
              <a:rPr lang="en-US" altLang="en-US" sz="1200" dirty="0" err="1">
                <a:latin typeface="Courier" pitchFamily="49" charset="0"/>
              </a:rPr>
              <a:t>i</a:t>
            </a:r>
            <a:r>
              <a:rPr lang="en-US" altLang="en-US" sz="1200" dirty="0">
                <a:latin typeface="Courier" pitchFamily="49" charset="0"/>
              </a:rPr>
              <a:t>++) {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050" dirty="0" err="1">
                <a:latin typeface="Courier" pitchFamily="49" charset="0"/>
              </a:rPr>
              <a:t>rand_no_x</a:t>
            </a:r>
            <a:r>
              <a:rPr lang="en-US" altLang="en-US" sz="1050" dirty="0">
                <a:latin typeface="Courier" pitchFamily="49" charset="0"/>
              </a:rPr>
              <a:t> =(double)(</a:t>
            </a:r>
            <a:r>
              <a:rPr lang="en-US" altLang="en-US" sz="1050" dirty="0" err="1">
                <a:latin typeface="Courier" pitchFamily="49" charset="0"/>
              </a:rPr>
              <a:t>rand_r</a:t>
            </a:r>
            <a:r>
              <a:rPr lang="en-US" altLang="en-US" sz="1050" dirty="0">
                <a:latin typeface="Courier" pitchFamily="49" charset="0"/>
              </a:rPr>
              <a:t>(&amp;seed))/(double)((2&lt;&lt;14)-1);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050" dirty="0" err="1">
                <a:latin typeface="Courier" pitchFamily="49" charset="0"/>
              </a:rPr>
              <a:t>rand_no_y</a:t>
            </a:r>
            <a:r>
              <a:rPr lang="en-US" altLang="en-US" sz="1050" dirty="0">
                <a:latin typeface="Courier" pitchFamily="49" charset="0"/>
              </a:rPr>
              <a:t> =(double)(</a:t>
            </a:r>
            <a:r>
              <a:rPr lang="en-US" altLang="en-US" sz="1050" dirty="0" err="1">
                <a:latin typeface="Courier" pitchFamily="49" charset="0"/>
              </a:rPr>
              <a:t>rand_r</a:t>
            </a:r>
            <a:r>
              <a:rPr lang="en-US" altLang="en-US" sz="1050" dirty="0">
                <a:latin typeface="Courier" pitchFamily="49" charset="0"/>
              </a:rPr>
              <a:t>(&amp;seed))/(double)((2&lt;&lt;14)-1);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050" dirty="0">
                <a:latin typeface="Courier" pitchFamily="49" charset="0"/>
              </a:rPr>
              <a:t>if (((</a:t>
            </a:r>
            <a:r>
              <a:rPr lang="en-US" altLang="en-US" sz="1050" dirty="0" err="1">
                <a:latin typeface="Courier" pitchFamily="49" charset="0"/>
              </a:rPr>
              <a:t>rand_no_x</a:t>
            </a:r>
            <a:r>
              <a:rPr lang="en-US" altLang="en-US" sz="1050" dirty="0">
                <a:latin typeface="Courier" pitchFamily="49" charset="0"/>
              </a:rPr>
              <a:t> - 0.5) * (</a:t>
            </a:r>
            <a:r>
              <a:rPr lang="en-US" altLang="en-US" sz="1050" dirty="0" err="1">
                <a:latin typeface="Courier" pitchFamily="49" charset="0"/>
              </a:rPr>
              <a:t>rand_no_x</a:t>
            </a:r>
            <a:r>
              <a:rPr lang="en-US" altLang="en-US" sz="1050" dirty="0">
                <a:latin typeface="Courier" pitchFamily="49" charset="0"/>
              </a:rPr>
              <a:t> - 0.5) +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en-US" sz="900" dirty="0">
                <a:latin typeface="Courier" pitchFamily="49" charset="0"/>
              </a:rPr>
              <a:t>(</a:t>
            </a:r>
            <a:r>
              <a:rPr lang="en-US" altLang="en-US" sz="900" dirty="0" err="1">
                <a:latin typeface="Courier" pitchFamily="49" charset="0"/>
              </a:rPr>
              <a:t>rand_no_y</a:t>
            </a:r>
            <a:r>
              <a:rPr lang="en-US" altLang="en-US" sz="900" dirty="0">
                <a:latin typeface="Courier" pitchFamily="49" charset="0"/>
              </a:rPr>
              <a:t> - 0.5) * (</a:t>
            </a:r>
            <a:r>
              <a:rPr lang="en-US" altLang="en-US" sz="900" dirty="0" err="1">
                <a:latin typeface="Courier" pitchFamily="49" charset="0"/>
              </a:rPr>
              <a:t>rand_no_y</a:t>
            </a:r>
            <a:r>
              <a:rPr lang="en-US" altLang="en-US" sz="900" dirty="0">
                <a:latin typeface="Courier" pitchFamily="49" charset="0"/>
              </a:rPr>
              <a:t> - 0.5)) &lt; 0.25)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en-US" sz="900" dirty="0">
                <a:latin typeface="Courier" pitchFamily="49" charset="0"/>
              </a:rPr>
              <a:t>sum ++;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}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350" dirty="0"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38600" y="133350"/>
            <a:ext cx="4876800" cy="857250"/>
          </a:xfrm>
        </p:spPr>
        <p:txBody>
          <a:bodyPr>
            <a:normAutofit fontScale="90000"/>
          </a:bodyPr>
          <a:lstStyle/>
          <a:p>
            <a:r>
              <a:rPr lang="en-US" altLang="en-US" sz="3000" dirty="0"/>
              <a:t>Specifying Concurrent Tasks in </a:t>
            </a:r>
            <a:r>
              <a:rPr lang="en-US" altLang="en-US" sz="3000" dirty="0" err="1"/>
              <a:t>OpenMP</a:t>
            </a:r>
            <a:endParaRPr lang="en-US" altLang="en-US" sz="30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4800" y="1123950"/>
            <a:ext cx="4953000" cy="379095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1800" dirty="0"/>
              <a:t>The </a:t>
            </a:r>
            <a:r>
              <a:rPr lang="en-US" altLang="en-US" sz="1800" dirty="0">
                <a:latin typeface="Courier" pitchFamily="49" charset="0"/>
              </a:rPr>
              <a:t>parallel</a:t>
            </a:r>
            <a:r>
              <a:rPr lang="en-US" altLang="en-US" sz="1800" dirty="0"/>
              <a:t> directive can be used in conjunction with other directives to specify concurrency across iterations and tasks. </a:t>
            </a:r>
          </a:p>
          <a:p>
            <a:pPr>
              <a:lnSpc>
                <a:spcPct val="80000"/>
              </a:lnSpc>
            </a:pPr>
            <a:r>
              <a:rPr lang="en-US" altLang="en-US" sz="1800" dirty="0" err="1"/>
              <a:t>OpenMP</a:t>
            </a:r>
            <a:r>
              <a:rPr lang="en-US" altLang="en-US" sz="1800" dirty="0"/>
              <a:t> provides two directives - </a:t>
            </a:r>
            <a:r>
              <a:rPr lang="en-US" altLang="en-US" sz="1800" dirty="0">
                <a:latin typeface="Courier" pitchFamily="49" charset="0"/>
              </a:rPr>
              <a:t>for</a:t>
            </a:r>
            <a:r>
              <a:rPr lang="en-US" altLang="en-US" sz="1800" dirty="0"/>
              <a:t> and </a:t>
            </a:r>
            <a:r>
              <a:rPr lang="en-US" altLang="en-US" sz="1800" dirty="0">
                <a:latin typeface="Courier" pitchFamily="49" charset="0"/>
              </a:rPr>
              <a:t>sections</a:t>
            </a:r>
            <a:r>
              <a:rPr lang="en-US" altLang="en-US" sz="1800" dirty="0"/>
              <a:t> - to specify concurrent iterations and tasks. </a:t>
            </a:r>
          </a:p>
          <a:p>
            <a:pPr>
              <a:lnSpc>
                <a:spcPct val="80000"/>
              </a:lnSpc>
            </a:pPr>
            <a:r>
              <a:rPr lang="en-US" altLang="en-US" sz="1800" dirty="0"/>
              <a:t>The </a:t>
            </a:r>
            <a:r>
              <a:rPr lang="en-US" altLang="en-US" sz="1800" dirty="0">
                <a:latin typeface="Courier" pitchFamily="49" charset="0"/>
              </a:rPr>
              <a:t>for</a:t>
            </a:r>
            <a:r>
              <a:rPr lang="en-US" altLang="en-US" sz="1800" dirty="0"/>
              <a:t> directive is used to split parallel iteration spaces across threads. The general form of a for directive is as follows: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500" dirty="0">
                <a:latin typeface="Courier" pitchFamily="49" charset="0"/>
              </a:rPr>
              <a:t>#pragma </a:t>
            </a:r>
            <a:r>
              <a:rPr lang="en-US" altLang="en-US" sz="1500" dirty="0" err="1">
                <a:latin typeface="Courier" pitchFamily="49" charset="0"/>
              </a:rPr>
              <a:t>omp</a:t>
            </a:r>
            <a:r>
              <a:rPr lang="en-US" altLang="en-US" sz="1500" dirty="0">
                <a:latin typeface="Courier" pitchFamily="49" charset="0"/>
              </a:rPr>
              <a:t> for [clause list] 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/* for loop */</a:t>
            </a:r>
            <a:r>
              <a:rPr lang="en-US" altLang="en-US" sz="1350" dirty="0"/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1800" dirty="0"/>
              <a:t>The clauses that can be used in this context are: </a:t>
            </a:r>
            <a:r>
              <a:rPr lang="en-US" altLang="en-US" sz="1800" dirty="0">
                <a:latin typeface="Courier" pitchFamily="49" charset="0"/>
              </a:rPr>
              <a:t>private, </a:t>
            </a:r>
            <a:r>
              <a:rPr lang="en-US" altLang="en-US" sz="1800" dirty="0" err="1">
                <a:latin typeface="Courier" pitchFamily="49" charset="0"/>
              </a:rPr>
              <a:t>firstprivate</a:t>
            </a:r>
            <a:r>
              <a:rPr lang="en-US" altLang="en-US" sz="1800" dirty="0">
                <a:latin typeface="Courier" pitchFamily="49" charset="0"/>
              </a:rPr>
              <a:t>, </a:t>
            </a:r>
            <a:r>
              <a:rPr lang="en-US" altLang="en-US" sz="1800" dirty="0" err="1">
                <a:latin typeface="Courier" pitchFamily="49" charset="0"/>
              </a:rPr>
              <a:t>lastprivate</a:t>
            </a:r>
            <a:r>
              <a:rPr lang="en-US" altLang="en-US" sz="1800" dirty="0">
                <a:latin typeface="Courier" pitchFamily="49" charset="0"/>
              </a:rPr>
              <a:t>, reduction, schedule, </a:t>
            </a:r>
            <a:r>
              <a:rPr lang="en-US" altLang="en-US" sz="1800" dirty="0" err="1">
                <a:latin typeface="Courier" pitchFamily="49" charset="0"/>
              </a:rPr>
              <a:t>nowait</a:t>
            </a:r>
            <a:r>
              <a:rPr lang="en-US" altLang="en-US" sz="1800" dirty="0"/>
              <a:t>, and </a:t>
            </a:r>
            <a:r>
              <a:rPr lang="en-US" altLang="en-US" sz="1800" dirty="0">
                <a:latin typeface="Courier" pitchFamily="49" charset="0"/>
              </a:rPr>
              <a:t>ordered</a:t>
            </a:r>
            <a:r>
              <a:rPr lang="en-US" alt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528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733800" y="133350"/>
            <a:ext cx="4724400" cy="865573"/>
          </a:xfrm>
        </p:spPr>
        <p:txBody>
          <a:bodyPr>
            <a:normAutofit fontScale="90000"/>
          </a:bodyPr>
          <a:lstStyle/>
          <a:p>
            <a:r>
              <a:rPr lang="en-US" altLang="en-US" sz="3000" dirty="0"/>
              <a:t>Specifying Concurrent Tasks in </a:t>
            </a:r>
            <a:r>
              <a:rPr lang="en-US" altLang="en-US" sz="3000" dirty="0" err="1"/>
              <a:t>OpenMP</a:t>
            </a:r>
            <a:r>
              <a:rPr lang="en-US" altLang="en-US" sz="3000" dirty="0"/>
              <a:t>: Example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48025" y="998923"/>
            <a:ext cx="5867400" cy="2487227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#pragma </a:t>
            </a:r>
            <a:r>
              <a:rPr lang="en-US" altLang="en-US" sz="1200" dirty="0" err="1">
                <a:latin typeface="Courier" pitchFamily="49" charset="0"/>
              </a:rPr>
              <a:t>omp</a:t>
            </a:r>
            <a:r>
              <a:rPr lang="en-US" altLang="en-US" sz="1200" dirty="0">
                <a:latin typeface="Courier" pitchFamily="49" charset="0"/>
              </a:rPr>
              <a:t> parallel default(private) shared (</a:t>
            </a:r>
            <a:r>
              <a:rPr lang="en-US" altLang="en-US" sz="1200" dirty="0" err="1">
                <a:latin typeface="Courier" pitchFamily="49" charset="0"/>
              </a:rPr>
              <a:t>npoints</a:t>
            </a:r>
            <a:r>
              <a:rPr lang="en-US" altLang="en-US" sz="1200" dirty="0">
                <a:latin typeface="Courier" pitchFamily="49" charset="0"/>
              </a:rPr>
              <a:t>) \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reduction(+: sum) </a:t>
            </a:r>
            <a:r>
              <a:rPr lang="en-US" altLang="en-US" sz="1200" dirty="0" err="1">
                <a:latin typeface="Courier" pitchFamily="49" charset="0"/>
              </a:rPr>
              <a:t>num_threads</a:t>
            </a:r>
            <a:r>
              <a:rPr lang="en-US" altLang="en-US" sz="1200" dirty="0">
                <a:latin typeface="Courier" pitchFamily="49" charset="0"/>
              </a:rPr>
              <a:t>(8)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sum = 0;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#pragma </a:t>
            </a:r>
            <a:r>
              <a:rPr lang="en-US" altLang="en-US" sz="1200" dirty="0" err="1">
                <a:latin typeface="Courier" pitchFamily="49" charset="0"/>
              </a:rPr>
              <a:t>omp</a:t>
            </a:r>
            <a:r>
              <a:rPr lang="en-US" altLang="en-US" sz="1200" dirty="0">
                <a:latin typeface="Courier" pitchFamily="49" charset="0"/>
              </a:rPr>
              <a:t> for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for (</a:t>
            </a:r>
            <a:r>
              <a:rPr lang="en-US" altLang="en-US" sz="1200" dirty="0" err="1">
                <a:latin typeface="Courier" pitchFamily="49" charset="0"/>
              </a:rPr>
              <a:t>i</a:t>
            </a:r>
            <a:r>
              <a:rPr lang="en-US" altLang="en-US" sz="1200" dirty="0">
                <a:latin typeface="Courier" pitchFamily="49" charset="0"/>
              </a:rPr>
              <a:t> = 0; </a:t>
            </a:r>
            <a:r>
              <a:rPr lang="en-US" altLang="en-US" sz="1200" dirty="0" err="1">
                <a:latin typeface="Courier" pitchFamily="49" charset="0"/>
              </a:rPr>
              <a:t>i</a:t>
            </a:r>
            <a:r>
              <a:rPr lang="en-US" altLang="en-US" sz="1200" dirty="0">
                <a:latin typeface="Courier" pitchFamily="49" charset="0"/>
              </a:rPr>
              <a:t> &lt; </a:t>
            </a:r>
            <a:r>
              <a:rPr lang="en-US" altLang="en-US" sz="1200" dirty="0" err="1">
                <a:latin typeface="Courier" pitchFamily="49" charset="0"/>
              </a:rPr>
              <a:t>npoints</a:t>
            </a:r>
            <a:r>
              <a:rPr lang="en-US" altLang="en-US" sz="1200" dirty="0">
                <a:latin typeface="Courier" pitchFamily="49" charset="0"/>
              </a:rPr>
              <a:t>; </a:t>
            </a:r>
            <a:r>
              <a:rPr lang="en-US" altLang="en-US" sz="1200" dirty="0" err="1">
                <a:latin typeface="Courier" pitchFamily="49" charset="0"/>
              </a:rPr>
              <a:t>i</a:t>
            </a:r>
            <a:r>
              <a:rPr lang="en-US" altLang="en-US" sz="1200" dirty="0">
                <a:latin typeface="Courier" pitchFamily="49" charset="0"/>
              </a:rPr>
              <a:t>++) {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 err="1">
                <a:latin typeface="Courier" pitchFamily="49" charset="0"/>
              </a:rPr>
              <a:t>rand_no_x</a:t>
            </a:r>
            <a:r>
              <a:rPr lang="en-US" altLang="en-US" sz="1200" dirty="0">
                <a:latin typeface="Courier" pitchFamily="49" charset="0"/>
              </a:rPr>
              <a:t> =(double)(</a:t>
            </a:r>
            <a:r>
              <a:rPr lang="en-US" altLang="en-US" sz="1200" dirty="0" err="1">
                <a:latin typeface="Courier" pitchFamily="49" charset="0"/>
              </a:rPr>
              <a:t>rand_r</a:t>
            </a:r>
            <a:r>
              <a:rPr lang="en-US" altLang="en-US" sz="1200" dirty="0">
                <a:latin typeface="Courier" pitchFamily="49" charset="0"/>
              </a:rPr>
              <a:t>(&amp;seed))/(double)((2&lt;&lt;14)-1);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 err="1">
                <a:latin typeface="Courier" pitchFamily="49" charset="0"/>
              </a:rPr>
              <a:t>rand_no_y</a:t>
            </a:r>
            <a:r>
              <a:rPr lang="en-US" altLang="en-US" sz="1200" dirty="0">
                <a:latin typeface="Courier" pitchFamily="49" charset="0"/>
              </a:rPr>
              <a:t> =(double)(</a:t>
            </a:r>
            <a:r>
              <a:rPr lang="en-US" altLang="en-US" sz="1200" dirty="0" err="1">
                <a:latin typeface="Courier" pitchFamily="49" charset="0"/>
              </a:rPr>
              <a:t>rand_r</a:t>
            </a:r>
            <a:r>
              <a:rPr lang="en-US" altLang="en-US" sz="1200" dirty="0">
                <a:latin typeface="Courier" pitchFamily="49" charset="0"/>
              </a:rPr>
              <a:t>(&amp;seed))/(double)((2&lt;&lt;14)-1);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if (((</a:t>
            </a:r>
            <a:r>
              <a:rPr lang="en-US" altLang="en-US" sz="1200" dirty="0" err="1">
                <a:latin typeface="Courier" pitchFamily="49" charset="0"/>
              </a:rPr>
              <a:t>rand_no_x</a:t>
            </a:r>
            <a:r>
              <a:rPr lang="en-US" altLang="en-US" sz="1200" dirty="0">
                <a:latin typeface="Courier" pitchFamily="49" charset="0"/>
              </a:rPr>
              <a:t> - 0.5) * (</a:t>
            </a:r>
            <a:r>
              <a:rPr lang="en-US" altLang="en-US" sz="1200" dirty="0" err="1">
                <a:latin typeface="Courier" pitchFamily="49" charset="0"/>
              </a:rPr>
              <a:t>rand_no_x</a:t>
            </a:r>
            <a:r>
              <a:rPr lang="en-US" altLang="en-US" sz="1200" dirty="0">
                <a:latin typeface="Courier" pitchFamily="49" charset="0"/>
              </a:rPr>
              <a:t> - 0.5) +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(</a:t>
            </a:r>
            <a:r>
              <a:rPr lang="en-US" altLang="en-US" sz="1200" dirty="0" err="1">
                <a:latin typeface="Courier" pitchFamily="49" charset="0"/>
              </a:rPr>
              <a:t>rand_no_y</a:t>
            </a:r>
            <a:r>
              <a:rPr lang="en-US" altLang="en-US" sz="1200" dirty="0">
                <a:latin typeface="Courier" pitchFamily="49" charset="0"/>
              </a:rPr>
              <a:t> - 0.5) * (</a:t>
            </a:r>
            <a:r>
              <a:rPr lang="en-US" altLang="en-US" sz="1200" dirty="0" err="1">
                <a:latin typeface="Courier" pitchFamily="49" charset="0"/>
              </a:rPr>
              <a:t>rand_no_y</a:t>
            </a:r>
            <a:r>
              <a:rPr lang="en-US" altLang="en-US" sz="1200" dirty="0">
                <a:latin typeface="Courier" pitchFamily="49" charset="0"/>
              </a:rPr>
              <a:t> - 0.5)) &lt; 0.25)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sum ++;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200" dirty="0"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98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86200" y="209550"/>
            <a:ext cx="4495800" cy="86557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Assigning Iterations to Threads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5800" y="1075123"/>
            <a:ext cx="4495800" cy="3394472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>
                <a:latin typeface="Courier" pitchFamily="49" charset="0"/>
              </a:rPr>
              <a:t>schedule</a:t>
            </a:r>
            <a:r>
              <a:rPr lang="en-US" altLang="en-US" dirty="0"/>
              <a:t> clause of the </a:t>
            </a:r>
            <a:r>
              <a:rPr lang="en-US" altLang="en-US" dirty="0">
                <a:latin typeface="Courier" pitchFamily="49" charset="0"/>
              </a:rPr>
              <a:t>for</a:t>
            </a:r>
            <a:r>
              <a:rPr lang="en-US" altLang="en-US" dirty="0"/>
              <a:t> directive deals with the assignment of iterations to threads. </a:t>
            </a:r>
          </a:p>
          <a:p>
            <a:r>
              <a:rPr lang="en-US" altLang="en-US" dirty="0"/>
              <a:t>The general form of the </a:t>
            </a:r>
            <a:r>
              <a:rPr lang="en-US" altLang="en-US" dirty="0">
                <a:latin typeface="Courier" pitchFamily="49" charset="0"/>
              </a:rPr>
              <a:t>schedule</a:t>
            </a:r>
            <a:r>
              <a:rPr lang="en-US" altLang="en-US" dirty="0"/>
              <a:t> directive is </a:t>
            </a:r>
            <a:r>
              <a:rPr lang="en-US" altLang="en-US" sz="1350" dirty="0">
                <a:latin typeface="Courier" pitchFamily="49" charset="0"/>
              </a:rPr>
              <a:t>schedule(</a:t>
            </a:r>
            <a:r>
              <a:rPr lang="en-US" altLang="en-US" sz="1350" dirty="0" err="1">
                <a:latin typeface="Courier" pitchFamily="49" charset="0"/>
              </a:rPr>
              <a:t>scheduling_class</a:t>
            </a:r>
            <a:r>
              <a:rPr lang="en-US" altLang="en-US" sz="1350" dirty="0">
                <a:latin typeface="Courier" pitchFamily="49" charset="0"/>
              </a:rPr>
              <a:t>[, parameter])</a:t>
            </a:r>
            <a:r>
              <a:rPr lang="en-US" altLang="en-US" dirty="0"/>
              <a:t>. </a:t>
            </a:r>
          </a:p>
          <a:p>
            <a:r>
              <a:rPr lang="en-US" altLang="en-US" dirty="0" err="1"/>
              <a:t>OpenMP</a:t>
            </a:r>
            <a:r>
              <a:rPr lang="en-US" altLang="en-US" dirty="0"/>
              <a:t> supports four scheduling classes: </a:t>
            </a:r>
            <a:r>
              <a:rPr lang="en-US" altLang="en-US" dirty="0">
                <a:latin typeface="Courier" pitchFamily="49" charset="0"/>
              </a:rPr>
              <a:t>static, dynamic, guided</a:t>
            </a:r>
            <a:r>
              <a:rPr lang="en-US" altLang="en-US" dirty="0"/>
              <a:t>, and </a:t>
            </a:r>
            <a:r>
              <a:rPr lang="en-US" altLang="en-US" dirty="0">
                <a:latin typeface="Courier" pitchFamily="49" charset="0"/>
              </a:rPr>
              <a:t>runtime</a:t>
            </a:r>
            <a:r>
              <a:rPr lang="en-US" alt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6087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733800" y="0"/>
            <a:ext cx="5181600" cy="865573"/>
          </a:xfrm>
        </p:spPr>
        <p:txBody>
          <a:bodyPr>
            <a:normAutofit fontScale="90000"/>
          </a:bodyPr>
          <a:lstStyle/>
          <a:p>
            <a:r>
              <a:rPr lang="en-US" altLang="en-US" sz="3000" dirty="0"/>
              <a:t>Assigning Iterations to Threads: Example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5200" y="884623"/>
            <a:ext cx="5610225" cy="2830127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/* static scheduling of matrix multiplication loops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#pragma </a:t>
            </a:r>
            <a:r>
              <a:rPr lang="en-US" altLang="en-US" sz="1350" dirty="0" err="1">
                <a:latin typeface="Courier" pitchFamily="49" charset="0"/>
              </a:rPr>
              <a:t>omp</a:t>
            </a:r>
            <a:r>
              <a:rPr lang="en-US" altLang="en-US" sz="1350" dirty="0">
                <a:latin typeface="Courier" pitchFamily="49" charset="0"/>
              </a:rPr>
              <a:t> parallel default(private) shared (a, b, c, dim) \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350" dirty="0" err="1">
                <a:latin typeface="Courier" pitchFamily="49" charset="0"/>
              </a:rPr>
              <a:t>num_threads</a:t>
            </a:r>
            <a:r>
              <a:rPr lang="en-US" altLang="en-US" sz="1350" dirty="0">
                <a:latin typeface="Courier" pitchFamily="49" charset="0"/>
              </a:rPr>
              <a:t>(4)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#pragma </a:t>
            </a:r>
            <a:r>
              <a:rPr lang="en-US" altLang="en-US" sz="1350" dirty="0" err="1">
                <a:latin typeface="Courier" pitchFamily="49" charset="0"/>
              </a:rPr>
              <a:t>omp</a:t>
            </a:r>
            <a:r>
              <a:rPr lang="en-US" altLang="en-US" sz="1350" dirty="0">
                <a:latin typeface="Courier" pitchFamily="49" charset="0"/>
              </a:rPr>
              <a:t> for schedule(static)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for (</a:t>
            </a:r>
            <a:r>
              <a:rPr lang="en-US" altLang="en-US" sz="1350" dirty="0" err="1">
                <a:latin typeface="Courier" pitchFamily="49" charset="0"/>
              </a:rPr>
              <a:t>i</a:t>
            </a:r>
            <a:r>
              <a:rPr lang="en-US" altLang="en-US" sz="1350" dirty="0">
                <a:latin typeface="Courier" pitchFamily="49" charset="0"/>
              </a:rPr>
              <a:t> = 0; </a:t>
            </a:r>
            <a:r>
              <a:rPr lang="en-US" altLang="en-US" sz="1350" dirty="0" err="1">
                <a:latin typeface="Courier" pitchFamily="49" charset="0"/>
              </a:rPr>
              <a:t>i</a:t>
            </a:r>
            <a:r>
              <a:rPr lang="en-US" altLang="en-US" sz="1350" dirty="0">
                <a:latin typeface="Courier" pitchFamily="49" charset="0"/>
              </a:rPr>
              <a:t> &lt; dim; </a:t>
            </a:r>
            <a:r>
              <a:rPr lang="en-US" altLang="en-US" sz="1350" dirty="0" err="1">
                <a:latin typeface="Courier" pitchFamily="49" charset="0"/>
              </a:rPr>
              <a:t>i</a:t>
            </a:r>
            <a:r>
              <a:rPr lang="en-US" altLang="en-US" sz="1350" dirty="0">
                <a:latin typeface="Courier" pitchFamily="49" charset="0"/>
              </a:rPr>
              <a:t>++) {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for (j = 0; j &lt; dim; </a:t>
            </a:r>
            <a:r>
              <a:rPr lang="en-US" altLang="en-US" sz="1350" dirty="0" err="1">
                <a:latin typeface="Courier" pitchFamily="49" charset="0"/>
              </a:rPr>
              <a:t>j++</a:t>
            </a:r>
            <a:r>
              <a:rPr lang="en-US" altLang="en-US" sz="1350" dirty="0">
                <a:latin typeface="Courier" pitchFamily="49" charset="0"/>
              </a:rPr>
              <a:t>) {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c(</a:t>
            </a:r>
            <a:r>
              <a:rPr lang="en-US" altLang="en-US" sz="1350" dirty="0" err="1">
                <a:latin typeface="Courier" pitchFamily="49" charset="0"/>
              </a:rPr>
              <a:t>i,j</a:t>
            </a:r>
            <a:r>
              <a:rPr lang="en-US" altLang="en-US" sz="1350" dirty="0">
                <a:latin typeface="Courier" pitchFamily="49" charset="0"/>
              </a:rPr>
              <a:t>) = 0;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for (k = 0; k &lt; dim; k++) {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c(</a:t>
            </a:r>
            <a:r>
              <a:rPr lang="en-US" altLang="en-US" sz="1350" dirty="0" err="1">
                <a:latin typeface="Courier" pitchFamily="49" charset="0"/>
              </a:rPr>
              <a:t>i,j</a:t>
            </a:r>
            <a:r>
              <a:rPr lang="en-US" altLang="en-US" sz="1350" dirty="0">
                <a:latin typeface="Courier" pitchFamily="49" charset="0"/>
              </a:rPr>
              <a:t>) += a(</a:t>
            </a:r>
            <a:r>
              <a:rPr lang="en-US" altLang="en-US" sz="1350" dirty="0" err="1">
                <a:latin typeface="Courier" pitchFamily="49" charset="0"/>
              </a:rPr>
              <a:t>i</a:t>
            </a:r>
            <a:r>
              <a:rPr lang="en-US" altLang="en-US" sz="1350" dirty="0">
                <a:latin typeface="Courier" pitchFamily="49" charset="0"/>
              </a:rPr>
              <a:t>, k) * b(k, j);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}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}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350" dirty="0"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05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0" y="57150"/>
            <a:ext cx="5029200" cy="865573"/>
          </a:xfrm>
        </p:spPr>
        <p:txBody>
          <a:bodyPr>
            <a:normAutofit fontScale="90000"/>
          </a:bodyPr>
          <a:lstStyle/>
          <a:p>
            <a:r>
              <a:rPr lang="en-US" altLang="en-US" sz="3000" dirty="0"/>
              <a:t>Assigning Iterations to Threads: Example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8600" y="3426642"/>
            <a:ext cx="5143500" cy="879872"/>
          </a:xfrm>
        </p:spPr>
        <p:txBody>
          <a:bodyPr/>
          <a:lstStyle/>
          <a:p>
            <a:r>
              <a:rPr lang="en-US" altLang="en-US" dirty="0"/>
              <a:t>Three different schedules using the static scheduling class of </a:t>
            </a:r>
            <a:r>
              <a:rPr lang="en-US" altLang="en-US" dirty="0" err="1"/>
              <a:t>OpenMP</a:t>
            </a:r>
            <a:r>
              <a:rPr lang="en-US" altLang="en-US" dirty="0"/>
              <a:t>.</a:t>
            </a:r>
          </a:p>
        </p:txBody>
      </p: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123950"/>
            <a:ext cx="5057775" cy="207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123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419600" y="57150"/>
            <a:ext cx="3914775" cy="865573"/>
          </a:xfrm>
        </p:spPr>
        <p:txBody>
          <a:bodyPr/>
          <a:lstStyle/>
          <a:p>
            <a:r>
              <a:rPr lang="en-US" altLang="en-US" dirty="0"/>
              <a:t>Parallel For Loops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0" y="1123950"/>
            <a:ext cx="4419600" cy="2654645"/>
          </a:xfrm>
        </p:spPr>
        <p:txBody>
          <a:bodyPr>
            <a:normAutofit/>
          </a:bodyPr>
          <a:lstStyle/>
          <a:p>
            <a:r>
              <a:rPr lang="en-US" altLang="en-US" dirty="0"/>
              <a:t>Often, it is desirable to have a sequence of </a:t>
            </a:r>
            <a:r>
              <a:rPr lang="en-US" altLang="en-US" dirty="0">
                <a:latin typeface="Courier" pitchFamily="49" charset="0"/>
              </a:rPr>
              <a:t>for</a:t>
            </a:r>
            <a:r>
              <a:rPr lang="en-US" altLang="en-US" dirty="0"/>
              <a:t>-directives within a parallel construct that do not execute an implicit barrier at the end of each </a:t>
            </a:r>
            <a:r>
              <a:rPr lang="en-US" altLang="en-US" dirty="0">
                <a:latin typeface="Courier" pitchFamily="49" charset="0"/>
              </a:rPr>
              <a:t>for</a:t>
            </a:r>
            <a:r>
              <a:rPr lang="en-US" altLang="en-US" dirty="0"/>
              <a:t> directive.</a:t>
            </a:r>
          </a:p>
          <a:p>
            <a:r>
              <a:rPr lang="en-US" altLang="en-US" dirty="0" err="1"/>
              <a:t>OpenMP</a:t>
            </a:r>
            <a:r>
              <a:rPr lang="en-US" altLang="en-US" dirty="0"/>
              <a:t> provides a clause - </a:t>
            </a:r>
            <a:r>
              <a:rPr lang="en-US" altLang="en-US" dirty="0" err="1">
                <a:latin typeface="Courier" pitchFamily="49" charset="0"/>
              </a:rPr>
              <a:t>nowait</a:t>
            </a:r>
            <a:r>
              <a:rPr lang="en-US" altLang="en-US" dirty="0"/>
              <a:t>, which can be used with a for directive.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2669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143375" y="209550"/>
            <a:ext cx="5029200" cy="86557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Parallel For Loops: Example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33800" y="1200150"/>
            <a:ext cx="5410200" cy="265464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Courier" pitchFamily="49" charset="0"/>
              </a:rPr>
              <a:t>#pragma </a:t>
            </a:r>
            <a:r>
              <a:rPr lang="en-US" altLang="en-US" sz="1800" dirty="0" err="1">
                <a:latin typeface="Courier" pitchFamily="49" charset="0"/>
              </a:rPr>
              <a:t>omp</a:t>
            </a:r>
            <a:r>
              <a:rPr lang="en-US" altLang="en-US" sz="1800" dirty="0">
                <a:latin typeface="Courier" pitchFamily="49" charset="0"/>
              </a:rPr>
              <a:t> parallel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Courier" pitchFamily="49" charset="0"/>
              </a:rPr>
              <a:t>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#pragma </a:t>
            </a:r>
            <a:r>
              <a:rPr lang="en-US" altLang="en-US" dirty="0" err="1">
                <a:latin typeface="Courier" pitchFamily="49" charset="0"/>
              </a:rPr>
              <a:t>omp</a:t>
            </a:r>
            <a:r>
              <a:rPr lang="en-US" altLang="en-US" dirty="0">
                <a:latin typeface="Courier" pitchFamily="49" charset="0"/>
              </a:rPr>
              <a:t> for </a:t>
            </a:r>
            <a:r>
              <a:rPr lang="en-US" altLang="en-US" dirty="0" err="1">
                <a:latin typeface="Courier" pitchFamily="49" charset="0"/>
              </a:rPr>
              <a:t>nowait</a:t>
            </a:r>
            <a:endParaRPr lang="en-US" altLang="en-US" dirty="0">
              <a:latin typeface="Courier" pitchFamily="49" charset="0"/>
            </a:endParaRP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for (</a:t>
            </a:r>
            <a:r>
              <a:rPr lang="en-US" altLang="en-US" dirty="0" err="1">
                <a:latin typeface="Courier" pitchFamily="49" charset="0"/>
              </a:rPr>
              <a:t>i</a:t>
            </a:r>
            <a:r>
              <a:rPr lang="en-US" altLang="en-US" dirty="0">
                <a:latin typeface="Courier" pitchFamily="49" charset="0"/>
              </a:rPr>
              <a:t> = 0; </a:t>
            </a:r>
            <a:r>
              <a:rPr lang="en-US" altLang="en-US" dirty="0" err="1">
                <a:latin typeface="Courier" pitchFamily="49" charset="0"/>
              </a:rPr>
              <a:t>i</a:t>
            </a:r>
            <a:r>
              <a:rPr lang="en-US" altLang="en-US" dirty="0">
                <a:latin typeface="Courier" pitchFamily="49" charset="0"/>
              </a:rPr>
              <a:t> &lt; </a:t>
            </a:r>
            <a:r>
              <a:rPr lang="en-US" altLang="en-US" dirty="0" err="1">
                <a:latin typeface="Courier" pitchFamily="49" charset="0"/>
              </a:rPr>
              <a:t>nmax</a:t>
            </a:r>
            <a:r>
              <a:rPr lang="en-US" altLang="en-US" dirty="0">
                <a:latin typeface="Courier" pitchFamily="49" charset="0"/>
              </a:rPr>
              <a:t>; </a:t>
            </a:r>
            <a:r>
              <a:rPr lang="en-US" altLang="en-US" dirty="0" err="1">
                <a:latin typeface="Courier" pitchFamily="49" charset="0"/>
              </a:rPr>
              <a:t>i</a:t>
            </a:r>
            <a:r>
              <a:rPr lang="en-US" altLang="en-US" dirty="0">
                <a:latin typeface="Courier" pitchFamily="49" charset="0"/>
              </a:rPr>
              <a:t>++)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Courier" pitchFamily="49" charset="0"/>
              </a:rPr>
              <a:t>if (</a:t>
            </a:r>
            <a:r>
              <a:rPr lang="en-US" altLang="en-US" sz="1800" dirty="0" err="1">
                <a:latin typeface="Courier" pitchFamily="49" charset="0"/>
              </a:rPr>
              <a:t>isEqual</a:t>
            </a:r>
            <a:r>
              <a:rPr lang="en-US" altLang="en-US" sz="1800" dirty="0">
                <a:latin typeface="Courier" pitchFamily="49" charset="0"/>
              </a:rPr>
              <a:t>(name, </a:t>
            </a:r>
            <a:r>
              <a:rPr lang="en-US" altLang="en-US" sz="1800" dirty="0" err="1">
                <a:latin typeface="Courier" pitchFamily="49" charset="0"/>
              </a:rPr>
              <a:t>current_list</a:t>
            </a:r>
            <a:r>
              <a:rPr lang="en-US" altLang="en-US" sz="1800" dirty="0">
                <a:latin typeface="Courier" pitchFamily="49" charset="0"/>
              </a:rPr>
              <a:t>[</a:t>
            </a:r>
            <a:r>
              <a:rPr lang="en-US" altLang="en-US" sz="1800" dirty="0" err="1">
                <a:latin typeface="Courier" pitchFamily="49" charset="0"/>
              </a:rPr>
              <a:t>i</a:t>
            </a:r>
            <a:r>
              <a:rPr lang="en-US" altLang="en-US" sz="1800" dirty="0">
                <a:latin typeface="Courier" pitchFamily="49" charset="0"/>
              </a:rPr>
              <a:t>])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en-US" sz="1800" dirty="0" err="1">
                <a:latin typeface="Courier" pitchFamily="49" charset="0"/>
              </a:rPr>
              <a:t>processCurrentName</a:t>
            </a:r>
            <a:r>
              <a:rPr lang="en-US" altLang="en-US" sz="1800" dirty="0">
                <a:latin typeface="Courier" pitchFamily="49" charset="0"/>
              </a:rPr>
              <a:t>(name);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#pragma </a:t>
            </a:r>
            <a:r>
              <a:rPr lang="en-US" altLang="en-US" dirty="0" err="1">
                <a:latin typeface="Courier" pitchFamily="49" charset="0"/>
              </a:rPr>
              <a:t>omp</a:t>
            </a:r>
            <a:r>
              <a:rPr lang="en-US" altLang="en-US" dirty="0">
                <a:latin typeface="Courier" pitchFamily="49" charset="0"/>
              </a:rPr>
              <a:t> for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for (</a:t>
            </a:r>
            <a:r>
              <a:rPr lang="en-US" altLang="en-US" dirty="0" err="1">
                <a:latin typeface="Courier" pitchFamily="49" charset="0"/>
              </a:rPr>
              <a:t>i</a:t>
            </a:r>
            <a:r>
              <a:rPr lang="en-US" altLang="en-US" dirty="0">
                <a:latin typeface="Courier" pitchFamily="49" charset="0"/>
              </a:rPr>
              <a:t> = 0; </a:t>
            </a:r>
            <a:r>
              <a:rPr lang="en-US" altLang="en-US" dirty="0" err="1">
                <a:latin typeface="Courier" pitchFamily="49" charset="0"/>
              </a:rPr>
              <a:t>i</a:t>
            </a:r>
            <a:r>
              <a:rPr lang="en-US" altLang="en-US" dirty="0">
                <a:latin typeface="Courier" pitchFamily="49" charset="0"/>
              </a:rPr>
              <a:t> &lt; </a:t>
            </a:r>
            <a:r>
              <a:rPr lang="en-US" altLang="en-US" dirty="0" err="1">
                <a:latin typeface="Courier" pitchFamily="49" charset="0"/>
              </a:rPr>
              <a:t>mmax</a:t>
            </a:r>
            <a:r>
              <a:rPr lang="en-US" altLang="en-US" dirty="0">
                <a:latin typeface="Courier" pitchFamily="49" charset="0"/>
              </a:rPr>
              <a:t>; </a:t>
            </a:r>
            <a:r>
              <a:rPr lang="en-US" altLang="en-US" dirty="0" err="1">
                <a:latin typeface="Courier" pitchFamily="49" charset="0"/>
              </a:rPr>
              <a:t>i</a:t>
            </a:r>
            <a:r>
              <a:rPr lang="en-US" altLang="en-US" dirty="0">
                <a:latin typeface="Courier" pitchFamily="49" charset="0"/>
              </a:rPr>
              <a:t>++)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Courier" pitchFamily="49" charset="0"/>
              </a:rPr>
              <a:t>if (</a:t>
            </a:r>
            <a:r>
              <a:rPr lang="en-US" altLang="en-US" sz="1800" dirty="0" err="1">
                <a:latin typeface="Courier" pitchFamily="49" charset="0"/>
              </a:rPr>
              <a:t>isEqual</a:t>
            </a:r>
            <a:r>
              <a:rPr lang="en-US" altLang="en-US" sz="1800" dirty="0">
                <a:latin typeface="Courier" pitchFamily="49" charset="0"/>
              </a:rPr>
              <a:t>(name, </a:t>
            </a:r>
            <a:r>
              <a:rPr lang="en-US" altLang="en-US" sz="1800" dirty="0" err="1">
                <a:latin typeface="Courier" pitchFamily="49" charset="0"/>
              </a:rPr>
              <a:t>past_list</a:t>
            </a:r>
            <a:r>
              <a:rPr lang="en-US" altLang="en-US" sz="1800" dirty="0">
                <a:latin typeface="Courier" pitchFamily="49" charset="0"/>
              </a:rPr>
              <a:t>[</a:t>
            </a:r>
            <a:r>
              <a:rPr lang="en-US" altLang="en-US" sz="1800" dirty="0" err="1">
                <a:latin typeface="Courier" pitchFamily="49" charset="0"/>
              </a:rPr>
              <a:t>i</a:t>
            </a:r>
            <a:r>
              <a:rPr lang="en-US" altLang="en-US" sz="1800" dirty="0">
                <a:latin typeface="Courier" pitchFamily="49" charset="0"/>
              </a:rPr>
              <a:t>])</a:t>
            </a:r>
          </a:p>
          <a:p>
            <a:pPr lvl="4">
              <a:lnSpc>
                <a:spcPct val="90000"/>
              </a:lnSpc>
              <a:buFontTx/>
              <a:buNone/>
            </a:pPr>
            <a:r>
              <a:rPr lang="en-US" altLang="en-US" sz="1800" dirty="0" err="1">
                <a:latin typeface="Courier" pitchFamily="49" charset="0"/>
              </a:rPr>
              <a:t>processPastName</a:t>
            </a:r>
            <a:r>
              <a:rPr lang="en-US" altLang="en-US" sz="1800" dirty="0">
                <a:latin typeface="Courier" pitchFamily="49" charset="0"/>
              </a:rPr>
              <a:t>(name);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Courier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433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0" y="57150"/>
            <a:ext cx="4876800" cy="865573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sz="2400" dirty="0">
                <a:latin typeface="Courier" pitchFamily="49" charset="0"/>
              </a:rPr>
              <a:t>sections</a:t>
            </a:r>
            <a:r>
              <a:rPr lang="en-US" altLang="en-US" dirty="0"/>
              <a:t> Directive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400" y="940571"/>
            <a:ext cx="4114800" cy="371595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1500" dirty="0" err="1"/>
              <a:t>OpenMP</a:t>
            </a:r>
            <a:r>
              <a:rPr lang="en-US" altLang="en-US" sz="1500" dirty="0"/>
              <a:t> supports non-iterative parallel task assignment using the </a:t>
            </a:r>
            <a:r>
              <a:rPr lang="en-US" altLang="en-US" sz="1500" dirty="0">
                <a:latin typeface="Courier" pitchFamily="49" charset="0"/>
              </a:rPr>
              <a:t>sections</a:t>
            </a:r>
            <a:r>
              <a:rPr lang="en-US" altLang="en-US" sz="1500" dirty="0"/>
              <a:t> directive.</a:t>
            </a:r>
          </a:p>
          <a:p>
            <a:pPr>
              <a:lnSpc>
                <a:spcPct val="80000"/>
              </a:lnSpc>
            </a:pPr>
            <a:r>
              <a:rPr lang="en-US" altLang="en-US" sz="1500" dirty="0"/>
              <a:t>The general form of the </a:t>
            </a:r>
            <a:r>
              <a:rPr lang="en-US" altLang="en-US" sz="1500" dirty="0">
                <a:latin typeface="Courier" pitchFamily="49" charset="0"/>
              </a:rPr>
              <a:t>sections</a:t>
            </a:r>
            <a:r>
              <a:rPr lang="en-US" altLang="en-US" sz="1500" dirty="0"/>
              <a:t> directive is as follows:</a:t>
            </a:r>
          </a:p>
          <a:p>
            <a:pPr>
              <a:lnSpc>
                <a:spcPct val="80000"/>
              </a:lnSpc>
            </a:pPr>
            <a:endParaRPr lang="en-US" altLang="en-US" sz="15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500" dirty="0">
                <a:latin typeface="Courier" pitchFamily="49" charset="0"/>
              </a:rPr>
              <a:t>#pragma </a:t>
            </a:r>
            <a:r>
              <a:rPr lang="en-US" altLang="en-US" sz="1500" dirty="0" err="1">
                <a:latin typeface="Courier" pitchFamily="49" charset="0"/>
              </a:rPr>
              <a:t>omp</a:t>
            </a:r>
            <a:r>
              <a:rPr lang="en-US" altLang="en-US" sz="1500" dirty="0">
                <a:latin typeface="Courier" pitchFamily="49" charset="0"/>
              </a:rPr>
              <a:t> sections [clause list]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500" dirty="0">
                <a:latin typeface="Courier" pitchFamily="49" charset="0"/>
              </a:rPr>
              <a:t>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[#pragma </a:t>
            </a:r>
            <a:r>
              <a:rPr lang="en-US" altLang="en-US" sz="1350" dirty="0" err="1">
                <a:latin typeface="Courier" pitchFamily="49" charset="0"/>
              </a:rPr>
              <a:t>omp</a:t>
            </a:r>
            <a:r>
              <a:rPr lang="en-US" altLang="en-US" sz="1350" dirty="0">
                <a:latin typeface="Courier" pitchFamily="49" charset="0"/>
              </a:rPr>
              <a:t> section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/* structured block */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]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[#pragma </a:t>
            </a:r>
            <a:r>
              <a:rPr lang="en-US" altLang="en-US" sz="1350" dirty="0" err="1">
                <a:latin typeface="Courier" pitchFamily="49" charset="0"/>
              </a:rPr>
              <a:t>omp</a:t>
            </a:r>
            <a:r>
              <a:rPr lang="en-US" altLang="en-US" sz="1350" dirty="0">
                <a:latin typeface="Courier" pitchFamily="49" charset="0"/>
              </a:rPr>
              <a:t> section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/* structured block */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]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350" dirty="0">
                <a:latin typeface="Courier" pitchFamily="49" charset="0"/>
              </a:rPr>
              <a:t>...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500" dirty="0">
                <a:latin typeface="Courier" pitchFamily="49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500" dirty="0"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877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133350"/>
            <a:ext cx="5257800" cy="865573"/>
          </a:xfrm>
        </p:spPr>
        <p:txBody>
          <a:bodyPr/>
          <a:lstStyle/>
          <a:p>
            <a:r>
              <a:rPr lang="en-US" altLang="en-US" sz="3000" dirty="0"/>
              <a:t>The </a:t>
            </a:r>
            <a:r>
              <a:rPr lang="en-US" altLang="en-US" sz="2400" dirty="0">
                <a:latin typeface="Courier" pitchFamily="49" charset="0"/>
              </a:rPr>
              <a:t>sections</a:t>
            </a:r>
            <a:r>
              <a:rPr lang="en-US" altLang="en-US" sz="3000" dirty="0"/>
              <a:t> Directive: Example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0" y="1027498"/>
            <a:ext cx="3505200" cy="367785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#pragma </a:t>
            </a:r>
            <a:r>
              <a:rPr lang="en-US" altLang="en-US" sz="1200" dirty="0" err="1">
                <a:latin typeface="Courier" pitchFamily="49" charset="0"/>
              </a:rPr>
              <a:t>omp</a:t>
            </a:r>
            <a:r>
              <a:rPr lang="en-US" altLang="en-US" sz="1200" dirty="0">
                <a:latin typeface="Courier" pitchFamily="49" charset="0"/>
              </a:rPr>
              <a:t> parallel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#pragma </a:t>
            </a:r>
            <a:r>
              <a:rPr lang="en-US" altLang="en-US" sz="1200" dirty="0" err="1">
                <a:latin typeface="Courier" pitchFamily="49" charset="0"/>
              </a:rPr>
              <a:t>omp</a:t>
            </a:r>
            <a:r>
              <a:rPr lang="en-US" altLang="en-US" sz="1200" dirty="0">
                <a:latin typeface="Courier" pitchFamily="49" charset="0"/>
              </a:rPr>
              <a:t> sections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{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#pragma </a:t>
            </a:r>
            <a:r>
              <a:rPr lang="en-US" altLang="en-US" sz="1200" dirty="0" err="1">
                <a:latin typeface="Courier" pitchFamily="49" charset="0"/>
              </a:rPr>
              <a:t>omp</a:t>
            </a:r>
            <a:r>
              <a:rPr lang="en-US" altLang="en-US" sz="1200" dirty="0">
                <a:latin typeface="Courier" pitchFamily="49" charset="0"/>
              </a:rPr>
              <a:t> section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{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en-US" sz="1200" dirty="0" err="1">
                <a:latin typeface="Courier" pitchFamily="49" charset="0"/>
              </a:rPr>
              <a:t>taskA</a:t>
            </a:r>
            <a:r>
              <a:rPr lang="en-US" altLang="en-US" sz="1200" dirty="0">
                <a:latin typeface="Courier" pitchFamily="49" charset="0"/>
              </a:rPr>
              <a:t>();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}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#pragma </a:t>
            </a:r>
            <a:r>
              <a:rPr lang="en-US" altLang="en-US" sz="1200" dirty="0" err="1">
                <a:latin typeface="Courier" pitchFamily="49" charset="0"/>
              </a:rPr>
              <a:t>omp</a:t>
            </a:r>
            <a:r>
              <a:rPr lang="en-US" altLang="en-US" sz="1200" dirty="0">
                <a:latin typeface="Courier" pitchFamily="49" charset="0"/>
              </a:rPr>
              <a:t> section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{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en-US" sz="1200" dirty="0" err="1">
                <a:latin typeface="Courier" pitchFamily="49" charset="0"/>
              </a:rPr>
              <a:t>taskB</a:t>
            </a:r>
            <a:r>
              <a:rPr lang="en-US" altLang="en-US" sz="1200" dirty="0">
                <a:latin typeface="Courier" pitchFamily="49" charset="0"/>
              </a:rPr>
              <a:t>();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}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#pragma </a:t>
            </a:r>
            <a:r>
              <a:rPr lang="en-US" altLang="en-US" sz="1200" dirty="0" err="1">
                <a:latin typeface="Courier" pitchFamily="49" charset="0"/>
              </a:rPr>
              <a:t>omp</a:t>
            </a:r>
            <a:r>
              <a:rPr lang="en-US" altLang="en-US" sz="1200" dirty="0">
                <a:latin typeface="Courier" pitchFamily="49" charset="0"/>
              </a:rPr>
              <a:t> section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{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altLang="en-US" sz="1200" dirty="0" err="1">
                <a:latin typeface="Courier" pitchFamily="49" charset="0"/>
              </a:rPr>
              <a:t>taskC</a:t>
            </a:r>
            <a:r>
              <a:rPr lang="en-US" altLang="en-US" sz="1200" dirty="0">
                <a:latin typeface="Courier" pitchFamily="49" charset="0"/>
              </a:rPr>
              <a:t>();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}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200" dirty="0">
                <a:latin typeface="Courier" pitchFamily="49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200" dirty="0"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21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133350"/>
            <a:ext cx="7315200" cy="865573"/>
          </a:xfrm>
        </p:spPr>
        <p:txBody>
          <a:bodyPr/>
          <a:lstStyle/>
          <a:p>
            <a:r>
              <a:rPr lang="en-US" altLang="en-US" dirty="0"/>
              <a:t>Nesting </a:t>
            </a:r>
            <a:r>
              <a:rPr lang="en-US" altLang="en-US" sz="2400" dirty="0">
                <a:latin typeface="Courier" pitchFamily="49" charset="0"/>
              </a:rPr>
              <a:t>parallel</a:t>
            </a:r>
            <a:r>
              <a:rPr lang="en-US" altLang="en-US" dirty="0"/>
              <a:t> Directives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9600" y="1123950"/>
            <a:ext cx="4648200" cy="2654645"/>
          </a:xfrm>
        </p:spPr>
        <p:txBody>
          <a:bodyPr/>
          <a:lstStyle/>
          <a:p>
            <a:r>
              <a:rPr lang="en-US" altLang="en-US"/>
              <a:t>Nested parallelism can be enabled using the </a:t>
            </a:r>
            <a:r>
              <a:rPr lang="en-US" altLang="en-US">
                <a:latin typeface="Courier" pitchFamily="49" charset="0"/>
              </a:rPr>
              <a:t>OMP_NESTED</a:t>
            </a:r>
            <a:r>
              <a:rPr lang="en-US" altLang="en-US"/>
              <a:t> environment variable. </a:t>
            </a:r>
          </a:p>
          <a:p>
            <a:r>
              <a:rPr lang="en-US" altLang="en-US"/>
              <a:t>If the </a:t>
            </a:r>
            <a:r>
              <a:rPr lang="en-US" altLang="en-US">
                <a:latin typeface="Courier" pitchFamily="49" charset="0"/>
              </a:rPr>
              <a:t>OMP_NESTED</a:t>
            </a:r>
            <a:r>
              <a:rPr lang="en-US" altLang="en-US"/>
              <a:t> environment variable is set to </a:t>
            </a:r>
            <a:r>
              <a:rPr lang="en-US" altLang="en-US">
                <a:latin typeface="Courier" pitchFamily="49" charset="0"/>
              </a:rPr>
              <a:t>TRUE</a:t>
            </a:r>
            <a:r>
              <a:rPr lang="en-US" altLang="en-US"/>
              <a:t>, nested parallelism is enabled. </a:t>
            </a:r>
          </a:p>
          <a:p>
            <a:r>
              <a:rPr lang="en-US" altLang="en-US"/>
              <a:t>In this case, each parallel directive creates a new team of threads. 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034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0" y="103573"/>
            <a:ext cx="4800600" cy="865573"/>
          </a:xfrm>
        </p:spPr>
        <p:txBody>
          <a:bodyPr>
            <a:normAutofit fontScale="90000"/>
          </a:bodyPr>
          <a:lstStyle/>
          <a:p>
            <a:r>
              <a:rPr lang="en-US" altLang="en-US" sz="3000"/>
              <a:t>Synchronization Constructs in OpenMP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25" y="969146"/>
            <a:ext cx="5257800" cy="3657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err="1"/>
              <a:t>OpenMP</a:t>
            </a:r>
            <a:r>
              <a:rPr lang="en-US" altLang="en-US" dirty="0"/>
              <a:t> provides a variety of synchronization constructs: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#pragma </a:t>
            </a:r>
            <a:r>
              <a:rPr lang="en-US" altLang="en-US" dirty="0" err="1">
                <a:latin typeface="Courier" pitchFamily="49" charset="0"/>
              </a:rPr>
              <a:t>omp</a:t>
            </a:r>
            <a:r>
              <a:rPr lang="en-US" altLang="en-US" dirty="0">
                <a:latin typeface="Courier" pitchFamily="49" charset="0"/>
              </a:rPr>
              <a:t> barrier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#pragma </a:t>
            </a:r>
            <a:r>
              <a:rPr lang="en-US" altLang="en-US" dirty="0" err="1">
                <a:latin typeface="Courier" pitchFamily="49" charset="0"/>
              </a:rPr>
              <a:t>omp</a:t>
            </a:r>
            <a:r>
              <a:rPr lang="en-US" altLang="en-US" dirty="0">
                <a:latin typeface="Courier" pitchFamily="49" charset="0"/>
              </a:rPr>
              <a:t> single [clause list]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structured block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#pragma </a:t>
            </a:r>
            <a:r>
              <a:rPr lang="en-US" altLang="en-US" dirty="0" err="1">
                <a:latin typeface="Courier" pitchFamily="49" charset="0"/>
              </a:rPr>
              <a:t>omp</a:t>
            </a:r>
            <a:r>
              <a:rPr lang="en-US" altLang="en-US" dirty="0">
                <a:latin typeface="Courier" pitchFamily="49" charset="0"/>
              </a:rPr>
              <a:t> master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structured block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#pragma </a:t>
            </a:r>
            <a:r>
              <a:rPr lang="en-US" altLang="en-US" dirty="0" err="1">
                <a:latin typeface="Courier" pitchFamily="49" charset="0"/>
              </a:rPr>
              <a:t>omp</a:t>
            </a:r>
            <a:r>
              <a:rPr lang="en-US" altLang="en-US" dirty="0">
                <a:latin typeface="Courier" pitchFamily="49" charset="0"/>
              </a:rPr>
              <a:t> critical [(name)]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structured block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#pragma </a:t>
            </a:r>
            <a:r>
              <a:rPr lang="en-US" altLang="en-US" dirty="0" err="1">
                <a:latin typeface="Courier" pitchFamily="49" charset="0"/>
              </a:rPr>
              <a:t>omp</a:t>
            </a:r>
            <a:r>
              <a:rPr lang="en-US" altLang="en-US" dirty="0">
                <a:latin typeface="Courier" pitchFamily="49" charset="0"/>
              </a:rPr>
              <a:t> ordered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structured block</a:t>
            </a:r>
          </a:p>
        </p:txBody>
      </p:sp>
    </p:spTree>
    <p:extLst>
      <p:ext uri="{BB962C8B-B14F-4D97-AF65-F5344CB8AC3E}">
        <p14:creationId xmlns:p14="http://schemas.microsoft.com/office/powerpoint/2010/main" val="152369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48200" y="161925"/>
            <a:ext cx="4953000" cy="865573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OpenMP</a:t>
            </a:r>
            <a:r>
              <a:rPr lang="en-US" altLang="en-US" dirty="0"/>
              <a:t> Library Functions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67200" y="998923"/>
            <a:ext cx="4876800" cy="3630227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100" dirty="0"/>
              <a:t>In addition to directives, </a:t>
            </a:r>
            <a:r>
              <a:rPr lang="en-US" altLang="en-US" sz="2100" dirty="0" err="1"/>
              <a:t>OpenMP</a:t>
            </a:r>
            <a:r>
              <a:rPr lang="en-US" altLang="en-US" sz="2100" dirty="0"/>
              <a:t> also supports a number of functions that allow a programmer to control the execution of threaded programs.</a:t>
            </a:r>
          </a:p>
          <a:p>
            <a:pPr>
              <a:lnSpc>
                <a:spcPct val="80000"/>
              </a:lnSpc>
            </a:pPr>
            <a:endParaRPr lang="en-US" altLang="en-US" sz="21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/* thread and processor count */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Courier" pitchFamily="49" charset="0"/>
              </a:rPr>
              <a:t>void </a:t>
            </a:r>
            <a:r>
              <a:rPr lang="en-US" altLang="en-US" dirty="0" err="1">
                <a:latin typeface="Courier" pitchFamily="49" charset="0"/>
              </a:rPr>
              <a:t>omp_set_num_threads</a:t>
            </a:r>
            <a:r>
              <a:rPr lang="en-US" altLang="en-US" dirty="0">
                <a:latin typeface="Courier" pitchFamily="49" charset="0"/>
              </a:rPr>
              <a:t> (</a:t>
            </a:r>
            <a:r>
              <a:rPr lang="en-US" altLang="en-US" dirty="0" err="1">
                <a:latin typeface="Courier" pitchFamily="49" charset="0"/>
              </a:rPr>
              <a:t>int</a:t>
            </a:r>
            <a:r>
              <a:rPr lang="en-US" altLang="en-US" dirty="0">
                <a:latin typeface="Courier" pitchFamily="49" charset="0"/>
              </a:rPr>
              <a:t> </a:t>
            </a:r>
            <a:r>
              <a:rPr lang="en-US" altLang="en-US" dirty="0" err="1">
                <a:latin typeface="Courier" pitchFamily="49" charset="0"/>
              </a:rPr>
              <a:t>num_threads</a:t>
            </a:r>
            <a:r>
              <a:rPr lang="en-US" altLang="en-US" dirty="0">
                <a:latin typeface="Courier" pitchFamily="49" charset="0"/>
              </a:rPr>
              <a:t>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 err="1">
                <a:latin typeface="Courier" pitchFamily="49" charset="0"/>
              </a:rPr>
              <a:t>int</a:t>
            </a:r>
            <a:r>
              <a:rPr lang="en-US" altLang="en-US" dirty="0">
                <a:latin typeface="Courier" pitchFamily="49" charset="0"/>
              </a:rPr>
              <a:t> </a:t>
            </a:r>
            <a:r>
              <a:rPr lang="en-US" altLang="en-US" dirty="0" err="1">
                <a:latin typeface="Courier" pitchFamily="49" charset="0"/>
              </a:rPr>
              <a:t>omp_get_num_threads</a:t>
            </a:r>
            <a:r>
              <a:rPr lang="en-US" altLang="en-US" dirty="0">
                <a:latin typeface="Courier" pitchFamily="49" charset="0"/>
              </a:rPr>
              <a:t> ();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 err="1">
                <a:latin typeface="Courier" pitchFamily="49" charset="0"/>
              </a:rPr>
              <a:t>int</a:t>
            </a:r>
            <a:r>
              <a:rPr lang="en-US" altLang="en-US" dirty="0">
                <a:latin typeface="Courier" pitchFamily="49" charset="0"/>
              </a:rPr>
              <a:t> </a:t>
            </a:r>
            <a:r>
              <a:rPr lang="en-US" altLang="en-US" dirty="0" err="1">
                <a:latin typeface="Courier" pitchFamily="49" charset="0"/>
              </a:rPr>
              <a:t>omp_get_max_threads</a:t>
            </a:r>
            <a:r>
              <a:rPr lang="en-US" altLang="en-US" dirty="0">
                <a:latin typeface="Courier" pitchFamily="49" charset="0"/>
              </a:rPr>
              <a:t> ();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 err="1">
                <a:latin typeface="Courier" pitchFamily="49" charset="0"/>
              </a:rPr>
              <a:t>int</a:t>
            </a:r>
            <a:r>
              <a:rPr lang="en-US" altLang="en-US" dirty="0">
                <a:latin typeface="Courier" pitchFamily="49" charset="0"/>
              </a:rPr>
              <a:t> </a:t>
            </a:r>
            <a:r>
              <a:rPr lang="en-US" altLang="en-US" dirty="0" err="1">
                <a:latin typeface="Courier" pitchFamily="49" charset="0"/>
              </a:rPr>
              <a:t>omp_get_thread_num</a:t>
            </a:r>
            <a:r>
              <a:rPr lang="en-US" altLang="en-US" dirty="0">
                <a:latin typeface="Courier" pitchFamily="49" charset="0"/>
              </a:rPr>
              <a:t> ();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 err="1">
                <a:latin typeface="Courier" pitchFamily="49" charset="0"/>
              </a:rPr>
              <a:t>int</a:t>
            </a:r>
            <a:r>
              <a:rPr lang="en-US" altLang="en-US" dirty="0">
                <a:latin typeface="Courier" pitchFamily="49" charset="0"/>
              </a:rPr>
              <a:t> </a:t>
            </a:r>
            <a:r>
              <a:rPr lang="en-US" altLang="en-US" dirty="0" err="1">
                <a:latin typeface="Courier" pitchFamily="49" charset="0"/>
              </a:rPr>
              <a:t>omp_get_num_procs</a:t>
            </a:r>
            <a:r>
              <a:rPr lang="en-US" altLang="en-US" dirty="0">
                <a:latin typeface="Courier" pitchFamily="49" charset="0"/>
              </a:rPr>
              <a:t> ();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 err="1">
                <a:latin typeface="Courier" pitchFamily="49" charset="0"/>
              </a:rPr>
              <a:t>int</a:t>
            </a:r>
            <a:r>
              <a:rPr lang="en-US" altLang="en-US" dirty="0">
                <a:latin typeface="Courier" pitchFamily="49" charset="0"/>
              </a:rPr>
              <a:t> </a:t>
            </a:r>
            <a:r>
              <a:rPr lang="en-US" altLang="en-US" dirty="0" err="1">
                <a:latin typeface="Courier" pitchFamily="49" charset="0"/>
              </a:rPr>
              <a:t>omp_in_parallel</a:t>
            </a:r>
            <a:r>
              <a:rPr lang="en-US" altLang="en-US" dirty="0">
                <a:latin typeface="Courier" pitchFamily="49" charset="0"/>
              </a:rPr>
              <a:t>();</a:t>
            </a:r>
          </a:p>
          <a:p>
            <a:pPr>
              <a:lnSpc>
                <a:spcPct val="80000"/>
              </a:lnSpc>
            </a:pPr>
            <a:endParaRPr lang="en-US" altLang="en-US" sz="1800" dirty="0"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38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133350"/>
            <a:ext cx="7315200" cy="865573"/>
          </a:xfrm>
        </p:spPr>
        <p:txBody>
          <a:bodyPr/>
          <a:lstStyle/>
          <a:p>
            <a:r>
              <a:rPr lang="en-US" altLang="en-US" dirty="0" err="1"/>
              <a:t>OpenMP</a:t>
            </a:r>
            <a:r>
              <a:rPr lang="en-US" altLang="en-US" dirty="0"/>
              <a:t> Library Functions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0" y="998923"/>
            <a:ext cx="5638800" cy="3630227"/>
          </a:xfrm>
        </p:spPr>
        <p:txBody>
          <a:bodyPr>
            <a:normAutofit/>
          </a:bodyPr>
          <a:lstStyle/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500" dirty="0">
                <a:latin typeface="Courier" pitchFamily="49" charset="0"/>
              </a:rPr>
              <a:t>/* controlling and monitoring thread creation */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500" dirty="0">
                <a:latin typeface="Courier" pitchFamily="49" charset="0"/>
              </a:rPr>
              <a:t>void </a:t>
            </a:r>
            <a:r>
              <a:rPr lang="en-US" altLang="en-US" sz="1500" dirty="0" err="1">
                <a:latin typeface="Courier" pitchFamily="49" charset="0"/>
              </a:rPr>
              <a:t>omp_set_dynamic</a:t>
            </a:r>
            <a:r>
              <a:rPr lang="en-US" altLang="en-US" sz="1500" dirty="0">
                <a:latin typeface="Courier" pitchFamily="49" charset="0"/>
              </a:rPr>
              <a:t> (</a:t>
            </a:r>
            <a:r>
              <a:rPr lang="en-US" altLang="en-US" sz="1500" dirty="0" err="1">
                <a:latin typeface="Courier" pitchFamily="49" charset="0"/>
              </a:rPr>
              <a:t>int</a:t>
            </a:r>
            <a:r>
              <a:rPr lang="en-US" altLang="en-US" sz="1500" dirty="0">
                <a:latin typeface="Courier" pitchFamily="49" charset="0"/>
              </a:rPr>
              <a:t> </a:t>
            </a:r>
            <a:r>
              <a:rPr lang="en-US" altLang="en-US" sz="1500" dirty="0" err="1">
                <a:latin typeface="Courier" pitchFamily="49" charset="0"/>
              </a:rPr>
              <a:t>dynamic_threads</a:t>
            </a:r>
            <a:r>
              <a:rPr lang="en-US" altLang="en-US" sz="1500" dirty="0">
                <a:latin typeface="Courier" pitchFamily="49" charset="0"/>
              </a:rPr>
              <a:t>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500" dirty="0" err="1">
                <a:latin typeface="Courier" pitchFamily="49" charset="0"/>
              </a:rPr>
              <a:t>int</a:t>
            </a:r>
            <a:r>
              <a:rPr lang="en-US" altLang="en-US" sz="1500" dirty="0">
                <a:latin typeface="Courier" pitchFamily="49" charset="0"/>
              </a:rPr>
              <a:t> </a:t>
            </a:r>
            <a:r>
              <a:rPr lang="en-US" altLang="en-US" sz="1500" dirty="0" err="1">
                <a:latin typeface="Courier" pitchFamily="49" charset="0"/>
              </a:rPr>
              <a:t>omp_get_dynamic</a:t>
            </a:r>
            <a:r>
              <a:rPr lang="en-US" altLang="en-US" sz="1500" dirty="0">
                <a:latin typeface="Courier" pitchFamily="49" charset="0"/>
              </a:rPr>
              <a:t> ();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500" dirty="0">
                <a:latin typeface="Courier" pitchFamily="49" charset="0"/>
              </a:rPr>
              <a:t>void </a:t>
            </a:r>
            <a:r>
              <a:rPr lang="en-US" altLang="en-US" sz="1500" dirty="0" err="1">
                <a:latin typeface="Courier" pitchFamily="49" charset="0"/>
              </a:rPr>
              <a:t>omp_set_nested</a:t>
            </a:r>
            <a:r>
              <a:rPr lang="en-US" altLang="en-US" sz="1500" dirty="0">
                <a:latin typeface="Courier" pitchFamily="49" charset="0"/>
              </a:rPr>
              <a:t> (</a:t>
            </a:r>
            <a:r>
              <a:rPr lang="en-US" altLang="en-US" sz="1500" dirty="0" err="1">
                <a:latin typeface="Courier" pitchFamily="49" charset="0"/>
              </a:rPr>
              <a:t>int</a:t>
            </a:r>
            <a:r>
              <a:rPr lang="en-US" altLang="en-US" sz="1500" dirty="0">
                <a:latin typeface="Courier" pitchFamily="49" charset="0"/>
              </a:rPr>
              <a:t> nested);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500" dirty="0" err="1">
                <a:latin typeface="Courier" pitchFamily="49" charset="0"/>
              </a:rPr>
              <a:t>int</a:t>
            </a:r>
            <a:r>
              <a:rPr lang="en-US" altLang="en-US" sz="1500" dirty="0">
                <a:latin typeface="Courier" pitchFamily="49" charset="0"/>
              </a:rPr>
              <a:t> </a:t>
            </a:r>
            <a:r>
              <a:rPr lang="en-US" altLang="en-US" sz="1500" dirty="0" err="1">
                <a:latin typeface="Courier" pitchFamily="49" charset="0"/>
              </a:rPr>
              <a:t>omp_get_nested</a:t>
            </a:r>
            <a:r>
              <a:rPr lang="en-US" altLang="en-US" sz="1500" dirty="0">
                <a:latin typeface="Courier" pitchFamily="49" charset="0"/>
              </a:rPr>
              <a:t> ();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500" dirty="0">
                <a:latin typeface="Courier" pitchFamily="49" charset="0"/>
              </a:rPr>
              <a:t>/* mutual exclusion */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500" dirty="0">
                <a:latin typeface="Courier" pitchFamily="49" charset="0"/>
              </a:rPr>
              <a:t>void </a:t>
            </a:r>
            <a:r>
              <a:rPr lang="en-US" altLang="en-US" sz="1500" dirty="0" err="1">
                <a:latin typeface="Courier" pitchFamily="49" charset="0"/>
              </a:rPr>
              <a:t>omp_init_lock</a:t>
            </a:r>
            <a:r>
              <a:rPr lang="en-US" altLang="en-US" sz="1500" dirty="0">
                <a:latin typeface="Courier" pitchFamily="49" charset="0"/>
              </a:rPr>
              <a:t> (</a:t>
            </a:r>
            <a:r>
              <a:rPr lang="en-US" altLang="en-US" sz="1500" dirty="0" err="1">
                <a:latin typeface="Courier" pitchFamily="49" charset="0"/>
              </a:rPr>
              <a:t>omp_lock_t</a:t>
            </a:r>
            <a:r>
              <a:rPr lang="en-US" altLang="en-US" sz="1500" dirty="0">
                <a:latin typeface="Courier" pitchFamily="49" charset="0"/>
              </a:rPr>
              <a:t> *lock);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500" dirty="0">
                <a:latin typeface="Courier" pitchFamily="49" charset="0"/>
              </a:rPr>
              <a:t>void </a:t>
            </a:r>
            <a:r>
              <a:rPr lang="en-US" altLang="en-US" sz="1500" dirty="0" err="1">
                <a:latin typeface="Courier" pitchFamily="49" charset="0"/>
              </a:rPr>
              <a:t>omp_destroy_lock</a:t>
            </a:r>
            <a:r>
              <a:rPr lang="en-US" altLang="en-US" sz="1500" dirty="0">
                <a:latin typeface="Courier" pitchFamily="49" charset="0"/>
              </a:rPr>
              <a:t> (</a:t>
            </a:r>
            <a:r>
              <a:rPr lang="en-US" altLang="en-US" sz="1500" dirty="0" err="1">
                <a:latin typeface="Courier" pitchFamily="49" charset="0"/>
              </a:rPr>
              <a:t>omp_lock_t</a:t>
            </a:r>
            <a:r>
              <a:rPr lang="en-US" altLang="en-US" sz="1500" dirty="0">
                <a:latin typeface="Courier" pitchFamily="49" charset="0"/>
              </a:rPr>
              <a:t> *lock);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500" dirty="0">
                <a:latin typeface="Courier" pitchFamily="49" charset="0"/>
              </a:rPr>
              <a:t>void </a:t>
            </a:r>
            <a:r>
              <a:rPr lang="en-US" altLang="en-US" sz="1500" dirty="0" err="1">
                <a:latin typeface="Courier" pitchFamily="49" charset="0"/>
              </a:rPr>
              <a:t>omp_set_lock</a:t>
            </a:r>
            <a:r>
              <a:rPr lang="en-US" altLang="en-US" sz="1500" dirty="0">
                <a:latin typeface="Courier" pitchFamily="49" charset="0"/>
              </a:rPr>
              <a:t> (</a:t>
            </a:r>
            <a:r>
              <a:rPr lang="en-US" altLang="en-US" sz="1500" dirty="0" err="1">
                <a:latin typeface="Courier" pitchFamily="49" charset="0"/>
              </a:rPr>
              <a:t>omp_lock_t</a:t>
            </a:r>
            <a:r>
              <a:rPr lang="en-US" altLang="en-US" sz="1500" dirty="0">
                <a:latin typeface="Courier" pitchFamily="49" charset="0"/>
              </a:rPr>
              <a:t> *lock);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500" dirty="0">
                <a:latin typeface="Courier" pitchFamily="49" charset="0"/>
              </a:rPr>
              <a:t>void </a:t>
            </a:r>
            <a:r>
              <a:rPr lang="en-US" altLang="en-US" sz="1500" dirty="0" err="1">
                <a:latin typeface="Courier" pitchFamily="49" charset="0"/>
              </a:rPr>
              <a:t>omp_unset_lock</a:t>
            </a:r>
            <a:r>
              <a:rPr lang="en-US" altLang="en-US" sz="1500" dirty="0">
                <a:latin typeface="Courier" pitchFamily="49" charset="0"/>
              </a:rPr>
              <a:t> (</a:t>
            </a:r>
            <a:r>
              <a:rPr lang="en-US" altLang="en-US" sz="1500" dirty="0" err="1">
                <a:latin typeface="Courier" pitchFamily="49" charset="0"/>
              </a:rPr>
              <a:t>omp_lock_t</a:t>
            </a:r>
            <a:r>
              <a:rPr lang="en-US" altLang="en-US" sz="1500" dirty="0">
                <a:latin typeface="Courier" pitchFamily="49" charset="0"/>
              </a:rPr>
              <a:t> *lock);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500" dirty="0" err="1">
                <a:latin typeface="Courier" pitchFamily="49" charset="0"/>
              </a:rPr>
              <a:t>int</a:t>
            </a:r>
            <a:r>
              <a:rPr lang="en-US" altLang="en-US" sz="1500" dirty="0">
                <a:latin typeface="Courier" pitchFamily="49" charset="0"/>
              </a:rPr>
              <a:t> </a:t>
            </a:r>
            <a:r>
              <a:rPr lang="en-US" altLang="en-US" sz="1500" dirty="0" err="1">
                <a:latin typeface="Courier" pitchFamily="49" charset="0"/>
              </a:rPr>
              <a:t>omp_test_lock</a:t>
            </a:r>
            <a:r>
              <a:rPr lang="en-US" altLang="en-US" sz="1500" dirty="0">
                <a:latin typeface="Courier" pitchFamily="49" charset="0"/>
              </a:rPr>
              <a:t> (</a:t>
            </a:r>
            <a:r>
              <a:rPr lang="en-US" altLang="en-US" sz="1500" dirty="0" err="1">
                <a:latin typeface="Courier" pitchFamily="49" charset="0"/>
              </a:rPr>
              <a:t>omp_lock_t</a:t>
            </a:r>
            <a:r>
              <a:rPr lang="en-US" altLang="en-US" sz="1500" dirty="0">
                <a:latin typeface="Courier" pitchFamily="49" charset="0"/>
              </a:rPr>
              <a:t> *lock);</a:t>
            </a:r>
          </a:p>
          <a:p>
            <a:pPr>
              <a:lnSpc>
                <a:spcPct val="80000"/>
              </a:lnSpc>
            </a:pPr>
            <a:endParaRPr lang="en-US" altLang="en-US" sz="1500" dirty="0">
              <a:latin typeface="Courier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500" dirty="0"/>
              <a:t>In addition, all lock routines also have a nested lock counterpart</a:t>
            </a:r>
          </a:p>
          <a:p>
            <a:pPr>
              <a:lnSpc>
                <a:spcPct val="80000"/>
              </a:lnSpc>
            </a:pPr>
            <a:r>
              <a:rPr lang="en-US" altLang="en-US" sz="1500" dirty="0"/>
              <a:t>for recursive </a:t>
            </a:r>
            <a:r>
              <a:rPr lang="en-US" altLang="en-US" sz="1500" dirty="0" err="1"/>
              <a:t>mutexes</a:t>
            </a:r>
            <a:r>
              <a:rPr lang="en-US" altLang="en-US" sz="1500" dirty="0"/>
              <a:t>.</a:t>
            </a:r>
          </a:p>
          <a:p>
            <a:pPr>
              <a:lnSpc>
                <a:spcPct val="80000"/>
              </a:lnSpc>
            </a:pP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94598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57150"/>
            <a:ext cx="7315200" cy="865573"/>
          </a:xfrm>
        </p:spPr>
        <p:txBody>
          <a:bodyPr/>
          <a:lstStyle/>
          <a:p>
            <a:r>
              <a:rPr lang="en-US" altLang="en-US" sz="3000" dirty="0"/>
              <a:t>Environment Variables in </a:t>
            </a:r>
            <a:r>
              <a:rPr lang="en-US" altLang="en-US" sz="3000" dirty="0" err="1"/>
              <a:t>OpenMP</a:t>
            </a:r>
            <a:endParaRPr lang="en-US" altLang="en-US" sz="3000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67200" y="894148"/>
            <a:ext cx="4876800" cy="3735002"/>
          </a:xfrm>
        </p:spPr>
        <p:txBody>
          <a:bodyPr>
            <a:normAutofit lnSpcReduction="10000"/>
          </a:bodyPr>
          <a:lstStyle/>
          <a:p>
            <a:r>
              <a:rPr lang="en-US" altLang="en-US" sz="2100" dirty="0"/>
              <a:t> </a:t>
            </a:r>
            <a:r>
              <a:rPr lang="en-US" altLang="en-US" sz="2100" dirty="0">
                <a:latin typeface="Courier" pitchFamily="49" charset="0"/>
              </a:rPr>
              <a:t>OMP_NUM_THREADS</a:t>
            </a:r>
            <a:r>
              <a:rPr lang="en-US" altLang="en-US" sz="2100" dirty="0"/>
              <a:t>: This environment variable specifies the default number of threads created upon entering a parallel region. </a:t>
            </a:r>
          </a:p>
          <a:p>
            <a:r>
              <a:rPr lang="en-US" altLang="en-US" sz="2100" dirty="0"/>
              <a:t> </a:t>
            </a:r>
            <a:r>
              <a:rPr lang="en-US" altLang="en-US" sz="2100" dirty="0">
                <a:latin typeface="Courier" pitchFamily="49" charset="0"/>
              </a:rPr>
              <a:t>OMP_SET_DYNAMIC</a:t>
            </a:r>
            <a:r>
              <a:rPr lang="en-US" altLang="en-US" sz="2100" dirty="0"/>
              <a:t>: Determines if the number of threads can be dynamically changed. </a:t>
            </a:r>
          </a:p>
          <a:p>
            <a:r>
              <a:rPr lang="en-US" altLang="en-US" sz="2100" dirty="0"/>
              <a:t> </a:t>
            </a:r>
            <a:r>
              <a:rPr lang="en-US" altLang="en-US" sz="2100" dirty="0">
                <a:latin typeface="Courier" pitchFamily="49" charset="0"/>
              </a:rPr>
              <a:t>OMP_NESTED</a:t>
            </a:r>
            <a:r>
              <a:rPr lang="en-US" altLang="en-US" sz="2100" dirty="0"/>
              <a:t>: Turns on nested parallelism. </a:t>
            </a:r>
          </a:p>
          <a:p>
            <a:r>
              <a:rPr lang="en-US" altLang="en-US" sz="2100" dirty="0"/>
              <a:t> </a:t>
            </a:r>
            <a:r>
              <a:rPr lang="en-US" altLang="en-US" sz="2100" dirty="0">
                <a:latin typeface="Courier" pitchFamily="49" charset="0"/>
              </a:rPr>
              <a:t>OMP_SCHEDULE</a:t>
            </a:r>
            <a:r>
              <a:rPr lang="en-US" altLang="en-US" sz="2100" dirty="0"/>
              <a:t>: Scheduling of for-loops if the clause specifies runtime </a:t>
            </a:r>
          </a:p>
        </p:txBody>
      </p:sp>
    </p:spTree>
    <p:extLst>
      <p:ext uri="{BB962C8B-B14F-4D97-AF65-F5344CB8AC3E}">
        <p14:creationId xmlns:p14="http://schemas.microsoft.com/office/powerpoint/2010/main" val="427531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133350"/>
            <a:ext cx="7315200" cy="865573"/>
          </a:xfrm>
        </p:spPr>
        <p:txBody>
          <a:bodyPr>
            <a:normAutofit fontScale="90000"/>
          </a:bodyPr>
          <a:lstStyle/>
          <a:p>
            <a:r>
              <a:rPr lang="en-US" altLang="en-US" sz="3000" dirty="0"/>
              <a:t>Explicit Threads versus Directive Based Programming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8600" y="1008448"/>
            <a:ext cx="5048250" cy="392550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1500" dirty="0"/>
              <a:t>Directives layered on top of threads facilitate a variety of thread-related tasks. </a:t>
            </a:r>
          </a:p>
          <a:p>
            <a:pPr>
              <a:lnSpc>
                <a:spcPct val="80000"/>
              </a:lnSpc>
            </a:pPr>
            <a:r>
              <a:rPr lang="en-US" altLang="en-US" sz="1500" dirty="0"/>
              <a:t>A programmer is rid of the tasks of initializing attributes objects, setting up arguments to threads, partitioning iteration spaces, etc. </a:t>
            </a:r>
          </a:p>
          <a:p>
            <a:pPr>
              <a:lnSpc>
                <a:spcPct val="80000"/>
              </a:lnSpc>
            </a:pPr>
            <a:r>
              <a:rPr lang="en-US" altLang="en-US" sz="1500" dirty="0"/>
              <a:t>There are some drawbacks to using directives as well. </a:t>
            </a:r>
          </a:p>
          <a:p>
            <a:pPr>
              <a:lnSpc>
                <a:spcPct val="80000"/>
              </a:lnSpc>
            </a:pPr>
            <a:r>
              <a:rPr lang="en-US" altLang="en-US" sz="1500" dirty="0"/>
              <a:t>An artifact of explicit threading is that data exchange is more apparent. This helps in alleviating some of the overheads from data movement, false sharing, and contention. </a:t>
            </a:r>
          </a:p>
          <a:p>
            <a:pPr>
              <a:lnSpc>
                <a:spcPct val="80000"/>
              </a:lnSpc>
            </a:pPr>
            <a:r>
              <a:rPr lang="en-US" altLang="en-US" sz="1500" dirty="0"/>
              <a:t>Explicit threading also provides a richer API in the form of condition waits, locks of different types, and increased flexibility for building composite synchronization operations. </a:t>
            </a:r>
          </a:p>
          <a:p>
            <a:pPr>
              <a:lnSpc>
                <a:spcPct val="80000"/>
              </a:lnSpc>
            </a:pPr>
            <a:r>
              <a:rPr lang="en-US" altLang="en-US" sz="1500" dirty="0"/>
              <a:t>Finally, since explicit threading is used more widely than </a:t>
            </a:r>
            <a:r>
              <a:rPr lang="en-US" altLang="en-US" sz="1500" dirty="0" err="1"/>
              <a:t>OpenMP</a:t>
            </a:r>
            <a:r>
              <a:rPr lang="en-US" altLang="en-US" sz="1500" dirty="0"/>
              <a:t>, tools and support for </a:t>
            </a:r>
            <a:r>
              <a:rPr lang="en-US" altLang="en-US" sz="1500" dirty="0" err="1"/>
              <a:t>Pthreads</a:t>
            </a:r>
            <a:r>
              <a:rPr lang="en-US" altLang="en-US" sz="1500" dirty="0"/>
              <a:t> programs are easier to find.</a:t>
            </a:r>
          </a:p>
        </p:txBody>
      </p:sp>
    </p:spTree>
    <p:extLst>
      <p:ext uri="{BB962C8B-B14F-4D97-AF65-F5344CB8AC3E}">
        <p14:creationId xmlns:p14="http://schemas.microsoft.com/office/powerpoint/2010/main" val="306090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0089" y="1657350"/>
            <a:ext cx="4343400" cy="11430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3200" dirty="0"/>
              <a:t>SIMD – Vector </a:t>
            </a:r>
            <a:r>
              <a:rPr lang="en-IN" sz="3200" dirty="0"/>
              <a:t>Processing - GPUs</a:t>
            </a:r>
          </a:p>
        </p:txBody>
      </p:sp>
    </p:spTree>
    <p:extLst>
      <p:ext uri="{BB962C8B-B14F-4D97-AF65-F5344CB8AC3E}">
        <p14:creationId xmlns:p14="http://schemas.microsoft.com/office/powerpoint/2010/main" val="130395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0131" y="347267"/>
            <a:ext cx="4572000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" dirty="0"/>
              <a:t>Data Level</a:t>
            </a:r>
            <a:r>
              <a:rPr spc="-44" dirty="0"/>
              <a:t> </a:t>
            </a:r>
            <a:r>
              <a:rPr spc="-3" dirty="0"/>
              <a:t>Parallelism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2954" y="1260373"/>
            <a:ext cx="107624" cy="145793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885" spc="3" dirty="0">
                <a:solidFill>
                  <a:srgbClr val="3B3B3B"/>
                </a:solidFill>
                <a:latin typeface="OpenSymbol"/>
                <a:cs typeface="OpenSymbol"/>
              </a:rPr>
              <a:t>●</a:t>
            </a:r>
            <a:endParaRPr sz="885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2701" y="971550"/>
            <a:ext cx="4690958" cy="2518707"/>
          </a:xfrm>
          <a:prstGeom prst="rect">
            <a:avLst/>
          </a:prstGeom>
        </p:spPr>
        <p:txBody>
          <a:bodyPr vert="horz" wrap="square" lIns="0" tIns="120591" rIns="0" bIns="0" rtlCol="0">
            <a:spAutoFit/>
          </a:bodyPr>
          <a:lstStyle/>
          <a:p>
            <a:pPr marL="25935">
              <a:spcBef>
                <a:spcPts val="950"/>
              </a:spcBef>
            </a:pPr>
            <a:r>
              <a:rPr sz="2008" spc="7" dirty="0">
                <a:latin typeface="Arial"/>
                <a:cs typeface="Arial"/>
              </a:rPr>
              <a:t>SIMD</a:t>
            </a:r>
            <a:endParaRPr sz="2008" dirty="0">
              <a:latin typeface="Arial"/>
              <a:cs typeface="Arial"/>
            </a:endParaRPr>
          </a:p>
          <a:p>
            <a:pPr marL="299978" marR="20748" indent="-205748">
              <a:lnSpc>
                <a:spcPts val="1974"/>
              </a:lnSpc>
              <a:spcBef>
                <a:spcPts val="953"/>
              </a:spcBef>
              <a:buSzPct val="73076"/>
              <a:buFont typeface="OpenSymbol"/>
              <a:buChar char="–"/>
              <a:tabLst>
                <a:tab pos="299978" algn="l"/>
              </a:tabLst>
            </a:pPr>
            <a:r>
              <a:rPr sz="1770" spc="-3" dirty="0">
                <a:latin typeface="Arial"/>
                <a:cs typeface="Arial"/>
              </a:rPr>
              <a:t>Matrix oriented </a:t>
            </a:r>
            <a:r>
              <a:rPr sz="1770" dirty="0">
                <a:latin typeface="Arial"/>
                <a:cs typeface="Arial"/>
              </a:rPr>
              <a:t>computations, Media, sound  processing</a:t>
            </a:r>
          </a:p>
          <a:p>
            <a:pPr marL="299978" indent="-205748">
              <a:spcBef>
                <a:spcPts val="531"/>
              </a:spcBef>
              <a:buSzPct val="73076"/>
              <a:buFont typeface="OpenSymbol"/>
              <a:buChar char="–"/>
              <a:tabLst>
                <a:tab pos="299978" algn="l"/>
              </a:tabLst>
            </a:pPr>
            <a:r>
              <a:rPr sz="1770" spc="-3" dirty="0">
                <a:latin typeface="Arial"/>
                <a:cs typeface="Arial"/>
              </a:rPr>
              <a:t>Energy</a:t>
            </a:r>
            <a:r>
              <a:rPr sz="1770" dirty="0">
                <a:latin typeface="Arial"/>
                <a:cs typeface="Arial"/>
              </a:rPr>
              <a:t> </a:t>
            </a:r>
            <a:r>
              <a:rPr sz="1770" spc="-7" dirty="0">
                <a:latin typeface="Arial"/>
                <a:cs typeface="Arial"/>
              </a:rPr>
              <a:t>efficiency</a:t>
            </a:r>
            <a:endParaRPr sz="1770" dirty="0">
              <a:latin typeface="Arial"/>
              <a:cs typeface="Arial"/>
            </a:endParaRPr>
          </a:p>
          <a:p>
            <a:pPr marL="25935">
              <a:spcBef>
                <a:spcPts val="572"/>
              </a:spcBef>
            </a:pPr>
            <a:r>
              <a:rPr sz="2008" spc="3" dirty="0">
                <a:latin typeface="Arial"/>
                <a:cs typeface="Arial"/>
              </a:rPr>
              <a:t>Three </a:t>
            </a:r>
            <a:r>
              <a:rPr sz="2008" spc="7" dirty="0">
                <a:latin typeface="Arial"/>
                <a:cs typeface="Arial"/>
              </a:rPr>
              <a:t>main</a:t>
            </a:r>
            <a:r>
              <a:rPr sz="2008" spc="3" dirty="0">
                <a:latin typeface="Arial"/>
                <a:cs typeface="Arial"/>
              </a:rPr>
              <a:t> classes</a:t>
            </a:r>
            <a:endParaRPr sz="2008" dirty="0">
              <a:latin typeface="Arial"/>
              <a:cs typeface="Arial"/>
            </a:endParaRPr>
          </a:p>
          <a:p>
            <a:pPr marL="299978" indent="-205748">
              <a:spcBef>
                <a:spcPts val="762"/>
              </a:spcBef>
              <a:buSzPct val="73076"/>
              <a:buFont typeface="OpenSymbol"/>
              <a:buChar char="–"/>
              <a:tabLst>
                <a:tab pos="299978" algn="l"/>
              </a:tabLst>
            </a:pPr>
            <a:r>
              <a:rPr sz="1770" spc="-17" dirty="0">
                <a:latin typeface="Arial"/>
                <a:cs typeface="Arial"/>
              </a:rPr>
              <a:t>Vector</a:t>
            </a:r>
            <a:r>
              <a:rPr sz="1770" spc="-3" dirty="0">
                <a:latin typeface="Arial"/>
                <a:cs typeface="Arial"/>
              </a:rPr>
              <a:t> </a:t>
            </a:r>
            <a:r>
              <a:rPr sz="1770" dirty="0">
                <a:latin typeface="Arial"/>
                <a:cs typeface="Arial"/>
              </a:rPr>
              <a:t>processors</a:t>
            </a:r>
          </a:p>
          <a:p>
            <a:pPr marL="299978" indent="-205748">
              <a:spcBef>
                <a:spcPts val="572"/>
              </a:spcBef>
              <a:buSzPct val="73076"/>
              <a:buFont typeface="OpenSymbol"/>
              <a:buChar char="–"/>
              <a:tabLst>
                <a:tab pos="299978" algn="l"/>
              </a:tabLst>
            </a:pPr>
            <a:r>
              <a:rPr sz="1770" spc="-3" dirty="0">
                <a:latin typeface="Arial"/>
                <a:cs typeface="Arial"/>
              </a:rPr>
              <a:t>Multimedia SIMD</a:t>
            </a:r>
            <a:r>
              <a:rPr sz="1770" spc="3" dirty="0">
                <a:latin typeface="Arial"/>
                <a:cs typeface="Arial"/>
              </a:rPr>
              <a:t> </a:t>
            </a:r>
            <a:r>
              <a:rPr sz="1770" dirty="0">
                <a:latin typeface="Arial"/>
                <a:cs typeface="Arial"/>
              </a:rPr>
              <a:t>extensions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42954" y="2598548"/>
            <a:ext cx="107624" cy="145793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885" spc="3" dirty="0">
                <a:solidFill>
                  <a:srgbClr val="3B3B3B"/>
                </a:solidFill>
                <a:latin typeface="OpenSymbol"/>
                <a:cs typeface="OpenSymbol"/>
              </a:rPr>
              <a:t>●</a:t>
            </a:r>
            <a:endParaRPr sz="885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2629" y="3668741"/>
            <a:ext cx="84716" cy="110927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647" spc="14" dirty="0">
                <a:solidFill>
                  <a:srgbClr val="3B3B3B"/>
                </a:solidFill>
                <a:latin typeface="OpenSymbol"/>
                <a:cs typeface="OpenSymbol"/>
              </a:rPr>
              <a:t>●</a:t>
            </a:r>
            <a:endParaRPr sz="647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7189" y="3511731"/>
            <a:ext cx="1428942" cy="241860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1498" spc="10" dirty="0">
                <a:latin typeface="Arial"/>
                <a:cs typeface="Arial"/>
              </a:rPr>
              <a:t>MMX, </a:t>
            </a:r>
            <a:r>
              <a:rPr sz="1498" spc="7" dirty="0">
                <a:latin typeface="Arial"/>
                <a:cs typeface="Arial"/>
              </a:rPr>
              <a:t>SSE,</a:t>
            </a:r>
            <a:r>
              <a:rPr sz="1498" spc="-109" dirty="0">
                <a:latin typeface="Arial"/>
                <a:cs typeface="Arial"/>
              </a:rPr>
              <a:t> </a:t>
            </a:r>
            <a:r>
              <a:rPr sz="1498" spc="-27" dirty="0">
                <a:latin typeface="Arial"/>
                <a:cs typeface="Arial"/>
              </a:rPr>
              <a:t>AVX</a:t>
            </a:r>
            <a:endParaRPr sz="1498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90992" y="3791814"/>
            <a:ext cx="745159" cy="2811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25935">
              <a:spcBef>
                <a:spcPts val="68"/>
              </a:spcBef>
            </a:pPr>
            <a:r>
              <a:rPr sz="1940" spc="15" baseline="8771" dirty="0">
                <a:latin typeface="OpenSymbol"/>
                <a:cs typeface="OpenSymbol"/>
              </a:rPr>
              <a:t>–</a:t>
            </a:r>
            <a:r>
              <a:rPr sz="1940" spc="285" baseline="8771" dirty="0">
                <a:latin typeface="OpenSymbol"/>
                <a:cs typeface="OpenSymbol"/>
              </a:rPr>
              <a:t> </a:t>
            </a:r>
            <a:r>
              <a:rPr sz="1770" spc="-3" dirty="0">
                <a:latin typeface="Arial"/>
                <a:cs typeface="Arial"/>
              </a:rPr>
              <a:t>GPU</a:t>
            </a:r>
            <a:endParaRPr sz="177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1361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5750"/>
            <a:ext cx="7315200" cy="865573"/>
          </a:xfrm>
        </p:spPr>
        <p:txBody>
          <a:bodyPr>
            <a:noAutofit/>
          </a:bodyPr>
          <a:lstStyle/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VECTOR PROCESSORS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76350"/>
            <a:ext cx="7315200" cy="3352800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processor can operate on an entire vector in one instruction </a:t>
            </a:r>
          </a:p>
          <a:p>
            <a:r>
              <a:rPr lang="en-US" dirty="0" smtClean="0"/>
              <a:t>Work </a:t>
            </a:r>
            <a:r>
              <a:rPr lang="en-US" dirty="0"/>
              <a:t>done automatically in parallel (simultaneously) </a:t>
            </a:r>
          </a:p>
          <a:p>
            <a:r>
              <a:rPr lang="en-US" dirty="0" smtClean="0"/>
              <a:t>The </a:t>
            </a:r>
            <a:r>
              <a:rPr lang="en-US" dirty="0"/>
              <a:t>operand to the instructions are complete vectors instead of one element </a:t>
            </a:r>
          </a:p>
          <a:p>
            <a:r>
              <a:rPr lang="en-US" dirty="0" smtClean="0"/>
              <a:t>Reduce </a:t>
            </a:r>
            <a:r>
              <a:rPr lang="en-US" dirty="0"/>
              <a:t>the fetch and decode bandwidth </a:t>
            </a:r>
          </a:p>
          <a:p>
            <a:r>
              <a:rPr lang="en-US" dirty="0" smtClean="0"/>
              <a:t>Data </a:t>
            </a:r>
            <a:r>
              <a:rPr lang="en-US" dirty="0"/>
              <a:t>parallelism </a:t>
            </a:r>
          </a:p>
          <a:p>
            <a:r>
              <a:rPr lang="en-US" dirty="0" smtClean="0"/>
              <a:t>Tasks </a:t>
            </a:r>
            <a:r>
              <a:rPr lang="en-US" dirty="0"/>
              <a:t>usually consist of: </a:t>
            </a:r>
          </a:p>
          <a:p>
            <a:pPr lvl="1"/>
            <a:r>
              <a:rPr lang="en-US" dirty="0" smtClean="0"/>
              <a:t>Large </a:t>
            </a:r>
            <a:r>
              <a:rPr lang="en-US" dirty="0"/>
              <a:t>active data sets </a:t>
            </a:r>
          </a:p>
          <a:p>
            <a:pPr lvl="1"/>
            <a:r>
              <a:rPr lang="en-US" dirty="0" smtClean="0"/>
              <a:t>Long </a:t>
            </a:r>
            <a:r>
              <a:rPr lang="en-US" dirty="0"/>
              <a:t>run times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67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9550"/>
            <a:ext cx="559904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5008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27842"/>
            <a:ext cx="7315200" cy="865573"/>
          </a:xfrm>
        </p:spPr>
        <p:txBody>
          <a:bodyPr>
            <a:normAutofit/>
          </a:bodyPr>
          <a:lstStyle/>
          <a:p>
            <a:r>
              <a:rPr lang="en-US" sz="3200" dirty="0"/>
              <a:t>VECTOR </a:t>
            </a:r>
            <a:r>
              <a:rPr lang="en-US" sz="3200" dirty="0" smtClean="0"/>
              <a:t>PROCESSORS …. </a:t>
            </a:r>
            <a:endParaRPr lang="en-U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971550"/>
            <a:ext cx="5867400" cy="4006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274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4403" y="349924"/>
            <a:ext cx="5571149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27" dirty="0"/>
              <a:t>Vector</a:t>
            </a:r>
            <a:r>
              <a:rPr spc="-204" dirty="0"/>
              <a:t> </a:t>
            </a:r>
            <a:r>
              <a:rPr spc="-3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2346" y="993257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solidFill>
                  <a:srgbClr val="3B3B3B"/>
                </a:solidFill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8600" y="1073135"/>
            <a:ext cx="5327196" cy="3257659"/>
          </a:xfrm>
          <a:prstGeom prst="rect">
            <a:avLst/>
          </a:prstGeom>
        </p:spPr>
        <p:txBody>
          <a:bodyPr vert="horz" wrap="square" lIns="0" tIns="36739" rIns="0" bIns="0" rtlCol="0">
            <a:spAutoFit/>
          </a:bodyPr>
          <a:lstStyle/>
          <a:p>
            <a:pPr marL="351545" marR="3458" indent="-342900">
              <a:lnSpc>
                <a:spcPts val="2444"/>
              </a:lnSpc>
              <a:spcBef>
                <a:spcPts val="289"/>
              </a:spcBef>
              <a:buFont typeface="Arial" panose="020B0604020202020204" pitchFamily="34" charset="0"/>
              <a:buChar char="•"/>
            </a:pPr>
            <a:r>
              <a:rPr sz="2178" dirty="0">
                <a:latin typeface="Arial"/>
                <a:cs typeface="Arial"/>
              </a:rPr>
              <a:t>Grab sets of data </a:t>
            </a:r>
            <a:r>
              <a:rPr sz="2178" spc="-3" dirty="0">
                <a:latin typeface="Arial"/>
                <a:cs typeface="Arial"/>
              </a:rPr>
              <a:t>elements </a:t>
            </a:r>
            <a:r>
              <a:rPr sz="2178" dirty="0">
                <a:latin typeface="Arial"/>
                <a:cs typeface="Arial"/>
              </a:rPr>
              <a:t>scattered about  memory</a:t>
            </a:r>
          </a:p>
          <a:p>
            <a:pPr marL="351545" marR="805272" indent="-342900">
              <a:lnSpc>
                <a:spcPts val="3403"/>
              </a:lnSpc>
              <a:spcBef>
                <a:spcPts val="201"/>
              </a:spcBef>
              <a:buFont typeface="Arial" panose="020B0604020202020204" pitchFamily="34" charset="0"/>
              <a:buChar char="•"/>
            </a:pPr>
            <a:r>
              <a:rPr sz="2178" dirty="0">
                <a:latin typeface="Arial"/>
                <a:cs typeface="Arial"/>
              </a:rPr>
              <a:t>Place data </a:t>
            </a:r>
            <a:r>
              <a:rPr sz="2178" spc="-3" dirty="0">
                <a:latin typeface="Arial"/>
                <a:cs typeface="Arial"/>
              </a:rPr>
              <a:t>in </a:t>
            </a:r>
            <a:r>
              <a:rPr sz="2178" dirty="0">
                <a:latin typeface="Arial"/>
                <a:cs typeface="Arial"/>
              </a:rPr>
              <a:t>sequential </a:t>
            </a:r>
            <a:r>
              <a:rPr sz="2178" spc="-3" dirty="0">
                <a:latin typeface="Arial"/>
                <a:cs typeface="Arial"/>
              </a:rPr>
              <a:t>register files  </a:t>
            </a:r>
            <a:r>
              <a:rPr sz="2178" dirty="0">
                <a:latin typeface="Arial"/>
                <a:cs typeface="Arial"/>
              </a:rPr>
              <a:t>Operate </a:t>
            </a:r>
            <a:r>
              <a:rPr sz="2178" spc="-3" dirty="0">
                <a:latin typeface="Arial"/>
                <a:cs typeface="Arial"/>
              </a:rPr>
              <a:t>on these </a:t>
            </a:r>
            <a:r>
              <a:rPr sz="2178" dirty="0">
                <a:latin typeface="Arial"/>
                <a:cs typeface="Arial"/>
              </a:rPr>
              <a:t>register</a:t>
            </a:r>
            <a:r>
              <a:rPr sz="2178" spc="-10" dirty="0">
                <a:latin typeface="Arial"/>
                <a:cs typeface="Arial"/>
              </a:rPr>
              <a:t> </a:t>
            </a:r>
            <a:r>
              <a:rPr sz="2178" spc="-3" dirty="0">
                <a:latin typeface="Arial"/>
                <a:cs typeface="Arial"/>
              </a:rPr>
              <a:t>files</a:t>
            </a:r>
            <a:endParaRPr sz="2178" dirty="0">
              <a:latin typeface="Arial"/>
              <a:cs typeface="Arial"/>
            </a:endParaRPr>
          </a:p>
          <a:p>
            <a:pPr marL="351545" marR="1058135" indent="-342900">
              <a:lnSpc>
                <a:spcPts val="3410"/>
              </a:lnSpc>
              <a:buFont typeface="Arial" panose="020B0604020202020204" pitchFamily="34" charset="0"/>
              <a:buChar char="•"/>
            </a:pPr>
            <a:r>
              <a:rPr sz="2178" spc="-10" dirty="0">
                <a:latin typeface="Arial"/>
                <a:cs typeface="Arial"/>
              </a:rPr>
              <a:t>Write </a:t>
            </a:r>
            <a:r>
              <a:rPr sz="2178" spc="-3" dirty="0">
                <a:latin typeface="Arial"/>
                <a:cs typeface="Arial"/>
              </a:rPr>
              <a:t>results </a:t>
            </a:r>
            <a:r>
              <a:rPr sz="2178" dirty="0">
                <a:latin typeface="Arial"/>
                <a:cs typeface="Arial"/>
              </a:rPr>
              <a:t>back </a:t>
            </a:r>
            <a:r>
              <a:rPr sz="2178" spc="-3" dirty="0">
                <a:latin typeface="Arial"/>
                <a:cs typeface="Arial"/>
              </a:rPr>
              <a:t>into the </a:t>
            </a:r>
            <a:r>
              <a:rPr sz="2178" dirty="0">
                <a:latin typeface="Arial"/>
                <a:cs typeface="Arial"/>
              </a:rPr>
              <a:t>memory  Hide </a:t>
            </a:r>
            <a:r>
              <a:rPr sz="2178" spc="-3" dirty="0">
                <a:latin typeface="Arial"/>
                <a:cs typeface="Arial"/>
              </a:rPr>
              <a:t>memory</a:t>
            </a:r>
            <a:r>
              <a:rPr sz="2178" spc="-10" dirty="0">
                <a:latin typeface="Arial"/>
                <a:cs typeface="Arial"/>
              </a:rPr>
              <a:t> </a:t>
            </a:r>
            <a:r>
              <a:rPr sz="2178" dirty="0">
                <a:latin typeface="Arial"/>
                <a:cs typeface="Arial"/>
              </a:rPr>
              <a:t>latency</a:t>
            </a:r>
          </a:p>
          <a:p>
            <a:pPr marL="351545" indent="-342900">
              <a:spcBef>
                <a:spcPts val="545"/>
              </a:spcBef>
              <a:buFont typeface="Arial" panose="020B0604020202020204" pitchFamily="34" charset="0"/>
              <a:buChar char="•"/>
            </a:pPr>
            <a:r>
              <a:rPr sz="2178" dirty="0">
                <a:latin typeface="Arial"/>
                <a:cs typeface="Arial"/>
              </a:rPr>
              <a:t>Leverage </a:t>
            </a:r>
            <a:r>
              <a:rPr sz="2178" spc="-3" dirty="0">
                <a:latin typeface="Arial"/>
                <a:cs typeface="Arial"/>
              </a:rPr>
              <a:t>memory</a:t>
            </a:r>
            <a:r>
              <a:rPr sz="2178" spc="-7" dirty="0">
                <a:latin typeface="Arial"/>
                <a:cs typeface="Arial"/>
              </a:rPr>
              <a:t> </a:t>
            </a:r>
            <a:r>
              <a:rPr sz="2178" dirty="0">
                <a:latin typeface="Arial"/>
                <a:cs typeface="Arial"/>
              </a:rPr>
              <a:t>bandwidth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72346" y="1736687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solidFill>
                  <a:srgbClr val="3B3B3B"/>
                </a:solidFill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2346" y="2168914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solidFill>
                  <a:srgbClr val="3B3B3B"/>
                </a:solidFill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2346" y="2602006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solidFill>
                  <a:srgbClr val="3B3B3B"/>
                </a:solidFill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2346" y="3035098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solidFill>
                  <a:srgbClr val="3B3B3B"/>
                </a:solidFill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2346" y="3467325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solidFill>
                  <a:srgbClr val="3B3B3B"/>
                </a:solidFill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84835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0"/>
            <a:ext cx="6019800" cy="4825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262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58" y="-857250"/>
            <a:ext cx="6775142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48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6844" y="-24341"/>
            <a:ext cx="4625692" cy="1239836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1" dirty="0"/>
              <a:t>Vector </a:t>
            </a:r>
            <a:r>
              <a:rPr spc="-3" dirty="0"/>
              <a:t>Programming</a:t>
            </a:r>
            <a:r>
              <a:rPr spc="-14" dirty="0"/>
              <a:t> </a:t>
            </a:r>
            <a:r>
              <a:rPr spc="-3" dirty="0"/>
              <a:t>Model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832361"/>
              </p:ext>
            </p:extLst>
          </p:nvPr>
        </p:nvGraphicFramePr>
        <p:xfrm>
          <a:off x="4419600" y="1733550"/>
          <a:ext cx="4508124" cy="13087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624"/>
                <a:gridCol w="563624"/>
                <a:gridCol w="563624"/>
                <a:gridCol w="563623"/>
                <a:gridCol w="562759"/>
                <a:gridCol w="563623"/>
                <a:gridCol w="563623"/>
                <a:gridCol w="563624"/>
              </a:tblGrid>
              <a:tr h="163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</a:tr>
              <a:tr h="1633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3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1633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42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1633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63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1642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837435"/>
              </p:ext>
            </p:extLst>
          </p:nvPr>
        </p:nvGraphicFramePr>
        <p:xfrm>
          <a:off x="3267284" y="1733550"/>
          <a:ext cx="563624" cy="1258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624"/>
              </a:tblGrid>
              <a:tr h="1573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</a:tr>
              <a:tr h="157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57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157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57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1573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57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157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854939" y="1341953"/>
            <a:ext cx="725709" cy="384386"/>
          </a:xfrm>
          <a:prstGeom prst="rect">
            <a:avLst/>
          </a:prstGeom>
        </p:spPr>
        <p:txBody>
          <a:bodyPr vert="horz" wrap="square" lIns="0" tIns="25069" rIns="0" bIns="0" rtlCol="0">
            <a:spAutoFit/>
          </a:bodyPr>
          <a:lstStyle/>
          <a:p>
            <a:pPr marL="8645" marR="3458" indent="120164">
              <a:lnSpc>
                <a:spcPts val="1368"/>
              </a:lnSpc>
              <a:spcBef>
                <a:spcPts val="197"/>
              </a:spcBef>
            </a:pPr>
            <a:r>
              <a:rPr sz="1225" b="1" spc="-3" dirty="0">
                <a:latin typeface="Arial"/>
                <a:cs typeface="Arial"/>
              </a:rPr>
              <a:t>Scalar  </a:t>
            </a:r>
            <a:r>
              <a:rPr sz="1225" b="1" spc="-7" dirty="0">
                <a:latin typeface="Arial"/>
                <a:cs typeface="Arial"/>
              </a:rPr>
              <a:t>R</a:t>
            </a:r>
            <a:r>
              <a:rPr sz="1225" b="1" spc="-3" dirty="0">
                <a:latin typeface="Arial"/>
                <a:cs typeface="Arial"/>
              </a:rPr>
              <a:t>eg</a:t>
            </a:r>
            <a:r>
              <a:rPr sz="1225" b="1" spc="3" dirty="0">
                <a:latin typeface="Arial"/>
                <a:cs typeface="Arial"/>
              </a:rPr>
              <a:t>i</a:t>
            </a:r>
            <a:r>
              <a:rPr sz="1225" b="1" spc="-10" dirty="0">
                <a:latin typeface="Arial"/>
                <a:cs typeface="Arial"/>
              </a:rPr>
              <a:t>s</a:t>
            </a:r>
            <a:r>
              <a:rPr sz="1225" b="1" dirty="0">
                <a:latin typeface="Arial"/>
                <a:cs typeface="Arial"/>
              </a:rPr>
              <a:t>ters</a:t>
            </a:r>
            <a:endParaRPr sz="1225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1433" y="1520030"/>
            <a:ext cx="1243949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b="1" spc="-14" dirty="0">
                <a:latin typeface="Arial"/>
                <a:cs typeface="Arial"/>
              </a:rPr>
              <a:t>Vector</a:t>
            </a:r>
            <a:r>
              <a:rPr sz="1225" b="1" spc="-54" dirty="0">
                <a:latin typeface="Arial"/>
                <a:cs typeface="Arial"/>
              </a:rPr>
              <a:t> </a:t>
            </a:r>
            <a:r>
              <a:rPr sz="1225" b="1" spc="-3" dirty="0">
                <a:latin typeface="Arial"/>
                <a:cs typeface="Arial"/>
              </a:rPr>
              <a:t>Registers</a:t>
            </a:r>
            <a:endParaRPr sz="1225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02622" y="2860798"/>
            <a:ext cx="207469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V0</a:t>
            </a:r>
            <a:endParaRPr sz="1225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4939" y="1733550"/>
            <a:ext cx="293482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10" dirty="0">
                <a:latin typeface="Arial"/>
                <a:cs typeface="Arial"/>
              </a:rPr>
              <a:t>V</a:t>
            </a:r>
            <a:r>
              <a:rPr sz="1225" spc="-3" dirty="0">
                <a:latin typeface="Arial"/>
                <a:cs typeface="Arial"/>
              </a:rPr>
              <a:t>15</a:t>
            </a:r>
            <a:endParaRPr sz="1225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9289" y="3057029"/>
            <a:ext cx="190180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[0]</a:t>
            </a:r>
            <a:endParaRPr sz="1225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58708" y="3057029"/>
            <a:ext cx="190180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[1]</a:t>
            </a:r>
            <a:endParaRPr sz="1225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0638" y="3057029"/>
            <a:ext cx="1597511" cy="558560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334125">
              <a:spcBef>
                <a:spcPts val="68"/>
              </a:spcBef>
              <a:tabLst>
                <a:tab pos="1216768" algn="l"/>
              </a:tabLst>
            </a:pPr>
            <a:r>
              <a:rPr sz="1225" spc="-3" dirty="0">
                <a:latin typeface="Arial"/>
                <a:cs typeface="Arial"/>
              </a:rPr>
              <a:t>[2]	</a:t>
            </a:r>
            <a:r>
              <a:rPr sz="1225" b="1" dirty="0">
                <a:latin typeface="Arial"/>
                <a:cs typeface="Arial"/>
              </a:rPr>
              <a:t>. .</a:t>
            </a:r>
            <a:r>
              <a:rPr sz="1225" b="1" spc="-20" dirty="0">
                <a:latin typeface="Arial"/>
                <a:cs typeface="Arial"/>
              </a:rPr>
              <a:t> </a:t>
            </a:r>
            <a:r>
              <a:rPr sz="1225" b="1" dirty="0">
                <a:latin typeface="Arial"/>
                <a:cs typeface="Arial"/>
              </a:rPr>
              <a:t>.</a:t>
            </a:r>
            <a:endParaRPr sz="1225"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1123">
              <a:latin typeface="Arial"/>
              <a:cs typeface="Arial"/>
            </a:endParaRPr>
          </a:p>
          <a:p>
            <a:pPr marL="8645"/>
            <a:r>
              <a:rPr sz="1225" spc="-17" dirty="0">
                <a:latin typeface="Arial"/>
                <a:cs typeface="Arial"/>
              </a:rPr>
              <a:t>Vector </a:t>
            </a:r>
            <a:r>
              <a:rPr sz="1225" spc="-7" dirty="0">
                <a:latin typeface="Arial"/>
                <a:cs typeface="Arial"/>
              </a:rPr>
              <a:t>Length</a:t>
            </a:r>
            <a:r>
              <a:rPr sz="1225" spc="-3" dirty="0">
                <a:latin typeface="Arial"/>
                <a:cs typeface="Arial"/>
              </a:rPr>
              <a:t> </a:t>
            </a:r>
            <a:r>
              <a:rPr sz="1225" spc="-7" dirty="0">
                <a:latin typeface="Arial"/>
                <a:cs typeface="Arial"/>
              </a:rPr>
              <a:t>Register</a:t>
            </a:r>
            <a:endParaRPr sz="1225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96400" y="3066538"/>
            <a:ext cx="880446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7" dirty="0">
                <a:latin typeface="Arial"/>
                <a:cs typeface="Arial"/>
              </a:rPr>
              <a:t>[VLRMAX-1]</a:t>
            </a:r>
            <a:endParaRPr sz="1225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1032" y="2086248"/>
            <a:ext cx="83420" cy="547338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lnSpc>
                <a:spcPts val="1423"/>
              </a:lnSpc>
              <a:spcBef>
                <a:spcPts val="68"/>
              </a:spcBef>
            </a:pPr>
            <a:r>
              <a:rPr sz="1225" b="1" dirty="0">
                <a:latin typeface="Arial"/>
                <a:cs typeface="Arial"/>
              </a:rPr>
              <a:t>.</a:t>
            </a:r>
            <a:endParaRPr sz="1225">
              <a:latin typeface="Arial"/>
              <a:cs typeface="Arial"/>
            </a:endParaRPr>
          </a:p>
          <a:p>
            <a:pPr marL="30689">
              <a:lnSpc>
                <a:spcPts val="1371"/>
              </a:lnSpc>
            </a:pPr>
            <a:r>
              <a:rPr sz="1225" b="1" dirty="0">
                <a:latin typeface="Arial"/>
                <a:cs typeface="Arial"/>
              </a:rPr>
              <a:t>.</a:t>
            </a:r>
            <a:endParaRPr sz="1225">
              <a:latin typeface="Arial"/>
              <a:cs typeface="Arial"/>
            </a:endParaRPr>
          </a:p>
          <a:p>
            <a:pPr marL="30689">
              <a:lnSpc>
                <a:spcPts val="1419"/>
              </a:lnSpc>
            </a:pPr>
            <a:r>
              <a:rPr sz="1225" b="1" dirty="0">
                <a:latin typeface="Arial"/>
                <a:cs typeface="Arial"/>
              </a:rPr>
              <a:t>.</a:t>
            </a:r>
            <a:endParaRPr sz="122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01896" y="2772624"/>
            <a:ext cx="215681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7" dirty="0">
                <a:latin typeface="Arial"/>
                <a:cs typeface="Arial"/>
              </a:rPr>
              <a:t>R</a:t>
            </a:r>
            <a:r>
              <a:rPr sz="1225" dirty="0">
                <a:latin typeface="Arial"/>
                <a:cs typeface="Arial"/>
              </a:rPr>
              <a:t>0</a:t>
            </a:r>
            <a:endParaRPr sz="1225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52622" y="1718855"/>
            <a:ext cx="302990" cy="86409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R31</a:t>
            </a:r>
            <a:endParaRPr sz="1225">
              <a:latin typeface="Arial"/>
              <a:cs typeface="Arial"/>
            </a:endParaRPr>
          </a:p>
          <a:p>
            <a:pPr marL="51437" algn="ctr">
              <a:lnSpc>
                <a:spcPts val="1423"/>
              </a:lnSpc>
              <a:spcBef>
                <a:spcPts val="994"/>
              </a:spcBef>
            </a:pPr>
            <a:r>
              <a:rPr sz="1225" b="1" dirty="0">
                <a:latin typeface="Arial"/>
                <a:cs typeface="Arial"/>
              </a:rPr>
              <a:t>.</a:t>
            </a:r>
            <a:endParaRPr sz="1225">
              <a:latin typeface="Arial"/>
              <a:cs typeface="Arial"/>
            </a:endParaRPr>
          </a:p>
          <a:p>
            <a:pPr marL="94662" algn="ctr">
              <a:lnSpc>
                <a:spcPts val="1371"/>
              </a:lnSpc>
            </a:pPr>
            <a:r>
              <a:rPr sz="1225" b="1" dirty="0">
                <a:latin typeface="Arial"/>
                <a:cs typeface="Arial"/>
              </a:rPr>
              <a:t>.</a:t>
            </a:r>
            <a:endParaRPr sz="1225">
              <a:latin typeface="Arial"/>
              <a:cs typeface="Arial"/>
            </a:endParaRPr>
          </a:p>
          <a:p>
            <a:pPr marL="94662" algn="ctr">
              <a:lnSpc>
                <a:spcPts val="1419"/>
              </a:lnSpc>
            </a:pPr>
            <a:r>
              <a:rPr sz="1225" b="1" dirty="0">
                <a:latin typeface="Arial"/>
                <a:cs typeface="Arial"/>
              </a:rPr>
              <a:t>.</a:t>
            </a:r>
            <a:endParaRPr sz="1225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70880" y="3401946"/>
            <a:ext cx="754668" cy="205099"/>
          </a:xfrm>
          <a:prstGeom prst="rect">
            <a:avLst/>
          </a:prstGeom>
          <a:solidFill>
            <a:srgbClr val="E5E5E5"/>
          </a:solidFill>
          <a:ln w="3175">
            <a:solidFill>
              <a:srgbClr val="7F7F7F"/>
            </a:solidFill>
          </a:ln>
        </p:spPr>
        <p:txBody>
          <a:bodyPr vert="horz" wrap="square" lIns="0" tIns="16425" rIns="0" bIns="0" rtlCol="0">
            <a:spAutoFit/>
          </a:bodyPr>
          <a:lstStyle/>
          <a:p>
            <a:pPr marL="221309">
              <a:spcBef>
                <a:spcPts val="129"/>
              </a:spcBef>
            </a:pPr>
            <a:r>
              <a:rPr sz="1225" b="1" dirty="0">
                <a:solidFill>
                  <a:schemeClr val="bg1"/>
                </a:solidFill>
                <a:latin typeface="Arial"/>
                <a:cs typeface="Arial"/>
              </a:rPr>
              <a:t>VLR</a:t>
            </a:r>
            <a:endParaRPr sz="1225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183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0105" y="-58517"/>
            <a:ext cx="4920039" cy="1239836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1" dirty="0"/>
              <a:t>Vector </a:t>
            </a:r>
            <a:r>
              <a:rPr spc="-3" dirty="0"/>
              <a:t>Arithmetic</a:t>
            </a:r>
            <a:r>
              <a:rPr spc="-163" dirty="0"/>
              <a:t> </a:t>
            </a:r>
            <a:r>
              <a:rPr spc="-3" dirty="0"/>
              <a:t>Instructions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75120" y="2340135"/>
            <a:ext cx="4508991" cy="957383"/>
            <a:chOff x="2080260" y="2914014"/>
            <a:chExt cx="6624320" cy="1406525"/>
          </a:xfrm>
        </p:grpSpPr>
        <p:sp>
          <p:nvSpPr>
            <p:cNvPr id="4" name="object 4"/>
            <p:cNvSpPr/>
            <p:nvPr/>
          </p:nvSpPr>
          <p:spPr>
            <a:xfrm>
              <a:off x="2081530" y="3234689"/>
              <a:ext cx="6623050" cy="328930"/>
            </a:xfrm>
            <a:custGeom>
              <a:avLst/>
              <a:gdLst/>
              <a:ahLst/>
              <a:cxnLst/>
              <a:rect l="l" t="t" r="r" b="b"/>
              <a:pathLst>
                <a:path w="6623050" h="328929">
                  <a:moveTo>
                    <a:pt x="6623050" y="0"/>
                  </a:moveTo>
                  <a:lnTo>
                    <a:pt x="6623050" y="0"/>
                  </a:lnTo>
                  <a:lnTo>
                    <a:pt x="0" y="0"/>
                  </a:lnTo>
                  <a:lnTo>
                    <a:pt x="0" y="328930"/>
                  </a:lnTo>
                  <a:lnTo>
                    <a:pt x="6623050" y="328930"/>
                  </a:lnTo>
                  <a:lnTo>
                    <a:pt x="662305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" name="object 5"/>
            <p:cNvSpPr/>
            <p:nvPr/>
          </p:nvSpPr>
          <p:spPr>
            <a:xfrm>
              <a:off x="2080260" y="3234689"/>
              <a:ext cx="6624320" cy="328930"/>
            </a:xfrm>
            <a:custGeom>
              <a:avLst/>
              <a:gdLst/>
              <a:ahLst/>
              <a:cxnLst/>
              <a:rect l="l" t="t" r="r" b="b"/>
              <a:pathLst>
                <a:path w="6624320" h="328929">
                  <a:moveTo>
                    <a:pt x="6624320" y="0"/>
                  </a:moveTo>
                  <a:lnTo>
                    <a:pt x="6624320" y="0"/>
                  </a:lnTo>
                  <a:lnTo>
                    <a:pt x="0" y="0"/>
                  </a:lnTo>
                  <a:lnTo>
                    <a:pt x="0" y="328930"/>
                  </a:lnTo>
                  <a:lnTo>
                    <a:pt x="1270" y="328930"/>
                  </a:lnTo>
                  <a:lnTo>
                    <a:pt x="1270" y="1270"/>
                  </a:lnTo>
                  <a:lnTo>
                    <a:pt x="828040" y="1270"/>
                  </a:lnTo>
                  <a:lnTo>
                    <a:pt x="828040" y="328930"/>
                  </a:lnTo>
                  <a:lnTo>
                    <a:pt x="829310" y="328930"/>
                  </a:lnTo>
                  <a:lnTo>
                    <a:pt x="829310" y="1270"/>
                  </a:lnTo>
                  <a:lnTo>
                    <a:pt x="1656080" y="1270"/>
                  </a:lnTo>
                  <a:lnTo>
                    <a:pt x="1656080" y="328930"/>
                  </a:lnTo>
                  <a:lnTo>
                    <a:pt x="1657350" y="328930"/>
                  </a:lnTo>
                  <a:lnTo>
                    <a:pt x="1657350" y="1270"/>
                  </a:lnTo>
                  <a:lnTo>
                    <a:pt x="2484120" y="1270"/>
                  </a:lnTo>
                  <a:lnTo>
                    <a:pt x="2484120" y="328930"/>
                  </a:lnTo>
                  <a:lnTo>
                    <a:pt x="2485390" y="328930"/>
                  </a:lnTo>
                  <a:lnTo>
                    <a:pt x="2485390" y="1270"/>
                  </a:lnTo>
                  <a:lnTo>
                    <a:pt x="3290570" y="1270"/>
                  </a:lnTo>
                  <a:lnTo>
                    <a:pt x="3290570" y="328930"/>
                  </a:lnTo>
                  <a:lnTo>
                    <a:pt x="3291840" y="328930"/>
                  </a:lnTo>
                  <a:lnTo>
                    <a:pt x="3291840" y="1270"/>
                  </a:lnTo>
                  <a:lnTo>
                    <a:pt x="4140200" y="1270"/>
                  </a:lnTo>
                  <a:lnTo>
                    <a:pt x="4140200" y="328930"/>
                  </a:lnTo>
                  <a:lnTo>
                    <a:pt x="4141470" y="328930"/>
                  </a:lnTo>
                  <a:lnTo>
                    <a:pt x="4141470" y="1270"/>
                  </a:lnTo>
                  <a:lnTo>
                    <a:pt x="4968240" y="1270"/>
                  </a:lnTo>
                  <a:lnTo>
                    <a:pt x="4968240" y="328930"/>
                  </a:lnTo>
                  <a:lnTo>
                    <a:pt x="4969510" y="328930"/>
                  </a:lnTo>
                  <a:lnTo>
                    <a:pt x="4969510" y="1270"/>
                  </a:lnTo>
                  <a:lnTo>
                    <a:pt x="5796280" y="1270"/>
                  </a:lnTo>
                  <a:lnTo>
                    <a:pt x="5796280" y="328930"/>
                  </a:lnTo>
                  <a:lnTo>
                    <a:pt x="5797550" y="328930"/>
                  </a:lnTo>
                  <a:lnTo>
                    <a:pt x="5797550" y="1270"/>
                  </a:lnTo>
                  <a:lnTo>
                    <a:pt x="6624320" y="1270"/>
                  </a:lnTo>
                  <a:lnTo>
                    <a:pt x="66243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2727960" y="3563619"/>
              <a:ext cx="44450" cy="243840"/>
            </a:xfrm>
            <a:custGeom>
              <a:avLst/>
              <a:gdLst/>
              <a:ahLst/>
              <a:cxnLst/>
              <a:rect l="l" t="t" r="r" b="b"/>
              <a:pathLst>
                <a:path w="44450" h="243839">
                  <a:moveTo>
                    <a:pt x="44450" y="0"/>
                  </a:moveTo>
                  <a:lnTo>
                    <a:pt x="0" y="243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" name="object 7"/>
            <p:cNvSpPr/>
            <p:nvPr/>
          </p:nvSpPr>
          <p:spPr>
            <a:xfrm>
              <a:off x="2340610" y="388746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0"/>
                  </a:moveTo>
                  <a:lnTo>
                    <a:pt x="165151" y="5561"/>
                  </a:lnTo>
                  <a:lnTo>
                    <a:pt x="119224" y="21475"/>
                  </a:lnTo>
                  <a:lnTo>
                    <a:pt x="79206" y="46586"/>
                  </a:lnTo>
                  <a:lnTo>
                    <a:pt x="46186" y="79739"/>
                  </a:lnTo>
                  <a:lnTo>
                    <a:pt x="21253" y="119779"/>
                  </a:lnTo>
                  <a:lnTo>
                    <a:pt x="5494" y="165551"/>
                  </a:lnTo>
                  <a:lnTo>
                    <a:pt x="0" y="215900"/>
                  </a:lnTo>
                  <a:lnTo>
                    <a:pt x="5494" y="266718"/>
                  </a:lnTo>
                  <a:lnTo>
                    <a:pt x="21253" y="312827"/>
                  </a:lnTo>
                  <a:lnTo>
                    <a:pt x="46186" y="353093"/>
                  </a:lnTo>
                  <a:lnTo>
                    <a:pt x="79206" y="386383"/>
                  </a:lnTo>
                  <a:lnTo>
                    <a:pt x="119224" y="411565"/>
                  </a:lnTo>
                  <a:lnTo>
                    <a:pt x="165151" y="427504"/>
                  </a:lnTo>
                  <a:lnTo>
                    <a:pt x="215900" y="433069"/>
                  </a:lnTo>
                  <a:lnTo>
                    <a:pt x="266248" y="427504"/>
                  </a:lnTo>
                  <a:lnTo>
                    <a:pt x="312020" y="411565"/>
                  </a:lnTo>
                  <a:lnTo>
                    <a:pt x="352060" y="386383"/>
                  </a:lnTo>
                  <a:lnTo>
                    <a:pt x="385213" y="353093"/>
                  </a:lnTo>
                  <a:lnTo>
                    <a:pt x="410324" y="312827"/>
                  </a:lnTo>
                  <a:lnTo>
                    <a:pt x="426238" y="266718"/>
                  </a:lnTo>
                  <a:lnTo>
                    <a:pt x="431800" y="215900"/>
                  </a:lnTo>
                  <a:lnTo>
                    <a:pt x="426238" y="165551"/>
                  </a:lnTo>
                  <a:lnTo>
                    <a:pt x="410324" y="119779"/>
                  </a:lnTo>
                  <a:lnTo>
                    <a:pt x="385213" y="79739"/>
                  </a:lnTo>
                  <a:lnTo>
                    <a:pt x="352060" y="46586"/>
                  </a:lnTo>
                  <a:lnTo>
                    <a:pt x="312020" y="21475"/>
                  </a:lnTo>
                  <a:lnTo>
                    <a:pt x="266248" y="556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ADA69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" name="object 8"/>
            <p:cNvSpPr/>
            <p:nvPr/>
          </p:nvSpPr>
          <p:spPr>
            <a:xfrm>
              <a:off x="2340610" y="388746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0"/>
                  </a:moveTo>
                  <a:lnTo>
                    <a:pt x="266248" y="5561"/>
                  </a:lnTo>
                  <a:lnTo>
                    <a:pt x="312020" y="21475"/>
                  </a:lnTo>
                  <a:lnTo>
                    <a:pt x="352060" y="46586"/>
                  </a:lnTo>
                  <a:lnTo>
                    <a:pt x="385213" y="79739"/>
                  </a:lnTo>
                  <a:lnTo>
                    <a:pt x="410324" y="119779"/>
                  </a:lnTo>
                  <a:lnTo>
                    <a:pt x="426238" y="165551"/>
                  </a:lnTo>
                  <a:lnTo>
                    <a:pt x="431800" y="215900"/>
                  </a:lnTo>
                  <a:lnTo>
                    <a:pt x="426238" y="266718"/>
                  </a:lnTo>
                  <a:lnTo>
                    <a:pt x="410324" y="312827"/>
                  </a:lnTo>
                  <a:lnTo>
                    <a:pt x="385213" y="353093"/>
                  </a:lnTo>
                  <a:lnTo>
                    <a:pt x="352060" y="386383"/>
                  </a:lnTo>
                  <a:lnTo>
                    <a:pt x="312020" y="411565"/>
                  </a:lnTo>
                  <a:lnTo>
                    <a:pt x="266248" y="427504"/>
                  </a:lnTo>
                  <a:lnTo>
                    <a:pt x="215900" y="433069"/>
                  </a:lnTo>
                  <a:lnTo>
                    <a:pt x="165151" y="427504"/>
                  </a:lnTo>
                  <a:lnTo>
                    <a:pt x="119224" y="411565"/>
                  </a:lnTo>
                  <a:lnTo>
                    <a:pt x="79206" y="386383"/>
                  </a:lnTo>
                  <a:lnTo>
                    <a:pt x="46186" y="353093"/>
                  </a:lnTo>
                  <a:lnTo>
                    <a:pt x="21253" y="312827"/>
                  </a:lnTo>
                  <a:lnTo>
                    <a:pt x="5494" y="266718"/>
                  </a:lnTo>
                  <a:lnTo>
                    <a:pt x="0" y="215900"/>
                  </a:lnTo>
                  <a:lnTo>
                    <a:pt x="5494" y="165551"/>
                  </a:lnTo>
                  <a:lnTo>
                    <a:pt x="21253" y="119779"/>
                  </a:lnTo>
                  <a:lnTo>
                    <a:pt x="46186" y="79739"/>
                  </a:lnTo>
                  <a:lnTo>
                    <a:pt x="79206" y="46586"/>
                  </a:lnTo>
                  <a:lnTo>
                    <a:pt x="119224" y="21475"/>
                  </a:lnTo>
                  <a:lnTo>
                    <a:pt x="165151" y="5561"/>
                  </a:lnTo>
                  <a:lnTo>
                    <a:pt x="215900" y="0"/>
                  </a:lnTo>
                  <a:close/>
                </a:path>
                <a:path w="431800" h="433070">
                  <a:moveTo>
                    <a:pt x="0" y="0"/>
                  </a:moveTo>
                  <a:lnTo>
                    <a:pt x="0" y="0"/>
                  </a:lnTo>
                </a:path>
                <a:path w="431800" h="433070">
                  <a:moveTo>
                    <a:pt x="431800" y="433069"/>
                  </a:moveTo>
                  <a:lnTo>
                    <a:pt x="431800" y="43306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" name="object 9"/>
            <p:cNvSpPr/>
            <p:nvPr/>
          </p:nvSpPr>
          <p:spPr>
            <a:xfrm>
              <a:off x="2675890" y="3790950"/>
              <a:ext cx="106680" cy="168910"/>
            </a:xfrm>
            <a:custGeom>
              <a:avLst/>
              <a:gdLst/>
              <a:ahLst/>
              <a:cxnLst/>
              <a:rect l="l" t="t" r="r" b="b"/>
              <a:pathLst>
                <a:path w="106680" h="168910">
                  <a:moveTo>
                    <a:pt x="0" y="0"/>
                  </a:moveTo>
                  <a:lnTo>
                    <a:pt x="24130" y="168910"/>
                  </a:lnTo>
                  <a:lnTo>
                    <a:pt x="10668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" name="object 10"/>
            <p:cNvSpPr/>
            <p:nvPr/>
          </p:nvSpPr>
          <p:spPr>
            <a:xfrm>
              <a:off x="2484120" y="2914649"/>
              <a:ext cx="60960" cy="819150"/>
            </a:xfrm>
            <a:custGeom>
              <a:avLst/>
              <a:gdLst/>
              <a:ahLst/>
              <a:cxnLst/>
              <a:rect l="l" t="t" r="r" b="b"/>
              <a:pathLst>
                <a:path w="60960" h="819150">
                  <a:moveTo>
                    <a:pt x="0" y="0"/>
                  </a:moveTo>
                  <a:lnTo>
                    <a:pt x="60960" y="8191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" name="object 11"/>
            <p:cNvSpPr/>
            <p:nvPr/>
          </p:nvSpPr>
          <p:spPr>
            <a:xfrm>
              <a:off x="2490470" y="3722369"/>
              <a:ext cx="106680" cy="165100"/>
            </a:xfrm>
            <a:custGeom>
              <a:avLst/>
              <a:gdLst/>
              <a:ahLst/>
              <a:cxnLst/>
              <a:rect l="l" t="t" r="r" b="b"/>
              <a:pathLst>
                <a:path w="106680" h="165100">
                  <a:moveTo>
                    <a:pt x="106680" y="0"/>
                  </a:moveTo>
                  <a:lnTo>
                    <a:pt x="0" y="7619"/>
                  </a:lnTo>
                  <a:lnTo>
                    <a:pt x="66040" y="165100"/>
                  </a:lnTo>
                  <a:lnTo>
                    <a:pt x="106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" name="object 12"/>
            <p:cNvSpPr/>
            <p:nvPr/>
          </p:nvSpPr>
          <p:spPr>
            <a:xfrm>
              <a:off x="3023870" y="3887469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5551" y="5561"/>
                  </a:lnTo>
                  <a:lnTo>
                    <a:pt x="119779" y="21475"/>
                  </a:lnTo>
                  <a:lnTo>
                    <a:pt x="79739" y="46586"/>
                  </a:lnTo>
                  <a:lnTo>
                    <a:pt x="46586" y="79739"/>
                  </a:lnTo>
                  <a:lnTo>
                    <a:pt x="21475" y="119779"/>
                  </a:lnTo>
                  <a:lnTo>
                    <a:pt x="5561" y="165551"/>
                  </a:lnTo>
                  <a:lnTo>
                    <a:pt x="0" y="215900"/>
                  </a:lnTo>
                  <a:lnTo>
                    <a:pt x="5561" y="266648"/>
                  </a:lnTo>
                  <a:lnTo>
                    <a:pt x="21475" y="312575"/>
                  </a:lnTo>
                  <a:lnTo>
                    <a:pt x="46586" y="352593"/>
                  </a:lnTo>
                  <a:lnTo>
                    <a:pt x="79739" y="385613"/>
                  </a:lnTo>
                  <a:lnTo>
                    <a:pt x="119779" y="410546"/>
                  </a:lnTo>
                  <a:lnTo>
                    <a:pt x="165551" y="426305"/>
                  </a:lnTo>
                  <a:lnTo>
                    <a:pt x="215900" y="431799"/>
                  </a:lnTo>
                  <a:lnTo>
                    <a:pt x="266248" y="426305"/>
                  </a:lnTo>
                  <a:lnTo>
                    <a:pt x="312020" y="410546"/>
                  </a:lnTo>
                  <a:lnTo>
                    <a:pt x="352060" y="385613"/>
                  </a:lnTo>
                  <a:lnTo>
                    <a:pt x="385213" y="352593"/>
                  </a:lnTo>
                  <a:lnTo>
                    <a:pt x="410324" y="312575"/>
                  </a:lnTo>
                  <a:lnTo>
                    <a:pt x="426238" y="266648"/>
                  </a:lnTo>
                  <a:lnTo>
                    <a:pt x="431800" y="215900"/>
                  </a:lnTo>
                  <a:lnTo>
                    <a:pt x="426238" y="165551"/>
                  </a:lnTo>
                  <a:lnTo>
                    <a:pt x="410324" y="119779"/>
                  </a:lnTo>
                  <a:lnTo>
                    <a:pt x="385213" y="79739"/>
                  </a:lnTo>
                  <a:lnTo>
                    <a:pt x="352060" y="46586"/>
                  </a:lnTo>
                  <a:lnTo>
                    <a:pt x="312020" y="21475"/>
                  </a:lnTo>
                  <a:lnTo>
                    <a:pt x="266248" y="556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ADA69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" name="object 13"/>
            <p:cNvSpPr/>
            <p:nvPr/>
          </p:nvSpPr>
          <p:spPr>
            <a:xfrm>
              <a:off x="3023870" y="388746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0"/>
                  </a:moveTo>
                  <a:lnTo>
                    <a:pt x="266248" y="5561"/>
                  </a:lnTo>
                  <a:lnTo>
                    <a:pt x="312020" y="21475"/>
                  </a:lnTo>
                  <a:lnTo>
                    <a:pt x="352060" y="46586"/>
                  </a:lnTo>
                  <a:lnTo>
                    <a:pt x="385213" y="79739"/>
                  </a:lnTo>
                  <a:lnTo>
                    <a:pt x="410324" y="119779"/>
                  </a:lnTo>
                  <a:lnTo>
                    <a:pt x="426238" y="165551"/>
                  </a:lnTo>
                  <a:lnTo>
                    <a:pt x="431800" y="215900"/>
                  </a:lnTo>
                  <a:lnTo>
                    <a:pt x="426238" y="266648"/>
                  </a:lnTo>
                  <a:lnTo>
                    <a:pt x="410324" y="312575"/>
                  </a:lnTo>
                  <a:lnTo>
                    <a:pt x="385213" y="352593"/>
                  </a:lnTo>
                  <a:lnTo>
                    <a:pt x="352060" y="385613"/>
                  </a:lnTo>
                  <a:lnTo>
                    <a:pt x="312020" y="410546"/>
                  </a:lnTo>
                  <a:lnTo>
                    <a:pt x="266248" y="426305"/>
                  </a:lnTo>
                  <a:lnTo>
                    <a:pt x="215900" y="431799"/>
                  </a:lnTo>
                  <a:lnTo>
                    <a:pt x="165551" y="426305"/>
                  </a:lnTo>
                  <a:lnTo>
                    <a:pt x="119779" y="410546"/>
                  </a:lnTo>
                  <a:lnTo>
                    <a:pt x="79739" y="385613"/>
                  </a:lnTo>
                  <a:lnTo>
                    <a:pt x="46586" y="352593"/>
                  </a:lnTo>
                  <a:lnTo>
                    <a:pt x="21475" y="312575"/>
                  </a:lnTo>
                  <a:lnTo>
                    <a:pt x="5561" y="266648"/>
                  </a:lnTo>
                  <a:lnTo>
                    <a:pt x="0" y="215900"/>
                  </a:lnTo>
                  <a:lnTo>
                    <a:pt x="5561" y="165551"/>
                  </a:lnTo>
                  <a:lnTo>
                    <a:pt x="21475" y="119779"/>
                  </a:lnTo>
                  <a:lnTo>
                    <a:pt x="46586" y="79739"/>
                  </a:lnTo>
                  <a:lnTo>
                    <a:pt x="79739" y="46586"/>
                  </a:lnTo>
                  <a:lnTo>
                    <a:pt x="119779" y="21475"/>
                  </a:lnTo>
                  <a:lnTo>
                    <a:pt x="165551" y="5561"/>
                  </a:lnTo>
                  <a:lnTo>
                    <a:pt x="215900" y="0"/>
                  </a:lnTo>
                  <a:close/>
                </a:path>
                <a:path w="431800" h="433070">
                  <a:moveTo>
                    <a:pt x="0" y="0"/>
                  </a:moveTo>
                  <a:lnTo>
                    <a:pt x="0" y="0"/>
                  </a:lnTo>
                </a:path>
                <a:path w="431800" h="433070">
                  <a:moveTo>
                    <a:pt x="431800" y="433069"/>
                  </a:moveTo>
                  <a:lnTo>
                    <a:pt x="431800" y="43306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" name="object 14"/>
            <p:cNvSpPr/>
            <p:nvPr/>
          </p:nvSpPr>
          <p:spPr>
            <a:xfrm>
              <a:off x="3411220" y="3562349"/>
              <a:ext cx="44450" cy="245110"/>
            </a:xfrm>
            <a:custGeom>
              <a:avLst/>
              <a:gdLst/>
              <a:ahLst/>
              <a:cxnLst/>
              <a:rect l="l" t="t" r="r" b="b"/>
              <a:pathLst>
                <a:path w="44450" h="245110">
                  <a:moveTo>
                    <a:pt x="44450" y="0"/>
                  </a:moveTo>
                  <a:lnTo>
                    <a:pt x="0" y="2451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" name="object 15"/>
            <p:cNvSpPr/>
            <p:nvPr/>
          </p:nvSpPr>
          <p:spPr>
            <a:xfrm>
              <a:off x="3359150" y="3790950"/>
              <a:ext cx="106680" cy="168910"/>
            </a:xfrm>
            <a:custGeom>
              <a:avLst/>
              <a:gdLst/>
              <a:ahLst/>
              <a:cxnLst/>
              <a:rect l="l" t="t" r="r" b="b"/>
              <a:pathLst>
                <a:path w="106679" h="168910">
                  <a:moveTo>
                    <a:pt x="0" y="0"/>
                  </a:moveTo>
                  <a:lnTo>
                    <a:pt x="24129" y="168910"/>
                  </a:lnTo>
                  <a:lnTo>
                    <a:pt x="106679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67380" y="2914649"/>
              <a:ext cx="60960" cy="819150"/>
            </a:xfrm>
            <a:custGeom>
              <a:avLst/>
              <a:gdLst/>
              <a:ahLst/>
              <a:cxnLst/>
              <a:rect l="l" t="t" r="r" b="b"/>
              <a:pathLst>
                <a:path w="60960" h="819150">
                  <a:moveTo>
                    <a:pt x="0" y="0"/>
                  </a:moveTo>
                  <a:lnTo>
                    <a:pt x="60959" y="8191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" name="object 17"/>
            <p:cNvSpPr/>
            <p:nvPr/>
          </p:nvSpPr>
          <p:spPr>
            <a:xfrm>
              <a:off x="3173730" y="3722369"/>
              <a:ext cx="107950" cy="165100"/>
            </a:xfrm>
            <a:custGeom>
              <a:avLst/>
              <a:gdLst/>
              <a:ahLst/>
              <a:cxnLst/>
              <a:rect l="l" t="t" r="r" b="b"/>
              <a:pathLst>
                <a:path w="107950" h="165100">
                  <a:moveTo>
                    <a:pt x="107949" y="0"/>
                  </a:moveTo>
                  <a:lnTo>
                    <a:pt x="0" y="7619"/>
                  </a:lnTo>
                  <a:lnTo>
                    <a:pt x="66039" y="165100"/>
                  </a:lnTo>
                  <a:lnTo>
                    <a:pt x="1079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" name="object 18"/>
            <p:cNvSpPr/>
            <p:nvPr/>
          </p:nvSpPr>
          <p:spPr>
            <a:xfrm>
              <a:off x="3851910" y="388746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0"/>
                  </a:moveTo>
                  <a:lnTo>
                    <a:pt x="165551" y="5561"/>
                  </a:lnTo>
                  <a:lnTo>
                    <a:pt x="119779" y="21475"/>
                  </a:lnTo>
                  <a:lnTo>
                    <a:pt x="79739" y="46586"/>
                  </a:lnTo>
                  <a:lnTo>
                    <a:pt x="46586" y="79739"/>
                  </a:lnTo>
                  <a:lnTo>
                    <a:pt x="21475" y="119779"/>
                  </a:lnTo>
                  <a:lnTo>
                    <a:pt x="5561" y="165551"/>
                  </a:lnTo>
                  <a:lnTo>
                    <a:pt x="0" y="215900"/>
                  </a:lnTo>
                  <a:lnTo>
                    <a:pt x="5561" y="266718"/>
                  </a:lnTo>
                  <a:lnTo>
                    <a:pt x="21475" y="312827"/>
                  </a:lnTo>
                  <a:lnTo>
                    <a:pt x="46586" y="353093"/>
                  </a:lnTo>
                  <a:lnTo>
                    <a:pt x="79739" y="386383"/>
                  </a:lnTo>
                  <a:lnTo>
                    <a:pt x="119779" y="411565"/>
                  </a:lnTo>
                  <a:lnTo>
                    <a:pt x="165551" y="427504"/>
                  </a:lnTo>
                  <a:lnTo>
                    <a:pt x="215900" y="433069"/>
                  </a:lnTo>
                  <a:lnTo>
                    <a:pt x="266648" y="427504"/>
                  </a:lnTo>
                  <a:lnTo>
                    <a:pt x="312575" y="411565"/>
                  </a:lnTo>
                  <a:lnTo>
                    <a:pt x="352593" y="386383"/>
                  </a:lnTo>
                  <a:lnTo>
                    <a:pt x="385613" y="353093"/>
                  </a:lnTo>
                  <a:lnTo>
                    <a:pt x="410546" y="312827"/>
                  </a:lnTo>
                  <a:lnTo>
                    <a:pt x="426305" y="266718"/>
                  </a:lnTo>
                  <a:lnTo>
                    <a:pt x="431800" y="215900"/>
                  </a:lnTo>
                  <a:lnTo>
                    <a:pt x="426305" y="165551"/>
                  </a:lnTo>
                  <a:lnTo>
                    <a:pt x="410546" y="119779"/>
                  </a:lnTo>
                  <a:lnTo>
                    <a:pt x="385613" y="79739"/>
                  </a:lnTo>
                  <a:lnTo>
                    <a:pt x="352593" y="46586"/>
                  </a:lnTo>
                  <a:lnTo>
                    <a:pt x="312575" y="21475"/>
                  </a:lnTo>
                  <a:lnTo>
                    <a:pt x="266648" y="556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ADA69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" name="object 19"/>
            <p:cNvSpPr/>
            <p:nvPr/>
          </p:nvSpPr>
          <p:spPr>
            <a:xfrm>
              <a:off x="3851910" y="3887469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70">
                  <a:moveTo>
                    <a:pt x="215900" y="0"/>
                  </a:moveTo>
                  <a:lnTo>
                    <a:pt x="266648" y="5561"/>
                  </a:lnTo>
                  <a:lnTo>
                    <a:pt x="312575" y="21475"/>
                  </a:lnTo>
                  <a:lnTo>
                    <a:pt x="352593" y="46586"/>
                  </a:lnTo>
                  <a:lnTo>
                    <a:pt x="385613" y="79739"/>
                  </a:lnTo>
                  <a:lnTo>
                    <a:pt x="410546" y="119779"/>
                  </a:lnTo>
                  <a:lnTo>
                    <a:pt x="426305" y="165551"/>
                  </a:lnTo>
                  <a:lnTo>
                    <a:pt x="431800" y="215900"/>
                  </a:lnTo>
                  <a:lnTo>
                    <a:pt x="426305" y="266718"/>
                  </a:lnTo>
                  <a:lnTo>
                    <a:pt x="410546" y="312827"/>
                  </a:lnTo>
                  <a:lnTo>
                    <a:pt x="385613" y="353093"/>
                  </a:lnTo>
                  <a:lnTo>
                    <a:pt x="352593" y="386383"/>
                  </a:lnTo>
                  <a:lnTo>
                    <a:pt x="312575" y="411565"/>
                  </a:lnTo>
                  <a:lnTo>
                    <a:pt x="266648" y="427504"/>
                  </a:lnTo>
                  <a:lnTo>
                    <a:pt x="215900" y="433069"/>
                  </a:lnTo>
                  <a:lnTo>
                    <a:pt x="165551" y="427504"/>
                  </a:lnTo>
                  <a:lnTo>
                    <a:pt x="119779" y="411565"/>
                  </a:lnTo>
                  <a:lnTo>
                    <a:pt x="79739" y="386383"/>
                  </a:lnTo>
                  <a:lnTo>
                    <a:pt x="46586" y="353093"/>
                  </a:lnTo>
                  <a:lnTo>
                    <a:pt x="21475" y="312827"/>
                  </a:lnTo>
                  <a:lnTo>
                    <a:pt x="5561" y="266718"/>
                  </a:lnTo>
                  <a:lnTo>
                    <a:pt x="0" y="215900"/>
                  </a:lnTo>
                  <a:lnTo>
                    <a:pt x="5561" y="165551"/>
                  </a:lnTo>
                  <a:lnTo>
                    <a:pt x="21475" y="119779"/>
                  </a:lnTo>
                  <a:lnTo>
                    <a:pt x="46586" y="79739"/>
                  </a:lnTo>
                  <a:lnTo>
                    <a:pt x="79739" y="46586"/>
                  </a:lnTo>
                  <a:lnTo>
                    <a:pt x="119779" y="21475"/>
                  </a:lnTo>
                  <a:lnTo>
                    <a:pt x="165551" y="5561"/>
                  </a:lnTo>
                  <a:lnTo>
                    <a:pt x="215900" y="0"/>
                  </a:lnTo>
                  <a:close/>
                </a:path>
                <a:path w="433070" h="433070">
                  <a:moveTo>
                    <a:pt x="0" y="0"/>
                  </a:moveTo>
                  <a:lnTo>
                    <a:pt x="0" y="0"/>
                  </a:lnTo>
                </a:path>
                <a:path w="433070" h="433070">
                  <a:moveTo>
                    <a:pt x="433069" y="433069"/>
                  </a:moveTo>
                  <a:lnTo>
                    <a:pt x="433069" y="43306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" name="object 20"/>
            <p:cNvSpPr/>
            <p:nvPr/>
          </p:nvSpPr>
          <p:spPr>
            <a:xfrm>
              <a:off x="4239260" y="3563619"/>
              <a:ext cx="44450" cy="243840"/>
            </a:xfrm>
            <a:custGeom>
              <a:avLst/>
              <a:gdLst/>
              <a:ahLst/>
              <a:cxnLst/>
              <a:rect l="l" t="t" r="r" b="b"/>
              <a:pathLst>
                <a:path w="44450" h="243839">
                  <a:moveTo>
                    <a:pt x="44450" y="0"/>
                  </a:moveTo>
                  <a:lnTo>
                    <a:pt x="0" y="243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" name="object 21"/>
            <p:cNvSpPr/>
            <p:nvPr/>
          </p:nvSpPr>
          <p:spPr>
            <a:xfrm>
              <a:off x="4188460" y="3790950"/>
              <a:ext cx="105410" cy="168910"/>
            </a:xfrm>
            <a:custGeom>
              <a:avLst/>
              <a:gdLst/>
              <a:ahLst/>
              <a:cxnLst/>
              <a:rect l="l" t="t" r="r" b="b"/>
              <a:pathLst>
                <a:path w="105410" h="168910">
                  <a:moveTo>
                    <a:pt x="0" y="0"/>
                  </a:moveTo>
                  <a:lnTo>
                    <a:pt x="24129" y="168910"/>
                  </a:lnTo>
                  <a:lnTo>
                    <a:pt x="10541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" name="object 22"/>
            <p:cNvSpPr/>
            <p:nvPr/>
          </p:nvSpPr>
          <p:spPr>
            <a:xfrm>
              <a:off x="3995420" y="2914649"/>
              <a:ext cx="60960" cy="819150"/>
            </a:xfrm>
            <a:custGeom>
              <a:avLst/>
              <a:gdLst/>
              <a:ahLst/>
              <a:cxnLst/>
              <a:rect l="l" t="t" r="r" b="b"/>
              <a:pathLst>
                <a:path w="60960" h="819150">
                  <a:moveTo>
                    <a:pt x="0" y="0"/>
                  </a:moveTo>
                  <a:lnTo>
                    <a:pt x="60959" y="8191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" name="object 23"/>
            <p:cNvSpPr/>
            <p:nvPr/>
          </p:nvSpPr>
          <p:spPr>
            <a:xfrm>
              <a:off x="4001770" y="3722369"/>
              <a:ext cx="107950" cy="165100"/>
            </a:xfrm>
            <a:custGeom>
              <a:avLst/>
              <a:gdLst/>
              <a:ahLst/>
              <a:cxnLst/>
              <a:rect l="l" t="t" r="r" b="b"/>
              <a:pathLst>
                <a:path w="107950" h="165100">
                  <a:moveTo>
                    <a:pt x="107950" y="0"/>
                  </a:moveTo>
                  <a:lnTo>
                    <a:pt x="0" y="7619"/>
                  </a:lnTo>
                  <a:lnTo>
                    <a:pt x="66039" y="16510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" name="object 24"/>
            <p:cNvSpPr/>
            <p:nvPr/>
          </p:nvSpPr>
          <p:spPr>
            <a:xfrm>
              <a:off x="4535170" y="3887469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215900" y="0"/>
                  </a:moveTo>
                  <a:lnTo>
                    <a:pt x="165551" y="5561"/>
                  </a:lnTo>
                  <a:lnTo>
                    <a:pt x="119779" y="21475"/>
                  </a:lnTo>
                  <a:lnTo>
                    <a:pt x="79739" y="46586"/>
                  </a:lnTo>
                  <a:lnTo>
                    <a:pt x="46586" y="79739"/>
                  </a:lnTo>
                  <a:lnTo>
                    <a:pt x="21475" y="119779"/>
                  </a:lnTo>
                  <a:lnTo>
                    <a:pt x="5561" y="165551"/>
                  </a:lnTo>
                  <a:lnTo>
                    <a:pt x="0" y="215900"/>
                  </a:lnTo>
                  <a:lnTo>
                    <a:pt x="5561" y="266648"/>
                  </a:lnTo>
                  <a:lnTo>
                    <a:pt x="21475" y="312575"/>
                  </a:lnTo>
                  <a:lnTo>
                    <a:pt x="46586" y="352593"/>
                  </a:lnTo>
                  <a:lnTo>
                    <a:pt x="79739" y="385613"/>
                  </a:lnTo>
                  <a:lnTo>
                    <a:pt x="119779" y="410546"/>
                  </a:lnTo>
                  <a:lnTo>
                    <a:pt x="165551" y="426305"/>
                  </a:lnTo>
                  <a:lnTo>
                    <a:pt x="215900" y="431799"/>
                  </a:lnTo>
                  <a:lnTo>
                    <a:pt x="266718" y="426305"/>
                  </a:lnTo>
                  <a:lnTo>
                    <a:pt x="312827" y="410546"/>
                  </a:lnTo>
                  <a:lnTo>
                    <a:pt x="353093" y="385613"/>
                  </a:lnTo>
                  <a:lnTo>
                    <a:pt x="386383" y="352593"/>
                  </a:lnTo>
                  <a:lnTo>
                    <a:pt x="411565" y="312575"/>
                  </a:lnTo>
                  <a:lnTo>
                    <a:pt x="427504" y="266648"/>
                  </a:lnTo>
                  <a:lnTo>
                    <a:pt x="433069" y="215900"/>
                  </a:lnTo>
                  <a:lnTo>
                    <a:pt x="427504" y="165551"/>
                  </a:lnTo>
                  <a:lnTo>
                    <a:pt x="411565" y="119779"/>
                  </a:lnTo>
                  <a:lnTo>
                    <a:pt x="386383" y="79739"/>
                  </a:lnTo>
                  <a:lnTo>
                    <a:pt x="353093" y="46586"/>
                  </a:lnTo>
                  <a:lnTo>
                    <a:pt x="312827" y="21475"/>
                  </a:lnTo>
                  <a:lnTo>
                    <a:pt x="266718" y="556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ADA69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" name="object 25"/>
            <p:cNvSpPr/>
            <p:nvPr/>
          </p:nvSpPr>
          <p:spPr>
            <a:xfrm>
              <a:off x="4535170" y="3887469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70">
                  <a:moveTo>
                    <a:pt x="215900" y="0"/>
                  </a:moveTo>
                  <a:lnTo>
                    <a:pt x="266718" y="5561"/>
                  </a:lnTo>
                  <a:lnTo>
                    <a:pt x="312827" y="21475"/>
                  </a:lnTo>
                  <a:lnTo>
                    <a:pt x="353093" y="46586"/>
                  </a:lnTo>
                  <a:lnTo>
                    <a:pt x="386383" y="79739"/>
                  </a:lnTo>
                  <a:lnTo>
                    <a:pt x="411565" y="119779"/>
                  </a:lnTo>
                  <a:lnTo>
                    <a:pt x="427504" y="165551"/>
                  </a:lnTo>
                  <a:lnTo>
                    <a:pt x="433069" y="215900"/>
                  </a:lnTo>
                  <a:lnTo>
                    <a:pt x="427504" y="266648"/>
                  </a:lnTo>
                  <a:lnTo>
                    <a:pt x="411565" y="312575"/>
                  </a:lnTo>
                  <a:lnTo>
                    <a:pt x="386383" y="352593"/>
                  </a:lnTo>
                  <a:lnTo>
                    <a:pt x="353093" y="385613"/>
                  </a:lnTo>
                  <a:lnTo>
                    <a:pt x="312827" y="410546"/>
                  </a:lnTo>
                  <a:lnTo>
                    <a:pt x="266718" y="426305"/>
                  </a:lnTo>
                  <a:lnTo>
                    <a:pt x="215900" y="431799"/>
                  </a:lnTo>
                  <a:lnTo>
                    <a:pt x="165551" y="426305"/>
                  </a:lnTo>
                  <a:lnTo>
                    <a:pt x="119779" y="410546"/>
                  </a:lnTo>
                  <a:lnTo>
                    <a:pt x="79739" y="385613"/>
                  </a:lnTo>
                  <a:lnTo>
                    <a:pt x="46586" y="352593"/>
                  </a:lnTo>
                  <a:lnTo>
                    <a:pt x="21475" y="312575"/>
                  </a:lnTo>
                  <a:lnTo>
                    <a:pt x="5561" y="266648"/>
                  </a:lnTo>
                  <a:lnTo>
                    <a:pt x="0" y="215900"/>
                  </a:lnTo>
                  <a:lnTo>
                    <a:pt x="5561" y="165551"/>
                  </a:lnTo>
                  <a:lnTo>
                    <a:pt x="21475" y="119779"/>
                  </a:lnTo>
                  <a:lnTo>
                    <a:pt x="46586" y="79739"/>
                  </a:lnTo>
                  <a:lnTo>
                    <a:pt x="79739" y="46586"/>
                  </a:lnTo>
                  <a:lnTo>
                    <a:pt x="119779" y="21475"/>
                  </a:lnTo>
                  <a:lnTo>
                    <a:pt x="165551" y="5561"/>
                  </a:lnTo>
                  <a:lnTo>
                    <a:pt x="215900" y="0"/>
                  </a:lnTo>
                  <a:close/>
                </a:path>
                <a:path w="433070" h="433070">
                  <a:moveTo>
                    <a:pt x="0" y="0"/>
                  </a:moveTo>
                  <a:lnTo>
                    <a:pt x="0" y="0"/>
                  </a:lnTo>
                </a:path>
                <a:path w="433070" h="433070">
                  <a:moveTo>
                    <a:pt x="433069" y="433069"/>
                  </a:moveTo>
                  <a:lnTo>
                    <a:pt x="433069" y="43306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893618" y="2137421"/>
            <a:ext cx="232538" cy="600430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3371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V1</a:t>
            </a:r>
            <a:endParaRPr sz="1225"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1395">
              <a:latin typeface="Arial"/>
              <a:cs typeface="Arial"/>
            </a:endParaRPr>
          </a:p>
          <a:p>
            <a:pPr marL="8645"/>
            <a:r>
              <a:rPr sz="1225" spc="-3" dirty="0">
                <a:latin typeface="Arial"/>
                <a:cs typeface="Arial"/>
              </a:rPr>
              <a:t>V0</a:t>
            </a:r>
            <a:endParaRPr sz="1225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16371" y="3549938"/>
            <a:ext cx="207469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V2</a:t>
            </a:r>
            <a:endParaRPr sz="1225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83037" y="4514669"/>
            <a:ext cx="1597511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14" dirty="0">
                <a:latin typeface="Arial"/>
                <a:cs typeface="Arial"/>
              </a:rPr>
              <a:t>Vector </a:t>
            </a:r>
            <a:r>
              <a:rPr sz="1225" spc="-7" dirty="0">
                <a:latin typeface="Arial"/>
                <a:cs typeface="Arial"/>
              </a:rPr>
              <a:t>Length</a:t>
            </a:r>
            <a:r>
              <a:rPr sz="1225" spc="-17" dirty="0">
                <a:latin typeface="Arial"/>
                <a:cs typeface="Arial"/>
              </a:rPr>
              <a:t> </a:t>
            </a:r>
            <a:r>
              <a:rPr sz="1225" spc="-7" dirty="0">
                <a:latin typeface="Arial"/>
                <a:cs typeface="Arial"/>
              </a:rPr>
              <a:t>Register</a:t>
            </a:r>
            <a:endParaRPr sz="1225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33280" y="4506889"/>
            <a:ext cx="754668" cy="205099"/>
          </a:xfrm>
          <a:prstGeom prst="rect">
            <a:avLst/>
          </a:prstGeom>
          <a:solidFill>
            <a:srgbClr val="E5E5E5"/>
          </a:solidFill>
          <a:ln w="3175">
            <a:solidFill>
              <a:srgbClr val="7F7F7F"/>
            </a:solidFill>
          </a:ln>
        </p:spPr>
        <p:txBody>
          <a:bodyPr vert="horz" wrap="square" lIns="0" tIns="16425" rIns="0" bIns="0" rtlCol="0">
            <a:spAutoFit/>
          </a:bodyPr>
          <a:lstStyle/>
          <a:p>
            <a:pPr marL="220877">
              <a:spcBef>
                <a:spcPts val="129"/>
              </a:spcBef>
            </a:pPr>
            <a:r>
              <a:rPr sz="1225" b="1" dirty="0">
                <a:solidFill>
                  <a:schemeClr val="bg1"/>
                </a:solidFill>
                <a:latin typeface="Arial"/>
                <a:cs typeface="Arial"/>
              </a:rPr>
              <a:t>VLR</a:t>
            </a:r>
            <a:endParaRPr sz="1225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663914"/>
              </p:ext>
            </p:extLst>
          </p:nvPr>
        </p:nvGraphicFramePr>
        <p:xfrm>
          <a:off x="4253231" y="2117538"/>
          <a:ext cx="4508124" cy="223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624"/>
                <a:gridCol w="563624"/>
                <a:gridCol w="563624"/>
                <a:gridCol w="548495"/>
                <a:gridCol w="578751"/>
                <a:gridCol w="563623"/>
                <a:gridCol w="563192"/>
                <a:gridCol w="563191"/>
              </a:tblGrid>
              <a:tr h="2230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4624082" y="2994959"/>
            <a:ext cx="1643327" cy="2811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  <a:tabLst>
                <a:tab pos="474172" algn="l"/>
                <a:tab pos="1037819" algn="l"/>
                <a:tab pos="1502914" algn="l"/>
              </a:tabLst>
            </a:pPr>
            <a:r>
              <a:rPr sz="1770" b="1" dirty="0">
                <a:latin typeface="Arial"/>
                <a:cs typeface="Arial"/>
              </a:rPr>
              <a:t>+	+	+	+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144225" y="2340135"/>
            <a:ext cx="2450294" cy="957383"/>
            <a:chOff x="4679315" y="2914014"/>
            <a:chExt cx="3599815" cy="1406525"/>
          </a:xfrm>
        </p:grpSpPr>
        <p:sp>
          <p:nvSpPr>
            <p:cNvPr id="33" name="object 33"/>
            <p:cNvSpPr/>
            <p:nvPr/>
          </p:nvSpPr>
          <p:spPr>
            <a:xfrm>
              <a:off x="4923790" y="3562349"/>
              <a:ext cx="44450" cy="245110"/>
            </a:xfrm>
            <a:custGeom>
              <a:avLst/>
              <a:gdLst/>
              <a:ahLst/>
              <a:cxnLst/>
              <a:rect l="l" t="t" r="r" b="b"/>
              <a:pathLst>
                <a:path w="44450" h="245110">
                  <a:moveTo>
                    <a:pt x="44450" y="0"/>
                  </a:moveTo>
                  <a:lnTo>
                    <a:pt x="0" y="2451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" name="object 34"/>
            <p:cNvSpPr/>
            <p:nvPr/>
          </p:nvSpPr>
          <p:spPr>
            <a:xfrm>
              <a:off x="4871720" y="3790950"/>
              <a:ext cx="105410" cy="168910"/>
            </a:xfrm>
            <a:custGeom>
              <a:avLst/>
              <a:gdLst/>
              <a:ahLst/>
              <a:cxnLst/>
              <a:rect l="l" t="t" r="r" b="b"/>
              <a:pathLst>
                <a:path w="105410" h="168910">
                  <a:moveTo>
                    <a:pt x="0" y="0"/>
                  </a:moveTo>
                  <a:lnTo>
                    <a:pt x="24129" y="168910"/>
                  </a:lnTo>
                  <a:lnTo>
                    <a:pt x="105409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" name="object 35"/>
            <p:cNvSpPr/>
            <p:nvPr/>
          </p:nvSpPr>
          <p:spPr>
            <a:xfrm>
              <a:off x="4679950" y="2914649"/>
              <a:ext cx="59690" cy="819150"/>
            </a:xfrm>
            <a:custGeom>
              <a:avLst/>
              <a:gdLst/>
              <a:ahLst/>
              <a:cxnLst/>
              <a:rect l="l" t="t" r="r" b="b"/>
              <a:pathLst>
                <a:path w="59689" h="819150">
                  <a:moveTo>
                    <a:pt x="0" y="0"/>
                  </a:moveTo>
                  <a:lnTo>
                    <a:pt x="59689" y="8191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" name="object 36"/>
            <p:cNvSpPr/>
            <p:nvPr/>
          </p:nvSpPr>
          <p:spPr>
            <a:xfrm>
              <a:off x="4686300" y="3722369"/>
              <a:ext cx="106680" cy="165100"/>
            </a:xfrm>
            <a:custGeom>
              <a:avLst/>
              <a:gdLst/>
              <a:ahLst/>
              <a:cxnLst/>
              <a:rect l="l" t="t" r="r" b="b"/>
              <a:pathLst>
                <a:path w="106679" h="165100">
                  <a:moveTo>
                    <a:pt x="106679" y="0"/>
                  </a:moveTo>
                  <a:lnTo>
                    <a:pt x="0" y="7619"/>
                  </a:lnTo>
                  <a:lnTo>
                    <a:pt x="64770" y="165100"/>
                  </a:lnTo>
                  <a:lnTo>
                    <a:pt x="1066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" name="object 37"/>
            <p:cNvSpPr/>
            <p:nvPr/>
          </p:nvSpPr>
          <p:spPr>
            <a:xfrm>
              <a:off x="5651500" y="3887469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70">
                  <a:moveTo>
                    <a:pt x="215900" y="0"/>
                  </a:moveTo>
                  <a:lnTo>
                    <a:pt x="165551" y="5561"/>
                  </a:lnTo>
                  <a:lnTo>
                    <a:pt x="119779" y="21475"/>
                  </a:lnTo>
                  <a:lnTo>
                    <a:pt x="79739" y="46586"/>
                  </a:lnTo>
                  <a:lnTo>
                    <a:pt x="46586" y="79739"/>
                  </a:lnTo>
                  <a:lnTo>
                    <a:pt x="21475" y="119779"/>
                  </a:lnTo>
                  <a:lnTo>
                    <a:pt x="5561" y="165551"/>
                  </a:lnTo>
                  <a:lnTo>
                    <a:pt x="0" y="215900"/>
                  </a:lnTo>
                  <a:lnTo>
                    <a:pt x="5561" y="266718"/>
                  </a:lnTo>
                  <a:lnTo>
                    <a:pt x="21475" y="312827"/>
                  </a:lnTo>
                  <a:lnTo>
                    <a:pt x="46586" y="353093"/>
                  </a:lnTo>
                  <a:lnTo>
                    <a:pt x="79739" y="386383"/>
                  </a:lnTo>
                  <a:lnTo>
                    <a:pt x="119779" y="411565"/>
                  </a:lnTo>
                  <a:lnTo>
                    <a:pt x="165551" y="427504"/>
                  </a:lnTo>
                  <a:lnTo>
                    <a:pt x="215900" y="433069"/>
                  </a:lnTo>
                  <a:lnTo>
                    <a:pt x="266718" y="427504"/>
                  </a:lnTo>
                  <a:lnTo>
                    <a:pt x="312827" y="411565"/>
                  </a:lnTo>
                  <a:lnTo>
                    <a:pt x="353093" y="386383"/>
                  </a:lnTo>
                  <a:lnTo>
                    <a:pt x="386383" y="353093"/>
                  </a:lnTo>
                  <a:lnTo>
                    <a:pt x="411565" y="312827"/>
                  </a:lnTo>
                  <a:lnTo>
                    <a:pt x="427504" y="266718"/>
                  </a:lnTo>
                  <a:lnTo>
                    <a:pt x="433070" y="215900"/>
                  </a:lnTo>
                  <a:lnTo>
                    <a:pt x="427504" y="165551"/>
                  </a:lnTo>
                  <a:lnTo>
                    <a:pt x="411565" y="119779"/>
                  </a:lnTo>
                  <a:lnTo>
                    <a:pt x="386383" y="79739"/>
                  </a:lnTo>
                  <a:lnTo>
                    <a:pt x="353093" y="46586"/>
                  </a:lnTo>
                  <a:lnTo>
                    <a:pt x="312827" y="21475"/>
                  </a:lnTo>
                  <a:lnTo>
                    <a:pt x="266718" y="556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ADA69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" name="object 38"/>
            <p:cNvSpPr/>
            <p:nvPr/>
          </p:nvSpPr>
          <p:spPr>
            <a:xfrm>
              <a:off x="5651500" y="3887469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70">
                  <a:moveTo>
                    <a:pt x="215900" y="0"/>
                  </a:moveTo>
                  <a:lnTo>
                    <a:pt x="266718" y="5561"/>
                  </a:lnTo>
                  <a:lnTo>
                    <a:pt x="312827" y="21475"/>
                  </a:lnTo>
                  <a:lnTo>
                    <a:pt x="353093" y="46586"/>
                  </a:lnTo>
                  <a:lnTo>
                    <a:pt x="386383" y="79739"/>
                  </a:lnTo>
                  <a:lnTo>
                    <a:pt x="411565" y="119779"/>
                  </a:lnTo>
                  <a:lnTo>
                    <a:pt x="427504" y="165551"/>
                  </a:lnTo>
                  <a:lnTo>
                    <a:pt x="433070" y="215900"/>
                  </a:lnTo>
                  <a:lnTo>
                    <a:pt x="427504" y="266718"/>
                  </a:lnTo>
                  <a:lnTo>
                    <a:pt x="411565" y="312827"/>
                  </a:lnTo>
                  <a:lnTo>
                    <a:pt x="386383" y="353093"/>
                  </a:lnTo>
                  <a:lnTo>
                    <a:pt x="353093" y="386383"/>
                  </a:lnTo>
                  <a:lnTo>
                    <a:pt x="312827" y="411565"/>
                  </a:lnTo>
                  <a:lnTo>
                    <a:pt x="266718" y="427504"/>
                  </a:lnTo>
                  <a:lnTo>
                    <a:pt x="215900" y="433069"/>
                  </a:lnTo>
                  <a:lnTo>
                    <a:pt x="165551" y="427504"/>
                  </a:lnTo>
                  <a:lnTo>
                    <a:pt x="119779" y="411565"/>
                  </a:lnTo>
                  <a:lnTo>
                    <a:pt x="79739" y="386383"/>
                  </a:lnTo>
                  <a:lnTo>
                    <a:pt x="46586" y="353093"/>
                  </a:lnTo>
                  <a:lnTo>
                    <a:pt x="21475" y="312827"/>
                  </a:lnTo>
                  <a:lnTo>
                    <a:pt x="5561" y="266718"/>
                  </a:lnTo>
                  <a:lnTo>
                    <a:pt x="0" y="215900"/>
                  </a:lnTo>
                  <a:lnTo>
                    <a:pt x="5561" y="165551"/>
                  </a:lnTo>
                  <a:lnTo>
                    <a:pt x="21475" y="119779"/>
                  </a:lnTo>
                  <a:lnTo>
                    <a:pt x="46586" y="79739"/>
                  </a:lnTo>
                  <a:lnTo>
                    <a:pt x="79739" y="46586"/>
                  </a:lnTo>
                  <a:lnTo>
                    <a:pt x="119779" y="21475"/>
                  </a:lnTo>
                  <a:lnTo>
                    <a:pt x="165551" y="5561"/>
                  </a:lnTo>
                  <a:lnTo>
                    <a:pt x="215900" y="0"/>
                  </a:lnTo>
                  <a:close/>
                </a:path>
                <a:path w="433070" h="433070">
                  <a:moveTo>
                    <a:pt x="0" y="0"/>
                  </a:moveTo>
                  <a:lnTo>
                    <a:pt x="0" y="0"/>
                  </a:lnTo>
                </a:path>
                <a:path w="433070" h="433070">
                  <a:moveTo>
                    <a:pt x="433070" y="433069"/>
                  </a:moveTo>
                  <a:lnTo>
                    <a:pt x="433070" y="43306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" name="object 39"/>
            <p:cNvSpPr/>
            <p:nvPr/>
          </p:nvSpPr>
          <p:spPr>
            <a:xfrm>
              <a:off x="6040120" y="3563619"/>
              <a:ext cx="44450" cy="243840"/>
            </a:xfrm>
            <a:custGeom>
              <a:avLst/>
              <a:gdLst/>
              <a:ahLst/>
              <a:cxnLst/>
              <a:rect l="l" t="t" r="r" b="b"/>
              <a:pathLst>
                <a:path w="44450" h="243839">
                  <a:moveTo>
                    <a:pt x="44450" y="0"/>
                  </a:moveTo>
                  <a:lnTo>
                    <a:pt x="0" y="243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" name="object 40"/>
            <p:cNvSpPr/>
            <p:nvPr/>
          </p:nvSpPr>
          <p:spPr>
            <a:xfrm>
              <a:off x="5988050" y="3790950"/>
              <a:ext cx="105410" cy="168910"/>
            </a:xfrm>
            <a:custGeom>
              <a:avLst/>
              <a:gdLst/>
              <a:ahLst/>
              <a:cxnLst/>
              <a:rect l="l" t="t" r="r" b="b"/>
              <a:pathLst>
                <a:path w="105410" h="168910">
                  <a:moveTo>
                    <a:pt x="0" y="0"/>
                  </a:moveTo>
                  <a:lnTo>
                    <a:pt x="24129" y="168910"/>
                  </a:lnTo>
                  <a:lnTo>
                    <a:pt x="10541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1" name="object 41"/>
            <p:cNvSpPr/>
            <p:nvPr/>
          </p:nvSpPr>
          <p:spPr>
            <a:xfrm>
              <a:off x="5796280" y="2914649"/>
              <a:ext cx="59690" cy="819150"/>
            </a:xfrm>
            <a:custGeom>
              <a:avLst/>
              <a:gdLst/>
              <a:ahLst/>
              <a:cxnLst/>
              <a:rect l="l" t="t" r="r" b="b"/>
              <a:pathLst>
                <a:path w="59689" h="819150">
                  <a:moveTo>
                    <a:pt x="0" y="0"/>
                  </a:moveTo>
                  <a:lnTo>
                    <a:pt x="59690" y="8191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2" name="object 42"/>
            <p:cNvSpPr/>
            <p:nvPr/>
          </p:nvSpPr>
          <p:spPr>
            <a:xfrm>
              <a:off x="5802630" y="3722369"/>
              <a:ext cx="106680" cy="165100"/>
            </a:xfrm>
            <a:custGeom>
              <a:avLst/>
              <a:gdLst/>
              <a:ahLst/>
              <a:cxnLst/>
              <a:rect l="l" t="t" r="r" b="b"/>
              <a:pathLst>
                <a:path w="106679" h="165100">
                  <a:moveTo>
                    <a:pt x="106680" y="0"/>
                  </a:moveTo>
                  <a:lnTo>
                    <a:pt x="0" y="7619"/>
                  </a:lnTo>
                  <a:lnTo>
                    <a:pt x="64770" y="165100"/>
                  </a:lnTo>
                  <a:lnTo>
                    <a:pt x="106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3" name="object 43"/>
            <p:cNvSpPr/>
            <p:nvPr/>
          </p:nvSpPr>
          <p:spPr>
            <a:xfrm>
              <a:off x="6336030" y="3887469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5151" y="5561"/>
                  </a:lnTo>
                  <a:lnTo>
                    <a:pt x="119224" y="21475"/>
                  </a:lnTo>
                  <a:lnTo>
                    <a:pt x="79206" y="46586"/>
                  </a:lnTo>
                  <a:lnTo>
                    <a:pt x="46186" y="79739"/>
                  </a:lnTo>
                  <a:lnTo>
                    <a:pt x="21253" y="119779"/>
                  </a:lnTo>
                  <a:lnTo>
                    <a:pt x="5494" y="165551"/>
                  </a:lnTo>
                  <a:lnTo>
                    <a:pt x="0" y="215900"/>
                  </a:lnTo>
                  <a:lnTo>
                    <a:pt x="5494" y="266648"/>
                  </a:lnTo>
                  <a:lnTo>
                    <a:pt x="21253" y="312575"/>
                  </a:lnTo>
                  <a:lnTo>
                    <a:pt x="46186" y="352593"/>
                  </a:lnTo>
                  <a:lnTo>
                    <a:pt x="79206" y="385613"/>
                  </a:lnTo>
                  <a:lnTo>
                    <a:pt x="119224" y="410546"/>
                  </a:lnTo>
                  <a:lnTo>
                    <a:pt x="165151" y="426305"/>
                  </a:lnTo>
                  <a:lnTo>
                    <a:pt x="215900" y="431799"/>
                  </a:lnTo>
                  <a:lnTo>
                    <a:pt x="266248" y="426305"/>
                  </a:lnTo>
                  <a:lnTo>
                    <a:pt x="312020" y="410546"/>
                  </a:lnTo>
                  <a:lnTo>
                    <a:pt x="352060" y="385613"/>
                  </a:lnTo>
                  <a:lnTo>
                    <a:pt x="385213" y="352593"/>
                  </a:lnTo>
                  <a:lnTo>
                    <a:pt x="410324" y="312575"/>
                  </a:lnTo>
                  <a:lnTo>
                    <a:pt x="426238" y="266648"/>
                  </a:lnTo>
                  <a:lnTo>
                    <a:pt x="431800" y="215900"/>
                  </a:lnTo>
                  <a:lnTo>
                    <a:pt x="426238" y="165551"/>
                  </a:lnTo>
                  <a:lnTo>
                    <a:pt x="410324" y="119779"/>
                  </a:lnTo>
                  <a:lnTo>
                    <a:pt x="385213" y="79739"/>
                  </a:lnTo>
                  <a:lnTo>
                    <a:pt x="352060" y="46586"/>
                  </a:lnTo>
                  <a:lnTo>
                    <a:pt x="312020" y="21475"/>
                  </a:lnTo>
                  <a:lnTo>
                    <a:pt x="266248" y="556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ADA69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4" name="object 44"/>
            <p:cNvSpPr/>
            <p:nvPr/>
          </p:nvSpPr>
          <p:spPr>
            <a:xfrm>
              <a:off x="6336030" y="388746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0"/>
                  </a:moveTo>
                  <a:lnTo>
                    <a:pt x="266248" y="5561"/>
                  </a:lnTo>
                  <a:lnTo>
                    <a:pt x="312020" y="21475"/>
                  </a:lnTo>
                  <a:lnTo>
                    <a:pt x="352060" y="46586"/>
                  </a:lnTo>
                  <a:lnTo>
                    <a:pt x="385213" y="79739"/>
                  </a:lnTo>
                  <a:lnTo>
                    <a:pt x="410324" y="119779"/>
                  </a:lnTo>
                  <a:lnTo>
                    <a:pt x="426238" y="165551"/>
                  </a:lnTo>
                  <a:lnTo>
                    <a:pt x="431800" y="215900"/>
                  </a:lnTo>
                  <a:lnTo>
                    <a:pt x="426238" y="266648"/>
                  </a:lnTo>
                  <a:lnTo>
                    <a:pt x="410324" y="312575"/>
                  </a:lnTo>
                  <a:lnTo>
                    <a:pt x="385213" y="352593"/>
                  </a:lnTo>
                  <a:lnTo>
                    <a:pt x="352060" y="385613"/>
                  </a:lnTo>
                  <a:lnTo>
                    <a:pt x="312020" y="410546"/>
                  </a:lnTo>
                  <a:lnTo>
                    <a:pt x="266248" y="426305"/>
                  </a:lnTo>
                  <a:lnTo>
                    <a:pt x="215900" y="431799"/>
                  </a:lnTo>
                  <a:lnTo>
                    <a:pt x="165151" y="426305"/>
                  </a:lnTo>
                  <a:lnTo>
                    <a:pt x="119224" y="410546"/>
                  </a:lnTo>
                  <a:lnTo>
                    <a:pt x="79206" y="385613"/>
                  </a:lnTo>
                  <a:lnTo>
                    <a:pt x="46186" y="352593"/>
                  </a:lnTo>
                  <a:lnTo>
                    <a:pt x="21253" y="312575"/>
                  </a:lnTo>
                  <a:lnTo>
                    <a:pt x="5494" y="266648"/>
                  </a:lnTo>
                  <a:lnTo>
                    <a:pt x="0" y="215900"/>
                  </a:lnTo>
                  <a:lnTo>
                    <a:pt x="5494" y="165551"/>
                  </a:lnTo>
                  <a:lnTo>
                    <a:pt x="21253" y="119779"/>
                  </a:lnTo>
                  <a:lnTo>
                    <a:pt x="46186" y="79739"/>
                  </a:lnTo>
                  <a:lnTo>
                    <a:pt x="79206" y="46586"/>
                  </a:lnTo>
                  <a:lnTo>
                    <a:pt x="119224" y="21475"/>
                  </a:lnTo>
                  <a:lnTo>
                    <a:pt x="165151" y="5561"/>
                  </a:lnTo>
                  <a:lnTo>
                    <a:pt x="215900" y="0"/>
                  </a:lnTo>
                  <a:close/>
                </a:path>
                <a:path w="431800" h="433070">
                  <a:moveTo>
                    <a:pt x="0" y="0"/>
                  </a:moveTo>
                  <a:lnTo>
                    <a:pt x="0" y="0"/>
                  </a:lnTo>
                </a:path>
                <a:path w="431800" h="433070">
                  <a:moveTo>
                    <a:pt x="431800" y="433069"/>
                  </a:moveTo>
                  <a:lnTo>
                    <a:pt x="431800" y="43306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5" name="object 45"/>
            <p:cNvSpPr/>
            <p:nvPr/>
          </p:nvSpPr>
          <p:spPr>
            <a:xfrm>
              <a:off x="6723380" y="3562349"/>
              <a:ext cx="44450" cy="245110"/>
            </a:xfrm>
            <a:custGeom>
              <a:avLst/>
              <a:gdLst/>
              <a:ahLst/>
              <a:cxnLst/>
              <a:rect l="l" t="t" r="r" b="b"/>
              <a:pathLst>
                <a:path w="44450" h="245110">
                  <a:moveTo>
                    <a:pt x="44450" y="0"/>
                  </a:moveTo>
                  <a:lnTo>
                    <a:pt x="0" y="2451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6" name="object 46"/>
            <p:cNvSpPr/>
            <p:nvPr/>
          </p:nvSpPr>
          <p:spPr>
            <a:xfrm>
              <a:off x="6671310" y="3790950"/>
              <a:ext cx="106680" cy="168910"/>
            </a:xfrm>
            <a:custGeom>
              <a:avLst/>
              <a:gdLst/>
              <a:ahLst/>
              <a:cxnLst/>
              <a:rect l="l" t="t" r="r" b="b"/>
              <a:pathLst>
                <a:path w="106679" h="168910">
                  <a:moveTo>
                    <a:pt x="0" y="0"/>
                  </a:moveTo>
                  <a:lnTo>
                    <a:pt x="24130" y="168910"/>
                  </a:lnTo>
                  <a:lnTo>
                    <a:pt x="10668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7" name="object 47"/>
            <p:cNvSpPr/>
            <p:nvPr/>
          </p:nvSpPr>
          <p:spPr>
            <a:xfrm>
              <a:off x="6479540" y="2914649"/>
              <a:ext cx="60960" cy="819150"/>
            </a:xfrm>
            <a:custGeom>
              <a:avLst/>
              <a:gdLst/>
              <a:ahLst/>
              <a:cxnLst/>
              <a:rect l="l" t="t" r="r" b="b"/>
              <a:pathLst>
                <a:path w="60959" h="819150">
                  <a:moveTo>
                    <a:pt x="0" y="0"/>
                  </a:moveTo>
                  <a:lnTo>
                    <a:pt x="60960" y="8191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8" name="object 48"/>
            <p:cNvSpPr/>
            <p:nvPr/>
          </p:nvSpPr>
          <p:spPr>
            <a:xfrm>
              <a:off x="6485890" y="3722369"/>
              <a:ext cx="107950" cy="165100"/>
            </a:xfrm>
            <a:custGeom>
              <a:avLst/>
              <a:gdLst/>
              <a:ahLst/>
              <a:cxnLst/>
              <a:rect l="l" t="t" r="r" b="b"/>
              <a:pathLst>
                <a:path w="107950" h="165100">
                  <a:moveTo>
                    <a:pt x="107950" y="0"/>
                  </a:moveTo>
                  <a:lnTo>
                    <a:pt x="0" y="7619"/>
                  </a:lnTo>
                  <a:lnTo>
                    <a:pt x="66039" y="16510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9" name="object 49"/>
            <p:cNvSpPr/>
            <p:nvPr/>
          </p:nvSpPr>
          <p:spPr>
            <a:xfrm>
              <a:off x="7164070" y="388746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0"/>
                  </a:moveTo>
                  <a:lnTo>
                    <a:pt x="165551" y="5561"/>
                  </a:lnTo>
                  <a:lnTo>
                    <a:pt x="119779" y="21475"/>
                  </a:lnTo>
                  <a:lnTo>
                    <a:pt x="79739" y="46586"/>
                  </a:lnTo>
                  <a:lnTo>
                    <a:pt x="46586" y="79739"/>
                  </a:lnTo>
                  <a:lnTo>
                    <a:pt x="21475" y="119779"/>
                  </a:lnTo>
                  <a:lnTo>
                    <a:pt x="5561" y="165551"/>
                  </a:lnTo>
                  <a:lnTo>
                    <a:pt x="0" y="215900"/>
                  </a:lnTo>
                  <a:lnTo>
                    <a:pt x="5561" y="266718"/>
                  </a:lnTo>
                  <a:lnTo>
                    <a:pt x="21475" y="312827"/>
                  </a:lnTo>
                  <a:lnTo>
                    <a:pt x="46586" y="353093"/>
                  </a:lnTo>
                  <a:lnTo>
                    <a:pt x="79739" y="386383"/>
                  </a:lnTo>
                  <a:lnTo>
                    <a:pt x="119779" y="411565"/>
                  </a:lnTo>
                  <a:lnTo>
                    <a:pt x="165551" y="427504"/>
                  </a:lnTo>
                  <a:lnTo>
                    <a:pt x="215900" y="433069"/>
                  </a:lnTo>
                  <a:lnTo>
                    <a:pt x="266248" y="427504"/>
                  </a:lnTo>
                  <a:lnTo>
                    <a:pt x="312020" y="411565"/>
                  </a:lnTo>
                  <a:lnTo>
                    <a:pt x="352060" y="386383"/>
                  </a:lnTo>
                  <a:lnTo>
                    <a:pt x="385213" y="353093"/>
                  </a:lnTo>
                  <a:lnTo>
                    <a:pt x="410324" y="312827"/>
                  </a:lnTo>
                  <a:lnTo>
                    <a:pt x="426238" y="266718"/>
                  </a:lnTo>
                  <a:lnTo>
                    <a:pt x="431800" y="215900"/>
                  </a:lnTo>
                  <a:lnTo>
                    <a:pt x="426238" y="165551"/>
                  </a:lnTo>
                  <a:lnTo>
                    <a:pt x="410324" y="119779"/>
                  </a:lnTo>
                  <a:lnTo>
                    <a:pt x="385213" y="79739"/>
                  </a:lnTo>
                  <a:lnTo>
                    <a:pt x="352060" y="46586"/>
                  </a:lnTo>
                  <a:lnTo>
                    <a:pt x="312020" y="21475"/>
                  </a:lnTo>
                  <a:lnTo>
                    <a:pt x="266248" y="556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ADA69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0" name="object 50"/>
            <p:cNvSpPr/>
            <p:nvPr/>
          </p:nvSpPr>
          <p:spPr>
            <a:xfrm>
              <a:off x="7164070" y="388746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0"/>
                  </a:moveTo>
                  <a:lnTo>
                    <a:pt x="266248" y="5561"/>
                  </a:lnTo>
                  <a:lnTo>
                    <a:pt x="312020" y="21475"/>
                  </a:lnTo>
                  <a:lnTo>
                    <a:pt x="352060" y="46586"/>
                  </a:lnTo>
                  <a:lnTo>
                    <a:pt x="385213" y="79739"/>
                  </a:lnTo>
                  <a:lnTo>
                    <a:pt x="410324" y="119779"/>
                  </a:lnTo>
                  <a:lnTo>
                    <a:pt x="426238" y="165551"/>
                  </a:lnTo>
                  <a:lnTo>
                    <a:pt x="431800" y="215900"/>
                  </a:lnTo>
                  <a:lnTo>
                    <a:pt x="426238" y="266718"/>
                  </a:lnTo>
                  <a:lnTo>
                    <a:pt x="410324" y="312827"/>
                  </a:lnTo>
                  <a:lnTo>
                    <a:pt x="385213" y="353093"/>
                  </a:lnTo>
                  <a:lnTo>
                    <a:pt x="352060" y="386383"/>
                  </a:lnTo>
                  <a:lnTo>
                    <a:pt x="312020" y="411565"/>
                  </a:lnTo>
                  <a:lnTo>
                    <a:pt x="266248" y="427504"/>
                  </a:lnTo>
                  <a:lnTo>
                    <a:pt x="215900" y="433069"/>
                  </a:lnTo>
                  <a:lnTo>
                    <a:pt x="165551" y="427504"/>
                  </a:lnTo>
                  <a:lnTo>
                    <a:pt x="119779" y="411565"/>
                  </a:lnTo>
                  <a:lnTo>
                    <a:pt x="79739" y="386383"/>
                  </a:lnTo>
                  <a:lnTo>
                    <a:pt x="46586" y="353093"/>
                  </a:lnTo>
                  <a:lnTo>
                    <a:pt x="21475" y="312827"/>
                  </a:lnTo>
                  <a:lnTo>
                    <a:pt x="5561" y="266718"/>
                  </a:lnTo>
                  <a:lnTo>
                    <a:pt x="0" y="215900"/>
                  </a:lnTo>
                  <a:lnTo>
                    <a:pt x="5561" y="165551"/>
                  </a:lnTo>
                  <a:lnTo>
                    <a:pt x="21475" y="119779"/>
                  </a:lnTo>
                  <a:lnTo>
                    <a:pt x="46586" y="79739"/>
                  </a:lnTo>
                  <a:lnTo>
                    <a:pt x="79739" y="46586"/>
                  </a:lnTo>
                  <a:lnTo>
                    <a:pt x="119779" y="21475"/>
                  </a:lnTo>
                  <a:lnTo>
                    <a:pt x="165551" y="5561"/>
                  </a:lnTo>
                  <a:lnTo>
                    <a:pt x="215900" y="0"/>
                  </a:lnTo>
                  <a:close/>
                </a:path>
                <a:path w="431800" h="433070">
                  <a:moveTo>
                    <a:pt x="0" y="0"/>
                  </a:moveTo>
                  <a:lnTo>
                    <a:pt x="0" y="0"/>
                  </a:lnTo>
                </a:path>
                <a:path w="431800" h="433070">
                  <a:moveTo>
                    <a:pt x="431800" y="433069"/>
                  </a:moveTo>
                  <a:lnTo>
                    <a:pt x="431800" y="43306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1" name="object 51"/>
            <p:cNvSpPr/>
            <p:nvPr/>
          </p:nvSpPr>
          <p:spPr>
            <a:xfrm>
              <a:off x="7551420" y="3563619"/>
              <a:ext cx="44450" cy="243840"/>
            </a:xfrm>
            <a:custGeom>
              <a:avLst/>
              <a:gdLst/>
              <a:ahLst/>
              <a:cxnLst/>
              <a:rect l="l" t="t" r="r" b="b"/>
              <a:pathLst>
                <a:path w="44450" h="243839">
                  <a:moveTo>
                    <a:pt x="44450" y="0"/>
                  </a:moveTo>
                  <a:lnTo>
                    <a:pt x="0" y="243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2" name="object 52"/>
            <p:cNvSpPr/>
            <p:nvPr/>
          </p:nvSpPr>
          <p:spPr>
            <a:xfrm>
              <a:off x="7499350" y="3790950"/>
              <a:ext cx="106680" cy="168910"/>
            </a:xfrm>
            <a:custGeom>
              <a:avLst/>
              <a:gdLst/>
              <a:ahLst/>
              <a:cxnLst/>
              <a:rect l="l" t="t" r="r" b="b"/>
              <a:pathLst>
                <a:path w="106679" h="168910">
                  <a:moveTo>
                    <a:pt x="0" y="0"/>
                  </a:moveTo>
                  <a:lnTo>
                    <a:pt x="24129" y="168910"/>
                  </a:lnTo>
                  <a:lnTo>
                    <a:pt x="106679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3" name="object 53"/>
            <p:cNvSpPr/>
            <p:nvPr/>
          </p:nvSpPr>
          <p:spPr>
            <a:xfrm>
              <a:off x="7307580" y="2914649"/>
              <a:ext cx="60960" cy="819150"/>
            </a:xfrm>
            <a:custGeom>
              <a:avLst/>
              <a:gdLst/>
              <a:ahLst/>
              <a:cxnLst/>
              <a:rect l="l" t="t" r="r" b="b"/>
              <a:pathLst>
                <a:path w="60959" h="819150">
                  <a:moveTo>
                    <a:pt x="0" y="0"/>
                  </a:moveTo>
                  <a:lnTo>
                    <a:pt x="60960" y="8191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4" name="object 54"/>
            <p:cNvSpPr/>
            <p:nvPr/>
          </p:nvSpPr>
          <p:spPr>
            <a:xfrm>
              <a:off x="7313930" y="3722369"/>
              <a:ext cx="107950" cy="165100"/>
            </a:xfrm>
            <a:custGeom>
              <a:avLst/>
              <a:gdLst/>
              <a:ahLst/>
              <a:cxnLst/>
              <a:rect l="l" t="t" r="r" b="b"/>
              <a:pathLst>
                <a:path w="107950" h="165100">
                  <a:moveTo>
                    <a:pt x="107950" y="0"/>
                  </a:moveTo>
                  <a:lnTo>
                    <a:pt x="0" y="7619"/>
                  </a:lnTo>
                  <a:lnTo>
                    <a:pt x="66040" y="16510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5" name="object 55"/>
            <p:cNvSpPr/>
            <p:nvPr/>
          </p:nvSpPr>
          <p:spPr>
            <a:xfrm>
              <a:off x="7847330" y="3887469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0"/>
                  </a:moveTo>
                  <a:lnTo>
                    <a:pt x="165551" y="5561"/>
                  </a:lnTo>
                  <a:lnTo>
                    <a:pt x="119779" y="21475"/>
                  </a:lnTo>
                  <a:lnTo>
                    <a:pt x="79739" y="46586"/>
                  </a:lnTo>
                  <a:lnTo>
                    <a:pt x="46586" y="79739"/>
                  </a:lnTo>
                  <a:lnTo>
                    <a:pt x="21475" y="119779"/>
                  </a:lnTo>
                  <a:lnTo>
                    <a:pt x="5561" y="165551"/>
                  </a:lnTo>
                  <a:lnTo>
                    <a:pt x="0" y="215900"/>
                  </a:lnTo>
                  <a:lnTo>
                    <a:pt x="5561" y="266648"/>
                  </a:lnTo>
                  <a:lnTo>
                    <a:pt x="21475" y="312575"/>
                  </a:lnTo>
                  <a:lnTo>
                    <a:pt x="46586" y="352593"/>
                  </a:lnTo>
                  <a:lnTo>
                    <a:pt x="79739" y="385613"/>
                  </a:lnTo>
                  <a:lnTo>
                    <a:pt x="119779" y="410546"/>
                  </a:lnTo>
                  <a:lnTo>
                    <a:pt x="165551" y="426305"/>
                  </a:lnTo>
                  <a:lnTo>
                    <a:pt x="215900" y="431799"/>
                  </a:lnTo>
                  <a:lnTo>
                    <a:pt x="266648" y="426305"/>
                  </a:lnTo>
                  <a:lnTo>
                    <a:pt x="312575" y="410546"/>
                  </a:lnTo>
                  <a:lnTo>
                    <a:pt x="352593" y="385613"/>
                  </a:lnTo>
                  <a:lnTo>
                    <a:pt x="385613" y="352593"/>
                  </a:lnTo>
                  <a:lnTo>
                    <a:pt x="410546" y="312575"/>
                  </a:lnTo>
                  <a:lnTo>
                    <a:pt x="426305" y="266648"/>
                  </a:lnTo>
                  <a:lnTo>
                    <a:pt x="431800" y="215900"/>
                  </a:lnTo>
                  <a:lnTo>
                    <a:pt x="426305" y="165551"/>
                  </a:lnTo>
                  <a:lnTo>
                    <a:pt x="410546" y="119779"/>
                  </a:lnTo>
                  <a:lnTo>
                    <a:pt x="385613" y="79739"/>
                  </a:lnTo>
                  <a:lnTo>
                    <a:pt x="352593" y="46586"/>
                  </a:lnTo>
                  <a:lnTo>
                    <a:pt x="312575" y="21475"/>
                  </a:lnTo>
                  <a:lnTo>
                    <a:pt x="266648" y="556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ADA69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6" name="object 56"/>
            <p:cNvSpPr/>
            <p:nvPr/>
          </p:nvSpPr>
          <p:spPr>
            <a:xfrm>
              <a:off x="7847330" y="3887469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70">
                  <a:moveTo>
                    <a:pt x="215900" y="0"/>
                  </a:moveTo>
                  <a:lnTo>
                    <a:pt x="266648" y="5561"/>
                  </a:lnTo>
                  <a:lnTo>
                    <a:pt x="312575" y="21475"/>
                  </a:lnTo>
                  <a:lnTo>
                    <a:pt x="352593" y="46586"/>
                  </a:lnTo>
                  <a:lnTo>
                    <a:pt x="385613" y="79739"/>
                  </a:lnTo>
                  <a:lnTo>
                    <a:pt x="410546" y="119779"/>
                  </a:lnTo>
                  <a:lnTo>
                    <a:pt x="426305" y="165551"/>
                  </a:lnTo>
                  <a:lnTo>
                    <a:pt x="431800" y="215900"/>
                  </a:lnTo>
                  <a:lnTo>
                    <a:pt x="426305" y="266648"/>
                  </a:lnTo>
                  <a:lnTo>
                    <a:pt x="410546" y="312575"/>
                  </a:lnTo>
                  <a:lnTo>
                    <a:pt x="385613" y="352593"/>
                  </a:lnTo>
                  <a:lnTo>
                    <a:pt x="352593" y="385613"/>
                  </a:lnTo>
                  <a:lnTo>
                    <a:pt x="312575" y="410546"/>
                  </a:lnTo>
                  <a:lnTo>
                    <a:pt x="266648" y="426305"/>
                  </a:lnTo>
                  <a:lnTo>
                    <a:pt x="215900" y="431799"/>
                  </a:lnTo>
                  <a:lnTo>
                    <a:pt x="165551" y="426305"/>
                  </a:lnTo>
                  <a:lnTo>
                    <a:pt x="119779" y="410546"/>
                  </a:lnTo>
                  <a:lnTo>
                    <a:pt x="79739" y="385613"/>
                  </a:lnTo>
                  <a:lnTo>
                    <a:pt x="46586" y="352593"/>
                  </a:lnTo>
                  <a:lnTo>
                    <a:pt x="21475" y="312575"/>
                  </a:lnTo>
                  <a:lnTo>
                    <a:pt x="5561" y="266648"/>
                  </a:lnTo>
                  <a:lnTo>
                    <a:pt x="0" y="215900"/>
                  </a:lnTo>
                  <a:lnTo>
                    <a:pt x="5561" y="165551"/>
                  </a:lnTo>
                  <a:lnTo>
                    <a:pt x="21475" y="119779"/>
                  </a:lnTo>
                  <a:lnTo>
                    <a:pt x="46586" y="79739"/>
                  </a:lnTo>
                  <a:lnTo>
                    <a:pt x="79739" y="46586"/>
                  </a:lnTo>
                  <a:lnTo>
                    <a:pt x="119779" y="21475"/>
                  </a:lnTo>
                  <a:lnTo>
                    <a:pt x="165551" y="5561"/>
                  </a:lnTo>
                  <a:lnTo>
                    <a:pt x="215900" y="0"/>
                  </a:lnTo>
                  <a:close/>
                </a:path>
                <a:path w="433070" h="433070">
                  <a:moveTo>
                    <a:pt x="0" y="0"/>
                  </a:moveTo>
                  <a:lnTo>
                    <a:pt x="0" y="0"/>
                  </a:lnTo>
                </a:path>
                <a:path w="433070" h="433070">
                  <a:moveTo>
                    <a:pt x="433070" y="433069"/>
                  </a:moveTo>
                  <a:lnTo>
                    <a:pt x="433070" y="43306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878577" y="2994959"/>
            <a:ext cx="1643327" cy="2811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  <a:tabLst>
                <a:tab pos="474172" algn="l"/>
                <a:tab pos="1037819" algn="l"/>
                <a:tab pos="1502914" algn="l"/>
              </a:tabLst>
            </a:pPr>
            <a:r>
              <a:rPr sz="1770" b="1" dirty="0">
                <a:latin typeface="Arial"/>
                <a:cs typeface="Arial"/>
              </a:rPr>
              <a:t>+	+	+	+</a:t>
            </a:r>
            <a:endParaRPr sz="1770">
              <a:latin typeface="Arial"/>
              <a:cs typeface="Arial"/>
            </a:endParaRPr>
          </a:p>
        </p:txBody>
      </p:sp>
      <p:graphicFrame>
        <p:nvGraphicFramePr>
          <p:cNvPr id="58" name="object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809188"/>
              </p:ext>
            </p:extLst>
          </p:nvPr>
        </p:nvGraphicFramePr>
        <p:xfrm>
          <a:off x="4375120" y="3562904"/>
          <a:ext cx="4508556" cy="223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624"/>
                <a:gridCol w="563624"/>
                <a:gridCol w="563624"/>
                <a:gridCol w="548928"/>
                <a:gridCol w="578319"/>
                <a:gridCol w="563623"/>
                <a:gridCol w="563623"/>
                <a:gridCol w="563191"/>
              </a:tblGrid>
              <a:tr h="2238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</a:tr>
            </a:tbl>
          </a:graphicData>
        </a:graphic>
      </p:graphicFrame>
      <p:grpSp>
        <p:nvGrpSpPr>
          <p:cNvPr id="59" name="object 59"/>
          <p:cNvGrpSpPr/>
          <p:nvPr/>
        </p:nvGrpSpPr>
        <p:grpSpPr>
          <a:xfrm>
            <a:off x="4662118" y="2340135"/>
            <a:ext cx="3939316" cy="1223634"/>
            <a:chOff x="2501900" y="2914014"/>
            <a:chExt cx="5787390" cy="1797685"/>
          </a:xfrm>
        </p:grpSpPr>
        <p:sp>
          <p:nvSpPr>
            <p:cNvPr id="60" name="object 60"/>
            <p:cNvSpPr/>
            <p:nvPr/>
          </p:nvSpPr>
          <p:spPr>
            <a:xfrm>
              <a:off x="8235950" y="3562349"/>
              <a:ext cx="43180" cy="245110"/>
            </a:xfrm>
            <a:custGeom>
              <a:avLst/>
              <a:gdLst/>
              <a:ahLst/>
              <a:cxnLst/>
              <a:rect l="l" t="t" r="r" b="b"/>
              <a:pathLst>
                <a:path w="43179" h="245110">
                  <a:moveTo>
                    <a:pt x="43179" y="0"/>
                  </a:moveTo>
                  <a:lnTo>
                    <a:pt x="0" y="2451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1" name="object 61"/>
            <p:cNvSpPr/>
            <p:nvPr/>
          </p:nvSpPr>
          <p:spPr>
            <a:xfrm>
              <a:off x="8183879" y="3790950"/>
              <a:ext cx="105410" cy="168910"/>
            </a:xfrm>
            <a:custGeom>
              <a:avLst/>
              <a:gdLst/>
              <a:ahLst/>
              <a:cxnLst/>
              <a:rect l="l" t="t" r="r" b="b"/>
              <a:pathLst>
                <a:path w="105409" h="168910">
                  <a:moveTo>
                    <a:pt x="0" y="0"/>
                  </a:moveTo>
                  <a:lnTo>
                    <a:pt x="24129" y="168910"/>
                  </a:lnTo>
                  <a:lnTo>
                    <a:pt x="10541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2" name="object 62"/>
            <p:cNvSpPr/>
            <p:nvPr/>
          </p:nvSpPr>
          <p:spPr>
            <a:xfrm>
              <a:off x="7992109" y="2914649"/>
              <a:ext cx="59690" cy="819150"/>
            </a:xfrm>
            <a:custGeom>
              <a:avLst/>
              <a:gdLst/>
              <a:ahLst/>
              <a:cxnLst/>
              <a:rect l="l" t="t" r="r" b="b"/>
              <a:pathLst>
                <a:path w="59690" h="819150">
                  <a:moveTo>
                    <a:pt x="0" y="0"/>
                  </a:moveTo>
                  <a:lnTo>
                    <a:pt x="59690" y="8191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3" name="object 63"/>
            <p:cNvSpPr/>
            <p:nvPr/>
          </p:nvSpPr>
          <p:spPr>
            <a:xfrm>
              <a:off x="7997190" y="3722369"/>
              <a:ext cx="107950" cy="165100"/>
            </a:xfrm>
            <a:custGeom>
              <a:avLst/>
              <a:gdLst/>
              <a:ahLst/>
              <a:cxnLst/>
              <a:rect l="l" t="t" r="r" b="b"/>
              <a:pathLst>
                <a:path w="107950" h="165100">
                  <a:moveTo>
                    <a:pt x="107950" y="0"/>
                  </a:moveTo>
                  <a:lnTo>
                    <a:pt x="0" y="7619"/>
                  </a:lnTo>
                  <a:lnTo>
                    <a:pt x="66039" y="16510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4" name="object 64"/>
            <p:cNvSpPr/>
            <p:nvPr/>
          </p:nvSpPr>
          <p:spPr>
            <a:xfrm>
              <a:off x="2556510" y="4320539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6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5" name="object 65"/>
            <p:cNvSpPr/>
            <p:nvPr/>
          </p:nvSpPr>
          <p:spPr>
            <a:xfrm>
              <a:off x="2501900" y="454913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6" name="object 66"/>
            <p:cNvSpPr/>
            <p:nvPr/>
          </p:nvSpPr>
          <p:spPr>
            <a:xfrm>
              <a:off x="3257550" y="4320539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6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7" name="object 67"/>
            <p:cNvSpPr/>
            <p:nvPr/>
          </p:nvSpPr>
          <p:spPr>
            <a:xfrm>
              <a:off x="3204209" y="454913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333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8" name="object 68"/>
            <p:cNvSpPr/>
            <p:nvPr/>
          </p:nvSpPr>
          <p:spPr>
            <a:xfrm>
              <a:off x="4050030" y="4320539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6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9" name="object 69"/>
            <p:cNvSpPr/>
            <p:nvPr/>
          </p:nvSpPr>
          <p:spPr>
            <a:xfrm>
              <a:off x="3995419" y="454913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0" name="object 70"/>
            <p:cNvSpPr/>
            <p:nvPr/>
          </p:nvSpPr>
          <p:spPr>
            <a:xfrm>
              <a:off x="4752339" y="4320539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6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1" name="object 71"/>
            <p:cNvSpPr/>
            <p:nvPr/>
          </p:nvSpPr>
          <p:spPr>
            <a:xfrm>
              <a:off x="4697729" y="454913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2" name="object 72"/>
            <p:cNvSpPr/>
            <p:nvPr/>
          </p:nvSpPr>
          <p:spPr>
            <a:xfrm>
              <a:off x="5886450" y="4320539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6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3" name="object 73"/>
            <p:cNvSpPr/>
            <p:nvPr/>
          </p:nvSpPr>
          <p:spPr>
            <a:xfrm>
              <a:off x="5831840" y="454913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4" name="object 74"/>
            <p:cNvSpPr/>
            <p:nvPr/>
          </p:nvSpPr>
          <p:spPr>
            <a:xfrm>
              <a:off x="6587490" y="4320539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6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5" name="object 75"/>
            <p:cNvSpPr/>
            <p:nvPr/>
          </p:nvSpPr>
          <p:spPr>
            <a:xfrm>
              <a:off x="6534150" y="454913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334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6" name="object 76"/>
            <p:cNvSpPr/>
            <p:nvPr/>
          </p:nvSpPr>
          <p:spPr>
            <a:xfrm>
              <a:off x="7379970" y="4320539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6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7" name="object 77"/>
            <p:cNvSpPr/>
            <p:nvPr/>
          </p:nvSpPr>
          <p:spPr>
            <a:xfrm>
              <a:off x="7326629" y="454913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334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8" name="object 78"/>
            <p:cNvSpPr/>
            <p:nvPr/>
          </p:nvSpPr>
          <p:spPr>
            <a:xfrm>
              <a:off x="8082279" y="4320539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6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9" name="object 79"/>
            <p:cNvSpPr/>
            <p:nvPr/>
          </p:nvSpPr>
          <p:spPr>
            <a:xfrm>
              <a:off x="8027670" y="454913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555790" y="3794579"/>
            <a:ext cx="190180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3" dirty="0">
                <a:latin typeface="Arial"/>
                <a:cs typeface="Arial"/>
              </a:rPr>
              <a:t>[</a:t>
            </a:r>
            <a:r>
              <a:rPr sz="1225" spc="-10" dirty="0">
                <a:latin typeface="Arial"/>
                <a:cs typeface="Arial"/>
              </a:rPr>
              <a:t>0</a:t>
            </a:r>
            <a:r>
              <a:rPr sz="1225" dirty="0">
                <a:latin typeface="Arial"/>
                <a:cs typeface="Arial"/>
              </a:rPr>
              <a:t>]</a:t>
            </a:r>
            <a:endParaRPr sz="1225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095210" y="3794579"/>
            <a:ext cx="190180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3" dirty="0">
                <a:latin typeface="Arial"/>
                <a:cs typeface="Arial"/>
              </a:rPr>
              <a:t>[</a:t>
            </a:r>
            <a:r>
              <a:rPr sz="1225" spc="-10" dirty="0">
                <a:latin typeface="Arial"/>
                <a:cs typeface="Arial"/>
              </a:rPr>
              <a:t>1</a:t>
            </a:r>
            <a:r>
              <a:rPr sz="1225" dirty="0">
                <a:latin typeface="Arial"/>
                <a:cs typeface="Arial"/>
              </a:rPr>
              <a:t>]</a:t>
            </a:r>
            <a:endParaRPr sz="1225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683903" y="3794579"/>
            <a:ext cx="190180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[2]</a:t>
            </a:r>
            <a:endParaRPr sz="1225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304927" y="3804087"/>
            <a:ext cx="543741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7" dirty="0">
                <a:latin typeface="Arial"/>
                <a:cs typeface="Arial"/>
              </a:rPr>
              <a:t>[VLR-1]</a:t>
            </a:r>
            <a:endParaRPr sz="1225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566510" y="3794579"/>
            <a:ext cx="233835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b="1" dirty="0">
                <a:latin typeface="Arial"/>
                <a:cs typeface="Arial"/>
              </a:rPr>
              <a:t>. .</a:t>
            </a:r>
            <a:r>
              <a:rPr sz="1225" b="1" spc="-65" dirty="0">
                <a:latin typeface="Arial"/>
                <a:cs typeface="Arial"/>
              </a:rPr>
              <a:t> </a:t>
            </a:r>
            <a:r>
              <a:rPr sz="1225" b="1" dirty="0">
                <a:latin typeface="Arial"/>
                <a:cs typeface="Arial"/>
              </a:rPr>
              <a:t>.</a:t>
            </a:r>
            <a:endParaRPr sz="1225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507381" y="1883271"/>
            <a:ext cx="190180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[0]</a:t>
            </a:r>
            <a:endParaRPr sz="1225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045935" y="1883271"/>
            <a:ext cx="190180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3" dirty="0">
                <a:latin typeface="Arial"/>
                <a:cs typeface="Arial"/>
              </a:rPr>
              <a:t>[</a:t>
            </a:r>
            <a:r>
              <a:rPr sz="1225" spc="-10" dirty="0">
                <a:latin typeface="Arial"/>
                <a:cs typeface="Arial"/>
              </a:rPr>
              <a:t>1</a:t>
            </a:r>
            <a:r>
              <a:rPr sz="1225" dirty="0">
                <a:latin typeface="Arial"/>
                <a:cs typeface="Arial"/>
              </a:rPr>
              <a:t>]</a:t>
            </a:r>
            <a:endParaRPr sz="1225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634629" y="1883271"/>
            <a:ext cx="190180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3" dirty="0">
                <a:latin typeface="Arial"/>
                <a:cs typeface="Arial"/>
              </a:rPr>
              <a:t>[</a:t>
            </a:r>
            <a:r>
              <a:rPr sz="1225" spc="-10" dirty="0">
                <a:latin typeface="Arial"/>
                <a:cs typeface="Arial"/>
              </a:rPr>
              <a:t>2</a:t>
            </a:r>
            <a:r>
              <a:rPr sz="1225" dirty="0">
                <a:latin typeface="Arial"/>
                <a:cs typeface="Arial"/>
              </a:rPr>
              <a:t>]</a:t>
            </a:r>
            <a:endParaRPr sz="1225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255653" y="1892780"/>
            <a:ext cx="544174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3" dirty="0">
                <a:latin typeface="Arial"/>
                <a:cs typeface="Arial"/>
              </a:rPr>
              <a:t>[</a:t>
            </a:r>
            <a:r>
              <a:rPr sz="1225" spc="-3" dirty="0">
                <a:latin typeface="Arial"/>
                <a:cs typeface="Arial"/>
              </a:rPr>
              <a:t>V</a:t>
            </a:r>
            <a:r>
              <a:rPr sz="1225" spc="-10" dirty="0">
                <a:latin typeface="Arial"/>
                <a:cs typeface="Arial"/>
              </a:rPr>
              <a:t>L</a:t>
            </a:r>
            <a:r>
              <a:rPr sz="1225" spc="-3" dirty="0">
                <a:latin typeface="Arial"/>
                <a:cs typeface="Arial"/>
              </a:rPr>
              <a:t>R-1]</a:t>
            </a:r>
            <a:endParaRPr sz="1225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517236" y="1883271"/>
            <a:ext cx="233835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b="1" dirty="0">
                <a:latin typeface="Arial"/>
                <a:cs typeface="Arial"/>
              </a:rPr>
              <a:t>. .</a:t>
            </a:r>
            <a:r>
              <a:rPr sz="1225" b="1" spc="-68" dirty="0">
                <a:latin typeface="Arial"/>
                <a:cs typeface="Arial"/>
              </a:rPr>
              <a:t> </a:t>
            </a:r>
            <a:r>
              <a:rPr sz="1225" b="1" dirty="0">
                <a:latin typeface="Arial"/>
                <a:cs typeface="Arial"/>
              </a:rPr>
              <a:t>.</a:t>
            </a:r>
            <a:endParaRPr sz="1225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169206" y="1190844"/>
            <a:ext cx="1901798" cy="265445"/>
          </a:xfrm>
          <a:prstGeom prst="rect">
            <a:avLst/>
          </a:prstGeom>
          <a:ln w="7188">
            <a:solidFill>
              <a:srgbClr val="000000"/>
            </a:solidFill>
          </a:ln>
        </p:spPr>
        <p:txBody>
          <a:bodyPr vert="horz" wrap="square" lIns="0" tIns="13831" rIns="0" bIns="0" rtlCol="0">
            <a:spAutoFit/>
          </a:bodyPr>
          <a:lstStyle/>
          <a:p>
            <a:pPr marL="63540">
              <a:spcBef>
                <a:spcPts val="109"/>
              </a:spcBef>
            </a:pPr>
            <a:r>
              <a:rPr sz="1634" b="1" spc="-7" dirty="0">
                <a:latin typeface="Arial"/>
                <a:cs typeface="Arial"/>
              </a:rPr>
              <a:t>ADDVV </a:t>
            </a:r>
            <a:r>
              <a:rPr sz="1634" b="1" spc="-3" dirty="0">
                <a:latin typeface="Arial"/>
                <a:cs typeface="Arial"/>
              </a:rPr>
              <a:t>V2, V0,</a:t>
            </a:r>
            <a:r>
              <a:rPr sz="1634" b="1" spc="-34" dirty="0">
                <a:latin typeface="Arial"/>
                <a:cs typeface="Arial"/>
              </a:rPr>
              <a:t> </a:t>
            </a:r>
            <a:r>
              <a:rPr sz="1634" b="1" spc="-3" dirty="0">
                <a:latin typeface="Arial"/>
                <a:cs typeface="Arial"/>
              </a:rPr>
              <a:t>V1</a:t>
            </a:r>
            <a:endParaRPr sz="1634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064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7069" y="11891"/>
            <a:ext cx="5111083" cy="1239836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1" dirty="0"/>
              <a:t>Vector </a:t>
            </a:r>
            <a:r>
              <a:rPr spc="-3" dirty="0"/>
              <a:t>Load/Store</a:t>
            </a:r>
            <a:r>
              <a:rPr spc="-10" dirty="0"/>
              <a:t> </a:t>
            </a:r>
            <a:r>
              <a:rPr spc="-3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939" y="4615381"/>
            <a:ext cx="1597511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14" dirty="0">
                <a:latin typeface="Arial"/>
                <a:cs typeface="Arial"/>
              </a:rPr>
              <a:t>Vector </a:t>
            </a:r>
            <a:r>
              <a:rPr sz="1225" spc="-7" dirty="0">
                <a:latin typeface="Arial"/>
                <a:cs typeface="Arial"/>
              </a:rPr>
              <a:t>Length</a:t>
            </a:r>
            <a:r>
              <a:rPr sz="1225" spc="-17" dirty="0">
                <a:latin typeface="Arial"/>
                <a:cs typeface="Arial"/>
              </a:rPr>
              <a:t> </a:t>
            </a:r>
            <a:r>
              <a:rPr sz="1225" spc="-7" dirty="0">
                <a:latin typeface="Arial"/>
                <a:cs typeface="Arial"/>
              </a:rPr>
              <a:t>Register</a:t>
            </a:r>
            <a:endParaRPr sz="122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33182" y="4607601"/>
            <a:ext cx="754668" cy="205099"/>
          </a:xfrm>
          <a:prstGeom prst="rect">
            <a:avLst/>
          </a:prstGeom>
          <a:solidFill>
            <a:srgbClr val="E5E5E5"/>
          </a:solidFill>
          <a:ln w="3175">
            <a:solidFill>
              <a:srgbClr val="7F7F7F"/>
            </a:solidFill>
          </a:ln>
        </p:spPr>
        <p:txBody>
          <a:bodyPr vert="horz" wrap="square" lIns="0" tIns="16425" rIns="0" bIns="0" rtlCol="0">
            <a:spAutoFit/>
          </a:bodyPr>
          <a:lstStyle/>
          <a:p>
            <a:pPr marL="220877">
              <a:spcBef>
                <a:spcPts val="129"/>
              </a:spcBef>
            </a:pPr>
            <a:r>
              <a:rPr sz="1225" b="1" dirty="0">
                <a:solidFill>
                  <a:schemeClr val="bg1"/>
                </a:solidFill>
                <a:latin typeface="Arial"/>
                <a:cs typeface="Arial"/>
              </a:rPr>
              <a:t>VLR</a:t>
            </a:r>
            <a:endParaRPr sz="1225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525058"/>
              </p:ext>
            </p:extLst>
          </p:nvPr>
        </p:nvGraphicFramePr>
        <p:xfrm>
          <a:off x="4069800" y="1973610"/>
          <a:ext cx="4508125" cy="2234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624"/>
                <a:gridCol w="563624"/>
                <a:gridCol w="563192"/>
                <a:gridCol w="548928"/>
                <a:gridCol w="578320"/>
                <a:gridCol w="563623"/>
                <a:gridCol w="563623"/>
                <a:gridCol w="563191"/>
              </a:tblGrid>
              <a:tr h="2234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735256" y="1993492"/>
            <a:ext cx="207469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V1</a:t>
            </a:r>
            <a:endParaRPr sz="1225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83805" y="3871085"/>
            <a:ext cx="717064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R1</a:t>
            </a:r>
            <a:r>
              <a:rPr sz="1225" spc="-61" dirty="0">
                <a:latin typeface="Arial"/>
                <a:cs typeface="Arial"/>
              </a:rPr>
              <a:t> </a:t>
            </a:r>
            <a:r>
              <a:rPr sz="1225" dirty="0">
                <a:latin typeface="Arial"/>
                <a:cs typeface="Arial"/>
              </a:rPr>
              <a:t>(Base)</a:t>
            </a:r>
            <a:endParaRPr sz="1225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14684" y="3660159"/>
            <a:ext cx="233835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b="1" dirty="0">
                <a:latin typeface="Arial"/>
                <a:cs typeface="Arial"/>
              </a:rPr>
              <a:t>. .</a:t>
            </a:r>
            <a:r>
              <a:rPr sz="1225" b="1" spc="-68" dirty="0">
                <a:latin typeface="Arial"/>
                <a:cs typeface="Arial"/>
              </a:rPr>
              <a:t> </a:t>
            </a:r>
            <a:r>
              <a:rPr sz="1225" b="1" dirty="0">
                <a:latin typeface="Arial"/>
                <a:cs typeface="Arial"/>
              </a:rPr>
              <a:t>.</a:t>
            </a:r>
            <a:endParaRPr sz="1225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3085" y="1739342"/>
            <a:ext cx="190180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3" dirty="0">
                <a:latin typeface="Arial"/>
                <a:cs typeface="Arial"/>
              </a:rPr>
              <a:t>[</a:t>
            </a:r>
            <a:r>
              <a:rPr sz="1225" spc="-10" dirty="0">
                <a:latin typeface="Arial"/>
                <a:cs typeface="Arial"/>
              </a:rPr>
              <a:t>0</a:t>
            </a:r>
            <a:r>
              <a:rPr sz="1225" dirty="0">
                <a:latin typeface="Arial"/>
                <a:cs typeface="Arial"/>
              </a:rPr>
              <a:t>]</a:t>
            </a:r>
            <a:endParaRPr sz="1225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62505" y="1739342"/>
            <a:ext cx="190180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3" dirty="0">
                <a:latin typeface="Arial"/>
                <a:cs typeface="Arial"/>
              </a:rPr>
              <a:t>[</a:t>
            </a:r>
            <a:r>
              <a:rPr sz="1225" spc="-10" dirty="0">
                <a:latin typeface="Arial"/>
                <a:cs typeface="Arial"/>
              </a:rPr>
              <a:t>1</a:t>
            </a:r>
            <a:r>
              <a:rPr sz="1225" dirty="0">
                <a:latin typeface="Arial"/>
                <a:cs typeface="Arial"/>
              </a:rPr>
              <a:t>]</a:t>
            </a:r>
            <a:endParaRPr sz="1225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1198" y="1739342"/>
            <a:ext cx="190180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[2]</a:t>
            </a:r>
            <a:endParaRPr sz="1225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72222" y="1747987"/>
            <a:ext cx="543309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7" dirty="0">
                <a:latin typeface="Arial"/>
                <a:cs typeface="Arial"/>
              </a:rPr>
              <a:t>[VLR-1]</a:t>
            </a:r>
            <a:endParaRPr sz="1225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33805" y="1739342"/>
            <a:ext cx="233835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b="1" dirty="0">
                <a:latin typeface="Arial"/>
                <a:cs typeface="Arial"/>
              </a:rPr>
              <a:t>. .</a:t>
            </a:r>
            <a:r>
              <a:rPr sz="1225" b="1" spc="-68" dirty="0">
                <a:latin typeface="Arial"/>
                <a:cs typeface="Arial"/>
              </a:rPr>
              <a:t> </a:t>
            </a:r>
            <a:r>
              <a:rPr sz="1225" b="1" dirty="0">
                <a:latin typeface="Arial"/>
                <a:cs typeface="Arial"/>
              </a:rPr>
              <a:t>.</a:t>
            </a:r>
            <a:endParaRPr sz="122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67380" y="1289827"/>
            <a:ext cx="1449689" cy="264573"/>
          </a:xfrm>
          <a:prstGeom prst="rect">
            <a:avLst/>
          </a:prstGeom>
          <a:ln w="7188">
            <a:solidFill>
              <a:srgbClr val="000000"/>
            </a:solidFill>
          </a:ln>
        </p:spPr>
        <p:txBody>
          <a:bodyPr vert="horz" wrap="square" lIns="0" tIns="12967" rIns="0" bIns="0" rtlCol="0">
            <a:spAutoFit/>
          </a:bodyPr>
          <a:lstStyle/>
          <a:p>
            <a:pPr marL="63540">
              <a:spcBef>
                <a:spcPts val="102"/>
              </a:spcBef>
            </a:pPr>
            <a:r>
              <a:rPr sz="1634" b="1" spc="-65" dirty="0">
                <a:latin typeface="Arial"/>
                <a:cs typeface="Arial"/>
              </a:rPr>
              <a:t>LV </a:t>
            </a:r>
            <a:r>
              <a:rPr sz="1634" b="1" spc="-3" dirty="0">
                <a:latin typeface="Arial"/>
                <a:cs typeface="Arial"/>
              </a:rPr>
              <a:t>V1, R1,</a:t>
            </a:r>
            <a:r>
              <a:rPr sz="1634" b="1" spc="24" dirty="0">
                <a:latin typeface="Arial"/>
                <a:cs typeface="Arial"/>
              </a:rPr>
              <a:t> </a:t>
            </a:r>
            <a:r>
              <a:rPr sz="1634" b="1" spc="-7" dirty="0">
                <a:latin typeface="Arial"/>
                <a:cs typeface="Arial"/>
              </a:rPr>
              <a:t>R2</a:t>
            </a:r>
            <a:endParaRPr sz="1634" dirty="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49192" y="3737095"/>
            <a:ext cx="55325" cy="126210"/>
          </a:xfrm>
          <a:custGeom>
            <a:avLst/>
            <a:gdLst/>
            <a:ahLst/>
            <a:cxnLst/>
            <a:rect l="l" t="t" r="r" b="b"/>
            <a:pathLst>
              <a:path w="81279" h="185420">
                <a:moveTo>
                  <a:pt x="0" y="185420"/>
                </a:moveTo>
                <a:lnTo>
                  <a:pt x="812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6" name="object 16"/>
          <p:cNvSpPr/>
          <p:nvPr/>
        </p:nvSpPr>
        <p:spPr>
          <a:xfrm>
            <a:off x="2869074" y="3641141"/>
            <a:ext cx="77801" cy="115837"/>
          </a:xfrm>
          <a:custGeom>
            <a:avLst/>
            <a:gdLst/>
            <a:ahLst/>
            <a:cxnLst/>
            <a:rect l="l" t="t" r="r" b="b"/>
            <a:pathLst>
              <a:path w="114300" h="170179">
                <a:moveTo>
                  <a:pt x="114300" y="0"/>
                </a:moveTo>
                <a:lnTo>
                  <a:pt x="0" y="125729"/>
                </a:lnTo>
                <a:lnTo>
                  <a:pt x="99059" y="170179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7" name="object 17"/>
          <p:cNvSpPr txBox="1"/>
          <p:nvPr/>
        </p:nvSpPr>
        <p:spPr>
          <a:xfrm>
            <a:off x="2608008" y="2997987"/>
            <a:ext cx="578320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dirty="0">
                <a:latin typeface="Arial"/>
                <a:cs typeface="Arial"/>
              </a:rPr>
              <a:t>Mem</a:t>
            </a:r>
            <a:r>
              <a:rPr sz="1225" spc="-10" dirty="0">
                <a:latin typeface="Arial"/>
                <a:cs typeface="Arial"/>
              </a:rPr>
              <a:t>o</a:t>
            </a:r>
            <a:r>
              <a:rPr sz="1225" dirty="0">
                <a:latin typeface="Arial"/>
                <a:cs typeface="Arial"/>
              </a:rPr>
              <a:t>ry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946442" y="2196639"/>
            <a:ext cx="1421594" cy="1226228"/>
            <a:chOff x="862964" y="2555239"/>
            <a:chExt cx="2088514" cy="1801495"/>
          </a:xfrm>
        </p:grpSpPr>
        <p:sp>
          <p:nvSpPr>
            <p:cNvPr id="19" name="object 19"/>
            <p:cNvSpPr/>
            <p:nvPr/>
          </p:nvSpPr>
          <p:spPr>
            <a:xfrm>
              <a:off x="863599" y="2656839"/>
              <a:ext cx="1971039" cy="1699260"/>
            </a:xfrm>
            <a:custGeom>
              <a:avLst/>
              <a:gdLst/>
              <a:ahLst/>
              <a:cxnLst/>
              <a:rect l="l" t="t" r="r" b="b"/>
              <a:pathLst>
                <a:path w="1971039" h="1699260">
                  <a:moveTo>
                    <a:pt x="0" y="1699260"/>
                  </a:moveTo>
                  <a:lnTo>
                    <a:pt x="19710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" name="object 20"/>
            <p:cNvSpPr/>
            <p:nvPr/>
          </p:nvSpPr>
          <p:spPr>
            <a:xfrm>
              <a:off x="2794000" y="2555239"/>
              <a:ext cx="157480" cy="146050"/>
            </a:xfrm>
            <a:custGeom>
              <a:avLst/>
              <a:gdLst/>
              <a:ahLst/>
              <a:cxnLst/>
              <a:rect l="l" t="t" r="r" b="b"/>
              <a:pathLst>
                <a:path w="157480" h="146050">
                  <a:moveTo>
                    <a:pt x="157480" y="0"/>
                  </a:moveTo>
                  <a:lnTo>
                    <a:pt x="0" y="64770"/>
                  </a:lnTo>
                  <a:lnTo>
                    <a:pt x="71119" y="146050"/>
                  </a:lnTo>
                  <a:lnTo>
                    <a:pt x="157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613110" y="2196639"/>
            <a:ext cx="304720" cy="1226228"/>
            <a:chOff x="3311525" y="2555239"/>
            <a:chExt cx="447675" cy="1801495"/>
          </a:xfrm>
        </p:grpSpPr>
        <p:sp>
          <p:nvSpPr>
            <p:cNvPr id="22" name="object 22"/>
            <p:cNvSpPr/>
            <p:nvPr/>
          </p:nvSpPr>
          <p:spPr>
            <a:xfrm>
              <a:off x="3312160" y="2706369"/>
              <a:ext cx="396240" cy="1649730"/>
            </a:xfrm>
            <a:custGeom>
              <a:avLst/>
              <a:gdLst/>
              <a:ahLst/>
              <a:cxnLst/>
              <a:rect l="l" t="t" r="r" b="b"/>
              <a:pathLst>
                <a:path w="396239" h="1649729">
                  <a:moveTo>
                    <a:pt x="0" y="1649729"/>
                  </a:moveTo>
                  <a:lnTo>
                    <a:pt x="3962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" name="object 23"/>
            <p:cNvSpPr/>
            <p:nvPr/>
          </p:nvSpPr>
          <p:spPr>
            <a:xfrm>
              <a:off x="3653790" y="2555239"/>
              <a:ext cx="105410" cy="170180"/>
            </a:xfrm>
            <a:custGeom>
              <a:avLst/>
              <a:gdLst/>
              <a:ahLst/>
              <a:cxnLst/>
              <a:rect l="l" t="t" r="r" b="b"/>
              <a:pathLst>
                <a:path w="105410" h="170180">
                  <a:moveTo>
                    <a:pt x="90170" y="0"/>
                  </a:moveTo>
                  <a:lnTo>
                    <a:pt x="0" y="144780"/>
                  </a:lnTo>
                  <a:lnTo>
                    <a:pt x="105410" y="170180"/>
                  </a:lnTo>
                  <a:lnTo>
                    <a:pt x="901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172671" y="3728450"/>
            <a:ext cx="244640" cy="73479"/>
            <a:chOff x="2664460" y="4805679"/>
            <a:chExt cx="359410" cy="107950"/>
          </a:xfrm>
        </p:grpSpPr>
        <p:sp>
          <p:nvSpPr>
            <p:cNvPr id="25" name="object 25"/>
            <p:cNvSpPr/>
            <p:nvPr/>
          </p:nvSpPr>
          <p:spPr>
            <a:xfrm>
              <a:off x="2664460" y="4860289"/>
              <a:ext cx="204470" cy="0"/>
            </a:xfrm>
            <a:custGeom>
              <a:avLst/>
              <a:gdLst/>
              <a:ahLst/>
              <a:cxnLst/>
              <a:rect l="l" t="t" r="r" b="b"/>
              <a:pathLst>
                <a:path w="204469">
                  <a:moveTo>
                    <a:pt x="0" y="0"/>
                  </a:moveTo>
                  <a:lnTo>
                    <a:pt x="2044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" name="object 26"/>
            <p:cNvSpPr/>
            <p:nvPr/>
          </p:nvSpPr>
          <p:spPr>
            <a:xfrm>
              <a:off x="2861310" y="480567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3045423" y="3753519"/>
            <a:ext cx="269710" cy="73479"/>
            <a:chOff x="1008380" y="4842509"/>
            <a:chExt cx="396240" cy="107950"/>
          </a:xfrm>
        </p:grpSpPr>
        <p:sp>
          <p:nvSpPr>
            <p:cNvPr id="28" name="object 28"/>
            <p:cNvSpPr/>
            <p:nvPr/>
          </p:nvSpPr>
          <p:spPr>
            <a:xfrm>
              <a:off x="1163320" y="4895849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24130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" name="object 29"/>
            <p:cNvSpPr/>
            <p:nvPr/>
          </p:nvSpPr>
          <p:spPr>
            <a:xfrm>
              <a:off x="1008380" y="484250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90" h="107950">
                  <a:moveTo>
                    <a:pt x="161289" y="0"/>
                  </a:moveTo>
                  <a:lnTo>
                    <a:pt x="0" y="53339"/>
                  </a:lnTo>
                  <a:lnTo>
                    <a:pt x="161289" y="107950"/>
                  </a:lnTo>
                  <a:lnTo>
                    <a:pt x="161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aphicFrame>
        <p:nvGraphicFramePr>
          <p:cNvPr id="30" name="object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283708"/>
              </p:ext>
            </p:extLst>
          </p:nvPr>
        </p:nvGraphicFramePr>
        <p:xfrm>
          <a:off x="2579482" y="3421570"/>
          <a:ext cx="6444502" cy="401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915"/>
                <a:gridCol w="458161"/>
                <a:gridCol w="460322"/>
                <a:gridCol w="458161"/>
                <a:gridCol w="463347"/>
                <a:gridCol w="459889"/>
                <a:gridCol w="460322"/>
                <a:gridCol w="456432"/>
                <a:gridCol w="464644"/>
                <a:gridCol w="448219"/>
                <a:gridCol w="472423"/>
                <a:gridCol w="460753"/>
                <a:gridCol w="460322"/>
                <a:gridCol w="458592"/>
              </a:tblGrid>
              <a:tr h="2234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7F7F"/>
                    </a:solidFill>
                  </a:tcPr>
                </a:tc>
              </a:tr>
              <a:tr h="1443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 marL="490220">
                        <a:lnSpc>
                          <a:spcPts val="1130"/>
                        </a:lnSpc>
                        <a:spcBef>
                          <a:spcPts val="439"/>
                        </a:spcBef>
                      </a:pPr>
                      <a:r>
                        <a:rPr sz="12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R2</a:t>
                      </a:r>
                      <a:r>
                        <a:rPr sz="1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(Stride)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0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 marL="487045">
                        <a:lnSpc>
                          <a:spcPts val="1130"/>
                        </a:lnSpc>
                        <a:spcBef>
                          <a:spcPts val="439"/>
                        </a:spcBef>
                      </a:pPr>
                      <a:r>
                        <a:rPr sz="12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R2</a:t>
                      </a:r>
                      <a:r>
                        <a:rPr sz="120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(Stride)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0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31" name="object 31"/>
          <p:cNvGrpSpPr/>
          <p:nvPr/>
        </p:nvGrpSpPr>
        <p:grpSpPr>
          <a:xfrm>
            <a:off x="6010499" y="3728450"/>
            <a:ext cx="244640" cy="73479"/>
            <a:chOff x="5364479" y="4805679"/>
            <a:chExt cx="359410" cy="107950"/>
          </a:xfrm>
        </p:grpSpPr>
        <p:sp>
          <p:nvSpPr>
            <p:cNvPr id="32" name="object 32"/>
            <p:cNvSpPr/>
            <p:nvPr/>
          </p:nvSpPr>
          <p:spPr>
            <a:xfrm>
              <a:off x="5364479" y="4860289"/>
              <a:ext cx="204470" cy="0"/>
            </a:xfrm>
            <a:custGeom>
              <a:avLst/>
              <a:gdLst/>
              <a:ahLst/>
              <a:cxnLst/>
              <a:rect l="l" t="t" r="r" b="b"/>
              <a:pathLst>
                <a:path w="204470">
                  <a:moveTo>
                    <a:pt x="0" y="0"/>
                  </a:moveTo>
                  <a:lnTo>
                    <a:pt x="2044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" name="object 33"/>
            <p:cNvSpPr/>
            <p:nvPr/>
          </p:nvSpPr>
          <p:spPr>
            <a:xfrm>
              <a:off x="5561329" y="480567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883251" y="3753519"/>
            <a:ext cx="269710" cy="73479"/>
            <a:chOff x="3708400" y="4842509"/>
            <a:chExt cx="396240" cy="107950"/>
          </a:xfrm>
        </p:grpSpPr>
        <p:sp>
          <p:nvSpPr>
            <p:cNvPr id="35" name="object 35"/>
            <p:cNvSpPr/>
            <p:nvPr/>
          </p:nvSpPr>
          <p:spPr>
            <a:xfrm>
              <a:off x="3863339" y="4895849"/>
              <a:ext cx="241300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24130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" name="object 36"/>
            <p:cNvSpPr/>
            <p:nvPr/>
          </p:nvSpPr>
          <p:spPr>
            <a:xfrm>
              <a:off x="3708400" y="484250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161289" y="0"/>
                  </a:moveTo>
                  <a:lnTo>
                    <a:pt x="0" y="53339"/>
                  </a:lnTo>
                  <a:lnTo>
                    <a:pt x="161289" y="107950"/>
                  </a:lnTo>
                  <a:lnTo>
                    <a:pt x="161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5495284" y="2196639"/>
            <a:ext cx="980723" cy="1226228"/>
            <a:chOff x="4607559" y="2555239"/>
            <a:chExt cx="1440815" cy="1801495"/>
          </a:xfrm>
        </p:grpSpPr>
        <p:sp>
          <p:nvSpPr>
            <p:cNvPr id="38" name="object 38"/>
            <p:cNvSpPr/>
            <p:nvPr/>
          </p:nvSpPr>
          <p:spPr>
            <a:xfrm>
              <a:off x="4705349" y="2677159"/>
              <a:ext cx="1342390" cy="1678939"/>
            </a:xfrm>
            <a:custGeom>
              <a:avLst/>
              <a:gdLst/>
              <a:ahLst/>
              <a:cxnLst/>
              <a:rect l="l" t="t" r="r" b="b"/>
              <a:pathLst>
                <a:path w="1342389" h="1678939">
                  <a:moveTo>
                    <a:pt x="1342389" y="16789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" name="object 39"/>
            <p:cNvSpPr/>
            <p:nvPr/>
          </p:nvSpPr>
          <p:spPr>
            <a:xfrm>
              <a:off x="4607559" y="2555239"/>
              <a:ext cx="143510" cy="160020"/>
            </a:xfrm>
            <a:custGeom>
              <a:avLst/>
              <a:gdLst/>
              <a:ahLst/>
              <a:cxnLst/>
              <a:rect l="l" t="t" r="r" b="b"/>
              <a:pathLst>
                <a:path w="143510" h="160019">
                  <a:moveTo>
                    <a:pt x="0" y="0"/>
                  </a:moveTo>
                  <a:lnTo>
                    <a:pt x="59689" y="160020"/>
                  </a:lnTo>
                  <a:lnTo>
                    <a:pt x="143510" y="92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8338474" y="2196639"/>
            <a:ext cx="489713" cy="1226228"/>
            <a:chOff x="8784590" y="2555239"/>
            <a:chExt cx="719455" cy="1801495"/>
          </a:xfrm>
        </p:grpSpPr>
        <p:sp>
          <p:nvSpPr>
            <p:cNvPr id="41" name="object 41"/>
            <p:cNvSpPr/>
            <p:nvPr/>
          </p:nvSpPr>
          <p:spPr>
            <a:xfrm>
              <a:off x="8841740" y="2698749"/>
              <a:ext cx="661670" cy="1657350"/>
            </a:xfrm>
            <a:custGeom>
              <a:avLst/>
              <a:gdLst/>
              <a:ahLst/>
              <a:cxnLst/>
              <a:rect l="l" t="t" r="r" b="b"/>
              <a:pathLst>
                <a:path w="661670" h="1657350">
                  <a:moveTo>
                    <a:pt x="661669" y="16573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2" name="object 42"/>
            <p:cNvSpPr/>
            <p:nvPr/>
          </p:nvSpPr>
          <p:spPr>
            <a:xfrm>
              <a:off x="8784590" y="2555239"/>
              <a:ext cx="109220" cy="171450"/>
            </a:xfrm>
            <a:custGeom>
              <a:avLst/>
              <a:gdLst/>
              <a:ahLst/>
              <a:cxnLst/>
              <a:rect l="l" t="t" r="r" b="b"/>
              <a:pathLst>
                <a:path w="109220" h="171450">
                  <a:moveTo>
                    <a:pt x="0" y="0"/>
                  </a:moveTo>
                  <a:lnTo>
                    <a:pt x="8889" y="171450"/>
                  </a:lnTo>
                  <a:lnTo>
                    <a:pt x="109219" y="130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</p:spTree>
    <p:extLst>
      <p:ext uri="{BB962C8B-B14F-4D97-AF65-F5344CB8AC3E}">
        <p14:creationId xmlns:p14="http://schemas.microsoft.com/office/powerpoint/2010/main" val="98900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8992" y="-92780"/>
            <a:ext cx="5935772" cy="1116725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z="3600" spc="-3" dirty="0"/>
              <a:t>Interleaved </a:t>
            </a:r>
            <a:r>
              <a:rPr sz="3600" spc="-31" dirty="0"/>
              <a:t>Vector </a:t>
            </a:r>
            <a:r>
              <a:rPr sz="3600" spc="-3" dirty="0"/>
              <a:t>Memory</a:t>
            </a:r>
            <a:r>
              <a:rPr sz="3600" spc="3" dirty="0"/>
              <a:t> </a:t>
            </a:r>
            <a:r>
              <a:rPr sz="3600" spc="-3" dirty="0"/>
              <a:t>System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947357"/>
              </p:ext>
            </p:extLst>
          </p:nvPr>
        </p:nvGraphicFramePr>
        <p:xfrm>
          <a:off x="2546104" y="3949802"/>
          <a:ext cx="6175651" cy="441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411"/>
                <a:gridCol w="385546"/>
                <a:gridCol w="386410"/>
                <a:gridCol w="385546"/>
                <a:gridCol w="385979"/>
                <a:gridCol w="385978"/>
                <a:gridCol w="386410"/>
                <a:gridCol w="385546"/>
                <a:gridCol w="386410"/>
                <a:gridCol w="385978"/>
                <a:gridCol w="385978"/>
                <a:gridCol w="385978"/>
                <a:gridCol w="385978"/>
                <a:gridCol w="385546"/>
                <a:gridCol w="386411"/>
                <a:gridCol w="385546"/>
              </a:tblGrid>
              <a:tr h="441303"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40196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9333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40196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9333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40196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9333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40196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9333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40196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40196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40196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40196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40196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40196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40196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20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40196" marB="0">
                    <a:lnL w="3175">
                      <a:solidFill>
                        <a:srgbClr val="7F7F7F"/>
                      </a:solidFill>
                      <a:prstDash val="solid"/>
                    </a:lnL>
                    <a:lnR w="3175">
                      <a:solidFill>
                        <a:srgbClr val="7F7F7F"/>
                      </a:solidFill>
                      <a:prstDash val="solid"/>
                    </a:lnR>
                    <a:lnT w="3175">
                      <a:solidFill>
                        <a:srgbClr val="7F7F7F"/>
                      </a:solidFill>
                      <a:prstDash val="solid"/>
                    </a:lnT>
                    <a:lnB w="3175">
                      <a:solidFill>
                        <a:srgbClr val="7F7F7F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840019" y="1401392"/>
            <a:ext cx="1236169" cy="2805585"/>
            <a:chOff x="8064500" y="2051685"/>
            <a:chExt cx="1816100" cy="4121785"/>
          </a:xfrm>
        </p:grpSpPr>
        <p:sp>
          <p:nvSpPr>
            <p:cNvPr id="5" name="object 5"/>
            <p:cNvSpPr/>
            <p:nvPr/>
          </p:nvSpPr>
          <p:spPr>
            <a:xfrm>
              <a:off x="8064500" y="3185160"/>
              <a:ext cx="1816100" cy="748030"/>
            </a:xfrm>
            <a:custGeom>
              <a:avLst/>
              <a:gdLst/>
              <a:ahLst/>
              <a:cxnLst/>
              <a:rect l="l" t="t" r="r" b="b"/>
              <a:pathLst>
                <a:path w="1816100" h="748029">
                  <a:moveTo>
                    <a:pt x="0" y="0"/>
                  </a:moveTo>
                  <a:lnTo>
                    <a:pt x="748029" y="0"/>
                  </a:lnTo>
                </a:path>
                <a:path w="1816100" h="748029">
                  <a:moveTo>
                    <a:pt x="0" y="0"/>
                  </a:moveTo>
                  <a:lnTo>
                    <a:pt x="320040" y="748029"/>
                  </a:lnTo>
                </a:path>
                <a:path w="1816100" h="748029">
                  <a:moveTo>
                    <a:pt x="1068070" y="0"/>
                  </a:moveTo>
                  <a:lnTo>
                    <a:pt x="1816100" y="0"/>
                  </a:lnTo>
                </a:path>
                <a:path w="1816100" h="748029">
                  <a:moveTo>
                    <a:pt x="1388109" y="748029"/>
                  </a:moveTo>
                  <a:lnTo>
                    <a:pt x="1816100" y="0"/>
                  </a:lnTo>
                </a:path>
                <a:path w="1816100" h="748029">
                  <a:moveTo>
                    <a:pt x="320040" y="748029"/>
                  </a:moveTo>
                  <a:lnTo>
                    <a:pt x="1388109" y="748029"/>
                  </a:lnTo>
                </a:path>
                <a:path w="1816100" h="748029">
                  <a:moveTo>
                    <a:pt x="748029" y="0"/>
                  </a:moveTo>
                  <a:lnTo>
                    <a:pt x="908050" y="214629"/>
                  </a:lnTo>
                </a:path>
                <a:path w="1816100" h="748029">
                  <a:moveTo>
                    <a:pt x="1068070" y="0"/>
                  </a:moveTo>
                  <a:lnTo>
                    <a:pt x="908050" y="2146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8064500" y="2701290"/>
              <a:ext cx="741680" cy="165100"/>
            </a:xfrm>
            <a:custGeom>
              <a:avLst/>
              <a:gdLst/>
              <a:ahLst/>
              <a:cxnLst/>
              <a:rect l="l" t="t" r="r" b="b"/>
              <a:pathLst>
                <a:path w="741679" h="165100">
                  <a:moveTo>
                    <a:pt x="741679" y="0"/>
                  </a:moveTo>
                  <a:lnTo>
                    <a:pt x="0" y="0"/>
                  </a:lnTo>
                  <a:lnTo>
                    <a:pt x="0" y="165100"/>
                  </a:lnTo>
                  <a:lnTo>
                    <a:pt x="741679" y="16510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" name="object 7"/>
            <p:cNvSpPr/>
            <p:nvPr/>
          </p:nvSpPr>
          <p:spPr>
            <a:xfrm>
              <a:off x="8064500" y="2701290"/>
              <a:ext cx="741680" cy="165100"/>
            </a:xfrm>
            <a:custGeom>
              <a:avLst/>
              <a:gdLst/>
              <a:ahLst/>
              <a:cxnLst/>
              <a:rect l="l" t="t" r="r" b="b"/>
              <a:pathLst>
                <a:path w="741679" h="165100">
                  <a:moveTo>
                    <a:pt x="370840" y="165100"/>
                  </a:moveTo>
                  <a:lnTo>
                    <a:pt x="0" y="165100"/>
                  </a:lnTo>
                  <a:lnTo>
                    <a:pt x="0" y="0"/>
                  </a:lnTo>
                  <a:lnTo>
                    <a:pt x="741679" y="0"/>
                  </a:lnTo>
                  <a:lnTo>
                    <a:pt x="741679" y="165100"/>
                  </a:lnTo>
                  <a:lnTo>
                    <a:pt x="370840" y="1651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" name="object 8"/>
            <p:cNvSpPr/>
            <p:nvPr/>
          </p:nvSpPr>
          <p:spPr>
            <a:xfrm>
              <a:off x="8599169" y="2701290"/>
              <a:ext cx="213359" cy="1651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" name="object 9"/>
            <p:cNvSpPr/>
            <p:nvPr/>
          </p:nvSpPr>
          <p:spPr>
            <a:xfrm>
              <a:off x="8384540" y="2866390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51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" name="object 10"/>
            <p:cNvSpPr/>
            <p:nvPr/>
          </p:nvSpPr>
          <p:spPr>
            <a:xfrm>
              <a:off x="8331200" y="302387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3340" y="16255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" name="object 11"/>
            <p:cNvSpPr/>
            <p:nvPr/>
          </p:nvSpPr>
          <p:spPr>
            <a:xfrm>
              <a:off x="9079230" y="2698750"/>
              <a:ext cx="741680" cy="165100"/>
            </a:xfrm>
            <a:custGeom>
              <a:avLst/>
              <a:gdLst/>
              <a:ahLst/>
              <a:cxnLst/>
              <a:rect l="l" t="t" r="r" b="b"/>
              <a:pathLst>
                <a:path w="741679" h="165100">
                  <a:moveTo>
                    <a:pt x="741679" y="0"/>
                  </a:moveTo>
                  <a:lnTo>
                    <a:pt x="0" y="0"/>
                  </a:lnTo>
                  <a:lnTo>
                    <a:pt x="0" y="165100"/>
                  </a:lnTo>
                  <a:lnTo>
                    <a:pt x="741679" y="16510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" name="object 12"/>
            <p:cNvSpPr/>
            <p:nvPr/>
          </p:nvSpPr>
          <p:spPr>
            <a:xfrm>
              <a:off x="9079230" y="2698750"/>
              <a:ext cx="741680" cy="165100"/>
            </a:xfrm>
            <a:custGeom>
              <a:avLst/>
              <a:gdLst/>
              <a:ahLst/>
              <a:cxnLst/>
              <a:rect l="l" t="t" r="r" b="b"/>
              <a:pathLst>
                <a:path w="741679" h="165100">
                  <a:moveTo>
                    <a:pt x="370840" y="165100"/>
                  </a:moveTo>
                  <a:lnTo>
                    <a:pt x="0" y="165100"/>
                  </a:lnTo>
                  <a:lnTo>
                    <a:pt x="0" y="0"/>
                  </a:lnTo>
                  <a:lnTo>
                    <a:pt x="741679" y="0"/>
                  </a:lnTo>
                  <a:lnTo>
                    <a:pt x="741679" y="165100"/>
                  </a:lnTo>
                  <a:lnTo>
                    <a:pt x="370840" y="1651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" name="object 13"/>
            <p:cNvSpPr/>
            <p:nvPr/>
          </p:nvSpPr>
          <p:spPr>
            <a:xfrm>
              <a:off x="9613900" y="2700020"/>
              <a:ext cx="213359" cy="1651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" name="object 14"/>
            <p:cNvSpPr/>
            <p:nvPr/>
          </p:nvSpPr>
          <p:spPr>
            <a:xfrm>
              <a:off x="9413239" y="2865120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51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" name="object 15"/>
            <p:cNvSpPr/>
            <p:nvPr/>
          </p:nvSpPr>
          <p:spPr>
            <a:xfrm>
              <a:off x="9359900" y="3023870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107950" y="0"/>
                  </a:moveTo>
                  <a:lnTo>
                    <a:pt x="0" y="0"/>
                  </a:lnTo>
                  <a:lnTo>
                    <a:pt x="53340" y="16128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" name="object 16"/>
            <p:cNvSpPr/>
            <p:nvPr/>
          </p:nvSpPr>
          <p:spPr>
            <a:xfrm>
              <a:off x="8970010" y="3933189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70">
                  <a:moveTo>
                    <a:pt x="0" y="0"/>
                  </a:moveTo>
                  <a:lnTo>
                    <a:pt x="0" y="1663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" name="object 17"/>
            <p:cNvSpPr/>
            <p:nvPr/>
          </p:nvSpPr>
          <p:spPr>
            <a:xfrm>
              <a:off x="8581390" y="4235450"/>
              <a:ext cx="741680" cy="165100"/>
            </a:xfrm>
            <a:custGeom>
              <a:avLst/>
              <a:gdLst/>
              <a:ahLst/>
              <a:cxnLst/>
              <a:rect l="l" t="t" r="r" b="b"/>
              <a:pathLst>
                <a:path w="741679" h="165100">
                  <a:moveTo>
                    <a:pt x="741679" y="0"/>
                  </a:moveTo>
                  <a:lnTo>
                    <a:pt x="0" y="0"/>
                  </a:lnTo>
                  <a:lnTo>
                    <a:pt x="0" y="165100"/>
                  </a:lnTo>
                  <a:lnTo>
                    <a:pt x="741679" y="16510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" name="object 18"/>
            <p:cNvSpPr/>
            <p:nvPr/>
          </p:nvSpPr>
          <p:spPr>
            <a:xfrm>
              <a:off x="8581390" y="4235450"/>
              <a:ext cx="741680" cy="165100"/>
            </a:xfrm>
            <a:custGeom>
              <a:avLst/>
              <a:gdLst/>
              <a:ahLst/>
              <a:cxnLst/>
              <a:rect l="l" t="t" r="r" b="b"/>
              <a:pathLst>
                <a:path w="741679" h="165100">
                  <a:moveTo>
                    <a:pt x="370839" y="165100"/>
                  </a:moveTo>
                  <a:lnTo>
                    <a:pt x="0" y="165100"/>
                  </a:lnTo>
                  <a:lnTo>
                    <a:pt x="0" y="0"/>
                  </a:lnTo>
                  <a:lnTo>
                    <a:pt x="741679" y="0"/>
                  </a:lnTo>
                  <a:lnTo>
                    <a:pt x="741679" y="165100"/>
                  </a:lnTo>
                  <a:lnTo>
                    <a:pt x="370839" y="1651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" name="object 19"/>
            <p:cNvSpPr/>
            <p:nvPr/>
          </p:nvSpPr>
          <p:spPr>
            <a:xfrm>
              <a:off x="9116060" y="4236720"/>
              <a:ext cx="213360" cy="1650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" name="object 20"/>
            <p:cNvSpPr/>
            <p:nvPr/>
          </p:nvSpPr>
          <p:spPr>
            <a:xfrm>
              <a:off x="8915400" y="4091939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107950" y="0"/>
                  </a:moveTo>
                  <a:lnTo>
                    <a:pt x="0" y="0"/>
                  </a:lnTo>
                  <a:lnTo>
                    <a:pt x="54609" y="16128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" name="object 21"/>
            <p:cNvSpPr/>
            <p:nvPr/>
          </p:nvSpPr>
          <p:spPr>
            <a:xfrm>
              <a:off x="8952230" y="4400550"/>
              <a:ext cx="588010" cy="1719580"/>
            </a:xfrm>
            <a:custGeom>
              <a:avLst/>
              <a:gdLst/>
              <a:ahLst/>
              <a:cxnLst/>
              <a:rect l="l" t="t" r="r" b="b"/>
              <a:pathLst>
                <a:path w="588009" h="1719579">
                  <a:moveTo>
                    <a:pt x="0" y="0"/>
                  </a:moveTo>
                  <a:lnTo>
                    <a:pt x="0" y="697230"/>
                  </a:lnTo>
                  <a:lnTo>
                    <a:pt x="588010" y="697230"/>
                  </a:lnTo>
                  <a:lnTo>
                    <a:pt x="588010" y="1719580"/>
                  </a:lnTo>
                  <a:lnTo>
                    <a:pt x="562610" y="1719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" name="object 22"/>
            <p:cNvSpPr/>
            <p:nvPr/>
          </p:nvSpPr>
          <p:spPr>
            <a:xfrm>
              <a:off x="9359900" y="606551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162559" y="0"/>
                  </a:moveTo>
                  <a:lnTo>
                    <a:pt x="0" y="54609"/>
                  </a:lnTo>
                  <a:lnTo>
                    <a:pt x="162559" y="107949"/>
                  </a:lnTo>
                  <a:lnTo>
                    <a:pt x="1625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" name="object 23"/>
            <p:cNvSpPr/>
            <p:nvPr/>
          </p:nvSpPr>
          <p:spPr>
            <a:xfrm>
              <a:off x="8435340" y="2520950"/>
              <a:ext cx="768350" cy="1572260"/>
            </a:xfrm>
            <a:custGeom>
              <a:avLst/>
              <a:gdLst/>
              <a:ahLst/>
              <a:cxnLst/>
              <a:rect l="l" t="t" r="r" b="b"/>
              <a:pathLst>
                <a:path w="768350" h="1572260">
                  <a:moveTo>
                    <a:pt x="534669" y="1572260"/>
                  </a:moveTo>
                  <a:lnTo>
                    <a:pt x="768350" y="1572260"/>
                  </a:lnTo>
                  <a:lnTo>
                    <a:pt x="768350" y="0"/>
                  </a:lnTo>
                  <a:lnTo>
                    <a:pt x="0" y="0"/>
                  </a:lnTo>
                  <a:lnTo>
                    <a:pt x="0" y="254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" name="object 24"/>
            <p:cNvSpPr/>
            <p:nvPr/>
          </p:nvSpPr>
          <p:spPr>
            <a:xfrm>
              <a:off x="8380729" y="253873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" name="object 25"/>
            <p:cNvSpPr/>
            <p:nvPr/>
          </p:nvSpPr>
          <p:spPr>
            <a:xfrm>
              <a:off x="8639809" y="2052320"/>
              <a:ext cx="0" cy="494030"/>
            </a:xfrm>
            <a:custGeom>
              <a:avLst/>
              <a:gdLst/>
              <a:ahLst/>
              <a:cxnLst/>
              <a:rect l="l" t="t" r="r" b="b"/>
              <a:pathLst>
                <a:path h="494030">
                  <a:moveTo>
                    <a:pt x="0" y="0"/>
                  </a:moveTo>
                  <a:lnTo>
                    <a:pt x="0" y="4940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" name="object 26"/>
            <p:cNvSpPr/>
            <p:nvPr/>
          </p:nvSpPr>
          <p:spPr>
            <a:xfrm>
              <a:off x="8586469" y="253873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333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" name="object 27"/>
            <p:cNvSpPr/>
            <p:nvPr/>
          </p:nvSpPr>
          <p:spPr>
            <a:xfrm>
              <a:off x="9414510" y="2052320"/>
              <a:ext cx="0" cy="494030"/>
            </a:xfrm>
            <a:custGeom>
              <a:avLst/>
              <a:gdLst/>
              <a:ahLst/>
              <a:cxnLst/>
              <a:rect l="l" t="t" r="r" b="b"/>
              <a:pathLst>
                <a:path h="494030">
                  <a:moveTo>
                    <a:pt x="0" y="0"/>
                  </a:moveTo>
                  <a:lnTo>
                    <a:pt x="0" y="4940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" name="object 28"/>
            <p:cNvSpPr/>
            <p:nvPr/>
          </p:nvSpPr>
          <p:spPr>
            <a:xfrm>
              <a:off x="9359900" y="253873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039707" y="1188304"/>
            <a:ext cx="371283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10" dirty="0">
                <a:latin typeface="Arial"/>
                <a:cs typeface="Arial"/>
              </a:rPr>
              <a:t>B</a:t>
            </a:r>
            <a:r>
              <a:rPr sz="1225" spc="-3" dirty="0">
                <a:latin typeface="Arial"/>
                <a:cs typeface="Arial"/>
              </a:rPr>
              <a:t>ase</a:t>
            </a:r>
            <a:endParaRPr sz="1225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54057" y="1188304"/>
            <a:ext cx="422286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7" dirty="0">
                <a:latin typeface="Arial"/>
                <a:cs typeface="Arial"/>
              </a:rPr>
              <a:t>Stride</a:t>
            </a:r>
            <a:endParaRPr sz="1225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27744" y="2144390"/>
            <a:ext cx="716632" cy="384386"/>
          </a:xfrm>
          <a:prstGeom prst="rect">
            <a:avLst/>
          </a:prstGeom>
        </p:spPr>
        <p:txBody>
          <a:bodyPr vert="horz" wrap="square" lIns="0" tIns="25069" rIns="0" bIns="0" rtlCol="0">
            <a:spAutoFit/>
          </a:bodyPr>
          <a:lstStyle/>
          <a:p>
            <a:pPr marL="8645" marR="3458" indent="129673">
              <a:lnSpc>
                <a:spcPts val="1368"/>
              </a:lnSpc>
              <a:spcBef>
                <a:spcPts val="197"/>
              </a:spcBef>
            </a:pPr>
            <a:r>
              <a:rPr sz="1225" spc="-3" dirty="0">
                <a:latin typeface="Arial"/>
                <a:cs typeface="Arial"/>
              </a:rPr>
              <a:t>A</a:t>
            </a:r>
            <a:r>
              <a:rPr sz="1225" spc="-10" dirty="0">
                <a:latin typeface="Arial"/>
                <a:cs typeface="Arial"/>
              </a:rPr>
              <a:t>d</a:t>
            </a:r>
            <a:r>
              <a:rPr sz="1225" spc="-3" dirty="0">
                <a:latin typeface="Arial"/>
                <a:cs typeface="Arial"/>
              </a:rPr>
              <a:t>dress  Ge</a:t>
            </a:r>
            <a:r>
              <a:rPr sz="1225" spc="-10" dirty="0">
                <a:latin typeface="Arial"/>
                <a:cs typeface="Arial"/>
              </a:rPr>
              <a:t>n</a:t>
            </a:r>
            <a:r>
              <a:rPr sz="1225" spc="-3" dirty="0">
                <a:latin typeface="Arial"/>
                <a:cs typeface="Arial"/>
              </a:rPr>
              <a:t>er</a:t>
            </a:r>
            <a:r>
              <a:rPr sz="1225" spc="-10" dirty="0">
                <a:latin typeface="Arial"/>
                <a:cs typeface="Arial"/>
              </a:rPr>
              <a:t>a</a:t>
            </a:r>
            <a:r>
              <a:rPr sz="1225" spc="3" dirty="0">
                <a:latin typeface="Arial"/>
                <a:cs typeface="Arial"/>
              </a:rPr>
              <a:t>t</a:t>
            </a:r>
            <a:r>
              <a:rPr sz="1225" spc="-3" dirty="0">
                <a:latin typeface="Arial"/>
                <a:cs typeface="Arial"/>
              </a:rPr>
              <a:t>or</a:t>
            </a:r>
            <a:endParaRPr sz="1225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98835" y="4430005"/>
            <a:ext cx="1122061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b="1" spc="-3" dirty="0">
                <a:latin typeface="Arial"/>
                <a:cs typeface="Arial"/>
              </a:rPr>
              <a:t>Memory</a:t>
            </a:r>
            <a:r>
              <a:rPr sz="1225" b="1" spc="-44" dirty="0">
                <a:latin typeface="Arial"/>
                <a:cs typeface="Arial"/>
              </a:rPr>
              <a:t> </a:t>
            </a:r>
            <a:r>
              <a:rPr sz="1225" b="1" spc="-7" dirty="0">
                <a:latin typeface="Arial"/>
                <a:cs typeface="Arial"/>
              </a:rPr>
              <a:t>Banks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743200" y="1352550"/>
            <a:ext cx="5782331" cy="2597684"/>
            <a:chOff x="576580" y="1979929"/>
            <a:chExt cx="8495030" cy="3816350"/>
          </a:xfrm>
        </p:grpSpPr>
        <p:sp>
          <p:nvSpPr>
            <p:cNvPr id="34" name="object 34"/>
            <p:cNvSpPr/>
            <p:nvPr/>
          </p:nvSpPr>
          <p:spPr>
            <a:xfrm>
              <a:off x="2807969" y="2988309"/>
              <a:ext cx="2724150" cy="554990"/>
            </a:xfrm>
            <a:custGeom>
              <a:avLst/>
              <a:gdLst/>
              <a:ahLst/>
              <a:cxnLst/>
              <a:rect l="l" t="t" r="r" b="b"/>
              <a:pathLst>
                <a:path w="2724150" h="554989">
                  <a:moveTo>
                    <a:pt x="2724150" y="0"/>
                  </a:moveTo>
                  <a:lnTo>
                    <a:pt x="0" y="0"/>
                  </a:lnTo>
                  <a:lnTo>
                    <a:pt x="0" y="554989"/>
                  </a:lnTo>
                  <a:lnTo>
                    <a:pt x="2724150" y="55498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" name="object 35"/>
            <p:cNvSpPr/>
            <p:nvPr/>
          </p:nvSpPr>
          <p:spPr>
            <a:xfrm>
              <a:off x="2807969" y="2988309"/>
              <a:ext cx="2724150" cy="554990"/>
            </a:xfrm>
            <a:custGeom>
              <a:avLst/>
              <a:gdLst/>
              <a:ahLst/>
              <a:cxnLst/>
              <a:rect l="l" t="t" r="r" b="b"/>
              <a:pathLst>
                <a:path w="2724150" h="554989">
                  <a:moveTo>
                    <a:pt x="1361440" y="554989"/>
                  </a:moveTo>
                  <a:lnTo>
                    <a:pt x="0" y="554989"/>
                  </a:lnTo>
                  <a:lnTo>
                    <a:pt x="0" y="0"/>
                  </a:lnTo>
                  <a:lnTo>
                    <a:pt x="2724150" y="0"/>
                  </a:lnTo>
                  <a:lnTo>
                    <a:pt x="2724150" y="554989"/>
                  </a:lnTo>
                  <a:lnTo>
                    <a:pt x="1361440" y="55498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" name="object 36"/>
            <p:cNvSpPr/>
            <p:nvPr/>
          </p:nvSpPr>
          <p:spPr>
            <a:xfrm>
              <a:off x="4812030" y="3018789"/>
              <a:ext cx="740410" cy="525780"/>
            </a:xfrm>
            <a:custGeom>
              <a:avLst/>
              <a:gdLst/>
              <a:ahLst/>
              <a:cxnLst/>
              <a:rect l="l" t="t" r="r" b="b"/>
              <a:pathLst>
                <a:path w="740410" h="525779">
                  <a:moveTo>
                    <a:pt x="740410" y="0"/>
                  </a:moveTo>
                  <a:lnTo>
                    <a:pt x="0" y="231139"/>
                  </a:lnTo>
                  <a:lnTo>
                    <a:pt x="717550" y="525780"/>
                  </a:lnTo>
                  <a:lnTo>
                    <a:pt x="74041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" name="object 37"/>
            <p:cNvSpPr/>
            <p:nvPr/>
          </p:nvSpPr>
          <p:spPr>
            <a:xfrm>
              <a:off x="4799330" y="3018789"/>
              <a:ext cx="753110" cy="525780"/>
            </a:xfrm>
            <a:custGeom>
              <a:avLst/>
              <a:gdLst/>
              <a:ahLst/>
              <a:cxnLst/>
              <a:rect l="l" t="t" r="r" b="b"/>
              <a:pathLst>
                <a:path w="753110" h="525779">
                  <a:moveTo>
                    <a:pt x="12700" y="231139"/>
                  </a:moveTo>
                  <a:lnTo>
                    <a:pt x="753110" y="0"/>
                  </a:lnTo>
                  <a:lnTo>
                    <a:pt x="730250" y="525780"/>
                  </a:lnTo>
                  <a:lnTo>
                    <a:pt x="12700" y="231139"/>
                  </a:lnTo>
                  <a:close/>
                </a:path>
                <a:path w="753110" h="525779">
                  <a:moveTo>
                    <a:pt x="0" y="494030"/>
                  </a:moveTo>
                  <a:lnTo>
                    <a:pt x="0" y="494030"/>
                  </a:lnTo>
                </a:path>
                <a:path w="753110" h="525779">
                  <a:moveTo>
                    <a:pt x="753110" y="0"/>
                  </a:moveTo>
                  <a:lnTo>
                    <a:pt x="75311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" name="object 38"/>
            <p:cNvSpPr/>
            <p:nvPr/>
          </p:nvSpPr>
          <p:spPr>
            <a:xfrm>
              <a:off x="692150" y="3646169"/>
              <a:ext cx="2288540" cy="2045970"/>
            </a:xfrm>
            <a:custGeom>
              <a:avLst/>
              <a:gdLst/>
              <a:ahLst/>
              <a:cxnLst/>
              <a:rect l="l" t="t" r="r" b="b"/>
              <a:pathLst>
                <a:path w="2288540" h="2045970">
                  <a:moveTo>
                    <a:pt x="0" y="2045969"/>
                  </a:moveTo>
                  <a:lnTo>
                    <a:pt x="22885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" name="object 39"/>
            <p:cNvSpPr/>
            <p:nvPr/>
          </p:nvSpPr>
          <p:spPr>
            <a:xfrm>
              <a:off x="576580" y="3543299"/>
              <a:ext cx="2519680" cy="2252980"/>
            </a:xfrm>
            <a:custGeom>
              <a:avLst/>
              <a:gdLst/>
              <a:ahLst/>
              <a:cxnLst/>
              <a:rect l="l" t="t" r="r" b="b"/>
              <a:pathLst>
                <a:path w="2519680" h="2252979">
                  <a:moveTo>
                    <a:pt x="156210" y="2184400"/>
                  </a:moveTo>
                  <a:lnTo>
                    <a:pt x="83820" y="2104390"/>
                  </a:lnTo>
                  <a:lnTo>
                    <a:pt x="0" y="2252980"/>
                  </a:lnTo>
                  <a:lnTo>
                    <a:pt x="156210" y="2184400"/>
                  </a:lnTo>
                  <a:close/>
                </a:path>
                <a:path w="2519680" h="2252979">
                  <a:moveTo>
                    <a:pt x="2519680" y="0"/>
                  </a:moveTo>
                  <a:lnTo>
                    <a:pt x="2362200" y="67310"/>
                  </a:lnTo>
                  <a:lnTo>
                    <a:pt x="2434590" y="148590"/>
                  </a:lnTo>
                  <a:lnTo>
                    <a:pt x="2519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" name="object 40"/>
            <p:cNvSpPr/>
            <p:nvPr/>
          </p:nvSpPr>
          <p:spPr>
            <a:xfrm>
              <a:off x="1254760" y="3658869"/>
              <a:ext cx="1809750" cy="2021839"/>
            </a:xfrm>
            <a:custGeom>
              <a:avLst/>
              <a:gdLst/>
              <a:ahLst/>
              <a:cxnLst/>
              <a:rect l="l" t="t" r="r" b="b"/>
              <a:pathLst>
                <a:path w="1809750" h="2021839">
                  <a:moveTo>
                    <a:pt x="0" y="2021839"/>
                  </a:moveTo>
                  <a:lnTo>
                    <a:pt x="18097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1" name="object 41"/>
            <p:cNvSpPr/>
            <p:nvPr/>
          </p:nvSpPr>
          <p:spPr>
            <a:xfrm>
              <a:off x="1151890" y="3543299"/>
              <a:ext cx="2015489" cy="2251710"/>
            </a:xfrm>
            <a:custGeom>
              <a:avLst/>
              <a:gdLst/>
              <a:ahLst/>
              <a:cxnLst/>
              <a:rect l="l" t="t" r="r" b="b"/>
              <a:pathLst>
                <a:path w="2015489" h="2251710">
                  <a:moveTo>
                    <a:pt x="148590" y="2167890"/>
                  </a:moveTo>
                  <a:lnTo>
                    <a:pt x="67310" y="2095500"/>
                  </a:lnTo>
                  <a:lnTo>
                    <a:pt x="0" y="2251710"/>
                  </a:lnTo>
                  <a:lnTo>
                    <a:pt x="148590" y="2167890"/>
                  </a:lnTo>
                  <a:close/>
                </a:path>
                <a:path w="2015489" h="2251710">
                  <a:moveTo>
                    <a:pt x="2015490" y="0"/>
                  </a:moveTo>
                  <a:lnTo>
                    <a:pt x="1868170" y="83820"/>
                  </a:lnTo>
                  <a:lnTo>
                    <a:pt x="1948180" y="156210"/>
                  </a:lnTo>
                  <a:lnTo>
                    <a:pt x="20154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2" name="object 42"/>
            <p:cNvSpPr/>
            <p:nvPr/>
          </p:nvSpPr>
          <p:spPr>
            <a:xfrm>
              <a:off x="1814830" y="3671569"/>
              <a:ext cx="1338580" cy="1996439"/>
            </a:xfrm>
            <a:custGeom>
              <a:avLst/>
              <a:gdLst/>
              <a:ahLst/>
              <a:cxnLst/>
              <a:rect l="l" t="t" r="r" b="b"/>
              <a:pathLst>
                <a:path w="1338580" h="1996439">
                  <a:moveTo>
                    <a:pt x="0" y="1996439"/>
                  </a:moveTo>
                  <a:lnTo>
                    <a:pt x="1338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3" name="object 43"/>
            <p:cNvSpPr/>
            <p:nvPr/>
          </p:nvSpPr>
          <p:spPr>
            <a:xfrm>
              <a:off x="1728470" y="3543299"/>
              <a:ext cx="1511300" cy="2252980"/>
            </a:xfrm>
            <a:custGeom>
              <a:avLst/>
              <a:gdLst/>
              <a:ahLst/>
              <a:cxnLst/>
              <a:rect l="l" t="t" r="r" b="b"/>
              <a:pathLst>
                <a:path w="1511300" h="2252979">
                  <a:moveTo>
                    <a:pt x="134620" y="2148840"/>
                  </a:moveTo>
                  <a:lnTo>
                    <a:pt x="44450" y="2087880"/>
                  </a:lnTo>
                  <a:lnTo>
                    <a:pt x="0" y="2252980"/>
                  </a:lnTo>
                  <a:lnTo>
                    <a:pt x="134620" y="2148840"/>
                  </a:lnTo>
                  <a:close/>
                </a:path>
                <a:path w="1511300" h="2252979">
                  <a:moveTo>
                    <a:pt x="1511300" y="0"/>
                  </a:moveTo>
                  <a:lnTo>
                    <a:pt x="1376680" y="104140"/>
                  </a:lnTo>
                  <a:lnTo>
                    <a:pt x="1465580" y="163830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4" name="object 44"/>
            <p:cNvSpPr/>
            <p:nvPr/>
          </p:nvSpPr>
          <p:spPr>
            <a:xfrm>
              <a:off x="2367280" y="3684269"/>
              <a:ext cx="881380" cy="1969770"/>
            </a:xfrm>
            <a:custGeom>
              <a:avLst/>
              <a:gdLst/>
              <a:ahLst/>
              <a:cxnLst/>
              <a:rect l="l" t="t" r="r" b="b"/>
              <a:pathLst>
                <a:path w="881380" h="1969770">
                  <a:moveTo>
                    <a:pt x="0" y="1969769"/>
                  </a:moveTo>
                  <a:lnTo>
                    <a:pt x="8813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5" name="object 45"/>
            <p:cNvSpPr/>
            <p:nvPr/>
          </p:nvSpPr>
          <p:spPr>
            <a:xfrm>
              <a:off x="2303780" y="3543299"/>
              <a:ext cx="1008380" cy="2252980"/>
            </a:xfrm>
            <a:custGeom>
              <a:avLst/>
              <a:gdLst/>
              <a:ahLst/>
              <a:cxnLst/>
              <a:rect l="l" t="t" r="r" b="b"/>
              <a:pathLst>
                <a:path w="1008379" h="2252979">
                  <a:moveTo>
                    <a:pt x="115570" y="2127250"/>
                  </a:moveTo>
                  <a:lnTo>
                    <a:pt x="16510" y="2082800"/>
                  </a:lnTo>
                  <a:lnTo>
                    <a:pt x="0" y="2252980"/>
                  </a:lnTo>
                  <a:lnTo>
                    <a:pt x="115570" y="2127250"/>
                  </a:lnTo>
                  <a:close/>
                </a:path>
                <a:path w="1008379" h="2252979">
                  <a:moveTo>
                    <a:pt x="1008380" y="0"/>
                  </a:moveTo>
                  <a:lnTo>
                    <a:pt x="892810" y="125730"/>
                  </a:lnTo>
                  <a:lnTo>
                    <a:pt x="991870" y="170180"/>
                  </a:lnTo>
                  <a:lnTo>
                    <a:pt x="10083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6" name="object 46"/>
            <p:cNvSpPr/>
            <p:nvPr/>
          </p:nvSpPr>
          <p:spPr>
            <a:xfrm>
              <a:off x="2846069" y="3693159"/>
              <a:ext cx="499109" cy="1951989"/>
            </a:xfrm>
            <a:custGeom>
              <a:avLst/>
              <a:gdLst/>
              <a:ahLst/>
              <a:cxnLst/>
              <a:rect l="l" t="t" r="r" b="b"/>
              <a:pathLst>
                <a:path w="499110" h="1951989">
                  <a:moveTo>
                    <a:pt x="0" y="1951989"/>
                  </a:moveTo>
                  <a:lnTo>
                    <a:pt x="4991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7" name="object 47"/>
            <p:cNvSpPr/>
            <p:nvPr/>
          </p:nvSpPr>
          <p:spPr>
            <a:xfrm>
              <a:off x="2795270" y="3543299"/>
              <a:ext cx="600710" cy="2251710"/>
            </a:xfrm>
            <a:custGeom>
              <a:avLst/>
              <a:gdLst/>
              <a:ahLst/>
              <a:cxnLst/>
              <a:rect l="l" t="t" r="r" b="b"/>
              <a:pathLst>
                <a:path w="600710" h="2251710">
                  <a:moveTo>
                    <a:pt x="105410" y="2108200"/>
                  </a:moveTo>
                  <a:lnTo>
                    <a:pt x="0" y="2081530"/>
                  </a:lnTo>
                  <a:lnTo>
                    <a:pt x="12700" y="2251710"/>
                  </a:lnTo>
                  <a:lnTo>
                    <a:pt x="105410" y="2108200"/>
                  </a:lnTo>
                  <a:close/>
                </a:path>
                <a:path w="600710" h="2251710">
                  <a:moveTo>
                    <a:pt x="600710" y="170180"/>
                  </a:moveTo>
                  <a:lnTo>
                    <a:pt x="589280" y="0"/>
                  </a:lnTo>
                  <a:lnTo>
                    <a:pt x="496570" y="143510"/>
                  </a:lnTo>
                  <a:lnTo>
                    <a:pt x="600710" y="170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8" name="object 48"/>
            <p:cNvSpPr/>
            <p:nvPr/>
          </p:nvSpPr>
          <p:spPr>
            <a:xfrm>
              <a:off x="3460750" y="3698239"/>
              <a:ext cx="62230" cy="1943100"/>
            </a:xfrm>
            <a:custGeom>
              <a:avLst/>
              <a:gdLst/>
              <a:ahLst/>
              <a:cxnLst/>
              <a:rect l="l" t="t" r="r" b="b"/>
              <a:pathLst>
                <a:path w="62229" h="1943100">
                  <a:moveTo>
                    <a:pt x="0" y="1943100"/>
                  </a:moveTo>
                  <a:lnTo>
                    <a:pt x="6222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9" name="object 49"/>
            <p:cNvSpPr/>
            <p:nvPr/>
          </p:nvSpPr>
          <p:spPr>
            <a:xfrm>
              <a:off x="3407410" y="3543299"/>
              <a:ext cx="170180" cy="2251710"/>
            </a:xfrm>
            <a:custGeom>
              <a:avLst/>
              <a:gdLst/>
              <a:ahLst/>
              <a:cxnLst/>
              <a:rect l="l" t="t" r="r" b="b"/>
              <a:pathLst>
                <a:path w="170179" h="2251710">
                  <a:moveTo>
                    <a:pt x="107950" y="2091690"/>
                  </a:moveTo>
                  <a:lnTo>
                    <a:pt x="0" y="2089150"/>
                  </a:lnTo>
                  <a:lnTo>
                    <a:pt x="48260" y="2251710"/>
                  </a:lnTo>
                  <a:lnTo>
                    <a:pt x="107950" y="2091690"/>
                  </a:lnTo>
                  <a:close/>
                </a:path>
                <a:path w="170179" h="2251710">
                  <a:moveTo>
                    <a:pt x="170180" y="163830"/>
                  </a:moveTo>
                  <a:lnTo>
                    <a:pt x="120650" y="0"/>
                  </a:lnTo>
                  <a:lnTo>
                    <a:pt x="60960" y="160020"/>
                  </a:lnTo>
                  <a:lnTo>
                    <a:pt x="170180" y="1638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0" name="object 50"/>
            <p:cNvSpPr/>
            <p:nvPr/>
          </p:nvSpPr>
          <p:spPr>
            <a:xfrm>
              <a:off x="3759200" y="3696969"/>
              <a:ext cx="185420" cy="1944370"/>
            </a:xfrm>
            <a:custGeom>
              <a:avLst/>
              <a:gdLst/>
              <a:ahLst/>
              <a:cxnLst/>
              <a:rect l="l" t="t" r="r" b="b"/>
              <a:pathLst>
                <a:path w="185420" h="1944370">
                  <a:moveTo>
                    <a:pt x="185420" y="194436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1" name="object 51"/>
            <p:cNvSpPr/>
            <p:nvPr/>
          </p:nvSpPr>
          <p:spPr>
            <a:xfrm>
              <a:off x="3705860" y="3543299"/>
              <a:ext cx="292100" cy="2252980"/>
            </a:xfrm>
            <a:custGeom>
              <a:avLst/>
              <a:gdLst/>
              <a:ahLst/>
              <a:cxnLst/>
              <a:rect l="l" t="t" r="r" b="b"/>
              <a:pathLst>
                <a:path w="292100" h="2252979">
                  <a:moveTo>
                    <a:pt x="106680" y="156210"/>
                  </a:moveTo>
                  <a:lnTo>
                    <a:pt x="38100" y="0"/>
                  </a:lnTo>
                  <a:lnTo>
                    <a:pt x="0" y="166370"/>
                  </a:lnTo>
                  <a:lnTo>
                    <a:pt x="106680" y="156210"/>
                  </a:lnTo>
                  <a:close/>
                </a:path>
                <a:path w="292100" h="2252979">
                  <a:moveTo>
                    <a:pt x="292100" y="2086610"/>
                  </a:moveTo>
                  <a:lnTo>
                    <a:pt x="185420" y="2096770"/>
                  </a:lnTo>
                  <a:lnTo>
                    <a:pt x="254000" y="2252980"/>
                  </a:lnTo>
                  <a:lnTo>
                    <a:pt x="292100" y="2086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2" name="object 52"/>
            <p:cNvSpPr/>
            <p:nvPr/>
          </p:nvSpPr>
          <p:spPr>
            <a:xfrm>
              <a:off x="4128770" y="3695700"/>
              <a:ext cx="311150" cy="1946910"/>
            </a:xfrm>
            <a:custGeom>
              <a:avLst/>
              <a:gdLst/>
              <a:ahLst/>
              <a:cxnLst/>
              <a:rect l="l" t="t" r="r" b="b"/>
              <a:pathLst>
                <a:path w="311150" h="1946910">
                  <a:moveTo>
                    <a:pt x="311150" y="194691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3" name="object 53"/>
            <p:cNvSpPr/>
            <p:nvPr/>
          </p:nvSpPr>
          <p:spPr>
            <a:xfrm>
              <a:off x="4076700" y="3543299"/>
              <a:ext cx="415290" cy="2251710"/>
            </a:xfrm>
            <a:custGeom>
              <a:avLst/>
              <a:gdLst/>
              <a:ahLst/>
              <a:cxnLst/>
              <a:rect l="l" t="t" r="r" b="b"/>
              <a:pathLst>
                <a:path w="415289" h="2251710">
                  <a:moveTo>
                    <a:pt x="106680" y="151130"/>
                  </a:moveTo>
                  <a:lnTo>
                    <a:pt x="26670" y="0"/>
                  </a:lnTo>
                  <a:lnTo>
                    <a:pt x="0" y="168910"/>
                  </a:lnTo>
                  <a:lnTo>
                    <a:pt x="106680" y="151130"/>
                  </a:lnTo>
                  <a:close/>
                </a:path>
                <a:path w="415289" h="2251710">
                  <a:moveTo>
                    <a:pt x="415290" y="2084070"/>
                  </a:moveTo>
                  <a:lnTo>
                    <a:pt x="308610" y="2100580"/>
                  </a:lnTo>
                  <a:lnTo>
                    <a:pt x="387350" y="2251710"/>
                  </a:lnTo>
                  <a:lnTo>
                    <a:pt x="415290" y="2084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4" name="object 54"/>
            <p:cNvSpPr/>
            <p:nvPr/>
          </p:nvSpPr>
          <p:spPr>
            <a:xfrm>
              <a:off x="4304030" y="3688079"/>
              <a:ext cx="753110" cy="1963420"/>
            </a:xfrm>
            <a:custGeom>
              <a:avLst/>
              <a:gdLst/>
              <a:ahLst/>
              <a:cxnLst/>
              <a:rect l="l" t="t" r="r" b="b"/>
              <a:pathLst>
                <a:path w="753110" h="1963420">
                  <a:moveTo>
                    <a:pt x="753110" y="19634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5" name="object 55"/>
            <p:cNvSpPr/>
            <p:nvPr/>
          </p:nvSpPr>
          <p:spPr>
            <a:xfrm>
              <a:off x="4248150" y="3543299"/>
              <a:ext cx="863600" cy="2252980"/>
            </a:xfrm>
            <a:custGeom>
              <a:avLst/>
              <a:gdLst/>
              <a:ahLst/>
              <a:cxnLst/>
              <a:rect l="l" t="t" r="r" b="b"/>
              <a:pathLst>
                <a:path w="863600" h="2252979">
                  <a:moveTo>
                    <a:pt x="107950" y="132080"/>
                  </a:moveTo>
                  <a:lnTo>
                    <a:pt x="0" y="0"/>
                  </a:lnTo>
                  <a:lnTo>
                    <a:pt x="7620" y="170180"/>
                  </a:lnTo>
                  <a:lnTo>
                    <a:pt x="107950" y="132080"/>
                  </a:lnTo>
                  <a:close/>
                </a:path>
                <a:path w="863600" h="2252979">
                  <a:moveTo>
                    <a:pt x="863600" y="2252980"/>
                  </a:moveTo>
                  <a:lnTo>
                    <a:pt x="855980" y="2082800"/>
                  </a:lnTo>
                  <a:lnTo>
                    <a:pt x="755650" y="2120900"/>
                  </a:lnTo>
                  <a:lnTo>
                    <a:pt x="863600" y="2252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6" name="object 56"/>
            <p:cNvSpPr/>
            <p:nvPr/>
          </p:nvSpPr>
          <p:spPr>
            <a:xfrm>
              <a:off x="4465320" y="3679189"/>
              <a:ext cx="1076960" cy="1981200"/>
            </a:xfrm>
            <a:custGeom>
              <a:avLst/>
              <a:gdLst/>
              <a:ahLst/>
              <a:cxnLst/>
              <a:rect l="l" t="t" r="r" b="b"/>
              <a:pathLst>
                <a:path w="1076960" h="1981200">
                  <a:moveTo>
                    <a:pt x="1076959" y="19812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7" name="object 57"/>
            <p:cNvSpPr/>
            <p:nvPr/>
          </p:nvSpPr>
          <p:spPr>
            <a:xfrm>
              <a:off x="4391660" y="3543299"/>
              <a:ext cx="1224280" cy="2252980"/>
            </a:xfrm>
            <a:custGeom>
              <a:avLst/>
              <a:gdLst/>
              <a:ahLst/>
              <a:cxnLst/>
              <a:rect l="l" t="t" r="r" b="b"/>
              <a:pathLst>
                <a:path w="1224279" h="2252979">
                  <a:moveTo>
                    <a:pt x="125730" y="116840"/>
                  </a:moveTo>
                  <a:lnTo>
                    <a:pt x="0" y="0"/>
                  </a:lnTo>
                  <a:lnTo>
                    <a:pt x="30480" y="167640"/>
                  </a:lnTo>
                  <a:lnTo>
                    <a:pt x="125730" y="116840"/>
                  </a:lnTo>
                  <a:close/>
                </a:path>
                <a:path w="1224279" h="2252979">
                  <a:moveTo>
                    <a:pt x="1224280" y="2252980"/>
                  </a:moveTo>
                  <a:lnTo>
                    <a:pt x="1195070" y="2084070"/>
                  </a:lnTo>
                  <a:lnTo>
                    <a:pt x="1099820" y="2136140"/>
                  </a:lnTo>
                  <a:lnTo>
                    <a:pt x="1224280" y="2252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8" name="object 58"/>
            <p:cNvSpPr/>
            <p:nvPr/>
          </p:nvSpPr>
          <p:spPr>
            <a:xfrm>
              <a:off x="4558030" y="3666489"/>
              <a:ext cx="1539240" cy="2006600"/>
            </a:xfrm>
            <a:custGeom>
              <a:avLst/>
              <a:gdLst/>
              <a:ahLst/>
              <a:cxnLst/>
              <a:rect l="l" t="t" r="r" b="b"/>
              <a:pathLst>
                <a:path w="1539239" h="2006600">
                  <a:moveTo>
                    <a:pt x="1539240" y="20066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9" name="object 59"/>
            <p:cNvSpPr/>
            <p:nvPr/>
          </p:nvSpPr>
          <p:spPr>
            <a:xfrm>
              <a:off x="4464050" y="3543299"/>
              <a:ext cx="1728470" cy="2252980"/>
            </a:xfrm>
            <a:custGeom>
              <a:avLst/>
              <a:gdLst/>
              <a:ahLst/>
              <a:cxnLst/>
              <a:rect l="l" t="t" r="r" b="b"/>
              <a:pathLst>
                <a:path w="1728470" h="2252979">
                  <a:moveTo>
                    <a:pt x="140970" y="95250"/>
                  </a:moveTo>
                  <a:lnTo>
                    <a:pt x="0" y="0"/>
                  </a:lnTo>
                  <a:lnTo>
                    <a:pt x="55880" y="161290"/>
                  </a:lnTo>
                  <a:lnTo>
                    <a:pt x="140970" y="95250"/>
                  </a:lnTo>
                  <a:close/>
                </a:path>
                <a:path w="1728470" h="2252979">
                  <a:moveTo>
                    <a:pt x="1728470" y="2252980"/>
                  </a:moveTo>
                  <a:lnTo>
                    <a:pt x="1672590" y="2091690"/>
                  </a:lnTo>
                  <a:lnTo>
                    <a:pt x="1586230" y="2157730"/>
                  </a:lnTo>
                  <a:lnTo>
                    <a:pt x="1728470" y="2252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0" name="object 60"/>
            <p:cNvSpPr/>
            <p:nvPr/>
          </p:nvSpPr>
          <p:spPr>
            <a:xfrm>
              <a:off x="4715509" y="3655059"/>
              <a:ext cx="1945639" cy="2029460"/>
            </a:xfrm>
            <a:custGeom>
              <a:avLst/>
              <a:gdLst/>
              <a:ahLst/>
              <a:cxnLst/>
              <a:rect l="l" t="t" r="r" b="b"/>
              <a:pathLst>
                <a:path w="1945640" h="2029460">
                  <a:moveTo>
                    <a:pt x="1945639" y="20294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1" name="object 61"/>
            <p:cNvSpPr/>
            <p:nvPr/>
          </p:nvSpPr>
          <p:spPr>
            <a:xfrm>
              <a:off x="4607560" y="3543299"/>
              <a:ext cx="2160270" cy="2252980"/>
            </a:xfrm>
            <a:custGeom>
              <a:avLst/>
              <a:gdLst/>
              <a:ahLst/>
              <a:cxnLst/>
              <a:rect l="l" t="t" r="r" b="b"/>
              <a:pathLst>
                <a:path w="2160270" h="2252979">
                  <a:moveTo>
                    <a:pt x="151130" y="80010"/>
                  </a:moveTo>
                  <a:lnTo>
                    <a:pt x="0" y="0"/>
                  </a:lnTo>
                  <a:lnTo>
                    <a:pt x="73660" y="153670"/>
                  </a:lnTo>
                  <a:lnTo>
                    <a:pt x="151130" y="80010"/>
                  </a:lnTo>
                  <a:close/>
                </a:path>
                <a:path w="2160270" h="2252979">
                  <a:moveTo>
                    <a:pt x="2160270" y="2252980"/>
                  </a:moveTo>
                  <a:lnTo>
                    <a:pt x="2087880" y="2098040"/>
                  </a:lnTo>
                  <a:lnTo>
                    <a:pt x="2009140" y="2172970"/>
                  </a:lnTo>
                  <a:lnTo>
                    <a:pt x="2160270" y="2252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2" name="object 62"/>
            <p:cNvSpPr/>
            <p:nvPr/>
          </p:nvSpPr>
          <p:spPr>
            <a:xfrm>
              <a:off x="4917439" y="3644900"/>
              <a:ext cx="2381250" cy="2049780"/>
            </a:xfrm>
            <a:custGeom>
              <a:avLst/>
              <a:gdLst/>
              <a:ahLst/>
              <a:cxnLst/>
              <a:rect l="l" t="t" r="r" b="b"/>
              <a:pathLst>
                <a:path w="2381250" h="2049779">
                  <a:moveTo>
                    <a:pt x="2381250" y="204978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3" name="object 63"/>
            <p:cNvSpPr/>
            <p:nvPr/>
          </p:nvSpPr>
          <p:spPr>
            <a:xfrm>
              <a:off x="4799330" y="3543299"/>
              <a:ext cx="2616200" cy="2252980"/>
            </a:xfrm>
            <a:custGeom>
              <a:avLst/>
              <a:gdLst/>
              <a:ahLst/>
              <a:cxnLst/>
              <a:rect l="l" t="t" r="r" b="b"/>
              <a:pathLst>
                <a:path w="2616200" h="2252979">
                  <a:moveTo>
                    <a:pt x="158750" y="64770"/>
                  </a:moveTo>
                  <a:lnTo>
                    <a:pt x="0" y="0"/>
                  </a:lnTo>
                  <a:lnTo>
                    <a:pt x="87630" y="146050"/>
                  </a:lnTo>
                  <a:lnTo>
                    <a:pt x="158750" y="64770"/>
                  </a:lnTo>
                  <a:close/>
                </a:path>
                <a:path w="2616200" h="2252979">
                  <a:moveTo>
                    <a:pt x="2616200" y="2252980"/>
                  </a:moveTo>
                  <a:lnTo>
                    <a:pt x="2528570" y="2106930"/>
                  </a:lnTo>
                  <a:lnTo>
                    <a:pt x="2458720" y="2188210"/>
                  </a:lnTo>
                  <a:lnTo>
                    <a:pt x="2616200" y="2252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4" name="object 64"/>
            <p:cNvSpPr/>
            <p:nvPr/>
          </p:nvSpPr>
          <p:spPr>
            <a:xfrm>
              <a:off x="5091430" y="3637279"/>
              <a:ext cx="2705100" cy="2065020"/>
            </a:xfrm>
            <a:custGeom>
              <a:avLst/>
              <a:gdLst/>
              <a:ahLst/>
              <a:cxnLst/>
              <a:rect l="l" t="t" r="r" b="b"/>
              <a:pathLst>
                <a:path w="2705100" h="2065020">
                  <a:moveTo>
                    <a:pt x="2705100" y="20650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5" name="object 65"/>
            <p:cNvSpPr/>
            <p:nvPr/>
          </p:nvSpPr>
          <p:spPr>
            <a:xfrm>
              <a:off x="4968240" y="3543299"/>
              <a:ext cx="2951480" cy="2252980"/>
            </a:xfrm>
            <a:custGeom>
              <a:avLst/>
              <a:gdLst/>
              <a:ahLst/>
              <a:cxnLst/>
              <a:rect l="l" t="t" r="r" b="b"/>
              <a:pathLst>
                <a:path w="2951479" h="2252979">
                  <a:moveTo>
                    <a:pt x="161290" y="55880"/>
                  </a:moveTo>
                  <a:lnTo>
                    <a:pt x="0" y="0"/>
                  </a:lnTo>
                  <a:lnTo>
                    <a:pt x="95250" y="140970"/>
                  </a:lnTo>
                  <a:lnTo>
                    <a:pt x="161290" y="55880"/>
                  </a:lnTo>
                  <a:close/>
                </a:path>
                <a:path w="2951479" h="2252979">
                  <a:moveTo>
                    <a:pt x="2951480" y="2252980"/>
                  </a:moveTo>
                  <a:lnTo>
                    <a:pt x="2856230" y="2112010"/>
                  </a:lnTo>
                  <a:lnTo>
                    <a:pt x="2790190" y="2197100"/>
                  </a:lnTo>
                  <a:lnTo>
                    <a:pt x="2951480" y="2252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6" name="object 66"/>
            <p:cNvSpPr/>
            <p:nvPr/>
          </p:nvSpPr>
          <p:spPr>
            <a:xfrm>
              <a:off x="5241289" y="3628389"/>
              <a:ext cx="3125470" cy="2082800"/>
            </a:xfrm>
            <a:custGeom>
              <a:avLst/>
              <a:gdLst/>
              <a:ahLst/>
              <a:cxnLst/>
              <a:rect l="l" t="t" r="r" b="b"/>
              <a:pathLst>
                <a:path w="3125470" h="2082800">
                  <a:moveTo>
                    <a:pt x="3125469" y="20828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7" name="object 67"/>
            <p:cNvSpPr/>
            <p:nvPr/>
          </p:nvSpPr>
          <p:spPr>
            <a:xfrm>
              <a:off x="5111750" y="3543299"/>
              <a:ext cx="3384550" cy="2252980"/>
            </a:xfrm>
            <a:custGeom>
              <a:avLst/>
              <a:gdLst/>
              <a:ahLst/>
              <a:cxnLst/>
              <a:rect l="l" t="t" r="r" b="b"/>
              <a:pathLst>
                <a:path w="3384550" h="2252979">
                  <a:moveTo>
                    <a:pt x="165100" y="44450"/>
                  </a:moveTo>
                  <a:lnTo>
                    <a:pt x="0" y="0"/>
                  </a:lnTo>
                  <a:lnTo>
                    <a:pt x="105410" y="134620"/>
                  </a:lnTo>
                  <a:lnTo>
                    <a:pt x="165100" y="44450"/>
                  </a:lnTo>
                  <a:close/>
                </a:path>
                <a:path w="3384550" h="2252979">
                  <a:moveTo>
                    <a:pt x="3384550" y="2252980"/>
                  </a:moveTo>
                  <a:lnTo>
                    <a:pt x="3279140" y="2118360"/>
                  </a:lnTo>
                  <a:lnTo>
                    <a:pt x="3219450" y="2208530"/>
                  </a:lnTo>
                  <a:lnTo>
                    <a:pt x="3384550" y="2252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8" name="object 68"/>
            <p:cNvSpPr/>
            <p:nvPr/>
          </p:nvSpPr>
          <p:spPr>
            <a:xfrm>
              <a:off x="5388609" y="3622039"/>
              <a:ext cx="3549650" cy="2095500"/>
            </a:xfrm>
            <a:custGeom>
              <a:avLst/>
              <a:gdLst/>
              <a:ahLst/>
              <a:cxnLst/>
              <a:rect l="l" t="t" r="r" b="b"/>
              <a:pathLst>
                <a:path w="3549650" h="2095500">
                  <a:moveTo>
                    <a:pt x="3549649" y="20955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9" name="object 69"/>
            <p:cNvSpPr/>
            <p:nvPr/>
          </p:nvSpPr>
          <p:spPr>
            <a:xfrm>
              <a:off x="5256530" y="3543299"/>
              <a:ext cx="3815079" cy="2252980"/>
            </a:xfrm>
            <a:custGeom>
              <a:avLst/>
              <a:gdLst/>
              <a:ahLst/>
              <a:cxnLst/>
              <a:rect l="l" t="t" r="r" b="b"/>
              <a:pathLst>
                <a:path w="3815079" h="2252979">
                  <a:moveTo>
                    <a:pt x="166370" y="35560"/>
                  </a:moveTo>
                  <a:lnTo>
                    <a:pt x="0" y="0"/>
                  </a:lnTo>
                  <a:lnTo>
                    <a:pt x="111760" y="128270"/>
                  </a:lnTo>
                  <a:lnTo>
                    <a:pt x="166370" y="35560"/>
                  </a:lnTo>
                  <a:close/>
                </a:path>
                <a:path w="3815079" h="2252979">
                  <a:moveTo>
                    <a:pt x="3815080" y="2252980"/>
                  </a:moveTo>
                  <a:lnTo>
                    <a:pt x="3703320" y="2123440"/>
                  </a:lnTo>
                  <a:lnTo>
                    <a:pt x="3648710" y="2216150"/>
                  </a:lnTo>
                  <a:lnTo>
                    <a:pt x="3815080" y="2252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0" name="object 70"/>
            <p:cNvSpPr/>
            <p:nvPr/>
          </p:nvSpPr>
          <p:spPr>
            <a:xfrm>
              <a:off x="3959859" y="2134869"/>
              <a:ext cx="0" cy="698500"/>
            </a:xfrm>
            <a:custGeom>
              <a:avLst/>
              <a:gdLst/>
              <a:ahLst/>
              <a:cxnLst/>
              <a:rect l="l" t="t" r="r" b="b"/>
              <a:pathLst>
                <a:path h="698500">
                  <a:moveTo>
                    <a:pt x="0" y="6985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1" name="object 71"/>
            <p:cNvSpPr/>
            <p:nvPr/>
          </p:nvSpPr>
          <p:spPr>
            <a:xfrm>
              <a:off x="3906520" y="1979929"/>
              <a:ext cx="107950" cy="1008380"/>
            </a:xfrm>
            <a:custGeom>
              <a:avLst/>
              <a:gdLst/>
              <a:ahLst/>
              <a:cxnLst/>
              <a:rect l="l" t="t" r="r" b="b"/>
              <a:pathLst>
                <a:path w="107950" h="1008380">
                  <a:moveTo>
                    <a:pt x="107950" y="845820"/>
                  </a:moveTo>
                  <a:lnTo>
                    <a:pt x="0" y="845820"/>
                  </a:lnTo>
                  <a:lnTo>
                    <a:pt x="53340" y="1008380"/>
                  </a:lnTo>
                  <a:lnTo>
                    <a:pt x="107950" y="845820"/>
                  </a:lnTo>
                  <a:close/>
                </a:path>
                <a:path w="107950" h="1008380">
                  <a:moveTo>
                    <a:pt x="107950" y="162560"/>
                  </a:moveTo>
                  <a:lnTo>
                    <a:pt x="53340" y="0"/>
                  </a:lnTo>
                  <a:lnTo>
                    <a:pt x="0" y="162560"/>
                  </a:lnTo>
                  <a:lnTo>
                    <a:pt x="107950" y="1625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364049" y="1100130"/>
            <a:ext cx="1243085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b="1" spc="-17" dirty="0">
                <a:latin typeface="Arial"/>
                <a:cs typeface="Arial"/>
              </a:rPr>
              <a:t>Vector</a:t>
            </a:r>
            <a:r>
              <a:rPr sz="1225" b="1" spc="-37" dirty="0">
                <a:latin typeface="Arial"/>
                <a:cs typeface="Arial"/>
              </a:rPr>
              <a:t> </a:t>
            </a:r>
            <a:r>
              <a:rPr sz="1225" b="1" spc="-3" dirty="0">
                <a:latin typeface="Arial"/>
                <a:cs typeface="Arial"/>
              </a:rPr>
              <a:t>Registers</a:t>
            </a:r>
            <a:endParaRPr sz="1225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6229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285750"/>
            <a:ext cx="5029200" cy="562727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  <a:tabLst>
                <a:tab pos="1193859" algn="l"/>
              </a:tabLst>
            </a:pPr>
            <a:r>
              <a:rPr sz="3600" spc="-31" dirty="0"/>
              <a:t>Vector	</a:t>
            </a:r>
            <a:r>
              <a:rPr lang="en-US" sz="3600" spc="-31" dirty="0" smtClean="0"/>
              <a:t> </a:t>
            </a:r>
            <a:r>
              <a:rPr sz="3600" spc="-3" dirty="0" smtClean="0"/>
              <a:t>Memory</a:t>
            </a:r>
            <a:r>
              <a:rPr sz="3600" spc="-37" dirty="0" smtClean="0"/>
              <a:t> </a:t>
            </a:r>
            <a:r>
              <a:rPr sz="3600" spc="-3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5073" y="1124439"/>
            <a:ext cx="5614627" cy="2608547"/>
          </a:xfrm>
          <a:prstGeom prst="rect">
            <a:avLst/>
          </a:prstGeom>
        </p:spPr>
        <p:txBody>
          <a:bodyPr vert="horz" wrap="square" lIns="0" tIns="127075" rIns="0" bIns="0" rtlCol="0">
            <a:spAutoFit/>
          </a:bodyPr>
          <a:lstStyle/>
          <a:p>
            <a:pPr marL="360190" indent="-342900"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sz="2178" spc="-3" dirty="0">
                <a:latin typeface="Arial"/>
                <a:cs typeface="Arial"/>
              </a:rPr>
              <a:t>Multiple loads/stores </a:t>
            </a:r>
            <a:r>
              <a:rPr sz="2178" dirty="0">
                <a:latin typeface="Arial"/>
                <a:cs typeface="Arial"/>
              </a:rPr>
              <a:t>per</a:t>
            </a:r>
            <a:r>
              <a:rPr sz="2178" spc="-3" dirty="0">
                <a:latin typeface="Arial"/>
                <a:cs typeface="Arial"/>
              </a:rPr>
              <a:t> </a:t>
            </a:r>
            <a:r>
              <a:rPr sz="2178" dirty="0">
                <a:latin typeface="Arial"/>
                <a:cs typeface="Arial"/>
              </a:rPr>
              <a:t>clock</a:t>
            </a:r>
          </a:p>
          <a:p>
            <a:pPr marL="311648" marR="89475" indent="-221309">
              <a:lnSpc>
                <a:spcPts val="2124"/>
              </a:lnSpc>
              <a:spcBef>
                <a:spcPts val="1024"/>
              </a:spcBef>
              <a:buSzPct val="75000"/>
              <a:buFont typeface="OpenSymbol"/>
              <a:buChar char="–"/>
              <a:tabLst>
                <a:tab pos="312081" algn="l"/>
              </a:tabLst>
            </a:pPr>
            <a:r>
              <a:rPr sz="1906" spc="-3" dirty="0">
                <a:latin typeface="Arial"/>
                <a:cs typeface="Arial"/>
              </a:rPr>
              <a:t>Memory bank </a:t>
            </a:r>
            <a:r>
              <a:rPr sz="1906" dirty="0">
                <a:latin typeface="Arial"/>
                <a:cs typeface="Arial"/>
              </a:rPr>
              <a:t>cycle </a:t>
            </a:r>
            <a:r>
              <a:rPr sz="1906" spc="-3" dirty="0">
                <a:latin typeface="Arial"/>
                <a:cs typeface="Arial"/>
              </a:rPr>
              <a:t>time </a:t>
            </a:r>
            <a:r>
              <a:rPr sz="1906" dirty="0">
                <a:latin typeface="Arial"/>
                <a:cs typeface="Arial"/>
              </a:rPr>
              <a:t>is </a:t>
            </a:r>
            <a:r>
              <a:rPr sz="1906" spc="-3" dirty="0">
                <a:latin typeface="Arial"/>
                <a:cs typeface="Arial"/>
              </a:rPr>
              <a:t>larger than processor  clock time</a:t>
            </a:r>
            <a:endParaRPr sz="1906" dirty="0">
              <a:latin typeface="Arial"/>
              <a:cs typeface="Arial"/>
            </a:endParaRPr>
          </a:p>
          <a:p>
            <a:pPr marL="311648" marR="12103" indent="-221309">
              <a:lnSpc>
                <a:spcPts val="2131"/>
              </a:lnSpc>
              <a:spcBef>
                <a:spcPts val="762"/>
              </a:spcBef>
              <a:buSzPct val="75000"/>
              <a:buFont typeface="OpenSymbol"/>
              <a:buChar char="–"/>
              <a:tabLst>
                <a:tab pos="312081" algn="l"/>
              </a:tabLst>
            </a:pPr>
            <a:r>
              <a:rPr sz="1906" spc="-3" dirty="0">
                <a:latin typeface="Arial"/>
                <a:cs typeface="Arial"/>
              </a:rPr>
              <a:t>Multiple banks </a:t>
            </a:r>
            <a:r>
              <a:rPr sz="1906" dirty="0">
                <a:latin typeface="Arial"/>
                <a:cs typeface="Arial"/>
              </a:rPr>
              <a:t>to </a:t>
            </a:r>
            <a:r>
              <a:rPr sz="1906" spc="-3" dirty="0">
                <a:latin typeface="Arial"/>
                <a:cs typeface="Arial"/>
              </a:rPr>
              <a:t>control addresses from </a:t>
            </a:r>
            <a:r>
              <a:rPr sz="1906" spc="-7" dirty="0">
                <a:latin typeface="Arial"/>
                <a:cs typeface="Arial"/>
              </a:rPr>
              <a:t>different  </a:t>
            </a:r>
            <a:r>
              <a:rPr sz="1906" spc="-3" dirty="0">
                <a:latin typeface="Arial"/>
                <a:cs typeface="Arial"/>
              </a:rPr>
              <a:t>loads/stores</a:t>
            </a:r>
            <a:r>
              <a:rPr sz="1906" dirty="0">
                <a:latin typeface="Arial"/>
                <a:cs typeface="Arial"/>
              </a:rPr>
              <a:t> </a:t>
            </a:r>
            <a:r>
              <a:rPr sz="1906" spc="-3" dirty="0">
                <a:latin typeface="Arial"/>
                <a:cs typeface="Arial"/>
              </a:rPr>
              <a:t>independently</a:t>
            </a:r>
            <a:endParaRPr sz="1906" dirty="0">
              <a:latin typeface="Arial"/>
              <a:cs typeface="Arial"/>
            </a:endParaRPr>
          </a:p>
          <a:p>
            <a:pPr marL="360190" indent="-342900">
              <a:spcBef>
                <a:spcPts val="541"/>
              </a:spcBef>
              <a:buFont typeface="Arial" panose="020B0604020202020204" pitchFamily="34" charset="0"/>
              <a:buChar char="•"/>
            </a:pPr>
            <a:r>
              <a:rPr sz="2178" spc="-3" dirty="0">
                <a:latin typeface="Arial"/>
                <a:cs typeface="Arial"/>
              </a:rPr>
              <a:t>Non-sequential </a:t>
            </a:r>
            <a:r>
              <a:rPr sz="2178" dirty="0">
                <a:latin typeface="Arial"/>
                <a:cs typeface="Arial"/>
              </a:rPr>
              <a:t>word</a:t>
            </a:r>
            <a:r>
              <a:rPr sz="2178" spc="-7" dirty="0">
                <a:latin typeface="Arial"/>
                <a:cs typeface="Arial"/>
              </a:rPr>
              <a:t> </a:t>
            </a:r>
            <a:r>
              <a:rPr sz="2178" dirty="0">
                <a:latin typeface="Arial"/>
                <a:cs typeface="Arial"/>
              </a:rPr>
              <a:t>accesses</a:t>
            </a:r>
          </a:p>
          <a:p>
            <a:pPr marL="360190" indent="-342900">
              <a:spcBef>
                <a:spcPts val="796"/>
              </a:spcBef>
              <a:buFont typeface="Arial" panose="020B0604020202020204" pitchFamily="34" charset="0"/>
              <a:buChar char="•"/>
            </a:pPr>
            <a:r>
              <a:rPr sz="2178" spc="-3" dirty="0">
                <a:latin typeface="Arial"/>
                <a:cs typeface="Arial"/>
              </a:rPr>
              <a:t>Memory </a:t>
            </a:r>
            <a:r>
              <a:rPr sz="2178" dirty="0">
                <a:latin typeface="Arial"/>
                <a:cs typeface="Arial"/>
              </a:rPr>
              <a:t>system</a:t>
            </a:r>
            <a:r>
              <a:rPr sz="2178" spc="-10" dirty="0">
                <a:latin typeface="Arial"/>
                <a:cs typeface="Arial"/>
              </a:rPr>
              <a:t> </a:t>
            </a:r>
            <a:r>
              <a:rPr sz="2178" dirty="0">
                <a:latin typeface="Arial"/>
                <a:cs typeface="Arial"/>
              </a:rPr>
              <a:t>sharing</a:t>
            </a:r>
          </a:p>
        </p:txBody>
      </p:sp>
    </p:spTree>
    <p:extLst>
      <p:ext uri="{BB962C8B-B14F-4D97-AF65-F5344CB8AC3E}">
        <p14:creationId xmlns:p14="http://schemas.microsoft.com/office/powerpoint/2010/main" val="21891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94262" y="283250"/>
            <a:ext cx="3249738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dirty="0"/>
              <a:t>Ex</a:t>
            </a:r>
            <a:r>
              <a:rPr spc="-3" dirty="0"/>
              <a:t>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93601" y="1047750"/>
            <a:ext cx="6525329" cy="956518"/>
            <a:chOff x="251459" y="1308100"/>
            <a:chExt cx="9586595" cy="1405255"/>
          </a:xfrm>
        </p:grpSpPr>
        <p:sp>
          <p:nvSpPr>
            <p:cNvPr id="4" name="object 4"/>
            <p:cNvSpPr/>
            <p:nvPr/>
          </p:nvSpPr>
          <p:spPr>
            <a:xfrm>
              <a:off x="325120" y="1381759"/>
              <a:ext cx="9503410" cy="1322070"/>
            </a:xfrm>
            <a:custGeom>
              <a:avLst/>
              <a:gdLst/>
              <a:ahLst/>
              <a:cxnLst/>
              <a:rect l="l" t="t" r="r" b="b"/>
              <a:pathLst>
                <a:path w="9503410" h="1322070">
                  <a:moveTo>
                    <a:pt x="9503410" y="0"/>
                  </a:moveTo>
                  <a:lnTo>
                    <a:pt x="0" y="0"/>
                  </a:lnTo>
                  <a:lnTo>
                    <a:pt x="0" y="1248410"/>
                  </a:lnTo>
                  <a:lnTo>
                    <a:pt x="0" y="1322070"/>
                  </a:lnTo>
                  <a:lnTo>
                    <a:pt x="9503410" y="1322070"/>
                  </a:lnTo>
                  <a:lnTo>
                    <a:pt x="9503410" y="1248410"/>
                  </a:lnTo>
                  <a:lnTo>
                    <a:pt x="950341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" name="object 5"/>
            <p:cNvSpPr/>
            <p:nvPr/>
          </p:nvSpPr>
          <p:spPr>
            <a:xfrm>
              <a:off x="325119" y="1381760"/>
              <a:ext cx="9503410" cy="1322070"/>
            </a:xfrm>
            <a:custGeom>
              <a:avLst/>
              <a:gdLst/>
              <a:ahLst/>
              <a:cxnLst/>
              <a:rect l="l" t="t" r="r" b="b"/>
              <a:pathLst>
                <a:path w="9503410" h="1322070">
                  <a:moveTo>
                    <a:pt x="4752340" y="1322069"/>
                  </a:moveTo>
                  <a:lnTo>
                    <a:pt x="0" y="1322069"/>
                  </a:lnTo>
                  <a:lnTo>
                    <a:pt x="0" y="0"/>
                  </a:lnTo>
                  <a:lnTo>
                    <a:pt x="9503410" y="0"/>
                  </a:lnTo>
                  <a:lnTo>
                    <a:pt x="9503410" y="1322069"/>
                  </a:lnTo>
                  <a:lnTo>
                    <a:pt x="4752340" y="1322069"/>
                  </a:lnTo>
                  <a:close/>
                </a:path>
              </a:pathLst>
            </a:custGeom>
            <a:ln w="1832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251459" y="1308100"/>
              <a:ext cx="9504680" cy="1322070"/>
            </a:xfrm>
            <a:custGeom>
              <a:avLst/>
              <a:gdLst/>
              <a:ahLst/>
              <a:cxnLst/>
              <a:rect l="l" t="t" r="r" b="b"/>
              <a:pathLst>
                <a:path w="9504680" h="1322070">
                  <a:moveTo>
                    <a:pt x="9504680" y="0"/>
                  </a:moveTo>
                  <a:lnTo>
                    <a:pt x="0" y="0"/>
                  </a:lnTo>
                  <a:lnTo>
                    <a:pt x="0" y="1322070"/>
                  </a:lnTo>
                  <a:lnTo>
                    <a:pt x="9504680" y="13220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93601" y="1047749"/>
            <a:ext cx="6469572" cy="899093"/>
          </a:xfrm>
          <a:prstGeom prst="rect">
            <a:avLst/>
          </a:prstGeom>
          <a:ln w="18329">
            <a:solidFill>
              <a:srgbClr val="000000"/>
            </a:solidFill>
          </a:ln>
        </p:spPr>
        <p:txBody>
          <a:bodyPr vert="horz" wrap="square" lIns="0" tIns="26798" rIns="0" bIns="0" rtlCol="0">
            <a:spAutoFit/>
          </a:bodyPr>
          <a:lstStyle/>
          <a:p>
            <a:pPr marL="54895" marR="499242">
              <a:lnSpc>
                <a:spcPts val="1675"/>
              </a:lnSpc>
              <a:spcBef>
                <a:spcPts val="211"/>
              </a:spcBef>
            </a:pP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Cray T90 has 32 processors. Each processor generates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4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loads and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2 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stores per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clock.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Clock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cycle =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2.167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ns.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SRAM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cycle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time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= 15</a:t>
            </a:r>
            <a:r>
              <a:rPr sz="1498" spc="-17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ns.</a:t>
            </a:r>
            <a:endParaRPr sz="1498" dirty="0">
              <a:latin typeface="Arial"/>
              <a:cs typeface="Arial"/>
            </a:endParaRPr>
          </a:p>
          <a:p>
            <a:pPr marL="54895" marR="79532">
              <a:lnSpc>
                <a:spcPts val="1675"/>
              </a:lnSpc>
            </a:pP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Calculate minimum no.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of </a:t>
            </a:r>
            <a:r>
              <a:rPr sz="1498" spc="-7" dirty="0">
                <a:solidFill>
                  <a:srgbClr val="3B3B3B"/>
                </a:solidFill>
                <a:latin typeface="Arial"/>
                <a:cs typeface="Arial"/>
              </a:rPr>
              <a:t>memory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banks required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to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allow all processors to  run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at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full memory</a:t>
            </a:r>
            <a:r>
              <a:rPr sz="1498" spc="-7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bandwidth.</a:t>
            </a:r>
            <a:endParaRPr sz="1498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53456" y="2444707"/>
            <a:ext cx="4883732" cy="366096"/>
            <a:chOff x="1367789" y="3360420"/>
            <a:chExt cx="7174865" cy="537845"/>
          </a:xfrm>
        </p:grpSpPr>
        <p:sp>
          <p:nvSpPr>
            <p:cNvPr id="9" name="object 9"/>
            <p:cNvSpPr/>
            <p:nvPr/>
          </p:nvSpPr>
          <p:spPr>
            <a:xfrm>
              <a:off x="1441450" y="3434079"/>
              <a:ext cx="7091680" cy="454659"/>
            </a:xfrm>
            <a:custGeom>
              <a:avLst/>
              <a:gdLst/>
              <a:ahLst/>
              <a:cxnLst/>
              <a:rect l="l" t="t" r="r" b="b"/>
              <a:pathLst>
                <a:path w="7091680" h="454660">
                  <a:moveTo>
                    <a:pt x="7091680" y="0"/>
                  </a:moveTo>
                  <a:lnTo>
                    <a:pt x="0" y="0"/>
                  </a:lnTo>
                  <a:lnTo>
                    <a:pt x="0" y="382270"/>
                  </a:lnTo>
                  <a:lnTo>
                    <a:pt x="0" y="454660"/>
                  </a:lnTo>
                  <a:lnTo>
                    <a:pt x="7091680" y="454660"/>
                  </a:lnTo>
                  <a:lnTo>
                    <a:pt x="7091680" y="382270"/>
                  </a:lnTo>
                  <a:lnTo>
                    <a:pt x="70916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" name="object 10"/>
            <p:cNvSpPr/>
            <p:nvPr/>
          </p:nvSpPr>
          <p:spPr>
            <a:xfrm>
              <a:off x="1441449" y="3434080"/>
              <a:ext cx="7091680" cy="454659"/>
            </a:xfrm>
            <a:custGeom>
              <a:avLst/>
              <a:gdLst/>
              <a:ahLst/>
              <a:cxnLst/>
              <a:rect l="l" t="t" r="r" b="b"/>
              <a:pathLst>
                <a:path w="7091680" h="454660">
                  <a:moveTo>
                    <a:pt x="3545840" y="454660"/>
                  </a:moveTo>
                  <a:lnTo>
                    <a:pt x="0" y="454660"/>
                  </a:lnTo>
                  <a:lnTo>
                    <a:pt x="0" y="0"/>
                  </a:lnTo>
                  <a:lnTo>
                    <a:pt x="7091680" y="0"/>
                  </a:lnTo>
                  <a:lnTo>
                    <a:pt x="7091680" y="454660"/>
                  </a:lnTo>
                  <a:lnTo>
                    <a:pt x="3545840" y="454660"/>
                  </a:lnTo>
                  <a:close/>
                </a:path>
              </a:pathLst>
            </a:custGeom>
            <a:ln w="1832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" name="object 11"/>
            <p:cNvSpPr/>
            <p:nvPr/>
          </p:nvSpPr>
          <p:spPr>
            <a:xfrm>
              <a:off x="1367789" y="3360420"/>
              <a:ext cx="7091680" cy="455930"/>
            </a:xfrm>
            <a:custGeom>
              <a:avLst/>
              <a:gdLst/>
              <a:ahLst/>
              <a:cxnLst/>
              <a:rect l="l" t="t" r="r" b="b"/>
              <a:pathLst>
                <a:path w="7091680" h="455929">
                  <a:moveTo>
                    <a:pt x="7091680" y="0"/>
                  </a:moveTo>
                  <a:lnTo>
                    <a:pt x="0" y="0"/>
                  </a:lnTo>
                  <a:lnTo>
                    <a:pt x="0" y="455929"/>
                  </a:lnTo>
                  <a:lnTo>
                    <a:pt x="7091680" y="4559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53455" y="2444707"/>
            <a:ext cx="4827110" cy="261936"/>
          </a:xfrm>
          <a:prstGeom prst="rect">
            <a:avLst/>
          </a:prstGeom>
          <a:ln w="18329">
            <a:solidFill>
              <a:srgbClr val="000000"/>
            </a:solidFill>
          </a:ln>
        </p:spPr>
        <p:txBody>
          <a:bodyPr vert="horz" wrap="square" lIns="0" tIns="31120" rIns="0" bIns="0" rtlCol="0">
            <a:spAutoFit/>
          </a:bodyPr>
          <a:lstStyle/>
          <a:p>
            <a:pPr marL="112816">
              <a:spcBef>
                <a:spcPts val="245"/>
              </a:spcBef>
            </a:pP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Max </a:t>
            </a:r>
            <a:r>
              <a:rPr sz="1498" spc="-7" dirty="0">
                <a:solidFill>
                  <a:srgbClr val="3B3B3B"/>
                </a:solidFill>
                <a:latin typeface="Arial"/>
                <a:cs typeface="Arial"/>
              </a:rPr>
              <a:t>memory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references per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clock cycle =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32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* 6 =</a:t>
            </a:r>
            <a:r>
              <a:rPr sz="1498" spc="3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192</a:t>
            </a:r>
            <a:endParaRPr sz="1498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42875" y="3131948"/>
            <a:ext cx="6476056" cy="568378"/>
            <a:chOff x="323850" y="4370070"/>
            <a:chExt cx="9514205" cy="835025"/>
          </a:xfrm>
        </p:grpSpPr>
        <p:sp>
          <p:nvSpPr>
            <p:cNvPr id="14" name="object 14"/>
            <p:cNvSpPr/>
            <p:nvPr/>
          </p:nvSpPr>
          <p:spPr>
            <a:xfrm>
              <a:off x="397510" y="4443729"/>
              <a:ext cx="9431020" cy="751840"/>
            </a:xfrm>
            <a:custGeom>
              <a:avLst/>
              <a:gdLst/>
              <a:ahLst/>
              <a:cxnLst/>
              <a:rect l="l" t="t" r="r" b="b"/>
              <a:pathLst>
                <a:path w="9431020" h="751839">
                  <a:moveTo>
                    <a:pt x="9431020" y="0"/>
                  </a:moveTo>
                  <a:lnTo>
                    <a:pt x="0" y="0"/>
                  </a:lnTo>
                  <a:lnTo>
                    <a:pt x="0" y="678180"/>
                  </a:lnTo>
                  <a:lnTo>
                    <a:pt x="0" y="751840"/>
                  </a:lnTo>
                  <a:lnTo>
                    <a:pt x="9431020" y="751840"/>
                  </a:lnTo>
                  <a:lnTo>
                    <a:pt x="9431020" y="678180"/>
                  </a:lnTo>
                  <a:lnTo>
                    <a:pt x="943102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" name="object 15"/>
            <p:cNvSpPr/>
            <p:nvPr/>
          </p:nvSpPr>
          <p:spPr>
            <a:xfrm>
              <a:off x="397510" y="4443730"/>
              <a:ext cx="9431020" cy="751840"/>
            </a:xfrm>
            <a:custGeom>
              <a:avLst/>
              <a:gdLst/>
              <a:ahLst/>
              <a:cxnLst/>
              <a:rect l="l" t="t" r="r" b="b"/>
              <a:pathLst>
                <a:path w="9431020" h="751839">
                  <a:moveTo>
                    <a:pt x="4715510" y="751840"/>
                  </a:moveTo>
                  <a:lnTo>
                    <a:pt x="0" y="751840"/>
                  </a:lnTo>
                  <a:lnTo>
                    <a:pt x="0" y="0"/>
                  </a:lnTo>
                  <a:lnTo>
                    <a:pt x="9431020" y="0"/>
                  </a:lnTo>
                  <a:lnTo>
                    <a:pt x="9431020" y="751840"/>
                  </a:lnTo>
                  <a:lnTo>
                    <a:pt x="4715510" y="751840"/>
                  </a:lnTo>
                  <a:close/>
                </a:path>
              </a:pathLst>
            </a:custGeom>
            <a:ln w="1832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" name="object 16"/>
            <p:cNvSpPr/>
            <p:nvPr/>
          </p:nvSpPr>
          <p:spPr>
            <a:xfrm>
              <a:off x="323850" y="4370070"/>
              <a:ext cx="9432290" cy="751840"/>
            </a:xfrm>
            <a:custGeom>
              <a:avLst/>
              <a:gdLst/>
              <a:ahLst/>
              <a:cxnLst/>
              <a:rect l="l" t="t" r="r" b="b"/>
              <a:pathLst>
                <a:path w="9432290" h="751839">
                  <a:moveTo>
                    <a:pt x="9432290" y="0"/>
                  </a:moveTo>
                  <a:lnTo>
                    <a:pt x="0" y="0"/>
                  </a:lnTo>
                  <a:lnTo>
                    <a:pt x="0" y="751839"/>
                  </a:lnTo>
                  <a:lnTo>
                    <a:pt x="9432290" y="7518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42875" y="3131948"/>
            <a:ext cx="6420298" cy="492551"/>
          </a:xfrm>
          <a:prstGeom prst="rect">
            <a:avLst/>
          </a:prstGeom>
          <a:ln w="18329">
            <a:solidFill>
              <a:srgbClr val="000000"/>
            </a:solidFill>
          </a:ln>
        </p:spPr>
        <p:txBody>
          <a:bodyPr vert="horz" wrap="square" lIns="0" tIns="5187" rIns="0" bIns="0" rtlCol="0">
            <a:spAutoFit/>
          </a:bodyPr>
          <a:lstStyle/>
          <a:p>
            <a:pPr marL="54895">
              <a:lnSpc>
                <a:spcPts val="1889"/>
              </a:lnSpc>
              <a:spcBef>
                <a:spcPts val="41"/>
              </a:spcBef>
            </a:pPr>
            <a:r>
              <a:rPr sz="1634" spc="-3" dirty="0">
                <a:solidFill>
                  <a:srgbClr val="3B3B3B"/>
                </a:solidFill>
                <a:latin typeface="Arial"/>
                <a:cs typeface="Arial"/>
              </a:rPr>
              <a:t>No. </a:t>
            </a:r>
            <a:r>
              <a:rPr sz="1634" dirty="0">
                <a:solidFill>
                  <a:srgbClr val="3B3B3B"/>
                </a:solidFill>
                <a:latin typeface="Arial"/>
                <a:cs typeface="Arial"/>
              </a:rPr>
              <a:t>of </a:t>
            </a:r>
            <a:r>
              <a:rPr sz="1634" spc="-3" dirty="0">
                <a:solidFill>
                  <a:srgbClr val="3B3B3B"/>
                </a:solidFill>
                <a:latin typeface="Arial"/>
                <a:cs typeface="Arial"/>
              </a:rPr>
              <a:t>processor cycles </a:t>
            </a:r>
            <a:r>
              <a:rPr sz="1634" spc="-7" dirty="0">
                <a:solidFill>
                  <a:srgbClr val="3B3B3B"/>
                </a:solidFill>
                <a:latin typeface="Arial"/>
                <a:cs typeface="Arial"/>
              </a:rPr>
              <a:t>SRAM bank </a:t>
            </a:r>
            <a:r>
              <a:rPr sz="1634" spc="-3" dirty="0">
                <a:solidFill>
                  <a:srgbClr val="3B3B3B"/>
                </a:solidFill>
                <a:latin typeface="Arial"/>
                <a:cs typeface="Arial"/>
              </a:rPr>
              <a:t>is busy </a:t>
            </a:r>
            <a:r>
              <a:rPr sz="1634" spc="-7" dirty="0">
                <a:solidFill>
                  <a:srgbClr val="3B3B3B"/>
                </a:solidFill>
                <a:latin typeface="Arial"/>
                <a:cs typeface="Arial"/>
              </a:rPr>
              <a:t>per </a:t>
            </a:r>
            <a:r>
              <a:rPr sz="1634" spc="-3" dirty="0">
                <a:solidFill>
                  <a:srgbClr val="3B3B3B"/>
                </a:solidFill>
                <a:latin typeface="Arial"/>
                <a:cs typeface="Arial"/>
              </a:rPr>
              <a:t>request </a:t>
            </a:r>
            <a:r>
              <a:rPr sz="1634" dirty="0">
                <a:solidFill>
                  <a:srgbClr val="3B3B3B"/>
                </a:solidFill>
                <a:latin typeface="Arial"/>
                <a:cs typeface="Arial"/>
              </a:rPr>
              <a:t>=</a:t>
            </a:r>
            <a:r>
              <a:rPr sz="1634" spc="61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634" spc="-3" dirty="0">
                <a:solidFill>
                  <a:srgbClr val="3B3B3B"/>
                </a:solidFill>
                <a:latin typeface="Arial"/>
                <a:cs typeface="Arial"/>
              </a:rPr>
              <a:t>15/2.167</a:t>
            </a:r>
            <a:endParaRPr sz="1634">
              <a:latin typeface="Arial"/>
              <a:cs typeface="Arial"/>
            </a:endParaRPr>
          </a:p>
          <a:p>
            <a:pPr marL="54895">
              <a:lnSpc>
                <a:spcPts val="1889"/>
              </a:lnSpc>
            </a:pPr>
            <a:r>
              <a:rPr sz="1634" dirty="0">
                <a:solidFill>
                  <a:srgbClr val="3B3B3B"/>
                </a:solidFill>
                <a:latin typeface="Arial"/>
                <a:cs typeface="Arial"/>
              </a:rPr>
              <a:t>= 7</a:t>
            </a:r>
            <a:r>
              <a:rPr sz="1634" spc="-7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634" spc="-3" dirty="0">
                <a:solidFill>
                  <a:srgbClr val="3B3B3B"/>
                </a:solidFill>
                <a:latin typeface="Arial"/>
                <a:cs typeface="Arial"/>
              </a:rPr>
              <a:t>cycles.</a:t>
            </a:r>
            <a:endParaRPr sz="1634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67080" y="4014555"/>
            <a:ext cx="6476920" cy="568378"/>
            <a:chOff x="359409" y="5666740"/>
            <a:chExt cx="9515475" cy="835025"/>
          </a:xfrm>
        </p:grpSpPr>
        <p:sp>
          <p:nvSpPr>
            <p:cNvPr id="19" name="object 19"/>
            <p:cNvSpPr/>
            <p:nvPr/>
          </p:nvSpPr>
          <p:spPr>
            <a:xfrm>
              <a:off x="433070" y="5740400"/>
              <a:ext cx="9432290" cy="751840"/>
            </a:xfrm>
            <a:custGeom>
              <a:avLst/>
              <a:gdLst/>
              <a:ahLst/>
              <a:cxnLst/>
              <a:rect l="l" t="t" r="r" b="b"/>
              <a:pathLst>
                <a:path w="9432290" h="751839">
                  <a:moveTo>
                    <a:pt x="9432290" y="0"/>
                  </a:moveTo>
                  <a:lnTo>
                    <a:pt x="0" y="0"/>
                  </a:lnTo>
                  <a:lnTo>
                    <a:pt x="0" y="678180"/>
                  </a:lnTo>
                  <a:lnTo>
                    <a:pt x="0" y="751840"/>
                  </a:lnTo>
                  <a:lnTo>
                    <a:pt x="9432290" y="751840"/>
                  </a:lnTo>
                  <a:lnTo>
                    <a:pt x="9432290" y="678180"/>
                  </a:lnTo>
                  <a:lnTo>
                    <a:pt x="943229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" name="object 20"/>
            <p:cNvSpPr/>
            <p:nvPr/>
          </p:nvSpPr>
          <p:spPr>
            <a:xfrm>
              <a:off x="433069" y="5740400"/>
              <a:ext cx="9432290" cy="751840"/>
            </a:xfrm>
            <a:custGeom>
              <a:avLst/>
              <a:gdLst/>
              <a:ahLst/>
              <a:cxnLst/>
              <a:rect l="l" t="t" r="r" b="b"/>
              <a:pathLst>
                <a:path w="9432290" h="751839">
                  <a:moveTo>
                    <a:pt x="4715509" y="751840"/>
                  </a:moveTo>
                  <a:lnTo>
                    <a:pt x="0" y="751840"/>
                  </a:lnTo>
                  <a:lnTo>
                    <a:pt x="0" y="0"/>
                  </a:lnTo>
                  <a:lnTo>
                    <a:pt x="9432290" y="0"/>
                  </a:lnTo>
                  <a:lnTo>
                    <a:pt x="9432290" y="751840"/>
                  </a:lnTo>
                  <a:lnTo>
                    <a:pt x="4715509" y="751840"/>
                  </a:lnTo>
                  <a:close/>
                </a:path>
              </a:pathLst>
            </a:custGeom>
            <a:ln w="1832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" name="object 21"/>
            <p:cNvSpPr/>
            <p:nvPr/>
          </p:nvSpPr>
          <p:spPr>
            <a:xfrm>
              <a:off x="359409" y="5666740"/>
              <a:ext cx="9432290" cy="751840"/>
            </a:xfrm>
            <a:custGeom>
              <a:avLst/>
              <a:gdLst/>
              <a:ahLst/>
              <a:cxnLst/>
              <a:rect l="l" t="t" r="r" b="b"/>
              <a:pathLst>
                <a:path w="9432290" h="751839">
                  <a:moveTo>
                    <a:pt x="9432290" y="0"/>
                  </a:moveTo>
                  <a:lnTo>
                    <a:pt x="0" y="0"/>
                  </a:lnTo>
                  <a:lnTo>
                    <a:pt x="0" y="751840"/>
                  </a:lnTo>
                  <a:lnTo>
                    <a:pt x="9432290" y="751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667079" y="4014555"/>
            <a:ext cx="6420298" cy="488288"/>
          </a:xfrm>
          <a:prstGeom prst="rect">
            <a:avLst/>
          </a:prstGeom>
          <a:ln w="18329">
            <a:solidFill>
              <a:srgbClr val="000000"/>
            </a:solidFill>
          </a:ln>
        </p:spPr>
        <p:txBody>
          <a:bodyPr vert="horz" wrap="square" lIns="0" tIns="26366" rIns="0" bIns="0" rtlCol="0">
            <a:spAutoFit/>
          </a:bodyPr>
          <a:lstStyle/>
          <a:p>
            <a:pPr marL="55327" marR="275772">
              <a:lnSpc>
                <a:spcPts val="1824"/>
              </a:lnSpc>
              <a:spcBef>
                <a:spcPts val="208"/>
              </a:spcBef>
            </a:pPr>
            <a:r>
              <a:rPr sz="1634" spc="-3" dirty="0">
                <a:solidFill>
                  <a:srgbClr val="3B3B3B"/>
                </a:solidFill>
                <a:latin typeface="Arial"/>
                <a:cs typeface="Arial"/>
              </a:rPr>
              <a:t>No. of banks in </a:t>
            </a:r>
            <a:r>
              <a:rPr sz="1634" spc="-7" dirty="0">
                <a:solidFill>
                  <a:srgbClr val="3B3B3B"/>
                </a:solidFill>
                <a:latin typeface="Arial"/>
                <a:cs typeface="Arial"/>
              </a:rPr>
              <a:t>SRAM </a:t>
            </a:r>
            <a:r>
              <a:rPr sz="1634" dirty="0">
                <a:solidFill>
                  <a:srgbClr val="3B3B3B"/>
                </a:solidFill>
                <a:latin typeface="Arial"/>
                <a:cs typeface="Arial"/>
              </a:rPr>
              <a:t>to </a:t>
            </a:r>
            <a:r>
              <a:rPr sz="1634" spc="-3" dirty="0">
                <a:solidFill>
                  <a:srgbClr val="3B3B3B"/>
                </a:solidFill>
                <a:latin typeface="Arial"/>
                <a:cs typeface="Arial"/>
              </a:rPr>
              <a:t>service every request </a:t>
            </a:r>
            <a:r>
              <a:rPr sz="1634" dirty="0">
                <a:solidFill>
                  <a:srgbClr val="3B3B3B"/>
                </a:solidFill>
                <a:latin typeface="Arial"/>
                <a:cs typeface="Arial"/>
              </a:rPr>
              <a:t>from the </a:t>
            </a:r>
            <a:r>
              <a:rPr sz="1634" spc="-3" dirty="0">
                <a:solidFill>
                  <a:srgbClr val="3B3B3B"/>
                </a:solidFill>
                <a:latin typeface="Arial"/>
                <a:cs typeface="Arial"/>
              </a:rPr>
              <a:t>processor  at every cycle </a:t>
            </a:r>
            <a:r>
              <a:rPr sz="1634" dirty="0">
                <a:solidFill>
                  <a:srgbClr val="3B3B3B"/>
                </a:solidFill>
                <a:latin typeface="Arial"/>
                <a:cs typeface="Arial"/>
              </a:rPr>
              <a:t>= 7 * </a:t>
            </a:r>
            <a:r>
              <a:rPr sz="1634" spc="-7" dirty="0">
                <a:solidFill>
                  <a:srgbClr val="3B3B3B"/>
                </a:solidFill>
                <a:latin typeface="Arial"/>
                <a:cs typeface="Arial"/>
              </a:rPr>
              <a:t>192 </a:t>
            </a:r>
            <a:r>
              <a:rPr sz="1634" dirty="0">
                <a:solidFill>
                  <a:srgbClr val="3B3B3B"/>
                </a:solidFill>
                <a:latin typeface="Arial"/>
                <a:cs typeface="Arial"/>
              </a:rPr>
              <a:t>= </a:t>
            </a:r>
            <a:r>
              <a:rPr sz="1634" spc="-3" dirty="0">
                <a:solidFill>
                  <a:srgbClr val="3B3B3B"/>
                </a:solidFill>
                <a:latin typeface="Arial"/>
                <a:cs typeface="Arial"/>
              </a:rPr>
              <a:t>1344</a:t>
            </a:r>
            <a:r>
              <a:rPr sz="1634" spc="7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634" spc="-3" dirty="0">
                <a:solidFill>
                  <a:srgbClr val="3B3B3B"/>
                </a:solidFill>
                <a:latin typeface="Arial"/>
                <a:cs typeface="Arial"/>
              </a:rPr>
              <a:t>banks.</a:t>
            </a:r>
            <a:endParaRPr sz="1634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042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59757" y="197886"/>
            <a:ext cx="2563105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dirty="0"/>
              <a:t>Ex</a:t>
            </a:r>
            <a:r>
              <a:rPr spc="-3" dirty="0"/>
              <a:t>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18671" y="895350"/>
            <a:ext cx="6525329" cy="743862"/>
            <a:chOff x="251459" y="1308100"/>
            <a:chExt cx="9586595" cy="1092835"/>
          </a:xfrm>
        </p:grpSpPr>
        <p:sp>
          <p:nvSpPr>
            <p:cNvPr id="4" name="object 4"/>
            <p:cNvSpPr/>
            <p:nvPr/>
          </p:nvSpPr>
          <p:spPr>
            <a:xfrm>
              <a:off x="325120" y="1381759"/>
              <a:ext cx="9503410" cy="1009650"/>
            </a:xfrm>
            <a:custGeom>
              <a:avLst/>
              <a:gdLst/>
              <a:ahLst/>
              <a:cxnLst/>
              <a:rect l="l" t="t" r="r" b="b"/>
              <a:pathLst>
                <a:path w="9503410" h="1009650">
                  <a:moveTo>
                    <a:pt x="9503410" y="0"/>
                  </a:moveTo>
                  <a:lnTo>
                    <a:pt x="0" y="0"/>
                  </a:lnTo>
                  <a:lnTo>
                    <a:pt x="0" y="935990"/>
                  </a:lnTo>
                  <a:lnTo>
                    <a:pt x="0" y="1009650"/>
                  </a:lnTo>
                  <a:lnTo>
                    <a:pt x="9503410" y="1009650"/>
                  </a:lnTo>
                  <a:lnTo>
                    <a:pt x="9503410" y="935990"/>
                  </a:lnTo>
                  <a:lnTo>
                    <a:pt x="950341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" name="object 5"/>
            <p:cNvSpPr/>
            <p:nvPr/>
          </p:nvSpPr>
          <p:spPr>
            <a:xfrm>
              <a:off x="325119" y="1381760"/>
              <a:ext cx="9503410" cy="1009650"/>
            </a:xfrm>
            <a:custGeom>
              <a:avLst/>
              <a:gdLst/>
              <a:ahLst/>
              <a:cxnLst/>
              <a:rect l="l" t="t" r="r" b="b"/>
              <a:pathLst>
                <a:path w="9503410" h="1009650">
                  <a:moveTo>
                    <a:pt x="4752340" y="1009650"/>
                  </a:moveTo>
                  <a:lnTo>
                    <a:pt x="0" y="1009650"/>
                  </a:lnTo>
                  <a:lnTo>
                    <a:pt x="0" y="0"/>
                  </a:lnTo>
                  <a:lnTo>
                    <a:pt x="9503410" y="0"/>
                  </a:lnTo>
                  <a:lnTo>
                    <a:pt x="9503410" y="1009650"/>
                  </a:lnTo>
                  <a:lnTo>
                    <a:pt x="4752340" y="1009650"/>
                  </a:lnTo>
                  <a:close/>
                </a:path>
              </a:pathLst>
            </a:custGeom>
            <a:ln w="1832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251459" y="1308100"/>
              <a:ext cx="9504680" cy="1009650"/>
            </a:xfrm>
            <a:custGeom>
              <a:avLst/>
              <a:gdLst/>
              <a:ahLst/>
              <a:cxnLst/>
              <a:rect l="l" t="t" r="r" b="b"/>
              <a:pathLst>
                <a:path w="9504680" h="1009650">
                  <a:moveTo>
                    <a:pt x="9504680" y="0"/>
                  </a:moveTo>
                  <a:lnTo>
                    <a:pt x="0" y="0"/>
                  </a:lnTo>
                  <a:lnTo>
                    <a:pt x="0" y="1009650"/>
                  </a:lnTo>
                  <a:lnTo>
                    <a:pt x="9504680" y="1009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18671" y="895350"/>
            <a:ext cx="6469572" cy="681085"/>
          </a:xfrm>
          <a:prstGeom prst="rect">
            <a:avLst/>
          </a:prstGeom>
          <a:ln w="18329">
            <a:solidFill>
              <a:srgbClr val="000000"/>
            </a:solidFill>
          </a:ln>
        </p:spPr>
        <p:txBody>
          <a:bodyPr vert="horz" wrap="square" lIns="0" tIns="26798" rIns="0" bIns="0" rtlCol="0">
            <a:spAutoFit/>
          </a:bodyPr>
          <a:lstStyle/>
          <a:p>
            <a:pPr marL="54895" marR="107629">
              <a:lnSpc>
                <a:spcPts val="1675"/>
              </a:lnSpc>
              <a:spcBef>
                <a:spcPts val="211"/>
              </a:spcBef>
            </a:pPr>
            <a:r>
              <a:rPr sz="1498" spc="-34" dirty="0">
                <a:solidFill>
                  <a:srgbClr val="3B3B3B"/>
                </a:solidFill>
                <a:latin typeface="Arial"/>
                <a:cs typeface="Arial"/>
              </a:rPr>
              <a:t>Total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banks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=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8. Bank busy time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= 6 clock cycles.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Memory latency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=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12 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cycles.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How long does it take to complete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a 64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element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vector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load with (a)  stride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=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1, (b) stride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= 32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?</a:t>
            </a:r>
            <a:endParaRPr sz="1498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82296" y="3812016"/>
            <a:ext cx="5496629" cy="366096"/>
            <a:chOff x="1079500" y="5593079"/>
            <a:chExt cx="8075295" cy="537845"/>
          </a:xfrm>
        </p:grpSpPr>
        <p:sp>
          <p:nvSpPr>
            <p:cNvPr id="9" name="object 9"/>
            <p:cNvSpPr/>
            <p:nvPr/>
          </p:nvSpPr>
          <p:spPr>
            <a:xfrm>
              <a:off x="1153160" y="5665469"/>
              <a:ext cx="7992109" cy="455930"/>
            </a:xfrm>
            <a:custGeom>
              <a:avLst/>
              <a:gdLst/>
              <a:ahLst/>
              <a:cxnLst/>
              <a:rect l="l" t="t" r="r" b="b"/>
              <a:pathLst>
                <a:path w="7992109" h="455929">
                  <a:moveTo>
                    <a:pt x="7992110" y="0"/>
                  </a:moveTo>
                  <a:lnTo>
                    <a:pt x="0" y="0"/>
                  </a:lnTo>
                  <a:lnTo>
                    <a:pt x="0" y="382270"/>
                  </a:lnTo>
                  <a:lnTo>
                    <a:pt x="0" y="455930"/>
                  </a:lnTo>
                  <a:lnTo>
                    <a:pt x="7992110" y="455930"/>
                  </a:lnTo>
                  <a:lnTo>
                    <a:pt x="7992110" y="382270"/>
                  </a:lnTo>
                  <a:lnTo>
                    <a:pt x="799211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" name="object 10"/>
            <p:cNvSpPr/>
            <p:nvPr/>
          </p:nvSpPr>
          <p:spPr>
            <a:xfrm>
              <a:off x="1153160" y="5665469"/>
              <a:ext cx="7992109" cy="455930"/>
            </a:xfrm>
            <a:custGeom>
              <a:avLst/>
              <a:gdLst/>
              <a:ahLst/>
              <a:cxnLst/>
              <a:rect l="l" t="t" r="r" b="b"/>
              <a:pathLst>
                <a:path w="7992109" h="455929">
                  <a:moveTo>
                    <a:pt x="3995419" y="455929"/>
                  </a:moveTo>
                  <a:lnTo>
                    <a:pt x="0" y="455929"/>
                  </a:lnTo>
                  <a:lnTo>
                    <a:pt x="0" y="0"/>
                  </a:lnTo>
                  <a:lnTo>
                    <a:pt x="7992110" y="0"/>
                  </a:lnTo>
                  <a:lnTo>
                    <a:pt x="7992110" y="455929"/>
                  </a:lnTo>
                  <a:lnTo>
                    <a:pt x="3995419" y="455929"/>
                  </a:lnTo>
                  <a:close/>
                </a:path>
              </a:pathLst>
            </a:custGeom>
            <a:ln w="1832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" name="object 11"/>
            <p:cNvSpPr/>
            <p:nvPr/>
          </p:nvSpPr>
          <p:spPr>
            <a:xfrm>
              <a:off x="1079500" y="5593079"/>
              <a:ext cx="7992109" cy="454659"/>
            </a:xfrm>
            <a:custGeom>
              <a:avLst/>
              <a:gdLst/>
              <a:ahLst/>
              <a:cxnLst/>
              <a:rect l="l" t="t" r="r" b="b"/>
              <a:pathLst>
                <a:path w="7992109" h="454660">
                  <a:moveTo>
                    <a:pt x="7992109" y="0"/>
                  </a:moveTo>
                  <a:lnTo>
                    <a:pt x="0" y="0"/>
                  </a:lnTo>
                  <a:lnTo>
                    <a:pt x="0" y="454660"/>
                  </a:lnTo>
                  <a:lnTo>
                    <a:pt x="7992109" y="4546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182296" y="3812016"/>
            <a:ext cx="5440007" cy="261064"/>
          </a:xfrm>
          <a:prstGeom prst="rect">
            <a:avLst/>
          </a:prstGeom>
          <a:ln w="18329">
            <a:solidFill>
              <a:srgbClr val="000000"/>
            </a:solidFill>
          </a:ln>
        </p:spPr>
        <p:txBody>
          <a:bodyPr vert="horz" wrap="square" lIns="0" tIns="30256" rIns="0" bIns="0" rtlCol="0">
            <a:spAutoFit/>
          </a:bodyPr>
          <a:lstStyle/>
          <a:p>
            <a:pPr marL="291333">
              <a:spcBef>
                <a:spcPts val="238"/>
              </a:spcBef>
            </a:pP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Case 1: 12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+ 64 =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76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clock cycles,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1.2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cycles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per</a:t>
            </a:r>
            <a:r>
              <a:rPr sz="1498" spc="-10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element</a:t>
            </a:r>
            <a:endParaRPr sz="1498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05808" y="2283662"/>
            <a:ext cx="110650" cy="367393"/>
            <a:chOff x="2583179" y="3347720"/>
            <a:chExt cx="162560" cy="539750"/>
          </a:xfrm>
        </p:grpSpPr>
        <p:sp>
          <p:nvSpPr>
            <p:cNvPr id="14" name="object 14"/>
            <p:cNvSpPr/>
            <p:nvPr/>
          </p:nvSpPr>
          <p:spPr>
            <a:xfrm>
              <a:off x="2664459" y="3581400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70">
                  <a:moveTo>
                    <a:pt x="0" y="306070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" name="object 15"/>
            <p:cNvSpPr/>
            <p:nvPr/>
          </p:nvSpPr>
          <p:spPr>
            <a:xfrm>
              <a:off x="2583179" y="3347720"/>
              <a:ext cx="162560" cy="243840"/>
            </a:xfrm>
            <a:custGeom>
              <a:avLst/>
              <a:gdLst/>
              <a:ahLst/>
              <a:cxnLst/>
              <a:rect l="l" t="t" r="r" b="b"/>
              <a:pathLst>
                <a:path w="162560" h="243839">
                  <a:moveTo>
                    <a:pt x="81280" y="0"/>
                  </a:moveTo>
                  <a:lnTo>
                    <a:pt x="0" y="243839"/>
                  </a:lnTo>
                  <a:lnTo>
                    <a:pt x="162559" y="243839"/>
                  </a:lnTo>
                  <a:lnTo>
                    <a:pt x="81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720158" y="2283662"/>
            <a:ext cx="110650" cy="367393"/>
            <a:chOff x="3338829" y="3347720"/>
            <a:chExt cx="162560" cy="539750"/>
          </a:xfrm>
        </p:grpSpPr>
        <p:sp>
          <p:nvSpPr>
            <p:cNvPr id="17" name="object 17"/>
            <p:cNvSpPr/>
            <p:nvPr/>
          </p:nvSpPr>
          <p:spPr>
            <a:xfrm>
              <a:off x="3420109" y="3581400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70">
                  <a:moveTo>
                    <a:pt x="0" y="306070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" name="object 18"/>
            <p:cNvSpPr/>
            <p:nvPr/>
          </p:nvSpPr>
          <p:spPr>
            <a:xfrm>
              <a:off x="3338829" y="3347720"/>
              <a:ext cx="162560" cy="243840"/>
            </a:xfrm>
            <a:custGeom>
              <a:avLst/>
              <a:gdLst/>
              <a:ahLst/>
              <a:cxnLst/>
              <a:rect l="l" t="t" r="r" b="b"/>
              <a:pathLst>
                <a:path w="162560" h="243839">
                  <a:moveTo>
                    <a:pt x="81280" y="0"/>
                  </a:moveTo>
                  <a:lnTo>
                    <a:pt x="0" y="243839"/>
                  </a:lnTo>
                  <a:lnTo>
                    <a:pt x="162560" y="243839"/>
                  </a:lnTo>
                  <a:lnTo>
                    <a:pt x="81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5234508" y="2283662"/>
            <a:ext cx="110650" cy="367393"/>
            <a:chOff x="4094479" y="3347720"/>
            <a:chExt cx="162560" cy="539750"/>
          </a:xfrm>
        </p:grpSpPr>
        <p:sp>
          <p:nvSpPr>
            <p:cNvPr id="20" name="object 20"/>
            <p:cNvSpPr/>
            <p:nvPr/>
          </p:nvSpPr>
          <p:spPr>
            <a:xfrm>
              <a:off x="4175759" y="3581400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70">
                  <a:moveTo>
                    <a:pt x="0" y="306070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" name="object 21"/>
            <p:cNvSpPr/>
            <p:nvPr/>
          </p:nvSpPr>
          <p:spPr>
            <a:xfrm>
              <a:off x="4094479" y="3347720"/>
              <a:ext cx="162560" cy="243840"/>
            </a:xfrm>
            <a:custGeom>
              <a:avLst/>
              <a:gdLst/>
              <a:ahLst/>
              <a:cxnLst/>
              <a:rect l="l" t="t" r="r" b="b"/>
              <a:pathLst>
                <a:path w="162560" h="243839">
                  <a:moveTo>
                    <a:pt x="81280" y="0"/>
                  </a:moveTo>
                  <a:lnTo>
                    <a:pt x="0" y="243839"/>
                  </a:lnTo>
                  <a:lnTo>
                    <a:pt x="162560" y="243839"/>
                  </a:lnTo>
                  <a:lnTo>
                    <a:pt x="81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748858" y="2283662"/>
            <a:ext cx="111515" cy="367393"/>
            <a:chOff x="4850129" y="3347720"/>
            <a:chExt cx="163830" cy="539750"/>
          </a:xfrm>
        </p:grpSpPr>
        <p:sp>
          <p:nvSpPr>
            <p:cNvPr id="23" name="object 23"/>
            <p:cNvSpPr/>
            <p:nvPr/>
          </p:nvSpPr>
          <p:spPr>
            <a:xfrm>
              <a:off x="4931409" y="3581400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70">
                  <a:moveTo>
                    <a:pt x="0" y="306070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0129" y="3347720"/>
              <a:ext cx="163830" cy="243840"/>
            </a:xfrm>
            <a:custGeom>
              <a:avLst/>
              <a:gdLst/>
              <a:ahLst/>
              <a:cxnLst/>
              <a:rect l="l" t="t" r="r" b="b"/>
              <a:pathLst>
                <a:path w="163829" h="243839">
                  <a:moveTo>
                    <a:pt x="81280" y="0"/>
                  </a:moveTo>
                  <a:lnTo>
                    <a:pt x="0" y="243839"/>
                  </a:lnTo>
                  <a:lnTo>
                    <a:pt x="163830" y="243839"/>
                  </a:lnTo>
                  <a:lnTo>
                    <a:pt x="81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264073" y="2283662"/>
            <a:ext cx="110650" cy="367393"/>
            <a:chOff x="5607050" y="3347720"/>
            <a:chExt cx="162560" cy="539750"/>
          </a:xfrm>
        </p:grpSpPr>
        <p:sp>
          <p:nvSpPr>
            <p:cNvPr id="26" name="object 26"/>
            <p:cNvSpPr/>
            <p:nvPr/>
          </p:nvSpPr>
          <p:spPr>
            <a:xfrm>
              <a:off x="5688330" y="3581400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70">
                  <a:moveTo>
                    <a:pt x="0" y="306070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" name="object 27"/>
            <p:cNvSpPr/>
            <p:nvPr/>
          </p:nvSpPr>
          <p:spPr>
            <a:xfrm>
              <a:off x="5607050" y="3347720"/>
              <a:ext cx="162560" cy="243840"/>
            </a:xfrm>
            <a:custGeom>
              <a:avLst/>
              <a:gdLst/>
              <a:ahLst/>
              <a:cxnLst/>
              <a:rect l="l" t="t" r="r" b="b"/>
              <a:pathLst>
                <a:path w="162560" h="243839">
                  <a:moveTo>
                    <a:pt x="81279" y="0"/>
                  </a:moveTo>
                  <a:lnTo>
                    <a:pt x="0" y="243839"/>
                  </a:lnTo>
                  <a:lnTo>
                    <a:pt x="162560" y="243839"/>
                  </a:lnTo>
                  <a:lnTo>
                    <a:pt x="81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778423" y="2283662"/>
            <a:ext cx="110650" cy="367393"/>
            <a:chOff x="6362700" y="3347720"/>
            <a:chExt cx="162560" cy="539750"/>
          </a:xfrm>
        </p:grpSpPr>
        <p:sp>
          <p:nvSpPr>
            <p:cNvPr id="29" name="object 29"/>
            <p:cNvSpPr/>
            <p:nvPr/>
          </p:nvSpPr>
          <p:spPr>
            <a:xfrm>
              <a:off x="6443980" y="3581400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70">
                  <a:moveTo>
                    <a:pt x="0" y="306070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" name="object 30"/>
            <p:cNvSpPr/>
            <p:nvPr/>
          </p:nvSpPr>
          <p:spPr>
            <a:xfrm>
              <a:off x="6362700" y="3347720"/>
              <a:ext cx="162560" cy="243840"/>
            </a:xfrm>
            <a:custGeom>
              <a:avLst/>
              <a:gdLst/>
              <a:ahLst/>
              <a:cxnLst/>
              <a:rect l="l" t="t" r="r" b="b"/>
              <a:pathLst>
                <a:path w="162559" h="243839">
                  <a:moveTo>
                    <a:pt x="81279" y="0"/>
                  </a:moveTo>
                  <a:lnTo>
                    <a:pt x="0" y="243839"/>
                  </a:lnTo>
                  <a:lnTo>
                    <a:pt x="162559" y="243839"/>
                  </a:lnTo>
                  <a:lnTo>
                    <a:pt x="81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7292773" y="2283662"/>
            <a:ext cx="110650" cy="367393"/>
            <a:chOff x="7118350" y="3347720"/>
            <a:chExt cx="162560" cy="539750"/>
          </a:xfrm>
        </p:grpSpPr>
        <p:sp>
          <p:nvSpPr>
            <p:cNvPr id="32" name="object 32"/>
            <p:cNvSpPr/>
            <p:nvPr/>
          </p:nvSpPr>
          <p:spPr>
            <a:xfrm>
              <a:off x="7199630" y="3581400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70">
                  <a:moveTo>
                    <a:pt x="0" y="306070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" name="object 33"/>
            <p:cNvSpPr/>
            <p:nvPr/>
          </p:nvSpPr>
          <p:spPr>
            <a:xfrm>
              <a:off x="7118350" y="3347720"/>
              <a:ext cx="162560" cy="243840"/>
            </a:xfrm>
            <a:custGeom>
              <a:avLst/>
              <a:gdLst/>
              <a:ahLst/>
              <a:cxnLst/>
              <a:rect l="l" t="t" r="r" b="b"/>
              <a:pathLst>
                <a:path w="162559" h="243839">
                  <a:moveTo>
                    <a:pt x="81279" y="0"/>
                  </a:moveTo>
                  <a:lnTo>
                    <a:pt x="0" y="243839"/>
                  </a:lnTo>
                  <a:lnTo>
                    <a:pt x="162559" y="243839"/>
                  </a:lnTo>
                  <a:lnTo>
                    <a:pt x="81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7807987" y="2283662"/>
            <a:ext cx="110650" cy="367393"/>
            <a:chOff x="7875269" y="3347720"/>
            <a:chExt cx="162560" cy="539750"/>
          </a:xfrm>
        </p:grpSpPr>
        <p:sp>
          <p:nvSpPr>
            <p:cNvPr id="35" name="object 35"/>
            <p:cNvSpPr/>
            <p:nvPr/>
          </p:nvSpPr>
          <p:spPr>
            <a:xfrm>
              <a:off x="7956549" y="3581400"/>
              <a:ext cx="0" cy="306070"/>
            </a:xfrm>
            <a:custGeom>
              <a:avLst/>
              <a:gdLst/>
              <a:ahLst/>
              <a:cxnLst/>
              <a:rect l="l" t="t" r="r" b="b"/>
              <a:pathLst>
                <a:path h="306070">
                  <a:moveTo>
                    <a:pt x="0" y="306070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" name="object 36"/>
            <p:cNvSpPr/>
            <p:nvPr/>
          </p:nvSpPr>
          <p:spPr>
            <a:xfrm>
              <a:off x="7875269" y="3347720"/>
              <a:ext cx="162560" cy="243840"/>
            </a:xfrm>
            <a:custGeom>
              <a:avLst/>
              <a:gdLst/>
              <a:ahLst/>
              <a:cxnLst/>
              <a:rect l="l" t="t" r="r" b="b"/>
              <a:pathLst>
                <a:path w="162559" h="243839">
                  <a:moveTo>
                    <a:pt x="81279" y="0"/>
                  </a:moveTo>
                  <a:lnTo>
                    <a:pt x="0" y="243839"/>
                  </a:lnTo>
                  <a:lnTo>
                    <a:pt x="162559" y="243839"/>
                  </a:lnTo>
                  <a:lnTo>
                    <a:pt x="81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aphicFrame>
        <p:nvGraphicFramePr>
          <p:cNvPr id="37" name="object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914126"/>
              </p:ext>
            </p:extLst>
          </p:nvPr>
        </p:nvGraphicFramePr>
        <p:xfrm>
          <a:off x="4015628" y="2063226"/>
          <a:ext cx="4092324" cy="11947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248"/>
                <a:gridCol w="514782"/>
                <a:gridCol w="514782"/>
                <a:gridCol w="514350"/>
                <a:gridCol w="514782"/>
                <a:gridCol w="514350"/>
                <a:gridCol w="514782"/>
                <a:gridCol w="502248"/>
              </a:tblGrid>
              <a:tr h="196231">
                <a:tc>
                  <a:txBody>
                    <a:bodyPr/>
                    <a:lstStyle/>
                    <a:p>
                      <a:pPr marR="8255" algn="ctr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4960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06070" algn="r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05435" algn="r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</a:tr>
              <a:tr h="661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196230">
                <a:tc>
                  <a:txBody>
                    <a:bodyPr/>
                    <a:lstStyle/>
                    <a:p>
                      <a:pPr marR="8255" algn="ctr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4960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06070" algn="r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05435" algn="r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212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pSp>
        <p:nvGrpSpPr>
          <p:cNvPr id="38" name="object 38"/>
          <p:cNvGrpSpPr/>
          <p:nvPr/>
        </p:nvGrpSpPr>
        <p:grpSpPr>
          <a:xfrm>
            <a:off x="4205808" y="3141200"/>
            <a:ext cx="110650" cy="368257"/>
            <a:chOff x="2583179" y="4607559"/>
            <a:chExt cx="162560" cy="541020"/>
          </a:xfrm>
        </p:grpSpPr>
        <p:sp>
          <p:nvSpPr>
            <p:cNvPr id="39" name="object 39"/>
            <p:cNvSpPr/>
            <p:nvPr/>
          </p:nvSpPr>
          <p:spPr>
            <a:xfrm>
              <a:off x="2664459" y="4841239"/>
              <a:ext cx="0" cy="307340"/>
            </a:xfrm>
            <a:custGeom>
              <a:avLst/>
              <a:gdLst/>
              <a:ahLst/>
              <a:cxnLst/>
              <a:rect l="l" t="t" r="r" b="b"/>
              <a:pathLst>
                <a:path h="307339">
                  <a:moveTo>
                    <a:pt x="0" y="307340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" name="object 40"/>
            <p:cNvSpPr/>
            <p:nvPr/>
          </p:nvSpPr>
          <p:spPr>
            <a:xfrm>
              <a:off x="2583179" y="4607559"/>
              <a:ext cx="162560" cy="245110"/>
            </a:xfrm>
            <a:custGeom>
              <a:avLst/>
              <a:gdLst/>
              <a:ahLst/>
              <a:cxnLst/>
              <a:rect l="l" t="t" r="r" b="b"/>
              <a:pathLst>
                <a:path w="162560" h="245110">
                  <a:moveTo>
                    <a:pt x="81280" y="0"/>
                  </a:moveTo>
                  <a:lnTo>
                    <a:pt x="0" y="245109"/>
                  </a:lnTo>
                  <a:lnTo>
                    <a:pt x="162559" y="245109"/>
                  </a:lnTo>
                  <a:lnTo>
                    <a:pt x="81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128699" y="2120281"/>
            <a:ext cx="687673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solidFill>
                  <a:srgbClr val="3B3B3B"/>
                </a:solidFill>
                <a:latin typeface="Arial"/>
                <a:cs typeface="Arial"/>
              </a:rPr>
              <a:t>Stride </a:t>
            </a:r>
            <a:r>
              <a:rPr sz="1225" dirty="0">
                <a:solidFill>
                  <a:srgbClr val="3B3B3B"/>
                </a:solidFill>
                <a:latin typeface="Arial"/>
                <a:cs typeface="Arial"/>
              </a:rPr>
              <a:t>=</a:t>
            </a:r>
            <a:r>
              <a:rPr sz="1225" spc="-51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225" dirty="0">
                <a:solidFill>
                  <a:srgbClr val="3B3B3B"/>
                </a:solidFill>
                <a:latin typeface="Arial"/>
                <a:cs typeface="Arial"/>
              </a:rPr>
              <a:t>1</a:t>
            </a:r>
            <a:endParaRPr sz="1225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43118" y="2879271"/>
            <a:ext cx="772822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7" dirty="0">
                <a:solidFill>
                  <a:srgbClr val="3B3B3B"/>
                </a:solidFill>
                <a:latin typeface="Arial"/>
                <a:cs typeface="Arial"/>
              </a:rPr>
              <a:t>Stride </a:t>
            </a:r>
            <a:r>
              <a:rPr sz="1225" dirty="0">
                <a:solidFill>
                  <a:srgbClr val="3B3B3B"/>
                </a:solidFill>
                <a:latin typeface="Arial"/>
                <a:cs typeface="Arial"/>
              </a:rPr>
              <a:t>=</a:t>
            </a:r>
            <a:r>
              <a:rPr sz="1225" spc="-41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225" spc="-3" dirty="0">
                <a:solidFill>
                  <a:srgbClr val="3B3B3B"/>
                </a:solidFill>
                <a:latin typeface="Arial"/>
                <a:cs typeface="Arial"/>
              </a:rPr>
              <a:t>32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937655" y="4326366"/>
            <a:ext cx="5937501" cy="366096"/>
            <a:chOff x="720090" y="6348729"/>
            <a:chExt cx="8722995" cy="537845"/>
          </a:xfrm>
        </p:grpSpPr>
        <p:sp>
          <p:nvSpPr>
            <p:cNvPr id="44" name="object 44"/>
            <p:cNvSpPr/>
            <p:nvPr/>
          </p:nvSpPr>
          <p:spPr>
            <a:xfrm>
              <a:off x="792480" y="6422389"/>
              <a:ext cx="8641080" cy="454659"/>
            </a:xfrm>
            <a:custGeom>
              <a:avLst/>
              <a:gdLst/>
              <a:ahLst/>
              <a:cxnLst/>
              <a:rect l="l" t="t" r="r" b="b"/>
              <a:pathLst>
                <a:path w="8641080" h="454659">
                  <a:moveTo>
                    <a:pt x="8641080" y="0"/>
                  </a:moveTo>
                  <a:lnTo>
                    <a:pt x="0" y="0"/>
                  </a:lnTo>
                  <a:lnTo>
                    <a:pt x="0" y="382270"/>
                  </a:lnTo>
                  <a:lnTo>
                    <a:pt x="0" y="454660"/>
                  </a:lnTo>
                  <a:lnTo>
                    <a:pt x="8641080" y="454660"/>
                  </a:lnTo>
                  <a:lnTo>
                    <a:pt x="8641080" y="382270"/>
                  </a:lnTo>
                  <a:lnTo>
                    <a:pt x="86410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5" name="object 45"/>
            <p:cNvSpPr/>
            <p:nvPr/>
          </p:nvSpPr>
          <p:spPr>
            <a:xfrm>
              <a:off x="792480" y="6422389"/>
              <a:ext cx="8641080" cy="454659"/>
            </a:xfrm>
            <a:custGeom>
              <a:avLst/>
              <a:gdLst/>
              <a:ahLst/>
              <a:cxnLst/>
              <a:rect l="l" t="t" r="r" b="b"/>
              <a:pathLst>
                <a:path w="8641080" h="454659">
                  <a:moveTo>
                    <a:pt x="4320540" y="454660"/>
                  </a:moveTo>
                  <a:lnTo>
                    <a:pt x="0" y="454660"/>
                  </a:lnTo>
                  <a:lnTo>
                    <a:pt x="0" y="0"/>
                  </a:lnTo>
                  <a:lnTo>
                    <a:pt x="8641080" y="0"/>
                  </a:lnTo>
                  <a:lnTo>
                    <a:pt x="8641080" y="454660"/>
                  </a:lnTo>
                  <a:lnTo>
                    <a:pt x="4320540" y="454660"/>
                  </a:lnTo>
                  <a:close/>
                </a:path>
              </a:pathLst>
            </a:custGeom>
            <a:ln w="1832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6" name="object 46"/>
            <p:cNvSpPr/>
            <p:nvPr/>
          </p:nvSpPr>
          <p:spPr>
            <a:xfrm>
              <a:off x="720090" y="6348729"/>
              <a:ext cx="8639810" cy="455930"/>
            </a:xfrm>
            <a:custGeom>
              <a:avLst/>
              <a:gdLst/>
              <a:ahLst/>
              <a:cxnLst/>
              <a:rect l="l" t="t" r="r" b="b"/>
              <a:pathLst>
                <a:path w="8639810" h="455929">
                  <a:moveTo>
                    <a:pt x="8639810" y="0"/>
                  </a:moveTo>
                  <a:lnTo>
                    <a:pt x="0" y="0"/>
                  </a:lnTo>
                  <a:lnTo>
                    <a:pt x="0" y="455930"/>
                  </a:lnTo>
                  <a:lnTo>
                    <a:pt x="8639810" y="455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937655" y="4326366"/>
            <a:ext cx="5880879" cy="261936"/>
          </a:xfrm>
          <a:prstGeom prst="rect">
            <a:avLst/>
          </a:prstGeom>
          <a:ln w="18329">
            <a:solidFill>
              <a:srgbClr val="000000"/>
            </a:solidFill>
          </a:ln>
        </p:spPr>
        <p:txBody>
          <a:bodyPr vert="horz" wrap="square" lIns="0" tIns="31120" rIns="0" bIns="0" rtlCol="0">
            <a:spAutoFit/>
          </a:bodyPr>
          <a:lstStyle/>
          <a:p>
            <a:pPr marL="154311">
              <a:spcBef>
                <a:spcPts val="244"/>
              </a:spcBef>
            </a:pP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Case 2: 12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+ 1 + 6 * 63 =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391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cycles, 6.1 clock cycles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per</a:t>
            </a:r>
            <a:r>
              <a:rPr sz="1498" spc="-58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element</a:t>
            </a:r>
            <a:endParaRPr sz="1498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391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9393" y="41701"/>
            <a:ext cx="5588822" cy="1116725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  <a:tabLst>
                <a:tab pos="1594550" algn="l"/>
              </a:tabLst>
            </a:pPr>
            <a:r>
              <a:rPr sz="3600" dirty="0"/>
              <a:t>Example	</a:t>
            </a:r>
            <a:r>
              <a:rPr sz="3600" spc="-31" dirty="0"/>
              <a:t>Vector </a:t>
            </a:r>
            <a:r>
              <a:rPr sz="3600" spc="-3" dirty="0"/>
              <a:t>Microarchitecture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2678926" y="2520764"/>
            <a:ext cx="293914" cy="293914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215900" y="431800"/>
                </a:moveTo>
                <a:lnTo>
                  <a:pt x="0" y="431800"/>
                </a:lnTo>
                <a:lnTo>
                  <a:pt x="0" y="0"/>
                </a:lnTo>
                <a:lnTo>
                  <a:pt x="431800" y="0"/>
                </a:lnTo>
                <a:lnTo>
                  <a:pt x="431800" y="431800"/>
                </a:lnTo>
                <a:lnTo>
                  <a:pt x="215900" y="431800"/>
                </a:lnTo>
                <a:close/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" name="object 4"/>
          <p:cNvSpPr txBox="1"/>
          <p:nvPr/>
        </p:nvSpPr>
        <p:spPr>
          <a:xfrm>
            <a:off x="2757591" y="2542054"/>
            <a:ext cx="13744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57"/>
              </a:lnSpc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F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78926" y="2423080"/>
            <a:ext cx="808264" cy="509163"/>
            <a:chOff x="215900" y="3096260"/>
            <a:chExt cx="1187450" cy="748030"/>
          </a:xfrm>
        </p:grpSpPr>
        <p:sp>
          <p:nvSpPr>
            <p:cNvPr id="6" name="object 6"/>
            <p:cNvSpPr/>
            <p:nvPr/>
          </p:nvSpPr>
          <p:spPr>
            <a:xfrm>
              <a:off x="647700" y="345567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" name="object 7"/>
            <p:cNvSpPr/>
            <p:nvPr/>
          </p:nvSpPr>
          <p:spPr>
            <a:xfrm>
              <a:off x="934719" y="3096260"/>
              <a:ext cx="175260" cy="744220"/>
            </a:xfrm>
            <a:custGeom>
              <a:avLst/>
              <a:gdLst/>
              <a:ahLst/>
              <a:cxnLst/>
              <a:rect l="l" t="t" r="r" b="b"/>
              <a:pathLst>
                <a:path w="175259" h="744220">
                  <a:moveTo>
                    <a:pt x="165100" y="0"/>
                  </a:moveTo>
                  <a:lnTo>
                    <a:pt x="0" y="2539"/>
                  </a:lnTo>
                  <a:lnTo>
                    <a:pt x="5080" y="373379"/>
                  </a:lnTo>
                  <a:lnTo>
                    <a:pt x="11430" y="744219"/>
                  </a:lnTo>
                  <a:lnTo>
                    <a:pt x="175260" y="741679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" name="object 8"/>
            <p:cNvSpPr/>
            <p:nvPr/>
          </p:nvSpPr>
          <p:spPr>
            <a:xfrm>
              <a:off x="934719" y="3096260"/>
              <a:ext cx="175260" cy="744220"/>
            </a:xfrm>
            <a:custGeom>
              <a:avLst/>
              <a:gdLst/>
              <a:ahLst/>
              <a:cxnLst/>
              <a:rect l="l" t="t" r="r" b="b"/>
              <a:pathLst>
                <a:path w="175259" h="744220">
                  <a:moveTo>
                    <a:pt x="5080" y="373379"/>
                  </a:moveTo>
                  <a:lnTo>
                    <a:pt x="0" y="2539"/>
                  </a:lnTo>
                  <a:lnTo>
                    <a:pt x="165100" y="0"/>
                  </a:lnTo>
                  <a:lnTo>
                    <a:pt x="175260" y="741679"/>
                  </a:lnTo>
                  <a:lnTo>
                    <a:pt x="11430" y="744219"/>
                  </a:lnTo>
                  <a:lnTo>
                    <a:pt x="5080" y="37337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" name="object 9"/>
            <p:cNvSpPr/>
            <p:nvPr/>
          </p:nvSpPr>
          <p:spPr>
            <a:xfrm>
              <a:off x="944880" y="3632200"/>
              <a:ext cx="165100" cy="212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" name="object 10"/>
            <p:cNvSpPr/>
            <p:nvPr/>
          </p:nvSpPr>
          <p:spPr>
            <a:xfrm>
              <a:off x="773430" y="340233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" name="object 11"/>
            <p:cNvSpPr/>
            <p:nvPr/>
          </p:nvSpPr>
          <p:spPr>
            <a:xfrm>
              <a:off x="1115060" y="343789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" name="object 12"/>
            <p:cNvSpPr/>
            <p:nvPr/>
          </p:nvSpPr>
          <p:spPr>
            <a:xfrm>
              <a:off x="1242060" y="338455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90" h="107950">
                  <a:moveTo>
                    <a:pt x="0" y="0"/>
                  </a:moveTo>
                  <a:lnTo>
                    <a:pt x="0" y="107950"/>
                  </a:lnTo>
                  <a:lnTo>
                    <a:pt x="161290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" name="object 13"/>
            <p:cNvSpPr/>
            <p:nvPr/>
          </p:nvSpPr>
          <p:spPr>
            <a:xfrm>
              <a:off x="215900" y="323977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" name="object 14"/>
            <p:cNvSpPr/>
            <p:nvPr/>
          </p:nvSpPr>
          <p:spPr>
            <a:xfrm>
              <a:off x="215900" y="323977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1800"/>
                  </a:lnTo>
                  <a:lnTo>
                    <a:pt x="215900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678926" y="2520764"/>
            <a:ext cx="293914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804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F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72408" y="2471489"/>
            <a:ext cx="809561" cy="460754"/>
            <a:chOff x="647065" y="3167379"/>
            <a:chExt cx="1189355" cy="676910"/>
          </a:xfrm>
        </p:grpSpPr>
        <p:sp>
          <p:nvSpPr>
            <p:cNvPr id="17" name="object 17"/>
            <p:cNvSpPr/>
            <p:nvPr/>
          </p:nvSpPr>
          <p:spPr>
            <a:xfrm>
              <a:off x="944880" y="3632199"/>
              <a:ext cx="165100" cy="212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" name="object 18"/>
            <p:cNvSpPr/>
            <p:nvPr/>
          </p:nvSpPr>
          <p:spPr>
            <a:xfrm>
              <a:off x="647700" y="345566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" name="object 19"/>
            <p:cNvSpPr/>
            <p:nvPr/>
          </p:nvSpPr>
          <p:spPr>
            <a:xfrm>
              <a:off x="773430" y="340232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" name="object 20"/>
            <p:cNvSpPr/>
            <p:nvPr/>
          </p:nvSpPr>
          <p:spPr>
            <a:xfrm>
              <a:off x="1404620" y="316737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3070"/>
                  </a:lnTo>
                  <a:lnTo>
                    <a:pt x="215900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65855" y="2493644"/>
            <a:ext cx="13744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57"/>
              </a:lnSpc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F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87190" y="2373807"/>
            <a:ext cx="609440" cy="509163"/>
            <a:chOff x="1403350" y="3023870"/>
            <a:chExt cx="895350" cy="748030"/>
          </a:xfrm>
        </p:grpSpPr>
        <p:sp>
          <p:nvSpPr>
            <p:cNvPr id="23" name="object 23"/>
            <p:cNvSpPr/>
            <p:nvPr/>
          </p:nvSpPr>
          <p:spPr>
            <a:xfrm>
              <a:off x="1836419" y="338455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" name="object 24"/>
            <p:cNvSpPr/>
            <p:nvPr/>
          </p:nvSpPr>
          <p:spPr>
            <a:xfrm>
              <a:off x="2122169" y="3023870"/>
              <a:ext cx="176530" cy="744220"/>
            </a:xfrm>
            <a:custGeom>
              <a:avLst/>
              <a:gdLst/>
              <a:ahLst/>
              <a:cxnLst/>
              <a:rect l="l" t="t" r="r" b="b"/>
              <a:pathLst>
                <a:path w="176530" h="744220">
                  <a:moveTo>
                    <a:pt x="165100" y="0"/>
                  </a:moveTo>
                  <a:lnTo>
                    <a:pt x="0" y="2539"/>
                  </a:lnTo>
                  <a:lnTo>
                    <a:pt x="6350" y="373379"/>
                  </a:lnTo>
                  <a:lnTo>
                    <a:pt x="11430" y="744219"/>
                  </a:lnTo>
                  <a:lnTo>
                    <a:pt x="176530" y="741679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" name="object 25"/>
            <p:cNvSpPr/>
            <p:nvPr/>
          </p:nvSpPr>
          <p:spPr>
            <a:xfrm>
              <a:off x="2122169" y="3023870"/>
              <a:ext cx="176530" cy="744220"/>
            </a:xfrm>
            <a:custGeom>
              <a:avLst/>
              <a:gdLst/>
              <a:ahLst/>
              <a:cxnLst/>
              <a:rect l="l" t="t" r="r" b="b"/>
              <a:pathLst>
                <a:path w="176530" h="744220">
                  <a:moveTo>
                    <a:pt x="6350" y="373379"/>
                  </a:moveTo>
                  <a:lnTo>
                    <a:pt x="0" y="2539"/>
                  </a:lnTo>
                  <a:lnTo>
                    <a:pt x="165100" y="0"/>
                  </a:lnTo>
                  <a:lnTo>
                    <a:pt x="176530" y="741679"/>
                  </a:lnTo>
                  <a:lnTo>
                    <a:pt x="11430" y="744219"/>
                  </a:lnTo>
                  <a:lnTo>
                    <a:pt x="6350" y="37337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" name="object 26"/>
            <p:cNvSpPr/>
            <p:nvPr/>
          </p:nvSpPr>
          <p:spPr>
            <a:xfrm>
              <a:off x="2133600" y="3559810"/>
              <a:ext cx="165100" cy="2120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" name="object 27"/>
            <p:cNvSpPr/>
            <p:nvPr/>
          </p:nvSpPr>
          <p:spPr>
            <a:xfrm>
              <a:off x="1962150" y="332994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" name="object 28"/>
            <p:cNvSpPr/>
            <p:nvPr/>
          </p:nvSpPr>
          <p:spPr>
            <a:xfrm>
              <a:off x="1403350" y="3167380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431800" y="0"/>
                  </a:moveTo>
                  <a:lnTo>
                    <a:pt x="0" y="0"/>
                  </a:lnTo>
                  <a:lnTo>
                    <a:pt x="0" y="433070"/>
                  </a:lnTo>
                  <a:lnTo>
                    <a:pt x="431800" y="4330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" name="object 29"/>
            <p:cNvSpPr/>
            <p:nvPr/>
          </p:nvSpPr>
          <p:spPr>
            <a:xfrm>
              <a:off x="1403350" y="3167380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3070"/>
                  </a:lnTo>
                  <a:lnTo>
                    <a:pt x="215900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487190" y="2471489"/>
            <a:ext cx="293914" cy="273255"/>
          </a:xfrm>
          <a:prstGeom prst="rect">
            <a:avLst/>
          </a:prstGeom>
        </p:spPr>
        <p:txBody>
          <a:bodyPr vert="horz" wrap="square" lIns="0" tIns="864" rIns="0" bIns="0" rtlCol="0">
            <a:spAutoFit/>
          </a:bodyPr>
          <a:lstStyle/>
          <a:p>
            <a:pPr marL="65269">
              <a:spcBef>
                <a:spcPts val="7"/>
              </a:spcBef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D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780672" y="2471489"/>
            <a:ext cx="785356" cy="411480"/>
            <a:chOff x="1834514" y="3167379"/>
            <a:chExt cx="1153795" cy="604520"/>
          </a:xfrm>
        </p:grpSpPr>
        <p:sp>
          <p:nvSpPr>
            <p:cNvPr id="32" name="object 32"/>
            <p:cNvSpPr/>
            <p:nvPr/>
          </p:nvSpPr>
          <p:spPr>
            <a:xfrm>
              <a:off x="2133599" y="3559809"/>
              <a:ext cx="165100" cy="2120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" name="object 33"/>
            <p:cNvSpPr/>
            <p:nvPr/>
          </p:nvSpPr>
          <p:spPr>
            <a:xfrm>
              <a:off x="1835149" y="338454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" name="object 34"/>
            <p:cNvSpPr/>
            <p:nvPr/>
          </p:nvSpPr>
          <p:spPr>
            <a:xfrm>
              <a:off x="1962149" y="332993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" name="object 35"/>
            <p:cNvSpPr/>
            <p:nvPr/>
          </p:nvSpPr>
          <p:spPr>
            <a:xfrm>
              <a:off x="2556509" y="316737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3070"/>
                  </a:lnTo>
                  <a:lnTo>
                    <a:pt x="215900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349915" y="2493644"/>
            <a:ext cx="13744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57"/>
              </a:lnSpc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F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272114" y="2373807"/>
            <a:ext cx="608575" cy="509163"/>
            <a:chOff x="2556510" y="3023870"/>
            <a:chExt cx="894080" cy="748030"/>
          </a:xfrm>
        </p:grpSpPr>
        <p:sp>
          <p:nvSpPr>
            <p:cNvPr id="38" name="object 38"/>
            <p:cNvSpPr/>
            <p:nvPr/>
          </p:nvSpPr>
          <p:spPr>
            <a:xfrm>
              <a:off x="2988310" y="338455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" name="object 39"/>
            <p:cNvSpPr/>
            <p:nvPr/>
          </p:nvSpPr>
          <p:spPr>
            <a:xfrm>
              <a:off x="3275330" y="3023870"/>
              <a:ext cx="175260" cy="744220"/>
            </a:xfrm>
            <a:custGeom>
              <a:avLst/>
              <a:gdLst/>
              <a:ahLst/>
              <a:cxnLst/>
              <a:rect l="l" t="t" r="r" b="b"/>
              <a:pathLst>
                <a:path w="175260" h="744220">
                  <a:moveTo>
                    <a:pt x="165100" y="0"/>
                  </a:moveTo>
                  <a:lnTo>
                    <a:pt x="0" y="2539"/>
                  </a:lnTo>
                  <a:lnTo>
                    <a:pt x="10160" y="744219"/>
                  </a:lnTo>
                  <a:lnTo>
                    <a:pt x="175260" y="74167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" name="object 40"/>
            <p:cNvSpPr/>
            <p:nvPr/>
          </p:nvSpPr>
          <p:spPr>
            <a:xfrm>
              <a:off x="3275330" y="3023870"/>
              <a:ext cx="175260" cy="744220"/>
            </a:xfrm>
            <a:custGeom>
              <a:avLst/>
              <a:gdLst/>
              <a:ahLst/>
              <a:cxnLst/>
              <a:rect l="l" t="t" r="r" b="b"/>
              <a:pathLst>
                <a:path w="175260" h="744220">
                  <a:moveTo>
                    <a:pt x="5080" y="373379"/>
                  </a:moveTo>
                  <a:lnTo>
                    <a:pt x="0" y="2539"/>
                  </a:lnTo>
                  <a:lnTo>
                    <a:pt x="165100" y="0"/>
                  </a:lnTo>
                  <a:lnTo>
                    <a:pt x="175260" y="741679"/>
                  </a:lnTo>
                  <a:lnTo>
                    <a:pt x="10160" y="744219"/>
                  </a:lnTo>
                  <a:lnTo>
                    <a:pt x="5080" y="37337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5490" y="3559810"/>
              <a:ext cx="165100" cy="21208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2" name="object 42"/>
            <p:cNvSpPr/>
            <p:nvPr/>
          </p:nvSpPr>
          <p:spPr>
            <a:xfrm>
              <a:off x="3114040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3" name="object 43"/>
            <p:cNvSpPr/>
            <p:nvPr/>
          </p:nvSpPr>
          <p:spPr>
            <a:xfrm>
              <a:off x="2556510" y="3167380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431800" y="0"/>
                  </a:moveTo>
                  <a:lnTo>
                    <a:pt x="0" y="0"/>
                  </a:lnTo>
                  <a:lnTo>
                    <a:pt x="0" y="433070"/>
                  </a:lnTo>
                  <a:lnTo>
                    <a:pt x="431800" y="4330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4" name="object 44"/>
            <p:cNvSpPr/>
            <p:nvPr/>
          </p:nvSpPr>
          <p:spPr>
            <a:xfrm>
              <a:off x="2556510" y="3167380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3070"/>
                  </a:lnTo>
                  <a:lnTo>
                    <a:pt x="215900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329167" y="2463710"/>
            <a:ext cx="179806" cy="2811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R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099655" y="1932935"/>
            <a:ext cx="1348115" cy="950035"/>
            <a:chOff x="2303145" y="2376170"/>
            <a:chExt cx="1980564" cy="1395730"/>
          </a:xfrm>
        </p:grpSpPr>
        <p:sp>
          <p:nvSpPr>
            <p:cNvPr id="47" name="object 47"/>
            <p:cNvSpPr/>
            <p:nvPr/>
          </p:nvSpPr>
          <p:spPr>
            <a:xfrm>
              <a:off x="2303780" y="3365500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80">
                  <a:moveTo>
                    <a:pt x="0" y="0"/>
                  </a:moveTo>
                  <a:lnTo>
                    <a:pt x="1320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8" name="object 48"/>
            <p:cNvSpPr/>
            <p:nvPr/>
          </p:nvSpPr>
          <p:spPr>
            <a:xfrm>
              <a:off x="3285490" y="3559810"/>
              <a:ext cx="165100" cy="2120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9" name="object 49"/>
            <p:cNvSpPr/>
            <p:nvPr/>
          </p:nvSpPr>
          <p:spPr>
            <a:xfrm>
              <a:off x="2988310" y="338455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0" name="object 50"/>
            <p:cNvSpPr/>
            <p:nvPr/>
          </p:nvSpPr>
          <p:spPr>
            <a:xfrm>
              <a:off x="2429510" y="3312159"/>
              <a:ext cx="847090" cy="125730"/>
            </a:xfrm>
            <a:custGeom>
              <a:avLst/>
              <a:gdLst/>
              <a:ahLst/>
              <a:cxnLst/>
              <a:rect l="l" t="t" r="r" b="b"/>
              <a:pathLst>
                <a:path w="847089" h="125729">
                  <a:moveTo>
                    <a:pt x="161290" y="53340"/>
                  </a:moveTo>
                  <a:lnTo>
                    <a:pt x="0" y="0"/>
                  </a:lnTo>
                  <a:lnTo>
                    <a:pt x="0" y="107950"/>
                  </a:lnTo>
                  <a:lnTo>
                    <a:pt x="161290" y="53340"/>
                  </a:lnTo>
                  <a:close/>
                </a:path>
                <a:path w="847089" h="125729">
                  <a:moveTo>
                    <a:pt x="847090" y="72390"/>
                  </a:moveTo>
                  <a:lnTo>
                    <a:pt x="684530" y="17780"/>
                  </a:lnTo>
                  <a:lnTo>
                    <a:pt x="684530" y="125730"/>
                  </a:lnTo>
                  <a:lnTo>
                    <a:pt x="847090" y="723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1" name="object 51"/>
            <p:cNvSpPr/>
            <p:nvPr/>
          </p:nvSpPr>
          <p:spPr>
            <a:xfrm>
              <a:off x="3779520" y="237617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2" name="object 52"/>
            <p:cNvSpPr/>
            <p:nvPr/>
          </p:nvSpPr>
          <p:spPr>
            <a:xfrm>
              <a:off x="3779520" y="237617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272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272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104583" y="1932935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83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X0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104583" y="2300328"/>
            <a:ext cx="343188" cy="293914"/>
            <a:chOff x="3779520" y="2915920"/>
            <a:chExt cx="504190" cy="431800"/>
          </a:xfrm>
        </p:grpSpPr>
        <p:sp>
          <p:nvSpPr>
            <p:cNvPr id="55" name="object 55"/>
            <p:cNvSpPr/>
            <p:nvPr/>
          </p:nvSpPr>
          <p:spPr>
            <a:xfrm>
              <a:off x="3779520" y="291592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6" name="object 56"/>
            <p:cNvSpPr/>
            <p:nvPr/>
          </p:nvSpPr>
          <p:spPr>
            <a:xfrm>
              <a:off x="3779520" y="291592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272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272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104583" y="2300328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34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L0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5104583" y="2667721"/>
            <a:ext cx="343188" cy="293914"/>
            <a:chOff x="3779520" y="3455670"/>
            <a:chExt cx="504190" cy="431800"/>
          </a:xfrm>
        </p:grpSpPr>
        <p:sp>
          <p:nvSpPr>
            <p:cNvPr id="59" name="object 59"/>
            <p:cNvSpPr/>
            <p:nvPr/>
          </p:nvSpPr>
          <p:spPr>
            <a:xfrm>
              <a:off x="3779520" y="345567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0" name="object 60"/>
            <p:cNvSpPr/>
            <p:nvPr/>
          </p:nvSpPr>
          <p:spPr>
            <a:xfrm>
              <a:off x="3779520" y="345567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145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145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5104583" y="2667721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83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S0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104583" y="3035114"/>
            <a:ext cx="342324" cy="293914"/>
            <a:chOff x="3779520" y="3995420"/>
            <a:chExt cx="502920" cy="431800"/>
          </a:xfrm>
        </p:grpSpPr>
        <p:sp>
          <p:nvSpPr>
            <p:cNvPr id="63" name="object 63"/>
            <p:cNvSpPr/>
            <p:nvPr/>
          </p:nvSpPr>
          <p:spPr>
            <a:xfrm>
              <a:off x="3779520" y="3995420"/>
              <a:ext cx="502920" cy="431800"/>
            </a:xfrm>
            <a:custGeom>
              <a:avLst/>
              <a:gdLst/>
              <a:ahLst/>
              <a:cxnLst/>
              <a:rect l="l" t="t" r="r" b="b"/>
              <a:pathLst>
                <a:path w="502920" h="431800">
                  <a:moveTo>
                    <a:pt x="502919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502919" y="43179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4" name="object 64"/>
            <p:cNvSpPr/>
            <p:nvPr/>
          </p:nvSpPr>
          <p:spPr>
            <a:xfrm>
              <a:off x="3779520" y="3995420"/>
              <a:ext cx="502920" cy="431800"/>
            </a:xfrm>
            <a:custGeom>
              <a:avLst/>
              <a:gdLst/>
              <a:ahLst/>
              <a:cxnLst/>
              <a:rect l="l" t="t" r="r" b="b"/>
              <a:pathLst>
                <a:path w="502920" h="431800">
                  <a:moveTo>
                    <a:pt x="251459" y="431799"/>
                  </a:moveTo>
                  <a:lnTo>
                    <a:pt x="0" y="431799"/>
                  </a:lnTo>
                  <a:lnTo>
                    <a:pt x="0" y="0"/>
                  </a:lnTo>
                  <a:lnTo>
                    <a:pt x="502919" y="0"/>
                  </a:lnTo>
                  <a:lnTo>
                    <a:pt x="502919" y="431799"/>
                  </a:lnTo>
                  <a:lnTo>
                    <a:pt x="251459" y="43179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5104583" y="3035114"/>
            <a:ext cx="342324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418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Y0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876800" y="1809750"/>
            <a:ext cx="1379236" cy="1642462"/>
            <a:chOff x="3444875" y="2195195"/>
            <a:chExt cx="2026285" cy="2413000"/>
          </a:xfrm>
        </p:grpSpPr>
        <p:sp>
          <p:nvSpPr>
            <p:cNvPr id="67" name="object 67"/>
            <p:cNvSpPr/>
            <p:nvPr/>
          </p:nvSpPr>
          <p:spPr>
            <a:xfrm>
              <a:off x="3445510" y="2195830"/>
              <a:ext cx="1018540" cy="1198880"/>
            </a:xfrm>
            <a:custGeom>
              <a:avLst/>
              <a:gdLst/>
              <a:ahLst/>
              <a:cxnLst/>
              <a:rect l="l" t="t" r="r" b="b"/>
              <a:pathLst>
                <a:path w="1018539" h="1198879">
                  <a:moveTo>
                    <a:pt x="0" y="1198880"/>
                  </a:moveTo>
                  <a:lnTo>
                    <a:pt x="1018539" y="1198880"/>
                  </a:lnTo>
                  <a:lnTo>
                    <a:pt x="1018539" y="0"/>
                  </a:lnTo>
                  <a:lnTo>
                    <a:pt x="153669" y="0"/>
                  </a:lnTo>
                  <a:lnTo>
                    <a:pt x="153669" y="396240"/>
                  </a:lnTo>
                  <a:lnTo>
                    <a:pt x="179069" y="3962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8" name="object 68"/>
            <p:cNvSpPr/>
            <p:nvPr/>
          </p:nvSpPr>
          <p:spPr>
            <a:xfrm>
              <a:off x="3618229" y="253746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9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9" name="object 69"/>
            <p:cNvSpPr/>
            <p:nvPr/>
          </p:nvSpPr>
          <p:spPr>
            <a:xfrm>
              <a:off x="3445510" y="3131820"/>
              <a:ext cx="179070" cy="262890"/>
            </a:xfrm>
            <a:custGeom>
              <a:avLst/>
              <a:gdLst/>
              <a:ahLst/>
              <a:cxnLst/>
              <a:rect l="l" t="t" r="r" b="b"/>
              <a:pathLst>
                <a:path w="179070" h="262889">
                  <a:moveTo>
                    <a:pt x="0" y="262889"/>
                  </a:moveTo>
                  <a:lnTo>
                    <a:pt x="170179" y="262889"/>
                  </a:lnTo>
                  <a:lnTo>
                    <a:pt x="170179" y="0"/>
                  </a:lnTo>
                  <a:lnTo>
                    <a:pt x="17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0" name="object 70"/>
            <p:cNvSpPr/>
            <p:nvPr/>
          </p:nvSpPr>
          <p:spPr>
            <a:xfrm>
              <a:off x="3618229" y="307721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9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1" name="object 71"/>
            <p:cNvSpPr/>
            <p:nvPr/>
          </p:nvSpPr>
          <p:spPr>
            <a:xfrm>
              <a:off x="3445510" y="3394710"/>
              <a:ext cx="179070" cy="276860"/>
            </a:xfrm>
            <a:custGeom>
              <a:avLst/>
              <a:gdLst/>
              <a:ahLst/>
              <a:cxnLst/>
              <a:rect l="l" t="t" r="r" b="b"/>
              <a:pathLst>
                <a:path w="179070" h="276860">
                  <a:moveTo>
                    <a:pt x="0" y="0"/>
                  </a:moveTo>
                  <a:lnTo>
                    <a:pt x="170179" y="0"/>
                  </a:lnTo>
                  <a:lnTo>
                    <a:pt x="170179" y="276860"/>
                  </a:lnTo>
                  <a:lnTo>
                    <a:pt x="179069" y="2768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2" name="object 72"/>
            <p:cNvSpPr/>
            <p:nvPr/>
          </p:nvSpPr>
          <p:spPr>
            <a:xfrm>
              <a:off x="3616960" y="361696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3" name="object 73"/>
            <p:cNvSpPr/>
            <p:nvPr/>
          </p:nvSpPr>
          <p:spPr>
            <a:xfrm>
              <a:off x="3445510" y="3394710"/>
              <a:ext cx="1017269" cy="1212850"/>
            </a:xfrm>
            <a:custGeom>
              <a:avLst/>
              <a:gdLst/>
              <a:ahLst/>
              <a:cxnLst/>
              <a:rect l="l" t="t" r="r" b="b"/>
              <a:pathLst>
                <a:path w="1017270" h="1212850">
                  <a:moveTo>
                    <a:pt x="0" y="0"/>
                  </a:moveTo>
                  <a:lnTo>
                    <a:pt x="1017269" y="0"/>
                  </a:lnTo>
                  <a:lnTo>
                    <a:pt x="1017269" y="1212850"/>
                  </a:lnTo>
                  <a:lnTo>
                    <a:pt x="153669" y="1212850"/>
                  </a:lnTo>
                  <a:lnTo>
                    <a:pt x="153669" y="816610"/>
                  </a:lnTo>
                  <a:lnTo>
                    <a:pt x="179069" y="816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4" name="object 74"/>
            <p:cNvSpPr/>
            <p:nvPr/>
          </p:nvSpPr>
          <p:spPr>
            <a:xfrm>
              <a:off x="3616960" y="415671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5" name="object 75"/>
            <p:cNvSpPr/>
            <p:nvPr/>
          </p:nvSpPr>
          <p:spPr>
            <a:xfrm>
              <a:off x="4283710" y="252730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6" name="object 76"/>
            <p:cNvSpPr/>
            <p:nvPr/>
          </p:nvSpPr>
          <p:spPr>
            <a:xfrm>
              <a:off x="4589780" y="234061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69"/>
                  </a:lnTo>
                  <a:lnTo>
                    <a:pt x="5080" y="384810"/>
                  </a:lnTo>
                  <a:lnTo>
                    <a:pt x="91440" y="38353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7" name="object 77"/>
            <p:cNvSpPr/>
            <p:nvPr/>
          </p:nvSpPr>
          <p:spPr>
            <a:xfrm>
              <a:off x="4589780" y="234061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39"/>
                  </a:moveTo>
                  <a:lnTo>
                    <a:pt x="0" y="1269"/>
                  </a:lnTo>
                  <a:lnTo>
                    <a:pt x="85090" y="0"/>
                  </a:lnTo>
                  <a:lnTo>
                    <a:pt x="91440" y="383539"/>
                  </a:lnTo>
                  <a:lnTo>
                    <a:pt x="5080" y="384810"/>
                  </a:lnTo>
                  <a:lnTo>
                    <a:pt x="2540" y="19303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8" name="object 78"/>
            <p:cNvSpPr/>
            <p:nvPr/>
          </p:nvSpPr>
          <p:spPr>
            <a:xfrm>
              <a:off x="4594860" y="2618740"/>
              <a:ext cx="85090" cy="107950"/>
            </a:xfrm>
            <a:custGeom>
              <a:avLst/>
              <a:gdLst/>
              <a:ahLst/>
              <a:cxnLst/>
              <a:rect l="l" t="t" r="r" b="b"/>
              <a:pathLst>
                <a:path w="85089" h="107950">
                  <a:moveTo>
                    <a:pt x="44450" y="0"/>
                  </a:moveTo>
                  <a:lnTo>
                    <a:pt x="0" y="105410"/>
                  </a:lnTo>
                  <a:lnTo>
                    <a:pt x="85089" y="107950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9" name="object 79"/>
            <p:cNvSpPr/>
            <p:nvPr/>
          </p:nvSpPr>
          <p:spPr>
            <a:xfrm>
              <a:off x="4594860" y="261747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69"/>
                  </a:moveTo>
                  <a:lnTo>
                    <a:pt x="85089" y="109219"/>
                  </a:lnTo>
                  <a:lnTo>
                    <a:pt x="0" y="106679"/>
                  </a:lnTo>
                  <a:lnTo>
                    <a:pt x="44450" y="1269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89"/>
                  </a:moveTo>
                  <a:lnTo>
                    <a:pt x="8508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0" name="object 80"/>
            <p:cNvSpPr/>
            <p:nvPr/>
          </p:nvSpPr>
          <p:spPr>
            <a:xfrm>
              <a:off x="4409439" y="247396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1" name="object 81"/>
            <p:cNvSpPr/>
            <p:nvPr/>
          </p:nvSpPr>
          <p:spPr>
            <a:xfrm>
              <a:off x="4594860" y="2618740"/>
              <a:ext cx="85090" cy="107950"/>
            </a:xfrm>
            <a:custGeom>
              <a:avLst/>
              <a:gdLst/>
              <a:ahLst/>
              <a:cxnLst/>
              <a:rect l="l" t="t" r="r" b="b"/>
              <a:pathLst>
                <a:path w="85089" h="107950">
                  <a:moveTo>
                    <a:pt x="44450" y="0"/>
                  </a:moveTo>
                  <a:lnTo>
                    <a:pt x="0" y="105410"/>
                  </a:lnTo>
                  <a:lnTo>
                    <a:pt x="85089" y="107950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2" name="object 82"/>
            <p:cNvSpPr/>
            <p:nvPr/>
          </p:nvSpPr>
          <p:spPr>
            <a:xfrm>
              <a:off x="4594860" y="261747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69"/>
                  </a:moveTo>
                  <a:lnTo>
                    <a:pt x="85089" y="109219"/>
                  </a:lnTo>
                  <a:lnTo>
                    <a:pt x="0" y="106679"/>
                  </a:lnTo>
                  <a:lnTo>
                    <a:pt x="44450" y="1269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89"/>
                  </a:moveTo>
                  <a:lnTo>
                    <a:pt x="8508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3" name="object 83"/>
            <p:cNvSpPr/>
            <p:nvPr/>
          </p:nvSpPr>
          <p:spPr>
            <a:xfrm>
              <a:off x="4283710" y="252730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4" name="object 84"/>
            <p:cNvSpPr/>
            <p:nvPr/>
          </p:nvSpPr>
          <p:spPr>
            <a:xfrm>
              <a:off x="4409439" y="247396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5" name="object 85"/>
            <p:cNvSpPr/>
            <p:nvPr/>
          </p:nvSpPr>
          <p:spPr>
            <a:xfrm>
              <a:off x="4589780" y="295148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40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6" name="object 86"/>
            <p:cNvSpPr/>
            <p:nvPr/>
          </p:nvSpPr>
          <p:spPr>
            <a:xfrm>
              <a:off x="4589780" y="295148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40"/>
                  </a:moveTo>
                  <a:lnTo>
                    <a:pt x="0" y="1270"/>
                  </a:lnTo>
                  <a:lnTo>
                    <a:pt x="85090" y="0"/>
                  </a:lnTo>
                  <a:lnTo>
                    <a:pt x="91440" y="383540"/>
                  </a:lnTo>
                  <a:lnTo>
                    <a:pt x="5080" y="384810"/>
                  </a:lnTo>
                  <a:lnTo>
                    <a:pt x="2540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7" name="object 87"/>
            <p:cNvSpPr/>
            <p:nvPr/>
          </p:nvSpPr>
          <p:spPr>
            <a:xfrm>
              <a:off x="4594860" y="322961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4450" y="0"/>
                  </a:moveTo>
                  <a:lnTo>
                    <a:pt x="0" y="106679"/>
                  </a:lnTo>
                  <a:lnTo>
                    <a:pt x="85089" y="109219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8" name="object 88"/>
            <p:cNvSpPr/>
            <p:nvPr/>
          </p:nvSpPr>
          <p:spPr>
            <a:xfrm>
              <a:off x="4594860" y="322834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70"/>
                  </a:moveTo>
                  <a:lnTo>
                    <a:pt x="85089" y="110489"/>
                  </a:lnTo>
                  <a:lnTo>
                    <a:pt x="0" y="107950"/>
                  </a:lnTo>
                  <a:lnTo>
                    <a:pt x="44450" y="1270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89"/>
                  </a:moveTo>
                  <a:lnTo>
                    <a:pt x="8508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9" name="object 89"/>
            <p:cNvSpPr/>
            <p:nvPr/>
          </p:nvSpPr>
          <p:spPr>
            <a:xfrm>
              <a:off x="4283710" y="313944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0" name="object 90"/>
            <p:cNvSpPr/>
            <p:nvPr/>
          </p:nvSpPr>
          <p:spPr>
            <a:xfrm>
              <a:off x="4409439" y="308610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1" name="object 91"/>
            <p:cNvSpPr/>
            <p:nvPr/>
          </p:nvSpPr>
          <p:spPr>
            <a:xfrm>
              <a:off x="4594860" y="322961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4450" y="0"/>
                  </a:moveTo>
                  <a:lnTo>
                    <a:pt x="0" y="106679"/>
                  </a:lnTo>
                  <a:lnTo>
                    <a:pt x="85089" y="109219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2" name="object 92"/>
            <p:cNvSpPr/>
            <p:nvPr/>
          </p:nvSpPr>
          <p:spPr>
            <a:xfrm>
              <a:off x="4594860" y="322834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70"/>
                  </a:moveTo>
                  <a:lnTo>
                    <a:pt x="85089" y="110489"/>
                  </a:lnTo>
                  <a:lnTo>
                    <a:pt x="0" y="107950"/>
                  </a:lnTo>
                  <a:lnTo>
                    <a:pt x="44450" y="1270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89"/>
                  </a:moveTo>
                  <a:lnTo>
                    <a:pt x="8508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3" name="object 93"/>
            <p:cNvSpPr/>
            <p:nvPr/>
          </p:nvSpPr>
          <p:spPr>
            <a:xfrm>
              <a:off x="4283710" y="313944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4" name="object 94"/>
            <p:cNvSpPr/>
            <p:nvPr/>
          </p:nvSpPr>
          <p:spPr>
            <a:xfrm>
              <a:off x="4409439" y="308610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5" name="object 95"/>
            <p:cNvSpPr/>
            <p:nvPr/>
          </p:nvSpPr>
          <p:spPr>
            <a:xfrm>
              <a:off x="4589780" y="349123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40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6" name="object 96"/>
            <p:cNvSpPr/>
            <p:nvPr/>
          </p:nvSpPr>
          <p:spPr>
            <a:xfrm>
              <a:off x="4589780" y="349123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40"/>
                  </a:moveTo>
                  <a:lnTo>
                    <a:pt x="0" y="1270"/>
                  </a:lnTo>
                  <a:lnTo>
                    <a:pt x="85090" y="0"/>
                  </a:lnTo>
                  <a:lnTo>
                    <a:pt x="91440" y="383540"/>
                  </a:lnTo>
                  <a:lnTo>
                    <a:pt x="5080" y="384810"/>
                  </a:lnTo>
                  <a:lnTo>
                    <a:pt x="2540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7" name="object 97"/>
            <p:cNvSpPr/>
            <p:nvPr/>
          </p:nvSpPr>
          <p:spPr>
            <a:xfrm>
              <a:off x="4594860" y="376936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4450" y="0"/>
                  </a:moveTo>
                  <a:lnTo>
                    <a:pt x="0" y="106679"/>
                  </a:lnTo>
                  <a:lnTo>
                    <a:pt x="85089" y="109219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8" name="object 98"/>
            <p:cNvSpPr/>
            <p:nvPr/>
          </p:nvSpPr>
          <p:spPr>
            <a:xfrm>
              <a:off x="4594860" y="376809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70"/>
                  </a:moveTo>
                  <a:lnTo>
                    <a:pt x="85089" y="110489"/>
                  </a:lnTo>
                  <a:lnTo>
                    <a:pt x="0" y="107950"/>
                  </a:lnTo>
                  <a:lnTo>
                    <a:pt x="44450" y="1270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89"/>
                  </a:moveTo>
                  <a:lnTo>
                    <a:pt x="8508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9" name="object 99"/>
            <p:cNvSpPr/>
            <p:nvPr/>
          </p:nvSpPr>
          <p:spPr>
            <a:xfrm>
              <a:off x="4283710" y="367919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409439" y="3624580"/>
              <a:ext cx="162560" cy="109220"/>
            </a:xfrm>
            <a:custGeom>
              <a:avLst/>
              <a:gdLst/>
              <a:ahLst/>
              <a:cxnLst/>
              <a:rect l="l" t="t" r="r" b="b"/>
              <a:pathLst>
                <a:path w="162560" h="109220">
                  <a:moveTo>
                    <a:pt x="0" y="0"/>
                  </a:moveTo>
                  <a:lnTo>
                    <a:pt x="0" y="10922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594860" y="376936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4450" y="0"/>
                  </a:moveTo>
                  <a:lnTo>
                    <a:pt x="0" y="106679"/>
                  </a:lnTo>
                  <a:lnTo>
                    <a:pt x="85089" y="109219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594860" y="376809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70"/>
                  </a:moveTo>
                  <a:lnTo>
                    <a:pt x="85089" y="110489"/>
                  </a:lnTo>
                  <a:lnTo>
                    <a:pt x="0" y="107950"/>
                  </a:lnTo>
                  <a:lnTo>
                    <a:pt x="44450" y="1270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89"/>
                  </a:moveTo>
                  <a:lnTo>
                    <a:pt x="8508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283710" y="367919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409439" y="3624580"/>
              <a:ext cx="162560" cy="109220"/>
            </a:xfrm>
            <a:custGeom>
              <a:avLst/>
              <a:gdLst/>
              <a:ahLst/>
              <a:cxnLst/>
              <a:rect l="l" t="t" r="r" b="b"/>
              <a:pathLst>
                <a:path w="162560" h="109220">
                  <a:moveTo>
                    <a:pt x="0" y="0"/>
                  </a:moveTo>
                  <a:lnTo>
                    <a:pt x="0" y="10922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589780" y="403098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40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589780" y="403098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40"/>
                  </a:moveTo>
                  <a:lnTo>
                    <a:pt x="0" y="1270"/>
                  </a:lnTo>
                  <a:lnTo>
                    <a:pt x="85090" y="0"/>
                  </a:lnTo>
                  <a:lnTo>
                    <a:pt x="91440" y="383540"/>
                  </a:lnTo>
                  <a:lnTo>
                    <a:pt x="5080" y="384810"/>
                  </a:lnTo>
                  <a:lnTo>
                    <a:pt x="2540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594860" y="430911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4450" y="0"/>
                  </a:moveTo>
                  <a:lnTo>
                    <a:pt x="0" y="106679"/>
                  </a:lnTo>
                  <a:lnTo>
                    <a:pt x="85089" y="109219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594860" y="430784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70"/>
                  </a:moveTo>
                  <a:lnTo>
                    <a:pt x="85089" y="110490"/>
                  </a:lnTo>
                  <a:lnTo>
                    <a:pt x="0" y="107950"/>
                  </a:lnTo>
                  <a:lnTo>
                    <a:pt x="44450" y="1270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90"/>
                  </a:moveTo>
                  <a:lnTo>
                    <a:pt x="85089" y="11049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283710" y="421894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09439" y="416433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594860" y="430911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4450" y="0"/>
                  </a:moveTo>
                  <a:lnTo>
                    <a:pt x="0" y="106679"/>
                  </a:lnTo>
                  <a:lnTo>
                    <a:pt x="85089" y="109219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594860" y="430784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70"/>
                  </a:moveTo>
                  <a:lnTo>
                    <a:pt x="85089" y="110490"/>
                  </a:lnTo>
                  <a:lnTo>
                    <a:pt x="0" y="107950"/>
                  </a:lnTo>
                  <a:lnTo>
                    <a:pt x="44450" y="1270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90"/>
                  </a:moveTo>
                  <a:lnTo>
                    <a:pt x="85089" y="11049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283710" y="421894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409439" y="416433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678680" y="315722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805680" y="310388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90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678680" y="364363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804410" y="358902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678680" y="423799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804410" y="418338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968239" y="2914650"/>
              <a:ext cx="502920" cy="433070"/>
            </a:xfrm>
            <a:custGeom>
              <a:avLst/>
              <a:gdLst/>
              <a:ahLst/>
              <a:cxnLst/>
              <a:rect l="l" t="t" r="r" b="b"/>
              <a:pathLst>
                <a:path w="502920" h="433070">
                  <a:moveTo>
                    <a:pt x="502920" y="0"/>
                  </a:moveTo>
                  <a:lnTo>
                    <a:pt x="0" y="0"/>
                  </a:lnTo>
                  <a:lnTo>
                    <a:pt x="0" y="433070"/>
                  </a:lnTo>
                  <a:lnTo>
                    <a:pt x="502920" y="4330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968239" y="2914650"/>
              <a:ext cx="502920" cy="433070"/>
            </a:xfrm>
            <a:custGeom>
              <a:avLst/>
              <a:gdLst/>
              <a:ahLst/>
              <a:cxnLst/>
              <a:rect l="l" t="t" r="r" b="b"/>
              <a:pathLst>
                <a:path w="502920" h="433070">
                  <a:moveTo>
                    <a:pt x="251460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502920" y="0"/>
                  </a:lnTo>
                  <a:lnTo>
                    <a:pt x="502920" y="433070"/>
                  </a:lnTo>
                  <a:lnTo>
                    <a:pt x="251460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5913712" y="2299464"/>
            <a:ext cx="342324" cy="273255"/>
          </a:xfrm>
          <a:prstGeom prst="rect">
            <a:avLst/>
          </a:prstGeom>
        </p:spPr>
        <p:txBody>
          <a:bodyPr vert="horz" wrap="square" lIns="0" tIns="864" rIns="0" bIns="0" rtlCol="0">
            <a:spAutoFit/>
          </a:bodyPr>
          <a:lstStyle/>
          <a:p>
            <a:pPr marL="38902">
              <a:spcBef>
                <a:spcPts val="7"/>
              </a:spcBef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L1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5912847" y="2666856"/>
            <a:ext cx="343188" cy="294779"/>
            <a:chOff x="4966970" y="3454400"/>
            <a:chExt cx="504190" cy="433070"/>
          </a:xfrm>
        </p:grpSpPr>
        <p:sp>
          <p:nvSpPr>
            <p:cNvPr id="125" name="object 125"/>
            <p:cNvSpPr/>
            <p:nvPr/>
          </p:nvSpPr>
          <p:spPr>
            <a:xfrm>
              <a:off x="4966970" y="3454400"/>
              <a:ext cx="504190" cy="433070"/>
            </a:xfrm>
            <a:custGeom>
              <a:avLst/>
              <a:gdLst/>
              <a:ahLst/>
              <a:cxnLst/>
              <a:rect l="l" t="t" r="r" b="b"/>
              <a:pathLst>
                <a:path w="504189" h="433070">
                  <a:moveTo>
                    <a:pt x="504189" y="0"/>
                  </a:moveTo>
                  <a:lnTo>
                    <a:pt x="0" y="0"/>
                  </a:lnTo>
                  <a:lnTo>
                    <a:pt x="0" y="433070"/>
                  </a:lnTo>
                  <a:lnTo>
                    <a:pt x="504189" y="4330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966970" y="3454400"/>
              <a:ext cx="504190" cy="433070"/>
            </a:xfrm>
            <a:custGeom>
              <a:avLst/>
              <a:gdLst/>
              <a:ahLst/>
              <a:cxnLst/>
              <a:rect l="l" t="t" r="r" b="b"/>
              <a:pathLst>
                <a:path w="504189" h="433070">
                  <a:moveTo>
                    <a:pt x="252729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3070"/>
                  </a:lnTo>
                  <a:lnTo>
                    <a:pt x="252729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5912847" y="2666857"/>
            <a:ext cx="343188" cy="273255"/>
          </a:xfrm>
          <a:prstGeom prst="rect">
            <a:avLst/>
          </a:prstGeom>
        </p:spPr>
        <p:txBody>
          <a:bodyPr vert="horz" wrap="square" lIns="0" tIns="864" rIns="0" bIns="0" rtlCol="0">
            <a:spAutoFit/>
          </a:bodyPr>
          <a:lstStyle/>
          <a:p>
            <a:pPr marL="33283">
              <a:spcBef>
                <a:spcPts val="7"/>
              </a:spcBef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S1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5912847" y="3034249"/>
            <a:ext cx="343188" cy="293914"/>
            <a:chOff x="4966970" y="3994150"/>
            <a:chExt cx="504190" cy="431800"/>
          </a:xfrm>
        </p:grpSpPr>
        <p:sp>
          <p:nvSpPr>
            <p:cNvPr id="129" name="object 129"/>
            <p:cNvSpPr/>
            <p:nvPr/>
          </p:nvSpPr>
          <p:spPr>
            <a:xfrm>
              <a:off x="4966970" y="399415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966970" y="399415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145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145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5912847" y="3034250"/>
            <a:ext cx="343188" cy="273255"/>
          </a:xfrm>
          <a:prstGeom prst="rect">
            <a:avLst/>
          </a:prstGeom>
        </p:spPr>
        <p:txBody>
          <a:bodyPr vert="horz" wrap="square" lIns="0" tIns="864" rIns="0" bIns="0" rtlCol="0">
            <a:spAutoFit/>
          </a:bodyPr>
          <a:lstStyle/>
          <a:p>
            <a:pPr marL="33283">
              <a:spcBef>
                <a:spcPts val="7"/>
              </a:spcBef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Y1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6255603" y="2324532"/>
            <a:ext cx="808697" cy="1003631"/>
            <a:chOff x="5470525" y="2951479"/>
            <a:chExt cx="1188085" cy="1474470"/>
          </a:xfrm>
        </p:grpSpPr>
        <p:sp>
          <p:nvSpPr>
            <p:cNvPr id="133" name="object 133"/>
            <p:cNvSpPr/>
            <p:nvPr/>
          </p:nvSpPr>
          <p:spPr>
            <a:xfrm>
              <a:off x="5472430" y="313943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783579" y="3228339"/>
              <a:ext cx="85090" cy="1104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598160" y="308482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777229" y="295147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40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777229" y="295147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40"/>
                  </a:moveTo>
                  <a:lnTo>
                    <a:pt x="0" y="1270"/>
                  </a:lnTo>
                  <a:lnTo>
                    <a:pt x="85090" y="0"/>
                  </a:lnTo>
                  <a:lnTo>
                    <a:pt x="91440" y="383540"/>
                  </a:lnTo>
                  <a:lnTo>
                    <a:pt x="5080" y="384810"/>
                  </a:lnTo>
                  <a:lnTo>
                    <a:pt x="2540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783579" y="3228339"/>
              <a:ext cx="85090" cy="1104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471160" y="313943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598160" y="308482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1" name="object 141"/>
            <p:cNvSpPr/>
            <p:nvPr/>
          </p:nvSpPr>
          <p:spPr>
            <a:xfrm>
              <a:off x="5783579" y="3768089"/>
              <a:ext cx="85090" cy="11048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2" name="object 142"/>
            <p:cNvSpPr/>
            <p:nvPr/>
          </p:nvSpPr>
          <p:spPr>
            <a:xfrm>
              <a:off x="5472430" y="367918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3" name="object 143"/>
            <p:cNvSpPr/>
            <p:nvPr/>
          </p:nvSpPr>
          <p:spPr>
            <a:xfrm>
              <a:off x="5598160" y="362457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777229" y="349122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40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5" name="object 145"/>
            <p:cNvSpPr/>
            <p:nvPr/>
          </p:nvSpPr>
          <p:spPr>
            <a:xfrm>
              <a:off x="5777229" y="349122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40"/>
                  </a:moveTo>
                  <a:lnTo>
                    <a:pt x="0" y="1270"/>
                  </a:lnTo>
                  <a:lnTo>
                    <a:pt x="85090" y="0"/>
                  </a:lnTo>
                  <a:lnTo>
                    <a:pt x="91440" y="383540"/>
                  </a:lnTo>
                  <a:lnTo>
                    <a:pt x="5080" y="384810"/>
                  </a:lnTo>
                  <a:lnTo>
                    <a:pt x="2540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6" name="object 146"/>
            <p:cNvSpPr/>
            <p:nvPr/>
          </p:nvSpPr>
          <p:spPr>
            <a:xfrm>
              <a:off x="5783579" y="3768089"/>
              <a:ext cx="85090" cy="11048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7" name="object 147"/>
            <p:cNvSpPr/>
            <p:nvPr/>
          </p:nvSpPr>
          <p:spPr>
            <a:xfrm>
              <a:off x="5471160" y="367918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8" name="object 148"/>
            <p:cNvSpPr/>
            <p:nvPr/>
          </p:nvSpPr>
          <p:spPr>
            <a:xfrm>
              <a:off x="5598160" y="362457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9" name="object 149"/>
            <p:cNvSpPr/>
            <p:nvPr/>
          </p:nvSpPr>
          <p:spPr>
            <a:xfrm>
              <a:off x="5783579" y="4307839"/>
              <a:ext cx="85090" cy="11049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0" name="object 150"/>
            <p:cNvSpPr/>
            <p:nvPr/>
          </p:nvSpPr>
          <p:spPr>
            <a:xfrm>
              <a:off x="5472430" y="421893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1" name="object 151"/>
            <p:cNvSpPr/>
            <p:nvPr/>
          </p:nvSpPr>
          <p:spPr>
            <a:xfrm>
              <a:off x="5598160" y="416432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2" name="object 152"/>
            <p:cNvSpPr/>
            <p:nvPr/>
          </p:nvSpPr>
          <p:spPr>
            <a:xfrm>
              <a:off x="5777229" y="403097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40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3" name="object 153"/>
            <p:cNvSpPr/>
            <p:nvPr/>
          </p:nvSpPr>
          <p:spPr>
            <a:xfrm>
              <a:off x="5777229" y="403097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40"/>
                  </a:moveTo>
                  <a:lnTo>
                    <a:pt x="0" y="1270"/>
                  </a:lnTo>
                  <a:lnTo>
                    <a:pt x="85090" y="0"/>
                  </a:lnTo>
                  <a:lnTo>
                    <a:pt x="91440" y="383540"/>
                  </a:lnTo>
                  <a:lnTo>
                    <a:pt x="5080" y="384810"/>
                  </a:lnTo>
                  <a:lnTo>
                    <a:pt x="2540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4" name="object 154"/>
            <p:cNvSpPr/>
            <p:nvPr/>
          </p:nvSpPr>
          <p:spPr>
            <a:xfrm>
              <a:off x="5783579" y="4307839"/>
              <a:ext cx="85090" cy="11049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471160" y="421893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598160" y="416432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7" name="object 157"/>
            <p:cNvSpPr/>
            <p:nvPr/>
          </p:nvSpPr>
          <p:spPr>
            <a:xfrm>
              <a:off x="5866129" y="423671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8" name="object 158"/>
            <p:cNvSpPr/>
            <p:nvPr/>
          </p:nvSpPr>
          <p:spPr>
            <a:xfrm>
              <a:off x="5993130" y="418337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90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154419" y="3994149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90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0" name="object 160"/>
            <p:cNvSpPr/>
            <p:nvPr/>
          </p:nvSpPr>
          <p:spPr>
            <a:xfrm>
              <a:off x="6154419" y="3994149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90" h="431800">
                  <a:moveTo>
                    <a:pt x="25272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272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61" name="object 161"/>
          <p:cNvSpPr txBox="1"/>
          <p:nvPr/>
        </p:nvSpPr>
        <p:spPr>
          <a:xfrm>
            <a:off x="6721112" y="3034249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83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Y2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7272633" y="3034249"/>
            <a:ext cx="599931" cy="293914"/>
            <a:chOff x="6964680" y="3994150"/>
            <a:chExt cx="881380" cy="431800"/>
          </a:xfrm>
        </p:grpSpPr>
        <p:sp>
          <p:nvSpPr>
            <p:cNvPr id="163" name="object 163"/>
            <p:cNvSpPr/>
            <p:nvPr/>
          </p:nvSpPr>
          <p:spPr>
            <a:xfrm>
              <a:off x="6969760" y="4306570"/>
              <a:ext cx="86360" cy="11049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4" name="object 164"/>
            <p:cNvSpPr/>
            <p:nvPr/>
          </p:nvSpPr>
          <p:spPr>
            <a:xfrm>
              <a:off x="6964680" y="402970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40" h="384810">
                  <a:moveTo>
                    <a:pt x="85090" y="0"/>
                  </a:moveTo>
                  <a:lnTo>
                    <a:pt x="0" y="2539"/>
                  </a:lnTo>
                  <a:lnTo>
                    <a:pt x="5079" y="384809"/>
                  </a:lnTo>
                  <a:lnTo>
                    <a:pt x="91440" y="38480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5" name="object 165"/>
            <p:cNvSpPr/>
            <p:nvPr/>
          </p:nvSpPr>
          <p:spPr>
            <a:xfrm>
              <a:off x="6964680" y="402970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40" h="384810">
                  <a:moveTo>
                    <a:pt x="2540" y="194310"/>
                  </a:moveTo>
                  <a:lnTo>
                    <a:pt x="0" y="2539"/>
                  </a:lnTo>
                  <a:lnTo>
                    <a:pt x="85090" y="0"/>
                  </a:lnTo>
                  <a:lnTo>
                    <a:pt x="91440" y="384809"/>
                  </a:lnTo>
                  <a:lnTo>
                    <a:pt x="5079" y="384809"/>
                  </a:lnTo>
                  <a:lnTo>
                    <a:pt x="2540" y="19431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6" name="object 166"/>
            <p:cNvSpPr/>
            <p:nvPr/>
          </p:nvSpPr>
          <p:spPr>
            <a:xfrm>
              <a:off x="6969760" y="4306570"/>
              <a:ext cx="86360" cy="11049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053580" y="423672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179310" y="418337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341870" y="399415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90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341870" y="399415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90" h="431800">
                  <a:moveTo>
                    <a:pt x="25272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272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7529375" y="3034249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83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Y3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7063003" y="2471489"/>
            <a:ext cx="1619554" cy="850623"/>
            <a:chOff x="6656705" y="3167379"/>
            <a:chExt cx="2379345" cy="1249680"/>
          </a:xfrm>
        </p:grpSpPr>
        <p:sp>
          <p:nvSpPr>
            <p:cNvPr id="173" name="object 173"/>
            <p:cNvSpPr/>
            <p:nvPr/>
          </p:nvSpPr>
          <p:spPr>
            <a:xfrm>
              <a:off x="6657340" y="421893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4" name="object 174"/>
            <p:cNvSpPr/>
            <p:nvPr/>
          </p:nvSpPr>
          <p:spPr>
            <a:xfrm>
              <a:off x="6783070" y="416432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846060" y="4218939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79">
                  <a:moveTo>
                    <a:pt x="0" y="0"/>
                  </a:moveTo>
                  <a:lnTo>
                    <a:pt x="1320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6" name="object 176"/>
            <p:cNvSpPr/>
            <p:nvPr/>
          </p:nvSpPr>
          <p:spPr>
            <a:xfrm>
              <a:off x="8158480" y="4306569"/>
              <a:ext cx="85090" cy="11049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7" name="object 177"/>
            <p:cNvSpPr/>
            <p:nvPr/>
          </p:nvSpPr>
          <p:spPr>
            <a:xfrm>
              <a:off x="8152130" y="402970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40" h="384810">
                  <a:moveTo>
                    <a:pt x="86360" y="0"/>
                  </a:moveTo>
                  <a:lnTo>
                    <a:pt x="0" y="1269"/>
                  </a:lnTo>
                  <a:lnTo>
                    <a:pt x="2540" y="193039"/>
                  </a:lnTo>
                  <a:lnTo>
                    <a:pt x="6350" y="384809"/>
                  </a:lnTo>
                  <a:lnTo>
                    <a:pt x="91440" y="383539"/>
                  </a:lnTo>
                  <a:lnTo>
                    <a:pt x="8636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8" name="object 178"/>
            <p:cNvSpPr/>
            <p:nvPr/>
          </p:nvSpPr>
          <p:spPr>
            <a:xfrm>
              <a:off x="8152130" y="402970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40" h="384810">
                  <a:moveTo>
                    <a:pt x="2540" y="193039"/>
                  </a:moveTo>
                  <a:lnTo>
                    <a:pt x="0" y="1269"/>
                  </a:lnTo>
                  <a:lnTo>
                    <a:pt x="86360" y="0"/>
                  </a:lnTo>
                  <a:lnTo>
                    <a:pt x="91440" y="383539"/>
                  </a:lnTo>
                  <a:lnTo>
                    <a:pt x="6350" y="384809"/>
                  </a:lnTo>
                  <a:lnTo>
                    <a:pt x="2540" y="19303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9" name="object 179"/>
            <p:cNvSpPr/>
            <p:nvPr/>
          </p:nvSpPr>
          <p:spPr>
            <a:xfrm>
              <a:off x="8158480" y="4306569"/>
              <a:ext cx="85090" cy="11049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971790" y="416432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90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1" name="object 181"/>
            <p:cNvSpPr/>
            <p:nvPr/>
          </p:nvSpPr>
          <p:spPr>
            <a:xfrm>
              <a:off x="8604250" y="3167379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2" name="object 182"/>
            <p:cNvSpPr/>
            <p:nvPr/>
          </p:nvSpPr>
          <p:spPr>
            <a:xfrm>
              <a:off x="8604250" y="3167379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1800"/>
                  </a:lnTo>
                  <a:lnTo>
                    <a:pt x="215900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83" name="object 183"/>
          <p:cNvSpPr txBox="1"/>
          <p:nvPr/>
        </p:nvSpPr>
        <p:spPr>
          <a:xfrm>
            <a:off x="8388643" y="2471489"/>
            <a:ext cx="293914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31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W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5715320" y="2038831"/>
            <a:ext cx="2673323" cy="1150588"/>
            <a:chOff x="4676775" y="2531745"/>
            <a:chExt cx="3927475" cy="1690370"/>
          </a:xfrm>
        </p:grpSpPr>
        <p:sp>
          <p:nvSpPr>
            <p:cNvPr id="185" name="object 185"/>
            <p:cNvSpPr/>
            <p:nvPr/>
          </p:nvSpPr>
          <p:spPr>
            <a:xfrm>
              <a:off x="4677410" y="2532380"/>
              <a:ext cx="3771900" cy="850900"/>
            </a:xfrm>
            <a:custGeom>
              <a:avLst/>
              <a:gdLst/>
              <a:ahLst/>
              <a:cxnLst/>
              <a:rect l="l" t="t" r="r" b="b"/>
              <a:pathLst>
                <a:path w="3771900" h="850900">
                  <a:moveTo>
                    <a:pt x="0" y="0"/>
                  </a:moveTo>
                  <a:lnTo>
                    <a:pt x="1964689" y="0"/>
                  </a:lnTo>
                  <a:lnTo>
                    <a:pt x="1964689" y="850900"/>
                  </a:lnTo>
                  <a:lnTo>
                    <a:pt x="3771899" y="850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6" name="object 186"/>
            <p:cNvSpPr/>
            <p:nvPr/>
          </p:nvSpPr>
          <p:spPr>
            <a:xfrm>
              <a:off x="8441690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7" name="object 187"/>
            <p:cNvSpPr/>
            <p:nvPr/>
          </p:nvSpPr>
          <p:spPr>
            <a:xfrm>
              <a:off x="5864860" y="3143250"/>
              <a:ext cx="2584450" cy="240029"/>
            </a:xfrm>
            <a:custGeom>
              <a:avLst/>
              <a:gdLst/>
              <a:ahLst/>
              <a:cxnLst/>
              <a:rect l="l" t="t" r="r" b="b"/>
              <a:pathLst>
                <a:path w="2584450" h="240029">
                  <a:moveTo>
                    <a:pt x="0" y="0"/>
                  </a:moveTo>
                  <a:lnTo>
                    <a:pt x="1371599" y="0"/>
                  </a:lnTo>
                  <a:lnTo>
                    <a:pt x="1371599" y="240029"/>
                  </a:lnTo>
                  <a:lnTo>
                    <a:pt x="2584449" y="2400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8" name="object 188"/>
            <p:cNvSpPr/>
            <p:nvPr/>
          </p:nvSpPr>
          <p:spPr>
            <a:xfrm>
              <a:off x="8441690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9" name="object 189"/>
            <p:cNvSpPr/>
            <p:nvPr/>
          </p:nvSpPr>
          <p:spPr>
            <a:xfrm>
              <a:off x="5864860" y="3383280"/>
              <a:ext cx="2584450" cy="299720"/>
            </a:xfrm>
            <a:custGeom>
              <a:avLst/>
              <a:gdLst/>
              <a:ahLst/>
              <a:cxnLst/>
              <a:rect l="l" t="t" r="r" b="b"/>
              <a:pathLst>
                <a:path w="2584450" h="299720">
                  <a:moveTo>
                    <a:pt x="0" y="299720"/>
                  </a:moveTo>
                  <a:lnTo>
                    <a:pt x="1371599" y="299720"/>
                  </a:lnTo>
                  <a:lnTo>
                    <a:pt x="1371599" y="0"/>
                  </a:lnTo>
                  <a:lnTo>
                    <a:pt x="25844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0" name="object 190"/>
            <p:cNvSpPr/>
            <p:nvPr/>
          </p:nvSpPr>
          <p:spPr>
            <a:xfrm>
              <a:off x="8441690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1" name="object 191"/>
            <p:cNvSpPr/>
            <p:nvPr/>
          </p:nvSpPr>
          <p:spPr>
            <a:xfrm>
              <a:off x="8241029" y="3383280"/>
              <a:ext cx="208279" cy="838200"/>
            </a:xfrm>
            <a:custGeom>
              <a:avLst/>
              <a:gdLst/>
              <a:ahLst/>
              <a:cxnLst/>
              <a:rect l="l" t="t" r="r" b="b"/>
              <a:pathLst>
                <a:path w="208279" h="838200">
                  <a:moveTo>
                    <a:pt x="0" y="838200"/>
                  </a:moveTo>
                  <a:lnTo>
                    <a:pt x="182879" y="838200"/>
                  </a:lnTo>
                  <a:lnTo>
                    <a:pt x="182879" y="431800"/>
                  </a:lnTo>
                  <a:lnTo>
                    <a:pt x="182879" y="0"/>
                  </a:lnTo>
                  <a:lnTo>
                    <a:pt x="208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2" name="object 192"/>
            <p:cNvSpPr/>
            <p:nvPr/>
          </p:nvSpPr>
          <p:spPr>
            <a:xfrm>
              <a:off x="8441690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93" name="object 193"/>
          <p:cNvSpPr txBox="1"/>
          <p:nvPr/>
        </p:nvSpPr>
        <p:spPr>
          <a:xfrm>
            <a:off x="8069659" y="1442789"/>
            <a:ext cx="931017" cy="259218"/>
          </a:xfrm>
          <a:prstGeom prst="rect">
            <a:avLst/>
          </a:prstGeom>
          <a:solidFill>
            <a:srgbClr val="CEE6F4"/>
          </a:solidFill>
          <a:ln w="3175">
            <a:solidFill>
              <a:srgbClr val="7F7F7F"/>
            </a:solidFill>
          </a:ln>
        </p:spPr>
        <p:txBody>
          <a:bodyPr vert="horz" wrap="square" lIns="0" tIns="70021" rIns="0" bIns="0" rtlCol="0">
            <a:spAutoFit/>
          </a:bodyPr>
          <a:lstStyle/>
          <a:p>
            <a:pPr marL="309919">
              <a:spcBef>
                <a:spcPts val="551"/>
              </a:spcBef>
            </a:pPr>
            <a:r>
              <a:rPr sz="1225" b="1" spc="-3" dirty="0">
                <a:solidFill>
                  <a:srgbClr val="3B3B3B"/>
                </a:solidFill>
                <a:latin typeface="Arial"/>
                <a:cs typeface="Arial"/>
              </a:rPr>
              <a:t>SRF</a:t>
            </a:r>
            <a:endParaRPr sz="1225">
              <a:latin typeface="Arial"/>
              <a:cs typeface="Arial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8069659" y="1834387"/>
            <a:ext cx="931017" cy="259218"/>
          </a:xfrm>
          <a:prstGeom prst="rect">
            <a:avLst/>
          </a:prstGeom>
          <a:solidFill>
            <a:srgbClr val="CEE6F4"/>
          </a:solidFill>
          <a:ln w="3175">
            <a:solidFill>
              <a:srgbClr val="7F7F7F"/>
            </a:solidFill>
          </a:ln>
        </p:spPr>
        <p:txBody>
          <a:bodyPr vert="horz" wrap="square" lIns="0" tIns="70021" rIns="0" bIns="0" rtlCol="0">
            <a:spAutoFit/>
          </a:bodyPr>
          <a:lstStyle/>
          <a:p>
            <a:pPr marL="309919">
              <a:spcBef>
                <a:spcPts val="551"/>
              </a:spcBef>
            </a:pPr>
            <a:r>
              <a:rPr sz="1225" b="1" spc="-7" dirty="0">
                <a:solidFill>
                  <a:srgbClr val="3B3B3B"/>
                </a:solidFill>
                <a:latin typeface="Arial"/>
                <a:cs typeface="Arial"/>
              </a:rPr>
              <a:t>VRF</a:t>
            </a:r>
            <a:endParaRPr sz="1225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301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21546" y="3896792"/>
            <a:ext cx="251556" cy="756397"/>
          </a:xfrm>
          <a:custGeom>
            <a:avLst/>
            <a:gdLst/>
            <a:ahLst/>
            <a:cxnLst/>
            <a:rect l="l" t="t" r="r" b="b"/>
            <a:pathLst>
              <a:path w="369570" h="1111250">
                <a:moveTo>
                  <a:pt x="0" y="1111249"/>
                </a:moveTo>
                <a:lnTo>
                  <a:pt x="36957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grpSp>
        <p:nvGrpSpPr>
          <p:cNvPr id="3" name="object 3"/>
          <p:cNvGrpSpPr/>
          <p:nvPr/>
        </p:nvGrpSpPr>
        <p:grpSpPr>
          <a:xfrm>
            <a:off x="7768606" y="3896791"/>
            <a:ext cx="1004495" cy="1058956"/>
            <a:chOff x="7668259" y="5716270"/>
            <a:chExt cx="1475740" cy="1555750"/>
          </a:xfrm>
        </p:grpSpPr>
        <p:sp>
          <p:nvSpPr>
            <p:cNvPr id="4" name="object 4"/>
            <p:cNvSpPr/>
            <p:nvPr/>
          </p:nvSpPr>
          <p:spPr>
            <a:xfrm>
              <a:off x="7668259" y="5716270"/>
              <a:ext cx="1475740" cy="1111250"/>
            </a:xfrm>
            <a:custGeom>
              <a:avLst/>
              <a:gdLst/>
              <a:ahLst/>
              <a:cxnLst/>
              <a:rect l="l" t="t" r="r" b="b"/>
              <a:pathLst>
                <a:path w="1475740" h="1111250">
                  <a:moveTo>
                    <a:pt x="0" y="0"/>
                  </a:moveTo>
                  <a:lnTo>
                    <a:pt x="245110" y="1111249"/>
                  </a:lnTo>
                </a:path>
                <a:path w="1475740" h="1111250">
                  <a:moveTo>
                    <a:pt x="1106170" y="1111249"/>
                  </a:moveTo>
                  <a:lnTo>
                    <a:pt x="245110" y="1111249"/>
                  </a:lnTo>
                </a:path>
                <a:path w="1475740" h="1111250">
                  <a:moveTo>
                    <a:pt x="491490" y="0"/>
                  </a:moveTo>
                  <a:lnTo>
                    <a:pt x="0" y="0"/>
                  </a:lnTo>
                </a:path>
                <a:path w="1475740" h="1111250">
                  <a:moveTo>
                    <a:pt x="1475740" y="0"/>
                  </a:moveTo>
                  <a:lnTo>
                    <a:pt x="984250" y="0"/>
                  </a:lnTo>
                </a:path>
                <a:path w="1475740" h="1111250">
                  <a:moveTo>
                    <a:pt x="491490" y="0"/>
                  </a:moveTo>
                  <a:lnTo>
                    <a:pt x="737870" y="334009"/>
                  </a:lnTo>
                </a:path>
                <a:path w="1475740" h="1111250">
                  <a:moveTo>
                    <a:pt x="984250" y="0"/>
                  </a:moveTo>
                  <a:lnTo>
                    <a:pt x="737870" y="3340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" name="object 5"/>
            <p:cNvSpPr/>
            <p:nvPr/>
          </p:nvSpPr>
          <p:spPr>
            <a:xfrm>
              <a:off x="8406129" y="6827520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59">
                  <a:moveTo>
                    <a:pt x="0" y="0"/>
                  </a:moveTo>
                  <a:lnTo>
                    <a:pt x="0" y="2895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8351519" y="710946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59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940633" y="3632269"/>
            <a:ext cx="73479" cy="302559"/>
            <a:chOff x="7920990" y="5327650"/>
            <a:chExt cx="107950" cy="444500"/>
          </a:xfrm>
        </p:grpSpPr>
        <p:sp>
          <p:nvSpPr>
            <p:cNvPr id="8" name="object 8"/>
            <p:cNvSpPr/>
            <p:nvPr/>
          </p:nvSpPr>
          <p:spPr>
            <a:xfrm>
              <a:off x="7975600" y="5327650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60">
                  <a:moveTo>
                    <a:pt x="0" y="0"/>
                  </a:moveTo>
                  <a:lnTo>
                    <a:pt x="0" y="2895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" name="object 9"/>
            <p:cNvSpPr/>
            <p:nvPr/>
          </p:nvSpPr>
          <p:spPr>
            <a:xfrm>
              <a:off x="7920990" y="5610859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107950" y="0"/>
                  </a:moveTo>
                  <a:lnTo>
                    <a:pt x="0" y="0"/>
                  </a:lnTo>
                  <a:lnTo>
                    <a:pt x="54609" y="16128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569090" y="3632269"/>
            <a:ext cx="73479" cy="302559"/>
            <a:chOff x="8844280" y="5327650"/>
            <a:chExt cx="107950" cy="444500"/>
          </a:xfrm>
        </p:grpSpPr>
        <p:sp>
          <p:nvSpPr>
            <p:cNvPr id="11" name="object 11"/>
            <p:cNvSpPr/>
            <p:nvPr/>
          </p:nvSpPr>
          <p:spPr>
            <a:xfrm>
              <a:off x="8897620" y="5327650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60">
                  <a:moveTo>
                    <a:pt x="0" y="0"/>
                  </a:moveTo>
                  <a:lnTo>
                    <a:pt x="0" y="2895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" name="object 12"/>
            <p:cNvSpPr/>
            <p:nvPr/>
          </p:nvSpPr>
          <p:spPr>
            <a:xfrm>
              <a:off x="8844280" y="5610859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107950" y="0"/>
                  </a:moveTo>
                  <a:lnTo>
                    <a:pt x="0" y="0"/>
                  </a:lnTo>
                  <a:lnTo>
                    <a:pt x="53340" y="16128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3" name="object 13"/>
          <p:cNvSpPr/>
          <p:nvPr/>
        </p:nvSpPr>
        <p:spPr>
          <a:xfrm>
            <a:off x="6855743" y="3896792"/>
            <a:ext cx="250692" cy="756397"/>
          </a:xfrm>
          <a:custGeom>
            <a:avLst/>
            <a:gdLst/>
            <a:ahLst/>
            <a:cxnLst/>
            <a:rect l="l" t="t" r="r" b="b"/>
            <a:pathLst>
              <a:path w="368300" h="1111250">
                <a:moveTo>
                  <a:pt x="0" y="1111249"/>
                </a:moveTo>
                <a:lnTo>
                  <a:pt x="3683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grpSp>
        <p:nvGrpSpPr>
          <p:cNvPr id="14" name="object 14"/>
          <p:cNvGrpSpPr/>
          <p:nvPr/>
        </p:nvGrpSpPr>
        <p:grpSpPr>
          <a:xfrm>
            <a:off x="6101940" y="3896791"/>
            <a:ext cx="1004495" cy="1058956"/>
            <a:chOff x="5219700" y="5716270"/>
            <a:chExt cx="1475740" cy="1555750"/>
          </a:xfrm>
        </p:grpSpPr>
        <p:sp>
          <p:nvSpPr>
            <p:cNvPr id="15" name="object 15"/>
            <p:cNvSpPr/>
            <p:nvPr/>
          </p:nvSpPr>
          <p:spPr>
            <a:xfrm>
              <a:off x="5219700" y="5716270"/>
              <a:ext cx="1475740" cy="1111250"/>
            </a:xfrm>
            <a:custGeom>
              <a:avLst/>
              <a:gdLst/>
              <a:ahLst/>
              <a:cxnLst/>
              <a:rect l="l" t="t" r="r" b="b"/>
              <a:pathLst>
                <a:path w="1475740" h="1111250">
                  <a:moveTo>
                    <a:pt x="0" y="0"/>
                  </a:moveTo>
                  <a:lnTo>
                    <a:pt x="246379" y="1111249"/>
                  </a:lnTo>
                </a:path>
                <a:path w="1475740" h="1111250">
                  <a:moveTo>
                    <a:pt x="1107439" y="1111249"/>
                  </a:moveTo>
                  <a:lnTo>
                    <a:pt x="246379" y="1111249"/>
                  </a:lnTo>
                </a:path>
                <a:path w="1475740" h="1111250">
                  <a:moveTo>
                    <a:pt x="492760" y="0"/>
                  </a:moveTo>
                  <a:lnTo>
                    <a:pt x="0" y="0"/>
                  </a:lnTo>
                </a:path>
                <a:path w="1475740" h="1111250">
                  <a:moveTo>
                    <a:pt x="1475740" y="0"/>
                  </a:moveTo>
                  <a:lnTo>
                    <a:pt x="984250" y="0"/>
                  </a:lnTo>
                </a:path>
                <a:path w="1475740" h="1111250">
                  <a:moveTo>
                    <a:pt x="492760" y="0"/>
                  </a:moveTo>
                  <a:lnTo>
                    <a:pt x="737870" y="334009"/>
                  </a:lnTo>
                </a:path>
                <a:path w="1475740" h="1111250">
                  <a:moveTo>
                    <a:pt x="984250" y="0"/>
                  </a:moveTo>
                  <a:lnTo>
                    <a:pt x="737870" y="3340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" name="object 16"/>
            <p:cNvSpPr/>
            <p:nvPr/>
          </p:nvSpPr>
          <p:spPr>
            <a:xfrm>
              <a:off x="5957569" y="6827520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59">
                  <a:moveTo>
                    <a:pt x="0" y="0"/>
                  </a:moveTo>
                  <a:lnTo>
                    <a:pt x="0" y="2895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" name="object 17"/>
            <p:cNvSpPr/>
            <p:nvPr/>
          </p:nvSpPr>
          <p:spPr>
            <a:xfrm>
              <a:off x="5904230" y="710946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59">
                  <a:moveTo>
                    <a:pt x="107950" y="0"/>
                  </a:moveTo>
                  <a:lnTo>
                    <a:pt x="0" y="0"/>
                  </a:lnTo>
                  <a:lnTo>
                    <a:pt x="5334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274830" y="3632269"/>
            <a:ext cx="73479" cy="302559"/>
            <a:chOff x="5473700" y="5327650"/>
            <a:chExt cx="107950" cy="444500"/>
          </a:xfrm>
        </p:grpSpPr>
        <p:sp>
          <p:nvSpPr>
            <p:cNvPr id="19" name="object 19"/>
            <p:cNvSpPr/>
            <p:nvPr/>
          </p:nvSpPr>
          <p:spPr>
            <a:xfrm>
              <a:off x="5527039" y="5327650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60">
                  <a:moveTo>
                    <a:pt x="0" y="0"/>
                  </a:moveTo>
                  <a:lnTo>
                    <a:pt x="0" y="2895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" name="object 20"/>
            <p:cNvSpPr/>
            <p:nvPr/>
          </p:nvSpPr>
          <p:spPr>
            <a:xfrm>
              <a:off x="5473700" y="5610859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107950" y="0"/>
                  </a:moveTo>
                  <a:lnTo>
                    <a:pt x="0" y="0"/>
                  </a:lnTo>
                  <a:lnTo>
                    <a:pt x="53339" y="16128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6902424" y="3631837"/>
            <a:ext cx="73479" cy="302990"/>
            <a:chOff x="6395720" y="5327015"/>
            <a:chExt cx="107950" cy="445134"/>
          </a:xfrm>
        </p:grpSpPr>
        <p:sp>
          <p:nvSpPr>
            <p:cNvPr id="22" name="object 22"/>
            <p:cNvSpPr/>
            <p:nvPr/>
          </p:nvSpPr>
          <p:spPr>
            <a:xfrm>
              <a:off x="6450330" y="5327650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60">
                  <a:moveTo>
                    <a:pt x="0" y="0"/>
                  </a:moveTo>
                  <a:lnTo>
                    <a:pt x="0" y="2895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" name="object 23"/>
            <p:cNvSpPr/>
            <p:nvPr/>
          </p:nvSpPr>
          <p:spPr>
            <a:xfrm>
              <a:off x="6395720" y="5610860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107950" y="0"/>
                  </a:moveTo>
                  <a:lnTo>
                    <a:pt x="0" y="0"/>
                  </a:lnTo>
                  <a:lnTo>
                    <a:pt x="54609" y="16128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2797996" y="146855"/>
            <a:ext cx="6631033" cy="562727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z="3600" spc="-31" dirty="0"/>
              <a:t>Vector </a:t>
            </a:r>
            <a:r>
              <a:rPr sz="3600" spc="-3" dirty="0"/>
              <a:t>Architecture </a:t>
            </a:r>
            <a:r>
              <a:rPr sz="3600" dirty="0"/>
              <a:t>–</a:t>
            </a:r>
            <a:r>
              <a:rPr sz="3600" spc="-194" dirty="0"/>
              <a:t> </a:t>
            </a:r>
            <a:r>
              <a:rPr sz="3600" spc="-3" dirty="0"/>
              <a:t>Chaining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907783" y="901459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19574" y="690532"/>
            <a:ext cx="4529738" cy="858476"/>
          </a:xfrm>
          <a:prstGeom prst="rect">
            <a:avLst/>
          </a:prstGeom>
        </p:spPr>
        <p:txBody>
          <a:bodyPr vert="horz" wrap="square" lIns="0" tIns="126210" rIns="0" bIns="0" rtlCol="0">
            <a:spAutoFit/>
          </a:bodyPr>
          <a:lstStyle/>
          <a:p>
            <a:pPr marL="17290">
              <a:spcBef>
                <a:spcPts val="994"/>
              </a:spcBef>
            </a:pPr>
            <a:r>
              <a:rPr sz="2178" spc="-20" dirty="0">
                <a:latin typeface="Arial"/>
                <a:cs typeface="Arial"/>
              </a:rPr>
              <a:t>Vector </a:t>
            </a:r>
            <a:r>
              <a:rPr sz="2178" dirty="0">
                <a:latin typeface="Arial"/>
                <a:cs typeface="Arial"/>
              </a:rPr>
              <a:t>version of Register</a:t>
            </a:r>
            <a:r>
              <a:rPr sz="2178" spc="-37" dirty="0">
                <a:latin typeface="Arial"/>
                <a:cs typeface="Arial"/>
              </a:rPr>
              <a:t> </a:t>
            </a:r>
            <a:r>
              <a:rPr sz="2178" dirty="0">
                <a:latin typeface="Arial"/>
                <a:cs typeface="Arial"/>
              </a:rPr>
              <a:t>bypassing</a:t>
            </a:r>
          </a:p>
          <a:p>
            <a:pPr marL="90771">
              <a:spcBef>
                <a:spcPts val="810"/>
              </a:spcBef>
            </a:pPr>
            <a:r>
              <a:rPr sz="2144" baseline="9259" dirty="0">
                <a:latin typeface="OpenSymbol"/>
                <a:cs typeface="OpenSymbol"/>
              </a:rPr>
              <a:t>– </a:t>
            </a:r>
            <a:r>
              <a:rPr sz="1906" spc="-3" dirty="0">
                <a:latin typeface="Arial"/>
                <a:cs typeface="Arial"/>
              </a:rPr>
              <a:t>Introduced with</a:t>
            </a:r>
            <a:r>
              <a:rPr sz="1906" spc="211" dirty="0">
                <a:latin typeface="Arial"/>
                <a:cs typeface="Arial"/>
              </a:rPr>
              <a:t> </a:t>
            </a:r>
            <a:r>
              <a:rPr sz="1906" spc="-3" dirty="0">
                <a:latin typeface="Arial"/>
                <a:cs typeface="Arial"/>
              </a:rPr>
              <a:t>Cray-1</a:t>
            </a:r>
            <a:endParaRPr sz="1906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97997" y="2066743"/>
            <a:ext cx="741701" cy="728162"/>
          </a:xfrm>
          <a:prstGeom prst="rect">
            <a:avLst/>
          </a:prstGeom>
        </p:spPr>
        <p:txBody>
          <a:bodyPr vert="horz" wrap="square" lIns="0" tIns="26366" rIns="0" bIns="0" rtlCol="0">
            <a:spAutoFit/>
          </a:bodyPr>
          <a:lstStyle/>
          <a:p>
            <a:pPr marL="8645" marR="3458">
              <a:lnSpc>
                <a:spcPct val="92900"/>
              </a:lnSpc>
              <a:spcBef>
                <a:spcPts val="208"/>
              </a:spcBef>
            </a:pPr>
            <a:r>
              <a:rPr sz="1634" b="1" spc="-65" dirty="0">
                <a:latin typeface="Arial"/>
                <a:cs typeface="Arial"/>
              </a:rPr>
              <a:t>LV  </a:t>
            </a:r>
            <a:r>
              <a:rPr sz="1634" b="1" spc="-31" dirty="0">
                <a:latin typeface="Arial"/>
                <a:cs typeface="Arial"/>
              </a:rPr>
              <a:t>MULVV  </a:t>
            </a:r>
            <a:r>
              <a:rPr sz="1634" b="1" spc="-3" dirty="0">
                <a:latin typeface="Arial"/>
                <a:cs typeface="Arial"/>
              </a:rPr>
              <a:t>A</a:t>
            </a:r>
            <a:r>
              <a:rPr sz="1634" b="1" spc="-10" dirty="0">
                <a:latin typeface="Arial"/>
                <a:cs typeface="Arial"/>
              </a:rPr>
              <a:t>D</a:t>
            </a:r>
            <a:r>
              <a:rPr sz="1634" b="1" spc="-3" dirty="0">
                <a:latin typeface="Arial"/>
                <a:cs typeface="Arial"/>
              </a:rPr>
              <a:t>DVV</a:t>
            </a:r>
            <a:endParaRPr sz="1634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16912" y="2066743"/>
            <a:ext cx="1007521" cy="726875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lnSpc>
                <a:spcPts val="1889"/>
              </a:lnSpc>
              <a:spcBef>
                <a:spcPts val="68"/>
              </a:spcBef>
            </a:pPr>
            <a:r>
              <a:rPr sz="1634" b="1" spc="-7" dirty="0">
                <a:latin typeface="Arial"/>
                <a:cs typeface="Arial"/>
              </a:rPr>
              <a:t>V1</a:t>
            </a:r>
            <a:endParaRPr sz="1634">
              <a:latin typeface="Arial"/>
              <a:cs typeface="Arial"/>
            </a:endParaRPr>
          </a:p>
          <a:p>
            <a:pPr marL="8645" marR="3458">
              <a:lnSpc>
                <a:spcPts val="1824"/>
              </a:lnSpc>
              <a:spcBef>
                <a:spcPts val="102"/>
              </a:spcBef>
            </a:pPr>
            <a:r>
              <a:rPr sz="1634" b="1" spc="-7" dirty="0">
                <a:latin typeface="Arial"/>
                <a:cs typeface="Arial"/>
              </a:rPr>
              <a:t>V3, </a:t>
            </a:r>
            <a:r>
              <a:rPr sz="1634" b="1" spc="-3" dirty="0">
                <a:latin typeface="Arial"/>
                <a:cs typeface="Arial"/>
              </a:rPr>
              <a:t>V1,</a:t>
            </a:r>
            <a:r>
              <a:rPr sz="1634" b="1" spc="-51" dirty="0">
                <a:latin typeface="Arial"/>
                <a:cs typeface="Arial"/>
              </a:rPr>
              <a:t> </a:t>
            </a:r>
            <a:r>
              <a:rPr sz="1634" b="1" spc="-3" dirty="0">
                <a:latin typeface="Arial"/>
                <a:cs typeface="Arial"/>
              </a:rPr>
              <a:t>V2  </a:t>
            </a:r>
            <a:r>
              <a:rPr sz="1634" b="1" spc="-7" dirty="0">
                <a:latin typeface="Arial"/>
                <a:cs typeface="Arial"/>
              </a:rPr>
              <a:t>V5, </a:t>
            </a:r>
            <a:r>
              <a:rPr sz="1634" b="1" spc="-3" dirty="0">
                <a:latin typeface="Arial"/>
                <a:cs typeface="Arial"/>
              </a:rPr>
              <a:t>V3,</a:t>
            </a:r>
            <a:r>
              <a:rPr sz="1634" b="1" spc="-51" dirty="0">
                <a:latin typeface="Arial"/>
                <a:cs typeface="Arial"/>
              </a:rPr>
              <a:t> </a:t>
            </a:r>
            <a:r>
              <a:rPr sz="1634" b="1" spc="-3" dirty="0">
                <a:latin typeface="Arial"/>
                <a:cs typeface="Arial"/>
              </a:rPr>
              <a:t>V4</a:t>
            </a:r>
            <a:endParaRPr sz="1634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27735" y="4269371"/>
            <a:ext cx="931017" cy="234777"/>
          </a:xfrm>
          <a:prstGeom prst="rect">
            <a:avLst/>
          </a:prstGeom>
          <a:solidFill>
            <a:srgbClr val="CEE6F4"/>
          </a:solidFill>
          <a:ln w="3175">
            <a:solidFill>
              <a:srgbClr val="7F7F7F"/>
            </a:solidFill>
          </a:ln>
        </p:spPr>
        <p:txBody>
          <a:bodyPr vert="horz" wrap="square" lIns="0" tIns="45816" rIns="0" bIns="0" rtlCol="0">
            <a:spAutoFit/>
          </a:bodyPr>
          <a:lstStyle/>
          <a:p>
            <a:pPr marL="118003">
              <a:spcBef>
                <a:spcPts val="361"/>
              </a:spcBef>
            </a:pPr>
            <a:r>
              <a:rPr sz="1225" b="1" spc="-10" dirty="0">
                <a:latin typeface="Arial"/>
                <a:cs typeface="Arial"/>
              </a:rPr>
              <a:t>MEMORY</a:t>
            </a:r>
            <a:endParaRPr sz="1225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74692" y="3607199"/>
            <a:ext cx="637102" cy="394861"/>
          </a:xfrm>
          <a:prstGeom prst="rect">
            <a:avLst/>
          </a:prstGeom>
          <a:solidFill>
            <a:srgbClr val="CEE6F4"/>
          </a:solidFill>
          <a:ln w="3175">
            <a:solidFill>
              <a:srgbClr val="7F7F7F"/>
            </a:solidFill>
          </a:ln>
        </p:spPr>
        <p:txBody>
          <a:bodyPr vert="horz" wrap="square" lIns="0" tIns="35442" rIns="0" bIns="0" rtlCol="0">
            <a:spAutoFit/>
          </a:bodyPr>
          <a:lstStyle/>
          <a:p>
            <a:pPr marL="166414" marR="127944" indent="-34580">
              <a:lnSpc>
                <a:spcPts val="1375"/>
              </a:lnSpc>
              <a:spcBef>
                <a:spcPts val="278"/>
              </a:spcBef>
            </a:pPr>
            <a:r>
              <a:rPr sz="1225" b="1" spc="-3" dirty="0">
                <a:latin typeface="Arial"/>
                <a:cs typeface="Arial"/>
              </a:rPr>
              <a:t>L</a:t>
            </a:r>
            <a:r>
              <a:rPr sz="1225" b="1" spc="3" dirty="0">
                <a:latin typeface="Arial"/>
                <a:cs typeface="Arial"/>
              </a:rPr>
              <a:t>o</a:t>
            </a:r>
            <a:r>
              <a:rPr sz="1225" b="1" spc="-10" dirty="0">
                <a:latin typeface="Arial"/>
                <a:cs typeface="Arial"/>
              </a:rPr>
              <a:t>a</a:t>
            </a:r>
            <a:r>
              <a:rPr sz="1225" b="1" dirty="0">
                <a:latin typeface="Arial"/>
                <a:cs typeface="Arial"/>
              </a:rPr>
              <a:t>d  </a:t>
            </a:r>
            <a:r>
              <a:rPr sz="1225" b="1" spc="-3" dirty="0">
                <a:latin typeface="Arial"/>
                <a:cs typeface="Arial"/>
              </a:rPr>
              <a:t>Unit</a:t>
            </a:r>
            <a:endParaRPr sz="1225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097444" y="1819509"/>
            <a:ext cx="440871" cy="1127248"/>
          </a:xfrm>
          <a:custGeom>
            <a:avLst/>
            <a:gdLst/>
            <a:ahLst/>
            <a:cxnLst/>
            <a:rect l="l" t="t" r="r" b="b"/>
            <a:pathLst>
              <a:path w="647700" h="1656079">
                <a:moveTo>
                  <a:pt x="0" y="255269"/>
                </a:moveTo>
                <a:lnTo>
                  <a:pt x="255269" y="0"/>
                </a:lnTo>
              </a:path>
              <a:path w="647700" h="1656079">
                <a:moveTo>
                  <a:pt x="0" y="513079"/>
                </a:moveTo>
                <a:lnTo>
                  <a:pt x="514350" y="0"/>
                </a:lnTo>
              </a:path>
              <a:path w="647700" h="1656079">
                <a:moveTo>
                  <a:pt x="0" y="772160"/>
                </a:moveTo>
                <a:lnTo>
                  <a:pt x="647700" y="124460"/>
                </a:lnTo>
              </a:path>
              <a:path w="647700" h="1656079">
                <a:moveTo>
                  <a:pt x="0" y="1029969"/>
                </a:moveTo>
                <a:lnTo>
                  <a:pt x="647700" y="382269"/>
                </a:lnTo>
              </a:path>
              <a:path w="647700" h="1656079">
                <a:moveTo>
                  <a:pt x="0" y="1289050"/>
                </a:moveTo>
                <a:lnTo>
                  <a:pt x="647700" y="641350"/>
                </a:lnTo>
              </a:path>
              <a:path w="647700" h="1656079">
                <a:moveTo>
                  <a:pt x="0" y="1548129"/>
                </a:moveTo>
                <a:lnTo>
                  <a:pt x="647700" y="899160"/>
                </a:lnTo>
              </a:path>
              <a:path w="647700" h="1656079">
                <a:moveTo>
                  <a:pt x="151129" y="1656079"/>
                </a:moveTo>
                <a:lnTo>
                  <a:pt x="647700" y="1158239"/>
                </a:lnTo>
              </a:path>
              <a:path w="647700" h="1656079">
                <a:moveTo>
                  <a:pt x="408939" y="1656079"/>
                </a:moveTo>
                <a:lnTo>
                  <a:pt x="647700" y="141605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32" name="object 32"/>
          <p:cNvSpPr txBox="1"/>
          <p:nvPr/>
        </p:nvSpPr>
        <p:spPr>
          <a:xfrm>
            <a:off x="5097444" y="1819509"/>
            <a:ext cx="440871" cy="701026"/>
          </a:xfrm>
          <a:prstGeom prst="rect">
            <a:avLst/>
          </a:prstGeom>
          <a:ln w="3175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38">
              <a:latin typeface="Times New Roman"/>
              <a:cs typeface="Times New Roman"/>
            </a:endParaRPr>
          </a:p>
          <a:p>
            <a:pPr marL="93797">
              <a:spcBef>
                <a:spcPts val="1256"/>
              </a:spcBef>
            </a:pPr>
            <a:r>
              <a:rPr sz="1634" b="1" spc="-7" dirty="0">
                <a:latin typeface="Arial"/>
                <a:cs typeface="Arial"/>
              </a:rPr>
              <a:t>V1</a:t>
            </a:r>
            <a:endParaRPr sz="1634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469333" y="1818644"/>
            <a:ext cx="440871" cy="1127248"/>
          </a:xfrm>
          <a:custGeom>
            <a:avLst/>
            <a:gdLst/>
            <a:ahLst/>
            <a:cxnLst/>
            <a:rect l="l" t="t" r="r" b="b"/>
            <a:pathLst>
              <a:path w="647700" h="1656079">
                <a:moveTo>
                  <a:pt x="0" y="256539"/>
                </a:moveTo>
                <a:lnTo>
                  <a:pt x="255270" y="0"/>
                </a:lnTo>
              </a:path>
              <a:path w="647700" h="1656079">
                <a:moveTo>
                  <a:pt x="0" y="514350"/>
                </a:moveTo>
                <a:lnTo>
                  <a:pt x="514350" y="0"/>
                </a:lnTo>
              </a:path>
              <a:path w="647700" h="1656079">
                <a:moveTo>
                  <a:pt x="0" y="773430"/>
                </a:moveTo>
                <a:lnTo>
                  <a:pt x="647700" y="124460"/>
                </a:lnTo>
              </a:path>
              <a:path w="647700" h="1656079">
                <a:moveTo>
                  <a:pt x="0" y="1031239"/>
                </a:moveTo>
                <a:lnTo>
                  <a:pt x="647700" y="383539"/>
                </a:lnTo>
              </a:path>
              <a:path w="647700" h="1656079">
                <a:moveTo>
                  <a:pt x="0" y="1290320"/>
                </a:moveTo>
                <a:lnTo>
                  <a:pt x="647700" y="641350"/>
                </a:lnTo>
              </a:path>
              <a:path w="647700" h="1656079">
                <a:moveTo>
                  <a:pt x="0" y="1548130"/>
                </a:moveTo>
                <a:lnTo>
                  <a:pt x="647700" y="900430"/>
                </a:lnTo>
              </a:path>
              <a:path w="647700" h="1656079">
                <a:moveTo>
                  <a:pt x="151129" y="1656080"/>
                </a:moveTo>
                <a:lnTo>
                  <a:pt x="647700" y="1159510"/>
                </a:lnTo>
              </a:path>
              <a:path w="647700" h="1656079">
                <a:moveTo>
                  <a:pt x="408939" y="1656080"/>
                </a:moveTo>
                <a:lnTo>
                  <a:pt x="647700" y="141732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34" name="object 34"/>
          <p:cNvSpPr txBox="1"/>
          <p:nvPr/>
        </p:nvSpPr>
        <p:spPr>
          <a:xfrm>
            <a:off x="6469333" y="1818644"/>
            <a:ext cx="440871" cy="701026"/>
          </a:xfrm>
          <a:prstGeom prst="rect">
            <a:avLst/>
          </a:prstGeom>
          <a:ln w="3175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38">
              <a:latin typeface="Times New Roman"/>
              <a:cs typeface="Times New Roman"/>
            </a:endParaRPr>
          </a:p>
          <a:p>
            <a:pPr marL="93797">
              <a:spcBef>
                <a:spcPts val="1263"/>
              </a:spcBef>
            </a:pPr>
            <a:r>
              <a:rPr sz="1634" b="1" spc="-3" dirty="0">
                <a:latin typeface="Arial"/>
                <a:cs typeface="Arial"/>
              </a:rPr>
              <a:t>V2</a:t>
            </a:r>
            <a:endParaRPr sz="1634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959478" y="1818644"/>
            <a:ext cx="440871" cy="1127248"/>
          </a:xfrm>
          <a:custGeom>
            <a:avLst/>
            <a:gdLst/>
            <a:ahLst/>
            <a:cxnLst/>
            <a:rect l="l" t="t" r="r" b="b"/>
            <a:pathLst>
              <a:path w="647700" h="1656079">
                <a:moveTo>
                  <a:pt x="0" y="255270"/>
                </a:moveTo>
                <a:lnTo>
                  <a:pt x="255269" y="0"/>
                </a:lnTo>
              </a:path>
              <a:path w="647700" h="1656079">
                <a:moveTo>
                  <a:pt x="0" y="514350"/>
                </a:moveTo>
                <a:lnTo>
                  <a:pt x="514350" y="0"/>
                </a:lnTo>
              </a:path>
              <a:path w="647700" h="1656079">
                <a:moveTo>
                  <a:pt x="0" y="772160"/>
                </a:moveTo>
                <a:lnTo>
                  <a:pt x="647700" y="124460"/>
                </a:lnTo>
              </a:path>
              <a:path w="647700" h="1656079">
                <a:moveTo>
                  <a:pt x="0" y="1031239"/>
                </a:moveTo>
                <a:lnTo>
                  <a:pt x="647700" y="383539"/>
                </a:lnTo>
              </a:path>
              <a:path w="647700" h="1656079">
                <a:moveTo>
                  <a:pt x="0" y="1289050"/>
                </a:moveTo>
                <a:lnTo>
                  <a:pt x="647700" y="641350"/>
                </a:lnTo>
              </a:path>
              <a:path w="647700" h="1656079">
                <a:moveTo>
                  <a:pt x="0" y="1548130"/>
                </a:moveTo>
                <a:lnTo>
                  <a:pt x="647700" y="900430"/>
                </a:lnTo>
              </a:path>
              <a:path w="647700" h="1656079">
                <a:moveTo>
                  <a:pt x="149860" y="1656080"/>
                </a:moveTo>
                <a:lnTo>
                  <a:pt x="647700" y="1158239"/>
                </a:lnTo>
              </a:path>
              <a:path w="647700" h="1656079">
                <a:moveTo>
                  <a:pt x="408939" y="1656080"/>
                </a:moveTo>
                <a:lnTo>
                  <a:pt x="647700" y="141732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36" name="object 36"/>
          <p:cNvSpPr txBox="1"/>
          <p:nvPr/>
        </p:nvSpPr>
        <p:spPr>
          <a:xfrm>
            <a:off x="6959478" y="1818644"/>
            <a:ext cx="440871" cy="701026"/>
          </a:xfrm>
          <a:prstGeom prst="rect">
            <a:avLst/>
          </a:prstGeom>
          <a:ln w="3175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38">
              <a:latin typeface="Times New Roman"/>
              <a:cs typeface="Times New Roman"/>
            </a:endParaRPr>
          </a:p>
          <a:p>
            <a:pPr marL="94229">
              <a:spcBef>
                <a:spcPts val="1256"/>
              </a:spcBef>
            </a:pPr>
            <a:r>
              <a:rPr sz="1634" b="1" spc="-7" dirty="0">
                <a:latin typeface="Arial"/>
                <a:cs typeface="Arial"/>
              </a:rPr>
              <a:t>V3</a:t>
            </a:r>
            <a:endParaRPr sz="1634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160204" y="1818644"/>
            <a:ext cx="440871" cy="1127248"/>
          </a:xfrm>
          <a:custGeom>
            <a:avLst/>
            <a:gdLst/>
            <a:ahLst/>
            <a:cxnLst/>
            <a:rect l="l" t="t" r="r" b="b"/>
            <a:pathLst>
              <a:path w="647700" h="1656079">
                <a:moveTo>
                  <a:pt x="0" y="255270"/>
                </a:moveTo>
                <a:lnTo>
                  <a:pt x="255270" y="0"/>
                </a:lnTo>
              </a:path>
              <a:path w="647700" h="1656079">
                <a:moveTo>
                  <a:pt x="0" y="514350"/>
                </a:moveTo>
                <a:lnTo>
                  <a:pt x="514350" y="0"/>
                </a:lnTo>
              </a:path>
              <a:path w="647700" h="1656079">
                <a:moveTo>
                  <a:pt x="0" y="772160"/>
                </a:moveTo>
                <a:lnTo>
                  <a:pt x="647700" y="124460"/>
                </a:lnTo>
              </a:path>
              <a:path w="647700" h="1656079">
                <a:moveTo>
                  <a:pt x="0" y="1031239"/>
                </a:moveTo>
                <a:lnTo>
                  <a:pt x="647700" y="383539"/>
                </a:lnTo>
              </a:path>
              <a:path w="647700" h="1656079">
                <a:moveTo>
                  <a:pt x="0" y="1289050"/>
                </a:moveTo>
                <a:lnTo>
                  <a:pt x="647700" y="641350"/>
                </a:lnTo>
              </a:path>
              <a:path w="647700" h="1656079">
                <a:moveTo>
                  <a:pt x="0" y="1548130"/>
                </a:moveTo>
                <a:lnTo>
                  <a:pt x="647700" y="900430"/>
                </a:lnTo>
              </a:path>
              <a:path w="647700" h="1656079">
                <a:moveTo>
                  <a:pt x="151129" y="1656080"/>
                </a:moveTo>
                <a:lnTo>
                  <a:pt x="647700" y="1158239"/>
                </a:lnTo>
              </a:path>
              <a:path w="647700" h="1656079">
                <a:moveTo>
                  <a:pt x="408939" y="1656080"/>
                </a:moveTo>
                <a:lnTo>
                  <a:pt x="647700" y="141732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grpSp>
        <p:nvGrpSpPr>
          <p:cNvPr id="38" name="object 38"/>
          <p:cNvGrpSpPr/>
          <p:nvPr/>
        </p:nvGrpSpPr>
        <p:grpSpPr>
          <a:xfrm>
            <a:off x="5170491" y="2933791"/>
            <a:ext cx="2862639" cy="2157244"/>
            <a:chOff x="3851275" y="4301490"/>
            <a:chExt cx="4205605" cy="3169285"/>
          </a:xfrm>
        </p:grpSpPr>
        <p:sp>
          <p:nvSpPr>
            <p:cNvPr id="39" name="object 39"/>
            <p:cNvSpPr/>
            <p:nvPr/>
          </p:nvSpPr>
          <p:spPr>
            <a:xfrm>
              <a:off x="5147310" y="5854700"/>
              <a:ext cx="1643380" cy="105410"/>
            </a:xfrm>
            <a:custGeom>
              <a:avLst/>
              <a:gdLst/>
              <a:ahLst/>
              <a:cxnLst/>
              <a:rect l="l" t="t" r="r" b="b"/>
              <a:pathLst>
                <a:path w="1643379" h="105410">
                  <a:moveTo>
                    <a:pt x="1643380" y="0"/>
                  </a:moveTo>
                  <a:lnTo>
                    <a:pt x="0" y="0"/>
                  </a:lnTo>
                  <a:lnTo>
                    <a:pt x="0" y="105409"/>
                  </a:lnTo>
                  <a:lnTo>
                    <a:pt x="1643380" y="10540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" name="object 40"/>
            <p:cNvSpPr/>
            <p:nvPr/>
          </p:nvSpPr>
          <p:spPr>
            <a:xfrm>
              <a:off x="5147310" y="5854700"/>
              <a:ext cx="1643380" cy="105410"/>
            </a:xfrm>
            <a:custGeom>
              <a:avLst/>
              <a:gdLst/>
              <a:ahLst/>
              <a:cxnLst/>
              <a:rect l="l" t="t" r="r" b="b"/>
              <a:pathLst>
                <a:path w="1643379" h="105410">
                  <a:moveTo>
                    <a:pt x="821689" y="105409"/>
                  </a:moveTo>
                  <a:lnTo>
                    <a:pt x="0" y="105409"/>
                  </a:lnTo>
                  <a:lnTo>
                    <a:pt x="0" y="0"/>
                  </a:lnTo>
                  <a:lnTo>
                    <a:pt x="1643380" y="0"/>
                  </a:lnTo>
                  <a:lnTo>
                    <a:pt x="1643380" y="105409"/>
                  </a:lnTo>
                  <a:lnTo>
                    <a:pt x="821689" y="10540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1" name="object 41"/>
            <p:cNvSpPr/>
            <p:nvPr/>
          </p:nvSpPr>
          <p:spPr>
            <a:xfrm>
              <a:off x="6334760" y="5805170"/>
              <a:ext cx="455930" cy="105410"/>
            </a:xfrm>
            <a:custGeom>
              <a:avLst/>
              <a:gdLst/>
              <a:ahLst/>
              <a:cxnLst/>
              <a:rect l="l" t="t" r="r" b="b"/>
              <a:pathLst>
                <a:path w="455929" h="105410">
                  <a:moveTo>
                    <a:pt x="455930" y="0"/>
                  </a:moveTo>
                  <a:lnTo>
                    <a:pt x="0" y="96519"/>
                  </a:lnTo>
                  <a:lnTo>
                    <a:pt x="450849" y="105409"/>
                  </a:lnTo>
                  <a:lnTo>
                    <a:pt x="45593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2" name="object 42"/>
            <p:cNvSpPr/>
            <p:nvPr/>
          </p:nvSpPr>
          <p:spPr>
            <a:xfrm>
              <a:off x="6332220" y="5805170"/>
              <a:ext cx="458470" cy="149860"/>
            </a:xfrm>
            <a:custGeom>
              <a:avLst/>
              <a:gdLst/>
              <a:ahLst/>
              <a:cxnLst/>
              <a:rect l="l" t="t" r="r" b="b"/>
              <a:pathLst>
                <a:path w="458470" h="149860">
                  <a:moveTo>
                    <a:pt x="2539" y="96519"/>
                  </a:moveTo>
                  <a:lnTo>
                    <a:pt x="458470" y="0"/>
                  </a:lnTo>
                  <a:lnTo>
                    <a:pt x="453389" y="105409"/>
                  </a:lnTo>
                  <a:lnTo>
                    <a:pt x="2539" y="96519"/>
                  </a:lnTo>
                  <a:close/>
                </a:path>
                <a:path w="458470" h="149860">
                  <a:moveTo>
                    <a:pt x="0" y="149859"/>
                  </a:moveTo>
                  <a:lnTo>
                    <a:pt x="0" y="149859"/>
                  </a:lnTo>
                </a:path>
                <a:path w="458470" h="149860">
                  <a:moveTo>
                    <a:pt x="458470" y="0"/>
                  </a:moveTo>
                  <a:lnTo>
                    <a:pt x="45847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3" name="object 43"/>
            <p:cNvSpPr/>
            <p:nvPr/>
          </p:nvSpPr>
          <p:spPr>
            <a:xfrm>
              <a:off x="4067809" y="4551680"/>
              <a:ext cx="0" cy="740410"/>
            </a:xfrm>
            <a:custGeom>
              <a:avLst/>
              <a:gdLst/>
              <a:ahLst/>
              <a:cxnLst/>
              <a:rect l="l" t="t" r="r" b="b"/>
              <a:pathLst>
                <a:path h="740410">
                  <a:moveTo>
                    <a:pt x="0" y="740410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4" name="object 44"/>
            <p:cNvSpPr/>
            <p:nvPr/>
          </p:nvSpPr>
          <p:spPr>
            <a:xfrm>
              <a:off x="3986529" y="4320540"/>
              <a:ext cx="162560" cy="242570"/>
            </a:xfrm>
            <a:custGeom>
              <a:avLst/>
              <a:gdLst/>
              <a:ahLst/>
              <a:cxnLst/>
              <a:rect l="l" t="t" r="r" b="b"/>
              <a:pathLst>
                <a:path w="162560" h="242570">
                  <a:moveTo>
                    <a:pt x="81280" y="0"/>
                  </a:moveTo>
                  <a:lnTo>
                    <a:pt x="0" y="242570"/>
                  </a:lnTo>
                  <a:lnTo>
                    <a:pt x="162560" y="242570"/>
                  </a:lnTo>
                  <a:lnTo>
                    <a:pt x="81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5" name="object 45"/>
            <p:cNvSpPr/>
            <p:nvPr/>
          </p:nvSpPr>
          <p:spPr>
            <a:xfrm>
              <a:off x="4067809" y="4860290"/>
              <a:ext cx="1238250" cy="396240"/>
            </a:xfrm>
            <a:custGeom>
              <a:avLst/>
              <a:gdLst/>
              <a:ahLst/>
              <a:cxnLst/>
              <a:rect l="l" t="t" r="r" b="b"/>
              <a:pathLst>
                <a:path w="1238250" h="396239">
                  <a:moveTo>
                    <a:pt x="0" y="0"/>
                  </a:moveTo>
                  <a:lnTo>
                    <a:pt x="1238250" y="396240"/>
                  </a:lnTo>
                </a:path>
              </a:pathLst>
            </a:custGeom>
            <a:ln w="35560">
              <a:solidFill>
                <a:srgbClr val="7F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6" name="object 46"/>
            <p:cNvSpPr/>
            <p:nvPr/>
          </p:nvSpPr>
          <p:spPr>
            <a:xfrm>
              <a:off x="5271769" y="5176520"/>
              <a:ext cx="255270" cy="154940"/>
            </a:xfrm>
            <a:custGeom>
              <a:avLst/>
              <a:gdLst/>
              <a:ahLst/>
              <a:cxnLst/>
              <a:rect l="l" t="t" r="r" b="b"/>
              <a:pathLst>
                <a:path w="255270" h="154939">
                  <a:moveTo>
                    <a:pt x="49529" y="0"/>
                  </a:moveTo>
                  <a:lnTo>
                    <a:pt x="0" y="154939"/>
                  </a:lnTo>
                  <a:lnTo>
                    <a:pt x="255269" y="151129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7" name="object 47"/>
            <p:cNvSpPr/>
            <p:nvPr/>
          </p:nvSpPr>
          <p:spPr>
            <a:xfrm>
              <a:off x="6084570" y="4319270"/>
              <a:ext cx="285750" cy="789940"/>
            </a:xfrm>
            <a:custGeom>
              <a:avLst/>
              <a:gdLst/>
              <a:ahLst/>
              <a:cxnLst/>
              <a:rect l="l" t="t" r="r" b="b"/>
              <a:pathLst>
                <a:path w="285750" h="789939">
                  <a:moveTo>
                    <a:pt x="0" y="0"/>
                  </a:moveTo>
                  <a:lnTo>
                    <a:pt x="285750" y="789939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8" name="object 48"/>
            <p:cNvSpPr/>
            <p:nvPr/>
          </p:nvSpPr>
          <p:spPr>
            <a:xfrm>
              <a:off x="6291579" y="5072380"/>
              <a:ext cx="158750" cy="255270"/>
            </a:xfrm>
            <a:custGeom>
              <a:avLst/>
              <a:gdLst/>
              <a:ahLst/>
              <a:cxnLst/>
              <a:rect l="l" t="t" r="r" b="b"/>
              <a:pathLst>
                <a:path w="158750" h="255270">
                  <a:moveTo>
                    <a:pt x="151130" y="0"/>
                  </a:moveTo>
                  <a:lnTo>
                    <a:pt x="0" y="54610"/>
                  </a:lnTo>
                  <a:lnTo>
                    <a:pt x="158750" y="255270"/>
                  </a:lnTo>
                  <a:lnTo>
                    <a:pt x="1511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9" name="object 49"/>
            <p:cNvSpPr/>
            <p:nvPr/>
          </p:nvSpPr>
          <p:spPr>
            <a:xfrm>
              <a:off x="3851910" y="6047740"/>
              <a:ext cx="86360" cy="215900"/>
            </a:xfrm>
            <a:custGeom>
              <a:avLst/>
              <a:gdLst/>
              <a:ahLst/>
              <a:cxnLst/>
              <a:rect l="l" t="t" r="r" b="b"/>
              <a:pathLst>
                <a:path w="86360" h="215900">
                  <a:moveTo>
                    <a:pt x="0" y="215900"/>
                  </a:moveTo>
                  <a:lnTo>
                    <a:pt x="86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0" name="object 50"/>
            <p:cNvSpPr/>
            <p:nvPr/>
          </p:nvSpPr>
          <p:spPr>
            <a:xfrm>
              <a:off x="3886200" y="5904230"/>
              <a:ext cx="109220" cy="170180"/>
            </a:xfrm>
            <a:custGeom>
              <a:avLst/>
              <a:gdLst/>
              <a:ahLst/>
              <a:cxnLst/>
              <a:rect l="l" t="t" r="r" b="b"/>
              <a:pathLst>
                <a:path w="109220" h="170179">
                  <a:moveTo>
                    <a:pt x="109220" y="0"/>
                  </a:moveTo>
                  <a:lnTo>
                    <a:pt x="0" y="129540"/>
                  </a:lnTo>
                  <a:lnTo>
                    <a:pt x="100329" y="170180"/>
                  </a:lnTo>
                  <a:lnTo>
                    <a:pt x="1092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1" name="object 51"/>
            <p:cNvSpPr/>
            <p:nvPr/>
          </p:nvSpPr>
          <p:spPr>
            <a:xfrm>
              <a:off x="6803389" y="4319270"/>
              <a:ext cx="1172210" cy="775970"/>
            </a:xfrm>
            <a:custGeom>
              <a:avLst/>
              <a:gdLst/>
              <a:ahLst/>
              <a:cxnLst/>
              <a:rect l="l" t="t" r="r" b="b"/>
              <a:pathLst>
                <a:path w="1172209" h="775970">
                  <a:moveTo>
                    <a:pt x="0" y="0"/>
                  </a:moveTo>
                  <a:lnTo>
                    <a:pt x="0" y="504189"/>
                  </a:lnTo>
                  <a:lnTo>
                    <a:pt x="1172209" y="504189"/>
                  </a:lnTo>
                  <a:lnTo>
                    <a:pt x="1172209" y="775969"/>
                  </a:lnTo>
                </a:path>
              </a:pathLst>
            </a:custGeom>
            <a:ln w="35560">
              <a:solidFill>
                <a:srgbClr val="7F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2" name="object 52"/>
            <p:cNvSpPr/>
            <p:nvPr/>
          </p:nvSpPr>
          <p:spPr>
            <a:xfrm>
              <a:off x="7894320" y="5085080"/>
              <a:ext cx="162560" cy="242570"/>
            </a:xfrm>
            <a:custGeom>
              <a:avLst/>
              <a:gdLst/>
              <a:ahLst/>
              <a:cxnLst/>
              <a:rect l="l" t="t" r="r" b="b"/>
              <a:pathLst>
                <a:path w="162559" h="242570">
                  <a:moveTo>
                    <a:pt x="162559" y="0"/>
                  </a:moveTo>
                  <a:lnTo>
                    <a:pt x="0" y="0"/>
                  </a:lnTo>
                  <a:lnTo>
                    <a:pt x="81279" y="242570"/>
                  </a:lnTo>
                  <a:lnTo>
                    <a:pt x="162559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3" name="object 53"/>
            <p:cNvSpPr/>
            <p:nvPr/>
          </p:nvSpPr>
          <p:spPr>
            <a:xfrm>
              <a:off x="7975600" y="5327650"/>
              <a:ext cx="0" cy="72390"/>
            </a:xfrm>
            <a:custGeom>
              <a:avLst/>
              <a:gdLst/>
              <a:ahLst/>
              <a:cxnLst/>
              <a:rect l="l" t="t" r="r" b="b"/>
              <a:pathLst>
                <a:path h="72389">
                  <a:moveTo>
                    <a:pt x="0" y="723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4" name="object 54"/>
            <p:cNvSpPr/>
            <p:nvPr/>
          </p:nvSpPr>
          <p:spPr>
            <a:xfrm>
              <a:off x="5147310" y="6230620"/>
              <a:ext cx="1643380" cy="105410"/>
            </a:xfrm>
            <a:custGeom>
              <a:avLst/>
              <a:gdLst/>
              <a:ahLst/>
              <a:cxnLst/>
              <a:rect l="l" t="t" r="r" b="b"/>
              <a:pathLst>
                <a:path w="1643379" h="105410">
                  <a:moveTo>
                    <a:pt x="1643380" y="0"/>
                  </a:moveTo>
                  <a:lnTo>
                    <a:pt x="0" y="0"/>
                  </a:lnTo>
                  <a:lnTo>
                    <a:pt x="0" y="105409"/>
                  </a:lnTo>
                  <a:lnTo>
                    <a:pt x="1643380" y="10540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5" name="object 55"/>
            <p:cNvSpPr/>
            <p:nvPr/>
          </p:nvSpPr>
          <p:spPr>
            <a:xfrm>
              <a:off x="5147310" y="6230620"/>
              <a:ext cx="1643380" cy="105410"/>
            </a:xfrm>
            <a:custGeom>
              <a:avLst/>
              <a:gdLst/>
              <a:ahLst/>
              <a:cxnLst/>
              <a:rect l="l" t="t" r="r" b="b"/>
              <a:pathLst>
                <a:path w="1643379" h="105410">
                  <a:moveTo>
                    <a:pt x="821689" y="105409"/>
                  </a:moveTo>
                  <a:lnTo>
                    <a:pt x="0" y="105409"/>
                  </a:lnTo>
                  <a:lnTo>
                    <a:pt x="0" y="0"/>
                  </a:lnTo>
                  <a:lnTo>
                    <a:pt x="1643380" y="0"/>
                  </a:lnTo>
                  <a:lnTo>
                    <a:pt x="1643380" y="105409"/>
                  </a:lnTo>
                  <a:lnTo>
                    <a:pt x="821689" y="10540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6" name="object 56"/>
            <p:cNvSpPr/>
            <p:nvPr/>
          </p:nvSpPr>
          <p:spPr>
            <a:xfrm>
              <a:off x="6333489" y="6181090"/>
              <a:ext cx="457200" cy="105410"/>
            </a:xfrm>
            <a:custGeom>
              <a:avLst/>
              <a:gdLst/>
              <a:ahLst/>
              <a:cxnLst/>
              <a:rect l="l" t="t" r="r" b="b"/>
              <a:pathLst>
                <a:path w="457200" h="105410">
                  <a:moveTo>
                    <a:pt x="457200" y="0"/>
                  </a:moveTo>
                  <a:lnTo>
                    <a:pt x="0" y="96520"/>
                  </a:lnTo>
                  <a:lnTo>
                    <a:pt x="452119" y="10541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7" name="object 57"/>
            <p:cNvSpPr/>
            <p:nvPr/>
          </p:nvSpPr>
          <p:spPr>
            <a:xfrm>
              <a:off x="6330950" y="6181090"/>
              <a:ext cx="459740" cy="149860"/>
            </a:xfrm>
            <a:custGeom>
              <a:avLst/>
              <a:gdLst/>
              <a:ahLst/>
              <a:cxnLst/>
              <a:rect l="l" t="t" r="r" b="b"/>
              <a:pathLst>
                <a:path w="459740" h="149860">
                  <a:moveTo>
                    <a:pt x="2539" y="96520"/>
                  </a:moveTo>
                  <a:lnTo>
                    <a:pt x="459740" y="0"/>
                  </a:lnTo>
                  <a:lnTo>
                    <a:pt x="454659" y="105410"/>
                  </a:lnTo>
                  <a:lnTo>
                    <a:pt x="2539" y="96520"/>
                  </a:lnTo>
                  <a:close/>
                </a:path>
                <a:path w="459740" h="149860">
                  <a:moveTo>
                    <a:pt x="0" y="149860"/>
                  </a:moveTo>
                  <a:lnTo>
                    <a:pt x="0" y="149860"/>
                  </a:lnTo>
                </a:path>
                <a:path w="459740" h="149860">
                  <a:moveTo>
                    <a:pt x="459740" y="0"/>
                  </a:moveTo>
                  <a:lnTo>
                    <a:pt x="45974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8" name="object 58"/>
            <p:cNvSpPr/>
            <p:nvPr/>
          </p:nvSpPr>
          <p:spPr>
            <a:xfrm>
              <a:off x="5147310" y="6570980"/>
              <a:ext cx="1643380" cy="104139"/>
            </a:xfrm>
            <a:custGeom>
              <a:avLst/>
              <a:gdLst/>
              <a:ahLst/>
              <a:cxnLst/>
              <a:rect l="l" t="t" r="r" b="b"/>
              <a:pathLst>
                <a:path w="1643379" h="104140">
                  <a:moveTo>
                    <a:pt x="1643380" y="0"/>
                  </a:moveTo>
                  <a:lnTo>
                    <a:pt x="0" y="0"/>
                  </a:lnTo>
                  <a:lnTo>
                    <a:pt x="0" y="104140"/>
                  </a:lnTo>
                  <a:lnTo>
                    <a:pt x="1643380" y="1041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9" name="object 59"/>
            <p:cNvSpPr/>
            <p:nvPr/>
          </p:nvSpPr>
          <p:spPr>
            <a:xfrm>
              <a:off x="5147310" y="6570980"/>
              <a:ext cx="1643380" cy="104139"/>
            </a:xfrm>
            <a:custGeom>
              <a:avLst/>
              <a:gdLst/>
              <a:ahLst/>
              <a:cxnLst/>
              <a:rect l="l" t="t" r="r" b="b"/>
              <a:pathLst>
                <a:path w="1643379" h="104140">
                  <a:moveTo>
                    <a:pt x="821689" y="104140"/>
                  </a:moveTo>
                  <a:lnTo>
                    <a:pt x="0" y="104140"/>
                  </a:lnTo>
                  <a:lnTo>
                    <a:pt x="0" y="0"/>
                  </a:lnTo>
                  <a:lnTo>
                    <a:pt x="1643380" y="0"/>
                  </a:lnTo>
                  <a:lnTo>
                    <a:pt x="1643380" y="104140"/>
                  </a:lnTo>
                  <a:lnTo>
                    <a:pt x="821689" y="1041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0" name="object 60"/>
            <p:cNvSpPr/>
            <p:nvPr/>
          </p:nvSpPr>
          <p:spPr>
            <a:xfrm>
              <a:off x="6333489" y="6520180"/>
              <a:ext cx="455930" cy="106680"/>
            </a:xfrm>
            <a:custGeom>
              <a:avLst/>
              <a:gdLst/>
              <a:ahLst/>
              <a:cxnLst/>
              <a:rect l="l" t="t" r="r" b="b"/>
              <a:pathLst>
                <a:path w="455929" h="106679">
                  <a:moveTo>
                    <a:pt x="455930" y="0"/>
                  </a:moveTo>
                  <a:lnTo>
                    <a:pt x="0" y="97790"/>
                  </a:lnTo>
                  <a:lnTo>
                    <a:pt x="452119" y="106680"/>
                  </a:lnTo>
                  <a:lnTo>
                    <a:pt x="45593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1" name="object 61"/>
            <p:cNvSpPr/>
            <p:nvPr/>
          </p:nvSpPr>
          <p:spPr>
            <a:xfrm>
              <a:off x="6330950" y="6520180"/>
              <a:ext cx="458470" cy="149860"/>
            </a:xfrm>
            <a:custGeom>
              <a:avLst/>
              <a:gdLst/>
              <a:ahLst/>
              <a:cxnLst/>
              <a:rect l="l" t="t" r="r" b="b"/>
              <a:pathLst>
                <a:path w="458470" h="149859">
                  <a:moveTo>
                    <a:pt x="2539" y="97790"/>
                  </a:moveTo>
                  <a:lnTo>
                    <a:pt x="458470" y="0"/>
                  </a:lnTo>
                  <a:lnTo>
                    <a:pt x="454659" y="106680"/>
                  </a:lnTo>
                  <a:lnTo>
                    <a:pt x="2539" y="97790"/>
                  </a:lnTo>
                  <a:close/>
                </a:path>
                <a:path w="458470" h="149859">
                  <a:moveTo>
                    <a:pt x="0" y="149860"/>
                  </a:moveTo>
                  <a:lnTo>
                    <a:pt x="0" y="149860"/>
                  </a:lnTo>
                </a:path>
                <a:path w="458470" h="149859">
                  <a:moveTo>
                    <a:pt x="458470" y="0"/>
                  </a:moveTo>
                  <a:lnTo>
                    <a:pt x="45847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2" name="object 62"/>
            <p:cNvSpPr/>
            <p:nvPr/>
          </p:nvSpPr>
          <p:spPr>
            <a:xfrm>
              <a:off x="5957570" y="4552950"/>
              <a:ext cx="918210" cy="2899410"/>
            </a:xfrm>
            <a:custGeom>
              <a:avLst/>
              <a:gdLst/>
              <a:ahLst/>
              <a:cxnLst/>
              <a:rect l="l" t="t" r="r" b="b"/>
              <a:pathLst>
                <a:path w="918209" h="2899409">
                  <a:moveTo>
                    <a:pt x="0" y="2719070"/>
                  </a:moveTo>
                  <a:lnTo>
                    <a:pt x="0" y="2899410"/>
                  </a:lnTo>
                  <a:lnTo>
                    <a:pt x="918209" y="2899410"/>
                  </a:lnTo>
                  <a:lnTo>
                    <a:pt x="918209" y="270510"/>
                  </a:lnTo>
                  <a:lnTo>
                    <a:pt x="845820" y="270510"/>
                  </a:lnTo>
                  <a:lnTo>
                    <a:pt x="84582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3" name="object 63"/>
            <p:cNvSpPr/>
            <p:nvPr/>
          </p:nvSpPr>
          <p:spPr>
            <a:xfrm>
              <a:off x="6722110" y="4319270"/>
              <a:ext cx="162560" cy="243840"/>
            </a:xfrm>
            <a:custGeom>
              <a:avLst/>
              <a:gdLst/>
              <a:ahLst/>
              <a:cxnLst/>
              <a:rect l="l" t="t" r="r" b="b"/>
              <a:pathLst>
                <a:path w="162559" h="243839">
                  <a:moveTo>
                    <a:pt x="81280" y="0"/>
                  </a:moveTo>
                  <a:lnTo>
                    <a:pt x="0" y="243839"/>
                  </a:lnTo>
                  <a:lnTo>
                    <a:pt x="162560" y="243839"/>
                  </a:lnTo>
                  <a:lnTo>
                    <a:pt x="81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8160204" y="1818644"/>
            <a:ext cx="440871" cy="701026"/>
          </a:xfrm>
          <a:prstGeom prst="rect">
            <a:avLst/>
          </a:prstGeom>
          <a:ln w="3175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38">
              <a:latin typeface="Times New Roman"/>
              <a:cs typeface="Times New Roman"/>
            </a:endParaRPr>
          </a:p>
          <a:p>
            <a:pPr marL="93797">
              <a:spcBef>
                <a:spcPts val="1256"/>
              </a:spcBef>
            </a:pPr>
            <a:r>
              <a:rPr sz="1634" b="1" spc="-7" dirty="0">
                <a:latin typeface="Arial"/>
                <a:cs typeface="Arial"/>
              </a:rPr>
              <a:t>V4</a:t>
            </a:r>
            <a:endParaRPr sz="1634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8674554" y="1818644"/>
            <a:ext cx="440871" cy="1127248"/>
          </a:xfrm>
          <a:custGeom>
            <a:avLst/>
            <a:gdLst/>
            <a:ahLst/>
            <a:cxnLst/>
            <a:rect l="l" t="t" r="r" b="b"/>
            <a:pathLst>
              <a:path w="647700" h="1656079">
                <a:moveTo>
                  <a:pt x="0" y="255270"/>
                </a:moveTo>
                <a:lnTo>
                  <a:pt x="255270" y="0"/>
                </a:lnTo>
              </a:path>
              <a:path w="647700" h="1656079">
                <a:moveTo>
                  <a:pt x="0" y="514350"/>
                </a:moveTo>
                <a:lnTo>
                  <a:pt x="514350" y="0"/>
                </a:lnTo>
              </a:path>
              <a:path w="647700" h="1656079">
                <a:moveTo>
                  <a:pt x="0" y="772160"/>
                </a:moveTo>
                <a:lnTo>
                  <a:pt x="647700" y="124460"/>
                </a:lnTo>
              </a:path>
              <a:path w="647700" h="1656079">
                <a:moveTo>
                  <a:pt x="0" y="1031239"/>
                </a:moveTo>
                <a:lnTo>
                  <a:pt x="647700" y="382270"/>
                </a:lnTo>
              </a:path>
              <a:path w="647700" h="1656079">
                <a:moveTo>
                  <a:pt x="0" y="1289050"/>
                </a:moveTo>
                <a:lnTo>
                  <a:pt x="647700" y="641350"/>
                </a:lnTo>
              </a:path>
              <a:path w="647700" h="1656079">
                <a:moveTo>
                  <a:pt x="0" y="1548130"/>
                </a:moveTo>
                <a:lnTo>
                  <a:pt x="647700" y="899160"/>
                </a:lnTo>
              </a:path>
              <a:path w="647700" h="1656079">
                <a:moveTo>
                  <a:pt x="151129" y="1656080"/>
                </a:moveTo>
                <a:lnTo>
                  <a:pt x="647700" y="1158239"/>
                </a:lnTo>
              </a:path>
              <a:path w="647700" h="1656079">
                <a:moveTo>
                  <a:pt x="408939" y="1656080"/>
                </a:moveTo>
                <a:lnTo>
                  <a:pt x="647700" y="141732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66" name="object 66"/>
          <p:cNvSpPr txBox="1"/>
          <p:nvPr/>
        </p:nvSpPr>
        <p:spPr>
          <a:xfrm>
            <a:off x="8674554" y="1818644"/>
            <a:ext cx="440871" cy="701026"/>
          </a:xfrm>
          <a:prstGeom prst="rect">
            <a:avLst/>
          </a:prstGeom>
          <a:ln w="3175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38">
              <a:latin typeface="Times New Roman"/>
              <a:cs typeface="Times New Roman"/>
            </a:endParaRPr>
          </a:p>
          <a:p>
            <a:pPr marL="93797">
              <a:spcBef>
                <a:spcPts val="1256"/>
              </a:spcBef>
            </a:pPr>
            <a:r>
              <a:rPr sz="1634" b="1" spc="-7" dirty="0">
                <a:latin typeface="Arial"/>
                <a:cs typeface="Arial"/>
              </a:rPr>
              <a:t>V5</a:t>
            </a:r>
            <a:endParaRPr sz="1634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7670059" y="2933791"/>
            <a:ext cx="1280256" cy="2157244"/>
            <a:chOff x="7523480" y="4301490"/>
            <a:chExt cx="1880870" cy="3169285"/>
          </a:xfrm>
        </p:grpSpPr>
        <p:sp>
          <p:nvSpPr>
            <p:cNvPr id="68" name="object 68"/>
            <p:cNvSpPr/>
            <p:nvPr/>
          </p:nvSpPr>
          <p:spPr>
            <a:xfrm>
              <a:off x="8567420" y="4319270"/>
              <a:ext cx="269240" cy="816610"/>
            </a:xfrm>
            <a:custGeom>
              <a:avLst/>
              <a:gdLst/>
              <a:ahLst/>
              <a:cxnLst/>
              <a:rect l="l" t="t" r="r" b="b"/>
              <a:pathLst>
                <a:path w="269240" h="816610">
                  <a:moveTo>
                    <a:pt x="0" y="0"/>
                  </a:moveTo>
                  <a:lnTo>
                    <a:pt x="269239" y="816609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9" name="object 69"/>
            <p:cNvSpPr/>
            <p:nvPr/>
          </p:nvSpPr>
          <p:spPr>
            <a:xfrm>
              <a:off x="8756650" y="5100320"/>
              <a:ext cx="153670" cy="256540"/>
            </a:xfrm>
            <a:custGeom>
              <a:avLst/>
              <a:gdLst/>
              <a:ahLst/>
              <a:cxnLst/>
              <a:rect l="l" t="t" r="r" b="b"/>
              <a:pathLst>
                <a:path w="153670" h="256539">
                  <a:moveTo>
                    <a:pt x="153670" y="0"/>
                  </a:moveTo>
                  <a:lnTo>
                    <a:pt x="0" y="50799"/>
                  </a:lnTo>
                  <a:lnTo>
                    <a:pt x="152400" y="256539"/>
                  </a:lnTo>
                  <a:lnTo>
                    <a:pt x="1536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0" name="object 70"/>
            <p:cNvSpPr/>
            <p:nvPr/>
          </p:nvSpPr>
          <p:spPr>
            <a:xfrm>
              <a:off x="7523480" y="5890260"/>
              <a:ext cx="1643380" cy="105410"/>
            </a:xfrm>
            <a:custGeom>
              <a:avLst/>
              <a:gdLst/>
              <a:ahLst/>
              <a:cxnLst/>
              <a:rect l="l" t="t" r="r" b="b"/>
              <a:pathLst>
                <a:path w="1643379" h="105410">
                  <a:moveTo>
                    <a:pt x="1643379" y="0"/>
                  </a:moveTo>
                  <a:lnTo>
                    <a:pt x="0" y="0"/>
                  </a:lnTo>
                  <a:lnTo>
                    <a:pt x="0" y="105409"/>
                  </a:lnTo>
                  <a:lnTo>
                    <a:pt x="1643379" y="10540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1" name="object 71"/>
            <p:cNvSpPr/>
            <p:nvPr/>
          </p:nvSpPr>
          <p:spPr>
            <a:xfrm>
              <a:off x="7523480" y="5890260"/>
              <a:ext cx="1643380" cy="105410"/>
            </a:xfrm>
            <a:custGeom>
              <a:avLst/>
              <a:gdLst/>
              <a:ahLst/>
              <a:cxnLst/>
              <a:rect l="l" t="t" r="r" b="b"/>
              <a:pathLst>
                <a:path w="1643379" h="105410">
                  <a:moveTo>
                    <a:pt x="821690" y="105409"/>
                  </a:moveTo>
                  <a:lnTo>
                    <a:pt x="0" y="105409"/>
                  </a:lnTo>
                  <a:lnTo>
                    <a:pt x="0" y="0"/>
                  </a:lnTo>
                  <a:lnTo>
                    <a:pt x="1643379" y="0"/>
                  </a:lnTo>
                  <a:lnTo>
                    <a:pt x="1643379" y="105409"/>
                  </a:lnTo>
                  <a:lnTo>
                    <a:pt x="821690" y="10540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2" name="object 72"/>
            <p:cNvSpPr/>
            <p:nvPr/>
          </p:nvSpPr>
          <p:spPr>
            <a:xfrm>
              <a:off x="8709660" y="5840730"/>
              <a:ext cx="457200" cy="105410"/>
            </a:xfrm>
            <a:custGeom>
              <a:avLst/>
              <a:gdLst/>
              <a:ahLst/>
              <a:cxnLst/>
              <a:rect l="l" t="t" r="r" b="b"/>
              <a:pathLst>
                <a:path w="457200" h="105410">
                  <a:moveTo>
                    <a:pt x="457200" y="0"/>
                  </a:moveTo>
                  <a:lnTo>
                    <a:pt x="0" y="96520"/>
                  </a:lnTo>
                  <a:lnTo>
                    <a:pt x="452120" y="10541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3" name="object 73"/>
            <p:cNvSpPr/>
            <p:nvPr/>
          </p:nvSpPr>
          <p:spPr>
            <a:xfrm>
              <a:off x="8707120" y="5840730"/>
              <a:ext cx="459740" cy="149860"/>
            </a:xfrm>
            <a:custGeom>
              <a:avLst/>
              <a:gdLst/>
              <a:ahLst/>
              <a:cxnLst/>
              <a:rect l="l" t="t" r="r" b="b"/>
              <a:pathLst>
                <a:path w="459740" h="149860">
                  <a:moveTo>
                    <a:pt x="2539" y="96520"/>
                  </a:moveTo>
                  <a:lnTo>
                    <a:pt x="459739" y="0"/>
                  </a:lnTo>
                  <a:lnTo>
                    <a:pt x="454659" y="105410"/>
                  </a:lnTo>
                  <a:lnTo>
                    <a:pt x="2539" y="96520"/>
                  </a:lnTo>
                  <a:close/>
                </a:path>
                <a:path w="459740" h="149860">
                  <a:moveTo>
                    <a:pt x="0" y="149860"/>
                  </a:moveTo>
                  <a:lnTo>
                    <a:pt x="0" y="149860"/>
                  </a:lnTo>
                </a:path>
                <a:path w="459740" h="149860">
                  <a:moveTo>
                    <a:pt x="459739" y="0"/>
                  </a:moveTo>
                  <a:lnTo>
                    <a:pt x="459739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4" name="object 74"/>
            <p:cNvSpPr/>
            <p:nvPr/>
          </p:nvSpPr>
          <p:spPr>
            <a:xfrm>
              <a:off x="7523480" y="6266180"/>
              <a:ext cx="1643380" cy="105410"/>
            </a:xfrm>
            <a:custGeom>
              <a:avLst/>
              <a:gdLst/>
              <a:ahLst/>
              <a:cxnLst/>
              <a:rect l="l" t="t" r="r" b="b"/>
              <a:pathLst>
                <a:path w="1643379" h="105410">
                  <a:moveTo>
                    <a:pt x="1643379" y="0"/>
                  </a:moveTo>
                  <a:lnTo>
                    <a:pt x="0" y="0"/>
                  </a:lnTo>
                  <a:lnTo>
                    <a:pt x="0" y="105410"/>
                  </a:lnTo>
                  <a:lnTo>
                    <a:pt x="1643379" y="10541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5" name="object 75"/>
            <p:cNvSpPr/>
            <p:nvPr/>
          </p:nvSpPr>
          <p:spPr>
            <a:xfrm>
              <a:off x="7523480" y="6266180"/>
              <a:ext cx="1643380" cy="105410"/>
            </a:xfrm>
            <a:custGeom>
              <a:avLst/>
              <a:gdLst/>
              <a:ahLst/>
              <a:cxnLst/>
              <a:rect l="l" t="t" r="r" b="b"/>
              <a:pathLst>
                <a:path w="1643379" h="105410">
                  <a:moveTo>
                    <a:pt x="821690" y="105410"/>
                  </a:moveTo>
                  <a:lnTo>
                    <a:pt x="0" y="105410"/>
                  </a:lnTo>
                  <a:lnTo>
                    <a:pt x="0" y="0"/>
                  </a:lnTo>
                  <a:lnTo>
                    <a:pt x="1643379" y="0"/>
                  </a:lnTo>
                  <a:lnTo>
                    <a:pt x="1643379" y="105410"/>
                  </a:lnTo>
                  <a:lnTo>
                    <a:pt x="821690" y="10541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6" name="object 76"/>
            <p:cNvSpPr/>
            <p:nvPr/>
          </p:nvSpPr>
          <p:spPr>
            <a:xfrm>
              <a:off x="8709660" y="6216650"/>
              <a:ext cx="457200" cy="105410"/>
            </a:xfrm>
            <a:custGeom>
              <a:avLst/>
              <a:gdLst/>
              <a:ahLst/>
              <a:cxnLst/>
              <a:rect l="l" t="t" r="r" b="b"/>
              <a:pathLst>
                <a:path w="457200" h="105410">
                  <a:moveTo>
                    <a:pt x="457200" y="0"/>
                  </a:moveTo>
                  <a:lnTo>
                    <a:pt x="0" y="96519"/>
                  </a:lnTo>
                  <a:lnTo>
                    <a:pt x="452120" y="10540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7" name="object 77"/>
            <p:cNvSpPr/>
            <p:nvPr/>
          </p:nvSpPr>
          <p:spPr>
            <a:xfrm>
              <a:off x="8707120" y="6216650"/>
              <a:ext cx="459740" cy="149860"/>
            </a:xfrm>
            <a:custGeom>
              <a:avLst/>
              <a:gdLst/>
              <a:ahLst/>
              <a:cxnLst/>
              <a:rect l="l" t="t" r="r" b="b"/>
              <a:pathLst>
                <a:path w="459740" h="149860">
                  <a:moveTo>
                    <a:pt x="2539" y="96519"/>
                  </a:moveTo>
                  <a:lnTo>
                    <a:pt x="459739" y="0"/>
                  </a:lnTo>
                  <a:lnTo>
                    <a:pt x="454659" y="105409"/>
                  </a:lnTo>
                  <a:lnTo>
                    <a:pt x="2539" y="96519"/>
                  </a:lnTo>
                  <a:close/>
                </a:path>
                <a:path w="459740" h="149860">
                  <a:moveTo>
                    <a:pt x="0" y="149859"/>
                  </a:moveTo>
                  <a:lnTo>
                    <a:pt x="0" y="149859"/>
                  </a:lnTo>
                </a:path>
                <a:path w="459740" h="149860">
                  <a:moveTo>
                    <a:pt x="459739" y="0"/>
                  </a:moveTo>
                  <a:lnTo>
                    <a:pt x="459739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8" name="object 78"/>
            <p:cNvSpPr/>
            <p:nvPr/>
          </p:nvSpPr>
          <p:spPr>
            <a:xfrm>
              <a:off x="7523480" y="6606540"/>
              <a:ext cx="1643380" cy="104139"/>
            </a:xfrm>
            <a:custGeom>
              <a:avLst/>
              <a:gdLst/>
              <a:ahLst/>
              <a:cxnLst/>
              <a:rect l="l" t="t" r="r" b="b"/>
              <a:pathLst>
                <a:path w="1643379" h="104140">
                  <a:moveTo>
                    <a:pt x="1643379" y="0"/>
                  </a:moveTo>
                  <a:lnTo>
                    <a:pt x="0" y="0"/>
                  </a:lnTo>
                  <a:lnTo>
                    <a:pt x="0" y="104139"/>
                  </a:lnTo>
                  <a:lnTo>
                    <a:pt x="1643379" y="10413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9" name="object 79"/>
            <p:cNvSpPr/>
            <p:nvPr/>
          </p:nvSpPr>
          <p:spPr>
            <a:xfrm>
              <a:off x="7523480" y="6606540"/>
              <a:ext cx="1643380" cy="104139"/>
            </a:xfrm>
            <a:custGeom>
              <a:avLst/>
              <a:gdLst/>
              <a:ahLst/>
              <a:cxnLst/>
              <a:rect l="l" t="t" r="r" b="b"/>
              <a:pathLst>
                <a:path w="1643379" h="104140">
                  <a:moveTo>
                    <a:pt x="821690" y="104139"/>
                  </a:moveTo>
                  <a:lnTo>
                    <a:pt x="0" y="104139"/>
                  </a:lnTo>
                  <a:lnTo>
                    <a:pt x="0" y="0"/>
                  </a:lnTo>
                  <a:lnTo>
                    <a:pt x="1643379" y="0"/>
                  </a:lnTo>
                  <a:lnTo>
                    <a:pt x="1643379" y="104139"/>
                  </a:lnTo>
                  <a:lnTo>
                    <a:pt x="821690" y="10413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0" name="object 80"/>
            <p:cNvSpPr/>
            <p:nvPr/>
          </p:nvSpPr>
          <p:spPr>
            <a:xfrm>
              <a:off x="8709660" y="6555740"/>
              <a:ext cx="455930" cy="106680"/>
            </a:xfrm>
            <a:custGeom>
              <a:avLst/>
              <a:gdLst/>
              <a:ahLst/>
              <a:cxnLst/>
              <a:rect l="l" t="t" r="r" b="b"/>
              <a:pathLst>
                <a:path w="455929" h="106679">
                  <a:moveTo>
                    <a:pt x="455930" y="0"/>
                  </a:moveTo>
                  <a:lnTo>
                    <a:pt x="0" y="97789"/>
                  </a:lnTo>
                  <a:lnTo>
                    <a:pt x="452120" y="106679"/>
                  </a:lnTo>
                  <a:lnTo>
                    <a:pt x="45593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1" name="object 81"/>
            <p:cNvSpPr/>
            <p:nvPr/>
          </p:nvSpPr>
          <p:spPr>
            <a:xfrm>
              <a:off x="8707120" y="6555740"/>
              <a:ext cx="458470" cy="149860"/>
            </a:xfrm>
            <a:custGeom>
              <a:avLst/>
              <a:gdLst/>
              <a:ahLst/>
              <a:cxnLst/>
              <a:rect l="l" t="t" r="r" b="b"/>
              <a:pathLst>
                <a:path w="458470" h="149859">
                  <a:moveTo>
                    <a:pt x="2539" y="97789"/>
                  </a:moveTo>
                  <a:lnTo>
                    <a:pt x="458470" y="0"/>
                  </a:lnTo>
                  <a:lnTo>
                    <a:pt x="454659" y="106679"/>
                  </a:lnTo>
                  <a:lnTo>
                    <a:pt x="2539" y="97789"/>
                  </a:lnTo>
                  <a:close/>
                </a:path>
                <a:path w="458470" h="149859">
                  <a:moveTo>
                    <a:pt x="0" y="149859"/>
                  </a:moveTo>
                  <a:lnTo>
                    <a:pt x="0" y="149859"/>
                  </a:lnTo>
                </a:path>
                <a:path w="458470" h="149859">
                  <a:moveTo>
                    <a:pt x="458470" y="0"/>
                  </a:moveTo>
                  <a:lnTo>
                    <a:pt x="45847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2" name="object 82"/>
            <p:cNvSpPr/>
            <p:nvPr/>
          </p:nvSpPr>
          <p:spPr>
            <a:xfrm>
              <a:off x="8406130" y="4551680"/>
              <a:ext cx="918210" cy="2900680"/>
            </a:xfrm>
            <a:custGeom>
              <a:avLst/>
              <a:gdLst/>
              <a:ahLst/>
              <a:cxnLst/>
              <a:rect l="l" t="t" r="r" b="b"/>
              <a:pathLst>
                <a:path w="918209" h="2900679">
                  <a:moveTo>
                    <a:pt x="0" y="2720340"/>
                  </a:moveTo>
                  <a:lnTo>
                    <a:pt x="0" y="2900680"/>
                  </a:lnTo>
                  <a:lnTo>
                    <a:pt x="918210" y="2900680"/>
                  </a:lnTo>
                  <a:lnTo>
                    <a:pt x="918210" y="271780"/>
                  </a:lnTo>
                  <a:lnTo>
                    <a:pt x="916940" y="271780"/>
                  </a:lnTo>
                  <a:lnTo>
                    <a:pt x="91694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3" name="object 83"/>
            <p:cNvSpPr/>
            <p:nvPr/>
          </p:nvSpPr>
          <p:spPr>
            <a:xfrm>
              <a:off x="9241790" y="4319270"/>
              <a:ext cx="162560" cy="243840"/>
            </a:xfrm>
            <a:custGeom>
              <a:avLst/>
              <a:gdLst/>
              <a:ahLst/>
              <a:cxnLst/>
              <a:rect l="l" t="t" r="r" b="b"/>
              <a:pathLst>
                <a:path w="162559" h="243839">
                  <a:moveTo>
                    <a:pt x="81279" y="0"/>
                  </a:moveTo>
                  <a:lnTo>
                    <a:pt x="0" y="243839"/>
                  </a:lnTo>
                  <a:lnTo>
                    <a:pt x="162559" y="243839"/>
                  </a:lnTo>
                  <a:lnTo>
                    <a:pt x="81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3136863" y="3534585"/>
            <a:ext cx="1078838" cy="391598"/>
            <a:chOff x="863600" y="5184140"/>
            <a:chExt cx="1584960" cy="575310"/>
          </a:xfrm>
        </p:grpSpPr>
        <p:sp>
          <p:nvSpPr>
            <p:cNvPr id="85" name="object 85"/>
            <p:cNvSpPr/>
            <p:nvPr/>
          </p:nvSpPr>
          <p:spPr>
            <a:xfrm>
              <a:off x="935990" y="5256530"/>
              <a:ext cx="1512570" cy="502920"/>
            </a:xfrm>
            <a:custGeom>
              <a:avLst/>
              <a:gdLst/>
              <a:ahLst/>
              <a:cxnLst/>
              <a:rect l="l" t="t" r="r" b="b"/>
              <a:pathLst>
                <a:path w="1512570" h="502920">
                  <a:moveTo>
                    <a:pt x="151257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0" y="502920"/>
                  </a:lnTo>
                  <a:lnTo>
                    <a:pt x="1512570" y="502920"/>
                  </a:lnTo>
                  <a:lnTo>
                    <a:pt x="1512570" y="431800"/>
                  </a:lnTo>
                  <a:lnTo>
                    <a:pt x="151257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6" name="object 86"/>
            <p:cNvSpPr/>
            <p:nvPr/>
          </p:nvSpPr>
          <p:spPr>
            <a:xfrm>
              <a:off x="935989" y="5256530"/>
              <a:ext cx="1512570" cy="502920"/>
            </a:xfrm>
            <a:custGeom>
              <a:avLst/>
              <a:gdLst/>
              <a:ahLst/>
              <a:cxnLst/>
              <a:rect l="l" t="t" r="r" b="b"/>
              <a:pathLst>
                <a:path w="1512570" h="502920">
                  <a:moveTo>
                    <a:pt x="755649" y="502920"/>
                  </a:moveTo>
                  <a:lnTo>
                    <a:pt x="0" y="502920"/>
                  </a:lnTo>
                  <a:lnTo>
                    <a:pt x="0" y="0"/>
                  </a:lnTo>
                  <a:lnTo>
                    <a:pt x="1512570" y="0"/>
                  </a:lnTo>
                  <a:lnTo>
                    <a:pt x="1512570" y="502920"/>
                  </a:lnTo>
                  <a:lnTo>
                    <a:pt x="755649" y="50292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7" name="object 87"/>
            <p:cNvSpPr/>
            <p:nvPr/>
          </p:nvSpPr>
          <p:spPr>
            <a:xfrm>
              <a:off x="863600" y="5184140"/>
              <a:ext cx="1512570" cy="504190"/>
            </a:xfrm>
            <a:custGeom>
              <a:avLst/>
              <a:gdLst/>
              <a:ahLst/>
              <a:cxnLst/>
              <a:rect l="l" t="t" r="r" b="b"/>
              <a:pathLst>
                <a:path w="1512570" h="504189">
                  <a:moveTo>
                    <a:pt x="1512570" y="0"/>
                  </a:moveTo>
                  <a:lnTo>
                    <a:pt x="0" y="0"/>
                  </a:lnTo>
                  <a:lnTo>
                    <a:pt x="0" y="504190"/>
                  </a:lnTo>
                  <a:lnTo>
                    <a:pt x="1512570" y="504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8" name="object 88"/>
            <p:cNvSpPr/>
            <p:nvPr/>
          </p:nvSpPr>
          <p:spPr>
            <a:xfrm>
              <a:off x="863600" y="5184140"/>
              <a:ext cx="1512570" cy="504190"/>
            </a:xfrm>
            <a:custGeom>
              <a:avLst/>
              <a:gdLst/>
              <a:ahLst/>
              <a:cxnLst/>
              <a:rect l="l" t="t" r="r" b="b"/>
              <a:pathLst>
                <a:path w="1512570" h="504189">
                  <a:moveTo>
                    <a:pt x="756919" y="504190"/>
                  </a:moveTo>
                  <a:lnTo>
                    <a:pt x="0" y="504190"/>
                  </a:lnTo>
                  <a:lnTo>
                    <a:pt x="0" y="0"/>
                  </a:lnTo>
                  <a:lnTo>
                    <a:pt x="1512570" y="0"/>
                  </a:lnTo>
                  <a:lnTo>
                    <a:pt x="1512570" y="504190"/>
                  </a:lnTo>
                  <a:lnTo>
                    <a:pt x="756919" y="50419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3306295" y="3595961"/>
            <a:ext cx="690266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b="1" spc="-7" dirty="0">
                <a:latin typeface="Arial"/>
                <a:cs typeface="Arial"/>
              </a:rPr>
              <a:t>C</a:t>
            </a:r>
            <a:r>
              <a:rPr sz="1225" b="1" spc="3" dirty="0">
                <a:latin typeface="Arial"/>
                <a:cs typeface="Arial"/>
              </a:rPr>
              <a:t>O</a:t>
            </a:r>
            <a:r>
              <a:rPr sz="1225" b="1" spc="-7" dirty="0">
                <a:latin typeface="Arial"/>
                <a:cs typeface="Arial"/>
              </a:rPr>
              <a:t>N</a:t>
            </a:r>
            <a:r>
              <a:rPr sz="1225" b="1" spc="-3" dirty="0">
                <a:latin typeface="Arial"/>
                <a:cs typeface="Arial"/>
              </a:rPr>
              <a:t>VOY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3136863" y="4245165"/>
            <a:ext cx="1078838" cy="391598"/>
            <a:chOff x="863600" y="6228079"/>
            <a:chExt cx="1584960" cy="575310"/>
          </a:xfrm>
        </p:grpSpPr>
        <p:sp>
          <p:nvSpPr>
            <p:cNvPr id="91" name="object 91"/>
            <p:cNvSpPr/>
            <p:nvPr/>
          </p:nvSpPr>
          <p:spPr>
            <a:xfrm>
              <a:off x="935990" y="6300469"/>
              <a:ext cx="1512570" cy="502920"/>
            </a:xfrm>
            <a:custGeom>
              <a:avLst/>
              <a:gdLst/>
              <a:ahLst/>
              <a:cxnLst/>
              <a:rect l="l" t="t" r="r" b="b"/>
              <a:pathLst>
                <a:path w="1512570" h="502920">
                  <a:moveTo>
                    <a:pt x="151257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0" y="502920"/>
                  </a:lnTo>
                  <a:lnTo>
                    <a:pt x="1512570" y="502920"/>
                  </a:lnTo>
                  <a:lnTo>
                    <a:pt x="1512570" y="431800"/>
                  </a:lnTo>
                  <a:lnTo>
                    <a:pt x="151257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2" name="object 92"/>
            <p:cNvSpPr/>
            <p:nvPr/>
          </p:nvSpPr>
          <p:spPr>
            <a:xfrm>
              <a:off x="935989" y="6300469"/>
              <a:ext cx="1512570" cy="502920"/>
            </a:xfrm>
            <a:custGeom>
              <a:avLst/>
              <a:gdLst/>
              <a:ahLst/>
              <a:cxnLst/>
              <a:rect l="l" t="t" r="r" b="b"/>
              <a:pathLst>
                <a:path w="1512570" h="502920">
                  <a:moveTo>
                    <a:pt x="755649" y="502919"/>
                  </a:moveTo>
                  <a:lnTo>
                    <a:pt x="0" y="502919"/>
                  </a:lnTo>
                  <a:lnTo>
                    <a:pt x="0" y="0"/>
                  </a:lnTo>
                  <a:lnTo>
                    <a:pt x="1512570" y="0"/>
                  </a:lnTo>
                  <a:lnTo>
                    <a:pt x="1512570" y="502919"/>
                  </a:lnTo>
                  <a:lnTo>
                    <a:pt x="755649" y="50291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3" name="object 93"/>
            <p:cNvSpPr/>
            <p:nvPr/>
          </p:nvSpPr>
          <p:spPr>
            <a:xfrm>
              <a:off x="863600" y="6228079"/>
              <a:ext cx="1512570" cy="504190"/>
            </a:xfrm>
            <a:custGeom>
              <a:avLst/>
              <a:gdLst/>
              <a:ahLst/>
              <a:cxnLst/>
              <a:rect l="l" t="t" r="r" b="b"/>
              <a:pathLst>
                <a:path w="1512570" h="504190">
                  <a:moveTo>
                    <a:pt x="1512570" y="0"/>
                  </a:moveTo>
                  <a:lnTo>
                    <a:pt x="0" y="0"/>
                  </a:lnTo>
                  <a:lnTo>
                    <a:pt x="0" y="504190"/>
                  </a:lnTo>
                  <a:lnTo>
                    <a:pt x="1512570" y="504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4" name="object 94"/>
            <p:cNvSpPr/>
            <p:nvPr/>
          </p:nvSpPr>
          <p:spPr>
            <a:xfrm>
              <a:off x="863600" y="6228079"/>
              <a:ext cx="1512570" cy="504190"/>
            </a:xfrm>
            <a:custGeom>
              <a:avLst/>
              <a:gdLst/>
              <a:ahLst/>
              <a:cxnLst/>
              <a:rect l="l" t="t" r="r" b="b"/>
              <a:pathLst>
                <a:path w="1512570" h="504190">
                  <a:moveTo>
                    <a:pt x="756919" y="504190"/>
                  </a:moveTo>
                  <a:lnTo>
                    <a:pt x="0" y="504190"/>
                  </a:lnTo>
                  <a:lnTo>
                    <a:pt x="0" y="0"/>
                  </a:lnTo>
                  <a:lnTo>
                    <a:pt x="1512570" y="0"/>
                  </a:lnTo>
                  <a:lnTo>
                    <a:pt x="1512570" y="504190"/>
                  </a:lnTo>
                  <a:lnTo>
                    <a:pt x="756919" y="50419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3392741" y="4306543"/>
            <a:ext cx="517808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b="1" spc="-7" dirty="0">
                <a:latin typeface="Arial"/>
                <a:cs typeface="Arial"/>
              </a:rPr>
              <a:t>CHIME</a:t>
            </a:r>
            <a:endParaRPr sz="1225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66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600" y="278206"/>
            <a:ext cx="5028592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1" dirty="0"/>
              <a:t>Vector </a:t>
            </a:r>
            <a:r>
              <a:rPr spc="-3" dirty="0"/>
              <a:t>Execution</a:t>
            </a:r>
            <a:r>
              <a:rPr spc="-65" dirty="0"/>
              <a:t> </a:t>
            </a:r>
            <a:r>
              <a:rPr spc="-31" dirty="0"/>
              <a:t>Time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5853" y="1210396"/>
            <a:ext cx="107624" cy="145793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885" spc="3" dirty="0">
                <a:latin typeface="OpenSymbol"/>
                <a:cs typeface="OpenSymbol"/>
              </a:rPr>
              <a:t>●</a:t>
            </a:r>
            <a:endParaRPr sz="885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9000" y="1123950"/>
            <a:ext cx="5548064" cy="3336168"/>
          </a:xfrm>
          <a:prstGeom prst="rect">
            <a:avLst/>
          </a:prstGeom>
        </p:spPr>
        <p:txBody>
          <a:bodyPr vert="horz" wrap="square" lIns="0" tIns="35875" rIns="0" bIns="0" rtlCol="0">
            <a:spAutoFit/>
          </a:bodyPr>
          <a:lstStyle/>
          <a:p>
            <a:pPr marL="8645" marR="707152">
              <a:lnSpc>
                <a:spcPts val="2232"/>
              </a:lnSpc>
              <a:spcBef>
                <a:spcPts val="282"/>
              </a:spcBef>
            </a:pPr>
            <a:r>
              <a:rPr sz="2008" spc="-24" dirty="0">
                <a:latin typeface="Arial"/>
                <a:cs typeface="Arial"/>
              </a:rPr>
              <a:t>Time </a:t>
            </a:r>
            <a:r>
              <a:rPr sz="2008" spc="-7" dirty="0">
                <a:latin typeface="Arial"/>
                <a:cs typeface="Arial"/>
              </a:rPr>
              <a:t>= </a:t>
            </a:r>
            <a:r>
              <a:rPr sz="2008" i="1" spc="-17" dirty="0">
                <a:latin typeface="Arial"/>
                <a:cs typeface="Arial"/>
              </a:rPr>
              <a:t>f(Vector </a:t>
            </a:r>
            <a:r>
              <a:rPr sz="2008" i="1" spc="-10" dirty="0">
                <a:latin typeface="Arial"/>
                <a:cs typeface="Arial"/>
              </a:rPr>
              <a:t>length, </a:t>
            </a:r>
            <a:r>
              <a:rPr sz="2008" i="1" spc="-7" dirty="0">
                <a:latin typeface="Arial"/>
                <a:cs typeface="Arial"/>
              </a:rPr>
              <a:t>Data </a:t>
            </a:r>
            <a:r>
              <a:rPr sz="2008" i="1" spc="-10" dirty="0">
                <a:latin typeface="Arial"/>
                <a:cs typeface="Arial"/>
              </a:rPr>
              <a:t>dependences,  </a:t>
            </a:r>
            <a:r>
              <a:rPr sz="2008" i="1" spc="-7" dirty="0">
                <a:latin typeface="Arial"/>
                <a:cs typeface="Arial"/>
              </a:rPr>
              <a:t>Structural</a:t>
            </a:r>
            <a:r>
              <a:rPr sz="2008" i="1" spc="-14" dirty="0">
                <a:latin typeface="Arial"/>
                <a:cs typeface="Arial"/>
              </a:rPr>
              <a:t> </a:t>
            </a:r>
            <a:r>
              <a:rPr sz="2008" i="1" spc="-7" dirty="0">
                <a:latin typeface="Arial"/>
                <a:cs typeface="Arial"/>
              </a:rPr>
              <a:t>Hazards)</a:t>
            </a:r>
            <a:endParaRPr sz="2008" dirty="0">
              <a:latin typeface="Arial"/>
              <a:cs typeface="Arial"/>
            </a:endParaRPr>
          </a:p>
          <a:p>
            <a:pPr marL="8645" marR="353144">
              <a:lnSpc>
                <a:spcPts val="2232"/>
              </a:lnSpc>
              <a:spcBef>
                <a:spcPts val="899"/>
              </a:spcBef>
            </a:pPr>
            <a:r>
              <a:rPr sz="2008" b="1" spc="-7" dirty="0">
                <a:latin typeface="Arial"/>
                <a:cs typeface="Arial"/>
              </a:rPr>
              <a:t>Initiation rate: </a:t>
            </a:r>
            <a:r>
              <a:rPr sz="2008" spc="-7" dirty="0">
                <a:latin typeface="Arial"/>
                <a:cs typeface="Arial"/>
              </a:rPr>
              <a:t>Rate that FU consumes vector  </a:t>
            </a:r>
            <a:r>
              <a:rPr sz="2008" spc="-10" dirty="0">
                <a:latin typeface="Arial"/>
                <a:cs typeface="Arial"/>
              </a:rPr>
              <a:t>elements </a:t>
            </a:r>
            <a:r>
              <a:rPr sz="2008" spc="-3" dirty="0">
                <a:latin typeface="Arial"/>
                <a:cs typeface="Arial"/>
              </a:rPr>
              <a:t>(= </a:t>
            </a:r>
            <a:r>
              <a:rPr sz="2008" spc="-10" dirty="0">
                <a:latin typeface="Arial"/>
                <a:cs typeface="Arial"/>
              </a:rPr>
              <a:t>number </a:t>
            </a:r>
            <a:r>
              <a:rPr sz="2008" spc="-3" dirty="0">
                <a:latin typeface="Arial"/>
                <a:cs typeface="Arial"/>
              </a:rPr>
              <a:t>of</a:t>
            </a:r>
            <a:r>
              <a:rPr sz="2008" dirty="0">
                <a:latin typeface="Arial"/>
                <a:cs typeface="Arial"/>
              </a:rPr>
              <a:t> </a:t>
            </a:r>
            <a:r>
              <a:rPr sz="2008" spc="-7" dirty="0">
                <a:latin typeface="Arial"/>
                <a:cs typeface="Arial"/>
              </a:rPr>
              <a:t>lanes)</a:t>
            </a:r>
            <a:endParaRPr sz="2008" dirty="0">
              <a:latin typeface="Arial"/>
              <a:cs typeface="Arial"/>
            </a:endParaRPr>
          </a:p>
          <a:p>
            <a:pPr marL="8645" marR="3458">
              <a:lnSpc>
                <a:spcPct val="92800"/>
              </a:lnSpc>
              <a:spcBef>
                <a:spcPts val="851"/>
              </a:spcBef>
            </a:pPr>
            <a:r>
              <a:rPr sz="2008" b="1" spc="-7" dirty="0">
                <a:latin typeface="Arial"/>
                <a:cs typeface="Arial"/>
              </a:rPr>
              <a:t>Convoy: </a:t>
            </a:r>
            <a:r>
              <a:rPr sz="2008" spc="-7" dirty="0">
                <a:latin typeface="Arial"/>
                <a:cs typeface="Arial"/>
              </a:rPr>
              <a:t>Set of vector instructions that can </a:t>
            </a:r>
            <a:r>
              <a:rPr sz="2008" spc="-10" dirty="0">
                <a:latin typeface="Arial"/>
                <a:cs typeface="Arial"/>
              </a:rPr>
              <a:t>begin  </a:t>
            </a:r>
            <a:r>
              <a:rPr sz="2008" spc="-7" dirty="0">
                <a:latin typeface="Arial"/>
                <a:cs typeface="Arial"/>
              </a:rPr>
              <a:t>execution in same clock (no struct. or data  hazards)</a:t>
            </a:r>
            <a:endParaRPr sz="2008" dirty="0">
              <a:latin typeface="Arial"/>
              <a:cs typeface="Arial"/>
            </a:endParaRPr>
          </a:p>
          <a:p>
            <a:pPr marL="8645">
              <a:spcBef>
                <a:spcPts val="722"/>
              </a:spcBef>
            </a:pPr>
            <a:r>
              <a:rPr sz="2008" b="1" spc="-7" dirty="0">
                <a:latin typeface="Arial"/>
                <a:cs typeface="Arial"/>
              </a:rPr>
              <a:t>Chime: </a:t>
            </a:r>
            <a:r>
              <a:rPr sz="2008" spc="-7" dirty="0">
                <a:latin typeface="Arial"/>
                <a:cs typeface="Arial"/>
              </a:rPr>
              <a:t>approx. time for a vector</a:t>
            </a:r>
            <a:r>
              <a:rPr sz="2008" spc="10" dirty="0">
                <a:latin typeface="Arial"/>
                <a:cs typeface="Arial"/>
              </a:rPr>
              <a:t> </a:t>
            </a:r>
            <a:r>
              <a:rPr sz="2008" spc="-10" dirty="0">
                <a:latin typeface="Arial"/>
                <a:cs typeface="Arial"/>
              </a:rPr>
              <a:t>operation</a:t>
            </a:r>
            <a:endParaRPr sz="2008" dirty="0">
              <a:latin typeface="Arial"/>
              <a:cs typeface="Arial"/>
            </a:endParaRPr>
          </a:p>
          <a:p>
            <a:pPr marL="8645" marR="31986">
              <a:lnSpc>
                <a:spcPts val="2240"/>
              </a:lnSpc>
              <a:spcBef>
                <a:spcPts val="929"/>
              </a:spcBef>
            </a:pPr>
            <a:r>
              <a:rPr sz="2008" b="1" spc="-7" dirty="0">
                <a:latin typeface="Arial"/>
                <a:cs typeface="Arial"/>
              </a:rPr>
              <a:t>Start-up time: </a:t>
            </a:r>
            <a:r>
              <a:rPr sz="2008" spc="-10" dirty="0">
                <a:latin typeface="Arial"/>
                <a:cs typeface="Arial"/>
              </a:rPr>
              <a:t>pipeline </a:t>
            </a:r>
            <a:r>
              <a:rPr sz="2008" spc="-7" dirty="0">
                <a:latin typeface="Arial"/>
                <a:cs typeface="Arial"/>
              </a:rPr>
              <a:t>latency time (depth of FU  </a:t>
            </a:r>
            <a:r>
              <a:rPr sz="2008" spc="-10" dirty="0">
                <a:latin typeface="Arial"/>
                <a:cs typeface="Arial"/>
              </a:rPr>
              <a:t>pipeline)</a:t>
            </a:r>
            <a:endParaRPr sz="2008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5853" y="1891585"/>
            <a:ext cx="107624" cy="145793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885" spc="3" dirty="0">
                <a:latin typeface="OpenSymbol"/>
                <a:cs typeface="OpenSymbol"/>
              </a:rPr>
              <a:t>●</a:t>
            </a:r>
            <a:endParaRPr sz="885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5853" y="2572775"/>
            <a:ext cx="107624" cy="145793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885" spc="3" dirty="0">
                <a:latin typeface="OpenSymbol"/>
                <a:cs typeface="OpenSymbol"/>
              </a:rPr>
              <a:t>●</a:t>
            </a:r>
            <a:endParaRPr sz="885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5853" y="3538370"/>
            <a:ext cx="107624" cy="145793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885" spc="3" dirty="0">
                <a:latin typeface="OpenSymbol"/>
                <a:cs typeface="OpenSymbol"/>
              </a:rPr>
              <a:t>●</a:t>
            </a:r>
            <a:endParaRPr sz="885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25853" y="3935154"/>
            <a:ext cx="107624" cy="145793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885" spc="3" dirty="0">
                <a:latin typeface="OpenSymbol"/>
                <a:cs typeface="OpenSymbol"/>
              </a:rPr>
              <a:t>●</a:t>
            </a:r>
            <a:endParaRPr sz="885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424614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0" y="3014895"/>
            <a:ext cx="1277663" cy="306881"/>
          </a:xfrm>
          <a:custGeom>
            <a:avLst/>
            <a:gdLst/>
            <a:ahLst/>
            <a:cxnLst/>
            <a:rect l="l" t="t" r="r" b="b"/>
            <a:pathLst>
              <a:path w="1877060" h="450850">
                <a:moveTo>
                  <a:pt x="1833880" y="0"/>
                </a:moveTo>
                <a:lnTo>
                  <a:pt x="43180" y="0"/>
                </a:lnTo>
                <a:lnTo>
                  <a:pt x="27324" y="3710"/>
                </a:lnTo>
                <a:lnTo>
                  <a:pt x="13493" y="13493"/>
                </a:lnTo>
                <a:lnTo>
                  <a:pt x="3710" y="27324"/>
                </a:lnTo>
                <a:lnTo>
                  <a:pt x="0" y="43179"/>
                </a:lnTo>
                <a:lnTo>
                  <a:pt x="0" y="407669"/>
                </a:lnTo>
                <a:lnTo>
                  <a:pt x="3710" y="423525"/>
                </a:lnTo>
                <a:lnTo>
                  <a:pt x="13493" y="437356"/>
                </a:lnTo>
                <a:lnTo>
                  <a:pt x="27324" y="447139"/>
                </a:lnTo>
                <a:lnTo>
                  <a:pt x="43180" y="450850"/>
                </a:lnTo>
                <a:lnTo>
                  <a:pt x="1833880" y="450850"/>
                </a:lnTo>
                <a:lnTo>
                  <a:pt x="1849735" y="447139"/>
                </a:lnTo>
                <a:lnTo>
                  <a:pt x="1863566" y="437356"/>
                </a:lnTo>
                <a:lnTo>
                  <a:pt x="1873349" y="423525"/>
                </a:lnTo>
                <a:lnTo>
                  <a:pt x="1877059" y="407669"/>
                </a:lnTo>
                <a:lnTo>
                  <a:pt x="1877059" y="43179"/>
                </a:lnTo>
                <a:lnTo>
                  <a:pt x="1873349" y="27324"/>
                </a:lnTo>
                <a:lnTo>
                  <a:pt x="1863566" y="13493"/>
                </a:lnTo>
                <a:lnTo>
                  <a:pt x="1849735" y="3710"/>
                </a:lnTo>
                <a:lnTo>
                  <a:pt x="1833880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3" name="object 3"/>
          <p:cNvSpPr/>
          <p:nvPr/>
        </p:nvSpPr>
        <p:spPr>
          <a:xfrm>
            <a:off x="5399283" y="3525787"/>
            <a:ext cx="251556" cy="583506"/>
          </a:xfrm>
          <a:custGeom>
            <a:avLst/>
            <a:gdLst/>
            <a:ahLst/>
            <a:cxnLst/>
            <a:rect l="l" t="t" r="r" b="b"/>
            <a:pathLst>
              <a:path w="369570" h="857250">
                <a:moveTo>
                  <a:pt x="0" y="857249"/>
                </a:moveTo>
                <a:lnTo>
                  <a:pt x="369569" y="0"/>
                </a:lnTo>
              </a:path>
            </a:pathLst>
          </a:custGeom>
          <a:ln w="183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grpSp>
        <p:nvGrpSpPr>
          <p:cNvPr id="4" name="object 4"/>
          <p:cNvGrpSpPr/>
          <p:nvPr/>
        </p:nvGrpSpPr>
        <p:grpSpPr>
          <a:xfrm>
            <a:off x="4639212" y="3315724"/>
            <a:ext cx="1017894" cy="1026971"/>
            <a:chOff x="3158172" y="4671059"/>
            <a:chExt cx="1495425" cy="1508760"/>
          </a:xfrm>
        </p:grpSpPr>
        <p:sp>
          <p:nvSpPr>
            <p:cNvPr id="5" name="object 5"/>
            <p:cNvSpPr/>
            <p:nvPr/>
          </p:nvSpPr>
          <p:spPr>
            <a:xfrm>
              <a:off x="3167380" y="4979669"/>
              <a:ext cx="1477010" cy="857250"/>
            </a:xfrm>
            <a:custGeom>
              <a:avLst/>
              <a:gdLst/>
              <a:ahLst/>
              <a:cxnLst/>
              <a:rect l="l" t="t" r="r" b="b"/>
              <a:pathLst>
                <a:path w="1477010" h="857250">
                  <a:moveTo>
                    <a:pt x="0" y="0"/>
                  </a:moveTo>
                  <a:lnTo>
                    <a:pt x="246380" y="857249"/>
                  </a:lnTo>
                </a:path>
                <a:path w="1477010" h="857250">
                  <a:moveTo>
                    <a:pt x="1107440" y="857249"/>
                  </a:moveTo>
                  <a:lnTo>
                    <a:pt x="246380" y="857249"/>
                  </a:lnTo>
                </a:path>
                <a:path w="1477010" h="857250">
                  <a:moveTo>
                    <a:pt x="492759" y="0"/>
                  </a:moveTo>
                  <a:lnTo>
                    <a:pt x="0" y="0"/>
                  </a:lnTo>
                </a:path>
                <a:path w="1477010" h="857250">
                  <a:moveTo>
                    <a:pt x="1477009" y="0"/>
                  </a:moveTo>
                  <a:lnTo>
                    <a:pt x="984249" y="0"/>
                  </a:lnTo>
                </a:path>
                <a:path w="1477010" h="857250">
                  <a:moveTo>
                    <a:pt x="492759" y="0"/>
                  </a:moveTo>
                  <a:lnTo>
                    <a:pt x="739140" y="256539"/>
                  </a:lnTo>
                </a:path>
                <a:path w="1477010" h="857250">
                  <a:moveTo>
                    <a:pt x="984249" y="0"/>
                  </a:moveTo>
                  <a:lnTo>
                    <a:pt x="739140" y="256539"/>
                  </a:lnTo>
                </a:path>
              </a:pathLst>
            </a:custGeom>
            <a:ln w="183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3906520" y="5836919"/>
              <a:ext cx="0" cy="187960"/>
            </a:xfrm>
            <a:custGeom>
              <a:avLst/>
              <a:gdLst/>
              <a:ahLst/>
              <a:cxnLst/>
              <a:rect l="l" t="t" r="r" b="b"/>
              <a:pathLst>
                <a:path h="187960">
                  <a:moveTo>
                    <a:pt x="0" y="0"/>
                  </a:moveTo>
                  <a:lnTo>
                    <a:pt x="0" y="187959"/>
                  </a:lnTo>
                </a:path>
              </a:pathLst>
            </a:custGeom>
            <a:ln w="177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" name="object 7"/>
            <p:cNvSpPr/>
            <p:nvPr/>
          </p:nvSpPr>
          <p:spPr>
            <a:xfrm>
              <a:off x="3421380" y="4860289"/>
              <a:ext cx="538480" cy="1319530"/>
            </a:xfrm>
            <a:custGeom>
              <a:avLst/>
              <a:gdLst/>
              <a:ahLst/>
              <a:cxnLst/>
              <a:rect l="l" t="t" r="r" b="b"/>
              <a:pathLst>
                <a:path w="538479" h="1319529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  <a:path w="538479" h="1319529">
                  <a:moveTo>
                    <a:pt x="538480" y="1156970"/>
                  </a:moveTo>
                  <a:lnTo>
                    <a:pt x="430530" y="1156970"/>
                  </a:lnTo>
                  <a:lnTo>
                    <a:pt x="485140" y="1319530"/>
                  </a:lnTo>
                  <a:lnTo>
                    <a:pt x="538480" y="1156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" name="object 8"/>
            <p:cNvSpPr/>
            <p:nvPr/>
          </p:nvSpPr>
          <p:spPr>
            <a:xfrm>
              <a:off x="4398010" y="4679949"/>
              <a:ext cx="0" cy="187960"/>
            </a:xfrm>
            <a:custGeom>
              <a:avLst/>
              <a:gdLst/>
              <a:ahLst/>
              <a:cxnLst/>
              <a:rect l="l" t="t" r="r" b="b"/>
              <a:pathLst>
                <a:path h="187960">
                  <a:moveTo>
                    <a:pt x="0" y="0"/>
                  </a:moveTo>
                  <a:lnTo>
                    <a:pt x="0" y="187960"/>
                  </a:lnTo>
                </a:path>
              </a:pathLst>
            </a:custGeom>
            <a:ln w="177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" name="object 9"/>
            <p:cNvSpPr/>
            <p:nvPr/>
          </p:nvSpPr>
          <p:spPr>
            <a:xfrm>
              <a:off x="4344670" y="486028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333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967826"/>
              </p:ext>
            </p:extLst>
          </p:nvPr>
        </p:nvGraphicFramePr>
        <p:xfrm>
          <a:off x="4572000" y="1352550"/>
          <a:ext cx="591287" cy="2096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109"/>
                <a:gridCol w="308178"/>
              </a:tblGrid>
              <a:tr h="293481">
                <a:tc gridSpan="2"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A[15]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3481">
                <a:tc gridSpan="2"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A[14]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0692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2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99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025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2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99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3481">
                <a:tc gridSpan="2"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A[3]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3481">
                <a:tc gridSpan="2"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A[2]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3914">
                <a:tc gridSpan="2"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A[1]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27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438400" y="120522"/>
            <a:ext cx="5943600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1" dirty="0"/>
              <a:t>Vector </a:t>
            </a:r>
            <a:r>
              <a:rPr spc="-3" dirty="0"/>
              <a:t>Instruction</a:t>
            </a:r>
            <a:r>
              <a:rPr spc="-20" dirty="0"/>
              <a:t> </a:t>
            </a:r>
            <a:r>
              <a:rPr spc="-3" dirty="0"/>
              <a:t>Execution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2930403" y="1043076"/>
            <a:ext cx="1103043" cy="391598"/>
            <a:chOff x="647700" y="1332230"/>
            <a:chExt cx="1620520" cy="575310"/>
          </a:xfrm>
        </p:grpSpPr>
        <p:sp>
          <p:nvSpPr>
            <p:cNvPr id="13" name="object 13"/>
            <p:cNvSpPr/>
            <p:nvPr/>
          </p:nvSpPr>
          <p:spPr>
            <a:xfrm>
              <a:off x="720090" y="1404619"/>
              <a:ext cx="1548130" cy="502920"/>
            </a:xfrm>
            <a:custGeom>
              <a:avLst/>
              <a:gdLst/>
              <a:ahLst/>
              <a:cxnLst/>
              <a:rect l="l" t="t" r="r" b="b"/>
              <a:pathLst>
                <a:path w="1548130" h="502919">
                  <a:moveTo>
                    <a:pt x="154813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0" y="502920"/>
                  </a:lnTo>
                  <a:lnTo>
                    <a:pt x="1548130" y="502920"/>
                  </a:lnTo>
                  <a:lnTo>
                    <a:pt x="1548130" y="431800"/>
                  </a:lnTo>
                  <a:lnTo>
                    <a:pt x="154813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" name="object 14"/>
            <p:cNvSpPr/>
            <p:nvPr/>
          </p:nvSpPr>
          <p:spPr>
            <a:xfrm>
              <a:off x="720089" y="1404620"/>
              <a:ext cx="1548130" cy="502920"/>
            </a:xfrm>
            <a:custGeom>
              <a:avLst/>
              <a:gdLst/>
              <a:ahLst/>
              <a:cxnLst/>
              <a:rect l="l" t="t" r="r" b="b"/>
              <a:pathLst>
                <a:path w="1548130" h="502919">
                  <a:moveTo>
                    <a:pt x="773429" y="502919"/>
                  </a:moveTo>
                  <a:lnTo>
                    <a:pt x="0" y="502919"/>
                  </a:lnTo>
                  <a:lnTo>
                    <a:pt x="0" y="0"/>
                  </a:lnTo>
                  <a:lnTo>
                    <a:pt x="1548130" y="0"/>
                  </a:lnTo>
                  <a:lnTo>
                    <a:pt x="1548130" y="502919"/>
                  </a:lnTo>
                  <a:lnTo>
                    <a:pt x="773429" y="50291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" name="object 15"/>
            <p:cNvSpPr/>
            <p:nvPr/>
          </p:nvSpPr>
          <p:spPr>
            <a:xfrm>
              <a:off x="647700" y="1332230"/>
              <a:ext cx="1548130" cy="504190"/>
            </a:xfrm>
            <a:custGeom>
              <a:avLst/>
              <a:gdLst/>
              <a:ahLst/>
              <a:cxnLst/>
              <a:rect l="l" t="t" r="r" b="b"/>
              <a:pathLst>
                <a:path w="1548130" h="504189">
                  <a:moveTo>
                    <a:pt x="1548130" y="0"/>
                  </a:moveTo>
                  <a:lnTo>
                    <a:pt x="0" y="0"/>
                  </a:lnTo>
                  <a:lnTo>
                    <a:pt x="0" y="504190"/>
                  </a:lnTo>
                  <a:lnTo>
                    <a:pt x="1548130" y="5041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30403" y="1043076"/>
            <a:ext cx="1053769" cy="262827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1238" rIns="0" bIns="0" rtlCol="0">
            <a:spAutoFit/>
          </a:bodyPr>
          <a:lstStyle/>
          <a:p>
            <a:pPr marL="61379">
              <a:spcBef>
                <a:spcPts val="88"/>
              </a:spcBef>
            </a:pP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C = A +</a:t>
            </a:r>
            <a:r>
              <a:rPr sz="1634" b="1" spc="-16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endParaRPr sz="1634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921023"/>
              </p:ext>
            </p:extLst>
          </p:nvPr>
        </p:nvGraphicFramePr>
        <p:xfrm>
          <a:off x="5258376" y="1376756"/>
          <a:ext cx="591286" cy="19368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286"/>
              </a:tblGrid>
              <a:tr h="2887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B[15]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B[14]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05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36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2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99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36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2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99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87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B[3]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87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B[2]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95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B[1]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4943715" y="4341832"/>
            <a:ext cx="440871" cy="223382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3831" rIns="0" bIns="0" rtlCol="0">
            <a:spAutoFit/>
          </a:bodyPr>
          <a:lstStyle/>
          <a:p>
            <a:pPr marL="61379">
              <a:spcBef>
                <a:spcPts val="109"/>
              </a:spcBef>
            </a:pPr>
            <a:r>
              <a:rPr sz="1361" spc="-3" dirty="0">
                <a:latin typeface="Arial"/>
                <a:cs typeface="Arial"/>
              </a:rPr>
              <a:t>C[0]</a:t>
            </a:r>
            <a:endParaRPr sz="1361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992125" y="3760055"/>
            <a:ext cx="315526" cy="287862"/>
            <a:chOff x="3676650" y="5323840"/>
            <a:chExt cx="463550" cy="422909"/>
          </a:xfrm>
        </p:grpSpPr>
        <p:sp>
          <p:nvSpPr>
            <p:cNvPr id="20" name="object 20"/>
            <p:cNvSpPr/>
            <p:nvPr/>
          </p:nvSpPr>
          <p:spPr>
            <a:xfrm>
              <a:off x="3676650" y="5323840"/>
              <a:ext cx="463550" cy="422909"/>
            </a:xfrm>
            <a:custGeom>
              <a:avLst/>
              <a:gdLst/>
              <a:ahLst/>
              <a:cxnLst/>
              <a:rect l="l" t="t" r="r" b="b"/>
              <a:pathLst>
                <a:path w="463550" h="422910">
                  <a:moveTo>
                    <a:pt x="463550" y="166370"/>
                  </a:moveTo>
                  <a:lnTo>
                    <a:pt x="297180" y="166370"/>
                  </a:lnTo>
                  <a:lnTo>
                    <a:pt x="297180" y="0"/>
                  </a:lnTo>
                  <a:lnTo>
                    <a:pt x="165100" y="0"/>
                  </a:lnTo>
                  <a:lnTo>
                    <a:pt x="165100" y="166370"/>
                  </a:lnTo>
                  <a:lnTo>
                    <a:pt x="0" y="166370"/>
                  </a:lnTo>
                  <a:lnTo>
                    <a:pt x="0" y="257810"/>
                  </a:lnTo>
                  <a:lnTo>
                    <a:pt x="165100" y="257810"/>
                  </a:lnTo>
                  <a:lnTo>
                    <a:pt x="165100" y="422910"/>
                  </a:lnTo>
                  <a:lnTo>
                    <a:pt x="297180" y="422910"/>
                  </a:lnTo>
                  <a:lnTo>
                    <a:pt x="297180" y="257810"/>
                  </a:lnTo>
                  <a:lnTo>
                    <a:pt x="463550" y="257810"/>
                  </a:lnTo>
                  <a:lnTo>
                    <a:pt x="463550" y="16637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" name="object 21"/>
            <p:cNvSpPr/>
            <p:nvPr/>
          </p:nvSpPr>
          <p:spPr>
            <a:xfrm>
              <a:off x="3676650" y="5323840"/>
              <a:ext cx="463550" cy="422909"/>
            </a:xfrm>
            <a:custGeom>
              <a:avLst/>
              <a:gdLst/>
              <a:ahLst/>
              <a:cxnLst/>
              <a:rect l="l" t="t" r="r" b="b"/>
              <a:pathLst>
                <a:path w="463550" h="422910">
                  <a:moveTo>
                    <a:pt x="165100" y="0"/>
                  </a:moveTo>
                  <a:lnTo>
                    <a:pt x="297179" y="0"/>
                  </a:lnTo>
                  <a:lnTo>
                    <a:pt x="297179" y="166370"/>
                  </a:lnTo>
                  <a:lnTo>
                    <a:pt x="463550" y="166370"/>
                  </a:lnTo>
                  <a:lnTo>
                    <a:pt x="463550" y="257810"/>
                  </a:lnTo>
                  <a:lnTo>
                    <a:pt x="297179" y="257810"/>
                  </a:lnTo>
                  <a:lnTo>
                    <a:pt x="297179" y="422910"/>
                  </a:lnTo>
                  <a:lnTo>
                    <a:pt x="165100" y="422910"/>
                  </a:lnTo>
                  <a:lnTo>
                    <a:pt x="165100" y="257810"/>
                  </a:lnTo>
                  <a:lnTo>
                    <a:pt x="0" y="257810"/>
                  </a:lnTo>
                  <a:lnTo>
                    <a:pt x="0" y="166370"/>
                  </a:lnTo>
                  <a:lnTo>
                    <a:pt x="165100" y="166370"/>
                  </a:lnTo>
                  <a:lnTo>
                    <a:pt x="165100" y="0"/>
                  </a:lnTo>
                  <a:close/>
                </a:path>
                <a:path w="463550" h="422910">
                  <a:moveTo>
                    <a:pt x="0" y="0"/>
                  </a:moveTo>
                  <a:lnTo>
                    <a:pt x="0" y="0"/>
                  </a:lnTo>
                </a:path>
                <a:path w="463550" h="422910">
                  <a:moveTo>
                    <a:pt x="463550" y="422910"/>
                  </a:moveTo>
                  <a:lnTo>
                    <a:pt x="463550" y="4229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59103" y="1018007"/>
            <a:ext cx="2548410" cy="331739"/>
          </a:xfrm>
          <a:prstGeom prst="rect">
            <a:avLst/>
          </a:prstGeom>
          <a:ln w="27315">
            <a:solidFill>
              <a:srgbClr val="000000"/>
            </a:solidFill>
          </a:ln>
        </p:spPr>
        <p:txBody>
          <a:bodyPr vert="horz" wrap="square" lIns="0" tIns="58783" rIns="0" bIns="0" rtlCol="0">
            <a:spAutoFit/>
          </a:bodyPr>
          <a:lstStyle/>
          <a:p>
            <a:pPr marL="84720">
              <a:spcBef>
                <a:spcPts val="463"/>
              </a:spcBef>
            </a:pPr>
            <a:r>
              <a:rPr sz="1770" b="1" dirty="0">
                <a:latin typeface="Arial"/>
                <a:cs typeface="Arial"/>
              </a:rPr>
              <a:t>Single Functional</a:t>
            </a:r>
            <a:r>
              <a:rPr sz="1770" b="1" spc="-41" dirty="0">
                <a:latin typeface="Arial"/>
                <a:cs typeface="Arial"/>
              </a:rPr>
              <a:t> </a:t>
            </a:r>
            <a:r>
              <a:rPr sz="1770" b="1" spc="-3" dirty="0">
                <a:latin typeface="Arial"/>
                <a:cs typeface="Arial"/>
              </a:rPr>
              <a:t>Unit</a:t>
            </a:r>
            <a:endParaRPr sz="177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350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02099" y="2060679"/>
            <a:ext cx="5161654" cy="232538"/>
          </a:xfrm>
          <a:custGeom>
            <a:avLst/>
            <a:gdLst/>
            <a:ahLst/>
            <a:cxnLst/>
            <a:rect l="l" t="t" r="r" b="b"/>
            <a:pathLst>
              <a:path w="7583170" h="341630">
                <a:moveTo>
                  <a:pt x="7550150" y="0"/>
                </a:moveTo>
                <a:lnTo>
                  <a:pt x="33020" y="0"/>
                </a:lnTo>
                <a:lnTo>
                  <a:pt x="20895" y="2837"/>
                </a:lnTo>
                <a:lnTo>
                  <a:pt x="10318" y="10318"/>
                </a:lnTo>
                <a:lnTo>
                  <a:pt x="2837" y="20895"/>
                </a:lnTo>
                <a:lnTo>
                  <a:pt x="0" y="33020"/>
                </a:lnTo>
                <a:lnTo>
                  <a:pt x="0" y="308610"/>
                </a:lnTo>
                <a:lnTo>
                  <a:pt x="2837" y="320734"/>
                </a:lnTo>
                <a:lnTo>
                  <a:pt x="10318" y="331311"/>
                </a:lnTo>
                <a:lnTo>
                  <a:pt x="20895" y="338792"/>
                </a:lnTo>
                <a:lnTo>
                  <a:pt x="33020" y="341630"/>
                </a:lnTo>
                <a:lnTo>
                  <a:pt x="7550150" y="341630"/>
                </a:lnTo>
                <a:lnTo>
                  <a:pt x="7562274" y="338792"/>
                </a:lnTo>
                <a:lnTo>
                  <a:pt x="7572851" y="331311"/>
                </a:lnTo>
                <a:lnTo>
                  <a:pt x="7580332" y="320734"/>
                </a:lnTo>
                <a:lnTo>
                  <a:pt x="7583170" y="308610"/>
                </a:lnTo>
                <a:lnTo>
                  <a:pt x="7583170" y="33020"/>
                </a:lnTo>
                <a:lnTo>
                  <a:pt x="7580332" y="20895"/>
                </a:lnTo>
                <a:lnTo>
                  <a:pt x="7572851" y="10318"/>
                </a:lnTo>
                <a:lnTo>
                  <a:pt x="7562274" y="2837"/>
                </a:lnTo>
                <a:lnTo>
                  <a:pt x="7550150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79" y="241400"/>
            <a:ext cx="5876397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1" dirty="0"/>
              <a:t>Vector </a:t>
            </a:r>
            <a:r>
              <a:rPr spc="-3" dirty="0"/>
              <a:t>Instruction</a:t>
            </a:r>
            <a:r>
              <a:rPr spc="-20" dirty="0"/>
              <a:t> </a:t>
            </a:r>
            <a:r>
              <a:rPr spc="-3" dirty="0"/>
              <a:t>Execution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815411" y="1141765"/>
            <a:ext cx="1103043" cy="391598"/>
            <a:chOff x="539750" y="1548130"/>
            <a:chExt cx="1620520" cy="575310"/>
          </a:xfrm>
        </p:grpSpPr>
        <p:sp>
          <p:nvSpPr>
            <p:cNvPr id="5" name="object 5"/>
            <p:cNvSpPr/>
            <p:nvPr/>
          </p:nvSpPr>
          <p:spPr>
            <a:xfrm>
              <a:off x="612140" y="1620519"/>
              <a:ext cx="1548130" cy="502920"/>
            </a:xfrm>
            <a:custGeom>
              <a:avLst/>
              <a:gdLst/>
              <a:ahLst/>
              <a:cxnLst/>
              <a:rect l="l" t="t" r="r" b="b"/>
              <a:pathLst>
                <a:path w="1548130" h="502919">
                  <a:moveTo>
                    <a:pt x="1548130" y="0"/>
                  </a:moveTo>
                  <a:lnTo>
                    <a:pt x="0" y="0"/>
                  </a:lnTo>
                  <a:lnTo>
                    <a:pt x="0" y="430530"/>
                  </a:lnTo>
                  <a:lnTo>
                    <a:pt x="0" y="502920"/>
                  </a:lnTo>
                  <a:lnTo>
                    <a:pt x="1548130" y="502920"/>
                  </a:lnTo>
                  <a:lnTo>
                    <a:pt x="1548130" y="430530"/>
                  </a:lnTo>
                  <a:lnTo>
                    <a:pt x="154813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612139" y="1620520"/>
              <a:ext cx="1548130" cy="502920"/>
            </a:xfrm>
            <a:custGeom>
              <a:avLst/>
              <a:gdLst/>
              <a:ahLst/>
              <a:cxnLst/>
              <a:rect l="l" t="t" r="r" b="b"/>
              <a:pathLst>
                <a:path w="1548130" h="502919">
                  <a:moveTo>
                    <a:pt x="773429" y="502919"/>
                  </a:moveTo>
                  <a:lnTo>
                    <a:pt x="0" y="502919"/>
                  </a:lnTo>
                  <a:lnTo>
                    <a:pt x="0" y="0"/>
                  </a:lnTo>
                  <a:lnTo>
                    <a:pt x="1548130" y="0"/>
                  </a:lnTo>
                  <a:lnTo>
                    <a:pt x="1548130" y="502919"/>
                  </a:lnTo>
                  <a:lnTo>
                    <a:pt x="773429" y="50291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" name="object 7"/>
            <p:cNvSpPr/>
            <p:nvPr/>
          </p:nvSpPr>
          <p:spPr>
            <a:xfrm>
              <a:off x="539750" y="1548130"/>
              <a:ext cx="1548130" cy="502920"/>
            </a:xfrm>
            <a:custGeom>
              <a:avLst/>
              <a:gdLst/>
              <a:ahLst/>
              <a:cxnLst/>
              <a:rect l="l" t="t" r="r" b="b"/>
              <a:pathLst>
                <a:path w="1548130" h="502919">
                  <a:moveTo>
                    <a:pt x="154813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548130" y="502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15411" y="1141765"/>
            <a:ext cx="1053769" cy="261953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0373" rIns="0" bIns="0" rtlCol="0">
            <a:spAutoFit/>
          </a:bodyPr>
          <a:lstStyle/>
          <a:p>
            <a:pPr marL="61379">
              <a:spcBef>
                <a:spcPts val="82"/>
              </a:spcBef>
            </a:pP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C = A +</a:t>
            </a:r>
            <a:r>
              <a:rPr sz="1634" b="1" spc="-16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endParaRPr sz="1634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8882" y="4032498"/>
            <a:ext cx="440007" cy="224256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4696" rIns="0" bIns="0" rtlCol="0">
            <a:spAutoFit/>
          </a:bodyPr>
          <a:lstStyle/>
          <a:p>
            <a:pPr marL="60514">
              <a:spcBef>
                <a:spcPts val="116"/>
              </a:spcBef>
            </a:pPr>
            <a:r>
              <a:rPr sz="1361" spc="-3" dirty="0">
                <a:latin typeface="Arial"/>
                <a:cs typeface="Arial"/>
              </a:rPr>
              <a:t>C[0]</a:t>
            </a:r>
            <a:endParaRPr sz="1361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21498" y="4032498"/>
            <a:ext cx="440871" cy="224256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4696" rIns="0" bIns="0" rtlCol="0">
            <a:spAutoFit/>
          </a:bodyPr>
          <a:lstStyle/>
          <a:p>
            <a:pPr marL="61379">
              <a:spcBef>
                <a:spcPts val="116"/>
              </a:spcBef>
            </a:pPr>
            <a:r>
              <a:rPr sz="1361" spc="-3" dirty="0">
                <a:latin typeface="Arial"/>
                <a:cs typeface="Arial"/>
              </a:rPr>
              <a:t>C[1]</a:t>
            </a:r>
            <a:endParaRPr sz="1361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20771" y="4032498"/>
            <a:ext cx="440007" cy="224256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4696" rIns="0" bIns="0" rtlCol="0">
            <a:spAutoFit/>
          </a:bodyPr>
          <a:lstStyle/>
          <a:p>
            <a:pPr marL="60514">
              <a:spcBef>
                <a:spcPts val="116"/>
              </a:spcBef>
            </a:pPr>
            <a:r>
              <a:rPr sz="1361" dirty="0">
                <a:latin typeface="Arial"/>
                <a:cs typeface="Arial"/>
              </a:rPr>
              <a:t>C[2]</a:t>
            </a:r>
            <a:endParaRPr sz="1361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3386" y="4032498"/>
            <a:ext cx="440871" cy="224256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4696" rIns="0" bIns="0" rtlCol="0">
            <a:spAutoFit/>
          </a:bodyPr>
          <a:lstStyle/>
          <a:p>
            <a:pPr marL="61379">
              <a:spcBef>
                <a:spcPts val="116"/>
              </a:spcBef>
            </a:pPr>
            <a:r>
              <a:rPr sz="1361" spc="-3" dirty="0">
                <a:latin typeface="Arial"/>
                <a:cs typeface="Arial"/>
              </a:rPr>
              <a:t>C[3]</a:t>
            </a:r>
            <a:endParaRPr sz="1361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49886" y="3322782"/>
            <a:ext cx="315526" cy="286999"/>
            <a:chOff x="1912620" y="4752340"/>
            <a:chExt cx="463550" cy="421640"/>
          </a:xfrm>
        </p:grpSpPr>
        <p:sp>
          <p:nvSpPr>
            <p:cNvPr id="14" name="object 14"/>
            <p:cNvSpPr/>
            <p:nvPr/>
          </p:nvSpPr>
          <p:spPr>
            <a:xfrm>
              <a:off x="1912620" y="4752340"/>
              <a:ext cx="463550" cy="421640"/>
            </a:xfrm>
            <a:custGeom>
              <a:avLst/>
              <a:gdLst/>
              <a:ahLst/>
              <a:cxnLst/>
              <a:rect l="l" t="t" r="r" b="b"/>
              <a:pathLst>
                <a:path w="463550" h="421639">
                  <a:moveTo>
                    <a:pt x="463550" y="165100"/>
                  </a:moveTo>
                  <a:lnTo>
                    <a:pt x="298450" y="165100"/>
                  </a:lnTo>
                  <a:lnTo>
                    <a:pt x="298450" y="0"/>
                  </a:lnTo>
                  <a:lnTo>
                    <a:pt x="165100" y="0"/>
                  </a:lnTo>
                  <a:lnTo>
                    <a:pt x="165100" y="165100"/>
                  </a:lnTo>
                  <a:lnTo>
                    <a:pt x="0" y="165100"/>
                  </a:lnTo>
                  <a:lnTo>
                    <a:pt x="0" y="256540"/>
                  </a:lnTo>
                  <a:lnTo>
                    <a:pt x="165100" y="256540"/>
                  </a:lnTo>
                  <a:lnTo>
                    <a:pt x="165100" y="421640"/>
                  </a:lnTo>
                  <a:lnTo>
                    <a:pt x="298450" y="421640"/>
                  </a:lnTo>
                  <a:lnTo>
                    <a:pt x="298450" y="256540"/>
                  </a:lnTo>
                  <a:lnTo>
                    <a:pt x="463550" y="256540"/>
                  </a:lnTo>
                  <a:lnTo>
                    <a:pt x="463550" y="1651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2620" y="4752340"/>
              <a:ext cx="463550" cy="421640"/>
            </a:xfrm>
            <a:custGeom>
              <a:avLst/>
              <a:gdLst/>
              <a:ahLst/>
              <a:cxnLst/>
              <a:rect l="l" t="t" r="r" b="b"/>
              <a:pathLst>
                <a:path w="463550" h="421639">
                  <a:moveTo>
                    <a:pt x="165100" y="0"/>
                  </a:moveTo>
                  <a:lnTo>
                    <a:pt x="298450" y="0"/>
                  </a:lnTo>
                  <a:lnTo>
                    <a:pt x="298450" y="165100"/>
                  </a:lnTo>
                  <a:lnTo>
                    <a:pt x="463550" y="165100"/>
                  </a:lnTo>
                  <a:lnTo>
                    <a:pt x="463550" y="256540"/>
                  </a:lnTo>
                  <a:lnTo>
                    <a:pt x="298450" y="256540"/>
                  </a:lnTo>
                  <a:lnTo>
                    <a:pt x="298450" y="421640"/>
                  </a:lnTo>
                  <a:lnTo>
                    <a:pt x="165100" y="421640"/>
                  </a:lnTo>
                  <a:lnTo>
                    <a:pt x="165100" y="256540"/>
                  </a:lnTo>
                  <a:lnTo>
                    <a:pt x="0" y="256540"/>
                  </a:lnTo>
                  <a:lnTo>
                    <a:pt x="0" y="165100"/>
                  </a:lnTo>
                  <a:lnTo>
                    <a:pt x="165100" y="165100"/>
                  </a:lnTo>
                  <a:lnTo>
                    <a:pt x="165100" y="0"/>
                  </a:lnTo>
                  <a:close/>
                </a:path>
                <a:path w="463550" h="421639">
                  <a:moveTo>
                    <a:pt x="0" y="0"/>
                  </a:moveTo>
                  <a:lnTo>
                    <a:pt x="0" y="0"/>
                  </a:lnTo>
                </a:path>
                <a:path w="463550" h="421639">
                  <a:moveTo>
                    <a:pt x="463550" y="421640"/>
                  </a:moveTo>
                  <a:lnTo>
                    <a:pt x="463550" y="4216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020633" y="3353902"/>
            <a:ext cx="315526" cy="287862"/>
            <a:chOff x="3779520" y="4798059"/>
            <a:chExt cx="463550" cy="422909"/>
          </a:xfrm>
        </p:grpSpPr>
        <p:sp>
          <p:nvSpPr>
            <p:cNvPr id="17" name="object 17"/>
            <p:cNvSpPr/>
            <p:nvPr/>
          </p:nvSpPr>
          <p:spPr>
            <a:xfrm>
              <a:off x="3779520" y="4798059"/>
              <a:ext cx="463550" cy="422909"/>
            </a:xfrm>
            <a:custGeom>
              <a:avLst/>
              <a:gdLst/>
              <a:ahLst/>
              <a:cxnLst/>
              <a:rect l="l" t="t" r="r" b="b"/>
              <a:pathLst>
                <a:path w="463550" h="422910">
                  <a:moveTo>
                    <a:pt x="463550" y="165100"/>
                  </a:moveTo>
                  <a:lnTo>
                    <a:pt x="298450" y="165100"/>
                  </a:lnTo>
                  <a:lnTo>
                    <a:pt x="298450" y="0"/>
                  </a:lnTo>
                  <a:lnTo>
                    <a:pt x="165100" y="0"/>
                  </a:lnTo>
                  <a:lnTo>
                    <a:pt x="165100" y="165100"/>
                  </a:lnTo>
                  <a:lnTo>
                    <a:pt x="0" y="165100"/>
                  </a:lnTo>
                  <a:lnTo>
                    <a:pt x="0" y="256540"/>
                  </a:lnTo>
                  <a:lnTo>
                    <a:pt x="165100" y="256540"/>
                  </a:lnTo>
                  <a:lnTo>
                    <a:pt x="165100" y="422910"/>
                  </a:lnTo>
                  <a:lnTo>
                    <a:pt x="298450" y="422910"/>
                  </a:lnTo>
                  <a:lnTo>
                    <a:pt x="298450" y="256540"/>
                  </a:lnTo>
                  <a:lnTo>
                    <a:pt x="463550" y="256540"/>
                  </a:lnTo>
                  <a:lnTo>
                    <a:pt x="463550" y="1651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" name="object 18"/>
            <p:cNvSpPr/>
            <p:nvPr/>
          </p:nvSpPr>
          <p:spPr>
            <a:xfrm>
              <a:off x="3779520" y="4798059"/>
              <a:ext cx="463550" cy="422909"/>
            </a:xfrm>
            <a:custGeom>
              <a:avLst/>
              <a:gdLst/>
              <a:ahLst/>
              <a:cxnLst/>
              <a:rect l="l" t="t" r="r" b="b"/>
              <a:pathLst>
                <a:path w="463550" h="422910">
                  <a:moveTo>
                    <a:pt x="165100" y="0"/>
                  </a:moveTo>
                  <a:lnTo>
                    <a:pt x="298450" y="0"/>
                  </a:lnTo>
                  <a:lnTo>
                    <a:pt x="298450" y="165100"/>
                  </a:lnTo>
                  <a:lnTo>
                    <a:pt x="463550" y="165100"/>
                  </a:lnTo>
                  <a:lnTo>
                    <a:pt x="463550" y="256539"/>
                  </a:lnTo>
                  <a:lnTo>
                    <a:pt x="298450" y="256539"/>
                  </a:lnTo>
                  <a:lnTo>
                    <a:pt x="298450" y="422909"/>
                  </a:lnTo>
                  <a:lnTo>
                    <a:pt x="165100" y="422909"/>
                  </a:lnTo>
                  <a:lnTo>
                    <a:pt x="165100" y="256539"/>
                  </a:lnTo>
                  <a:lnTo>
                    <a:pt x="0" y="256539"/>
                  </a:lnTo>
                  <a:lnTo>
                    <a:pt x="0" y="165100"/>
                  </a:lnTo>
                  <a:lnTo>
                    <a:pt x="165100" y="165100"/>
                  </a:lnTo>
                  <a:lnTo>
                    <a:pt x="165100" y="0"/>
                  </a:lnTo>
                  <a:close/>
                </a:path>
                <a:path w="463550" h="422910">
                  <a:moveTo>
                    <a:pt x="0" y="0"/>
                  </a:moveTo>
                  <a:lnTo>
                    <a:pt x="0" y="0"/>
                  </a:lnTo>
                </a:path>
                <a:path w="463550" h="422910">
                  <a:moveTo>
                    <a:pt x="463550" y="422909"/>
                  </a:moveTo>
                  <a:lnTo>
                    <a:pt x="463550" y="4229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301753" y="3353902"/>
            <a:ext cx="315526" cy="287862"/>
            <a:chOff x="5661659" y="4798059"/>
            <a:chExt cx="463550" cy="422909"/>
          </a:xfrm>
        </p:grpSpPr>
        <p:sp>
          <p:nvSpPr>
            <p:cNvPr id="20" name="object 20"/>
            <p:cNvSpPr/>
            <p:nvPr/>
          </p:nvSpPr>
          <p:spPr>
            <a:xfrm>
              <a:off x="5661660" y="4798059"/>
              <a:ext cx="463550" cy="422909"/>
            </a:xfrm>
            <a:custGeom>
              <a:avLst/>
              <a:gdLst/>
              <a:ahLst/>
              <a:cxnLst/>
              <a:rect l="l" t="t" r="r" b="b"/>
              <a:pathLst>
                <a:path w="463550" h="422910">
                  <a:moveTo>
                    <a:pt x="463550" y="165100"/>
                  </a:moveTo>
                  <a:lnTo>
                    <a:pt x="298450" y="165100"/>
                  </a:lnTo>
                  <a:lnTo>
                    <a:pt x="298450" y="0"/>
                  </a:lnTo>
                  <a:lnTo>
                    <a:pt x="165100" y="0"/>
                  </a:lnTo>
                  <a:lnTo>
                    <a:pt x="165100" y="165100"/>
                  </a:lnTo>
                  <a:lnTo>
                    <a:pt x="0" y="165100"/>
                  </a:lnTo>
                  <a:lnTo>
                    <a:pt x="0" y="256540"/>
                  </a:lnTo>
                  <a:lnTo>
                    <a:pt x="165100" y="256540"/>
                  </a:lnTo>
                  <a:lnTo>
                    <a:pt x="165100" y="422910"/>
                  </a:lnTo>
                  <a:lnTo>
                    <a:pt x="298450" y="422910"/>
                  </a:lnTo>
                  <a:lnTo>
                    <a:pt x="298450" y="256540"/>
                  </a:lnTo>
                  <a:lnTo>
                    <a:pt x="463550" y="256540"/>
                  </a:lnTo>
                  <a:lnTo>
                    <a:pt x="463550" y="1651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" name="object 21"/>
            <p:cNvSpPr/>
            <p:nvPr/>
          </p:nvSpPr>
          <p:spPr>
            <a:xfrm>
              <a:off x="5661659" y="4798059"/>
              <a:ext cx="463550" cy="422909"/>
            </a:xfrm>
            <a:custGeom>
              <a:avLst/>
              <a:gdLst/>
              <a:ahLst/>
              <a:cxnLst/>
              <a:rect l="l" t="t" r="r" b="b"/>
              <a:pathLst>
                <a:path w="463550" h="422910">
                  <a:moveTo>
                    <a:pt x="165100" y="0"/>
                  </a:moveTo>
                  <a:lnTo>
                    <a:pt x="298450" y="0"/>
                  </a:lnTo>
                  <a:lnTo>
                    <a:pt x="298450" y="165100"/>
                  </a:lnTo>
                  <a:lnTo>
                    <a:pt x="463550" y="165100"/>
                  </a:lnTo>
                  <a:lnTo>
                    <a:pt x="463550" y="256539"/>
                  </a:lnTo>
                  <a:lnTo>
                    <a:pt x="298450" y="256539"/>
                  </a:lnTo>
                  <a:lnTo>
                    <a:pt x="298450" y="422909"/>
                  </a:lnTo>
                  <a:lnTo>
                    <a:pt x="165100" y="422909"/>
                  </a:lnTo>
                  <a:lnTo>
                    <a:pt x="165100" y="256539"/>
                  </a:lnTo>
                  <a:lnTo>
                    <a:pt x="0" y="256539"/>
                  </a:lnTo>
                  <a:lnTo>
                    <a:pt x="0" y="165100"/>
                  </a:lnTo>
                  <a:lnTo>
                    <a:pt x="165100" y="165100"/>
                  </a:lnTo>
                  <a:lnTo>
                    <a:pt x="165100" y="0"/>
                  </a:lnTo>
                  <a:close/>
                </a:path>
                <a:path w="463550" h="422910">
                  <a:moveTo>
                    <a:pt x="0" y="0"/>
                  </a:moveTo>
                  <a:lnTo>
                    <a:pt x="0" y="0"/>
                  </a:lnTo>
                </a:path>
                <a:path w="463550" h="422910">
                  <a:moveTo>
                    <a:pt x="463550" y="422909"/>
                  </a:moveTo>
                  <a:lnTo>
                    <a:pt x="463550" y="4229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7645978" y="3353902"/>
            <a:ext cx="315526" cy="287862"/>
            <a:chOff x="7636509" y="4798059"/>
            <a:chExt cx="463550" cy="422909"/>
          </a:xfrm>
        </p:grpSpPr>
        <p:sp>
          <p:nvSpPr>
            <p:cNvPr id="23" name="object 23"/>
            <p:cNvSpPr/>
            <p:nvPr/>
          </p:nvSpPr>
          <p:spPr>
            <a:xfrm>
              <a:off x="7636510" y="4798059"/>
              <a:ext cx="463550" cy="422909"/>
            </a:xfrm>
            <a:custGeom>
              <a:avLst/>
              <a:gdLst/>
              <a:ahLst/>
              <a:cxnLst/>
              <a:rect l="l" t="t" r="r" b="b"/>
              <a:pathLst>
                <a:path w="463550" h="422910">
                  <a:moveTo>
                    <a:pt x="463550" y="165100"/>
                  </a:moveTo>
                  <a:lnTo>
                    <a:pt x="298450" y="165100"/>
                  </a:lnTo>
                  <a:lnTo>
                    <a:pt x="298450" y="0"/>
                  </a:lnTo>
                  <a:lnTo>
                    <a:pt x="166370" y="0"/>
                  </a:lnTo>
                  <a:lnTo>
                    <a:pt x="166370" y="165100"/>
                  </a:lnTo>
                  <a:lnTo>
                    <a:pt x="0" y="165100"/>
                  </a:lnTo>
                  <a:lnTo>
                    <a:pt x="0" y="256540"/>
                  </a:lnTo>
                  <a:lnTo>
                    <a:pt x="166370" y="256540"/>
                  </a:lnTo>
                  <a:lnTo>
                    <a:pt x="166370" y="422910"/>
                  </a:lnTo>
                  <a:lnTo>
                    <a:pt x="298450" y="422910"/>
                  </a:lnTo>
                  <a:lnTo>
                    <a:pt x="298450" y="256540"/>
                  </a:lnTo>
                  <a:lnTo>
                    <a:pt x="463550" y="256540"/>
                  </a:lnTo>
                  <a:lnTo>
                    <a:pt x="463550" y="1651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" name="object 24"/>
            <p:cNvSpPr/>
            <p:nvPr/>
          </p:nvSpPr>
          <p:spPr>
            <a:xfrm>
              <a:off x="7636509" y="4798059"/>
              <a:ext cx="463550" cy="422909"/>
            </a:xfrm>
            <a:custGeom>
              <a:avLst/>
              <a:gdLst/>
              <a:ahLst/>
              <a:cxnLst/>
              <a:rect l="l" t="t" r="r" b="b"/>
              <a:pathLst>
                <a:path w="463550" h="422910">
                  <a:moveTo>
                    <a:pt x="166370" y="0"/>
                  </a:moveTo>
                  <a:lnTo>
                    <a:pt x="298450" y="0"/>
                  </a:lnTo>
                  <a:lnTo>
                    <a:pt x="298450" y="165100"/>
                  </a:lnTo>
                  <a:lnTo>
                    <a:pt x="463550" y="165100"/>
                  </a:lnTo>
                  <a:lnTo>
                    <a:pt x="463550" y="256539"/>
                  </a:lnTo>
                  <a:lnTo>
                    <a:pt x="298450" y="256539"/>
                  </a:lnTo>
                  <a:lnTo>
                    <a:pt x="298450" y="422909"/>
                  </a:lnTo>
                  <a:lnTo>
                    <a:pt x="166370" y="422909"/>
                  </a:lnTo>
                  <a:lnTo>
                    <a:pt x="166370" y="256539"/>
                  </a:lnTo>
                  <a:lnTo>
                    <a:pt x="0" y="256539"/>
                  </a:lnTo>
                  <a:lnTo>
                    <a:pt x="0" y="165100"/>
                  </a:lnTo>
                  <a:lnTo>
                    <a:pt x="166370" y="165100"/>
                  </a:lnTo>
                  <a:lnTo>
                    <a:pt x="166370" y="0"/>
                  </a:lnTo>
                  <a:close/>
                </a:path>
                <a:path w="463550" h="422910">
                  <a:moveTo>
                    <a:pt x="0" y="0"/>
                  </a:moveTo>
                  <a:lnTo>
                    <a:pt x="0" y="0"/>
                  </a:lnTo>
                </a:path>
                <a:path w="463550" h="422910">
                  <a:moveTo>
                    <a:pt x="463550" y="422909"/>
                  </a:moveTo>
                  <a:lnTo>
                    <a:pt x="463550" y="4229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5" name="object 25"/>
          <p:cNvSpPr/>
          <p:nvPr/>
        </p:nvSpPr>
        <p:spPr>
          <a:xfrm>
            <a:off x="3525992" y="4048059"/>
            <a:ext cx="0" cy="124481"/>
          </a:xfrm>
          <a:custGeom>
            <a:avLst/>
            <a:gdLst/>
            <a:ahLst/>
            <a:cxnLst/>
            <a:rect l="l" t="t" r="r" b="b"/>
            <a:pathLst>
              <a:path h="182879">
                <a:moveTo>
                  <a:pt x="0" y="0"/>
                </a:moveTo>
                <a:lnTo>
                  <a:pt x="0" y="182879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26" name="object 26"/>
          <p:cNvSpPr/>
          <p:nvPr/>
        </p:nvSpPr>
        <p:spPr>
          <a:xfrm>
            <a:off x="3513890" y="4294644"/>
            <a:ext cx="91353" cy="940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27" name="object 27"/>
          <p:cNvSpPr/>
          <p:nvPr/>
        </p:nvSpPr>
        <p:spPr>
          <a:xfrm>
            <a:off x="3727410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80">
                <a:moveTo>
                  <a:pt x="0" y="0"/>
                </a:moveTo>
                <a:lnTo>
                  <a:pt x="18288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28" name="object 28"/>
          <p:cNvSpPr/>
          <p:nvPr/>
        </p:nvSpPr>
        <p:spPr>
          <a:xfrm>
            <a:off x="3976373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80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29" name="object 29"/>
          <p:cNvSpPr/>
          <p:nvPr/>
        </p:nvSpPr>
        <p:spPr>
          <a:xfrm>
            <a:off x="4225336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80">
                <a:moveTo>
                  <a:pt x="0" y="0"/>
                </a:moveTo>
                <a:lnTo>
                  <a:pt x="18288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30" name="object 30"/>
          <p:cNvSpPr/>
          <p:nvPr/>
        </p:nvSpPr>
        <p:spPr>
          <a:xfrm>
            <a:off x="4474298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80">
                <a:moveTo>
                  <a:pt x="0" y="0"/>
                </a:moveTo>
                <a:lnTo>
                  <a:pt x="18288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31" name="object 31"/>
          <p:cNvSpPr/>
          <p:nvPr/>
        </p:nvSpPr>
        <p:spPr>
          <a:xfrm>
            <a:off x="4723261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8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32" name="object 32"/>
          <p:cNvSpPr/>
          <p:nvPr/>
        </p:nvSpPr>
        <p:spPr>
          <a:xfrm>
            <a:off x="4972224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33" name="object 33"/>
          <p:cNvSpPr/>
          <p:nvPr/>
        </p:nvSpPr>
        <p:spPr>
          <a:xfrm>
            <a:off x="5221186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34" name="object 34"/>
          <p:cNvSpPr/>
          <p:nvPr/>
        </p:nvSpPr>
        <p:spPr>
          <a:xfrm>
            <a:off x="5470149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grpSp>
        <p:nvGrpSpPr>
          <p:cNvPr id="35" name="object 35"/>
          <p:cNvGrpSpPr/>
          <p:nvPr/>
        </p:nvGrpSpPr>
        <p:grpSpPr>
          <a:xfrm>
            <a:off x="4715913" y="4364449"/>
            <a:ext cx="1199430" cy="154305"/>
            <a:chOff x="3331845" y="6282690"/>
            <a:chExt cx="1762125" cy="226695"/>
          </a:xfrm>
        </p:grpSpPr>
        <p:sp>
          <p:nvSpPr>
            <p:cNvPr id="36" name="object 36"/>
            <p:cNvSpPr/>
            <p:nvPr/>
          </p:nvSpPr>
          <p:spPr>
            <a:xfrm>
              <a:off x="4805680" y="6300470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0" y="0"/>
                  </a:moveTo>
                  <a:lnTo>
                    <a:pt x="18288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" name="object 37"/>
            <p:cNvSpPr/>
            <p:nvPr/>
          </p:nvSpPr>
          <p:spPr>
            <a:xfrm>
              <a:off x="3332480" y="6455410"/>
              <a:ext cx="1708150" cy="53340"/>
            </a:xfrm>
            <a:custGeom>
              <a:avLst/>
              <a:gdLst/>
              <a:ahLst/>
              <a:cxnLst/>
              <a:rect l="l" t="t" r="r" b="b"/>
              <a:pathLst>
                <a:path w="1708150" h="53340">
                  <a:moveTo>
                    <a:pt x="0" y="53339"/>
                  </a:moveTo>
                  <a:lnTo>
                    <a:pt x="1708150" y="53339"/>
                  </a:lnTo>
                  <a:lnTo>
                    <a:pt x="17081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" name="object 38"/>
            <p:cNvSpPr/>
            <p:nvPr/>
          </p:nvSpPr>
          <p:spPr>
            <a:xfrm>
              <a:off x="4986020" y="6300470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54609" y="0"/>
                  </a:moveTo>
                  <a:lnTo>
                    <a:pt x="0" y="161289"/>
                  </a:lnTo>
                  <a:lnTo>
                    <a:pt x="107950" y="161289"/>
                  </a:lnTo>
                  <a:lnTo>
                    <a:pt x="54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39" name="object 39"/>
          <p:cNvSpPr/>
          <p:nvPr/>
        </p:nvSpPr>
        <p:spPr>
          <a:xfrm>
            <a:off x="5968074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8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0" name="object 40"/>
          <p:cNvSpPr/>
          <p:nvPr/>
        </p:nvSpPr>
        <p:spPr>
          <a:xfrm>
            <a:off x="6217037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1" name="object 41"/>
          <p:cNvSpPr/>
          <p:nvPr/>
        </p:nvSpPr>
        <p:spPr>
          <a:xfrm>
            <a:off x="6465999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2" name="object 42"/>
          <p:cNvSpPr/>
          <p:nvPr/>
        </p:nvSpPr>
        <p:spPr>
          <a:xfrm>
            <a:off x="6714963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3" name="object 43"/>
          <p:cNvSpPr/>
          <p:nvPr/>
        </p:nvSpPr>
        <p:spPr>
          <a:xfrm>
            <a:off x="6963925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4" name="object 44"/>
          <p:cNvSpPr/>
          <p:nvPr/>
        </p:nvSpPr>
        <p:spPr>
          <a:xfrm>
            <a:off x="7212888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5" name="object 45"/>
          <p:cNvSpPr/>
          <p:nvPr/>
        </p:nvSpPr>
        <p:spPr>
          <a:xfrm>
            <a:off x="7461851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6" name="object 46"/>
          <p:cNvSpPr/>
          <p:nvPr/>
        </p:nvSpPr>
        <p:spPr>
          <a:xfrm>
            <a:off x="7710813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8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7" name="object 47"/>
          <p:cNvSpPr/>
          <p:nvPr/>
        </p:nvSpPr>
        <p:spPr>
          <a:xfrm>
            <a:off x="7959775" y="4376551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8" name="object 48"/>
          <p:cNvSpPr/>
          <p:nvPr/>
        </p:nvSpPr>
        <p:spPr>
          <a:xfrm>
            <a:off x="8204416" y="4243425"/>
            <a:ext cx="26798" cy="116701"/>
          </a:xfrm>
          <a:custGeom>
            <a:avLst/>
            <a:gdLst/>
            <a:ahLst/>
            <a:cxnLst/>
            <a:rect l="l" t="t" r="r" b="b"/>
            <a:pathLst>
              <a:path w="39370" h="171450">
                <a:moveTo>
                  <a:pt x="0" y="171450"/>
                </a:moveTo>
                <a:lnTo>
                  <a:pt x="15795" y="154880"/>
                </a:lnTo>
                <a:lnTo>
                  <a:pt x="28257" y="136048"/>
                </a:lnTo>
                <a:lnTo>
                  <a:pt x="36433" y="115550"/>
                </a:lnTo>
                <a:lnTo>
                  <a:pt x="39370" y="93980"/>
                </a:lnTo>
                <a:lnTo>
                  <a:pt x="3937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9" name="object 49"/>
          <p:cNvSpPr/>
          <p:nvPr/>
        </p:nvSpPr>
        <p:spPr>
          <a:xfrm>
            <a:off x="8231214" y="3994462"/>
            <a:ext cx="0" cy="124481"/>
          </a:xfrm>
          <a:custGeom>
            <a:avLst/>
            <a:gdLst/>
            <a:ahLst/>
            <a:cxnLst/>
            <a:rect l="l" t="t" r="r" b="b"/>
            <a:pathLst>
              <a:path h="182879">
                <a:moveTo>
                  <a:pt x="0" y="18288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50" name="object 50"/>
          <p:cNvSpPr/>
          <p:nvPr/>
        </p:nvSpPr>
        <p:spPr>
          <a:xfrm>
            <a:off x="8108461" y="3837132"/>
            <a:ext cx="112379" cy="35442"/>
          </a:xfrm>
          <a:custGeom>
            <a:avLst/>
            <a:gdLst/>
            <a:ahLst/>
            <a:cxnLst/>
            <a:rect l="l" t="t" r="r" b="b"/>
            <a:pathLst>
              <a:path w="165100" h="52070">
                <a:moveTo>
                  <a:pt x="165100" y="52070"/>
                </a:moveTo>
                <a:lnTo>
                  <a:pt x="148212" y="31075"/>
                </a:lnTo>
                <a:lnTo>
                  <a:pt x="127158" y="14605"/>
                </a:lnTo>
                <a:lnTo>
                  <a:pt x="103485" y="3849"/>
                </a:lnTo>
                <a:lnTo>
                  <a:pt x="78740" y="0"/>
                </a:ln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51" name="object 51"/>
          <p:cNvSpPr/>
          <p:nvPr/>
        </p:nvSpPr>
        <p:spPr>
          <a:xfrm>
            <a:off x="7610537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182879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52" name="object 52"/>
          <p:cNvSpPr/>
          <p:nvPr/>
        </p:nvSpPr>
        <p:spPr>
          <a:xfrm>
            <a:off x="7361574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182879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53" name="object 53"/>
          <p:cNvSpPr/>
          <p:nvPr/>
        </p:nvSpPr>
        <p:spPr>
          <a:xfrm>
            <a:off x="7112611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182879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54" name="object 54"/>
          <p:cNvSpPr/>
          <p:nvPr/>
        </p:nvSpPr>
        <p:spPr>
          <a:xfrm>
            <a:off x="6863648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182880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55" name="object 55"/>
          <p:cNvSpPr/>
          <p:nvPr/>
        </p:nvSpPr>
        <p:spPr>
          <a:xfrm>
            <a:off x="6614686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182879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56" name="object 56"/>
          <p:cNvSpPr/>
          <p:nvPr/>
        </p:nvSpPr>
        <p:spPr>
          <a:xfrm>
            <a:off x="6116760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182880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57" name="object 57"/>
          <p:cNvSpPr/>
          <p:nvPr/>
        </p:nvSpPr>
        <p:spPr>
          <a:xfrm>
            <a:off x="5867798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182879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58" name="object 58"/>
          <p:cNvSpPr/>
          <p:nvPr/>
        </p:nvSpPr>
        <p:spPr>
          <a:xfrm>
            <a:off x="5618834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182879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59" name="object 59"/>
          <p:cNvSpPr/>
          <p:nvPr/>
        </p:nvSpPr>
        <p:spPr>
          <a:xfrm>
            <a:off x="5369872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182879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60" name="object 60"/>
          <p:cNvSpPr/>
          <p:nvPr/>
        </p:nvSpPr>
        <p:spPr>
          <a:xfrm>
            <a:off x="4871946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182880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61" name="object 61"/>
          <p:cNvSpPr/>
          <p:nvPr/>
        </p:nvSpPr>
        <p:spPr>
          <a:xfrm>
            <a:off x="4622984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182880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62" name="object 62"/>
          <p:cNvSpPr/>
          <p:nvPr/>
        </p:nvSpPr>
        <p:spPr>
          <a:xfrm>
            <a:off x="4374022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80">
                <a:moveTo>
                  <a:pt x="182879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63" name="object 63"/>
          <p:cNvSpPr/>
          <p:nvPr/>
        </p:nvSpPr>
        <p:spPr>
          <a:xfrm>
            <a:off x="4125059" y="3837132"/>
            <a:ext cx="124481" cy="0"/>
          </a:xfrm>
          <a:custGeom>
            <a:avLst/>
            <a:gdLst/>
            <a:ahLst/>
            <a:cxnLst/>
            <a:rect l="l" t="t" r="r" b="b"/>
            <a:pathLst>
              <a:path w="182880">
                <a:moveTo>
                  <a:pt x="182880" y="0"/>
                </a:moveTo>
                <a:lnTo>
                  <a:pt x="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64" name="object 64"/>
          <p:cNvSpPr/>
          <p:nvPr/>
        </p:nvSpPr>
        <p:spPr>
          <a:xfrm>
            <a:off x="3525992" y="3837132"/>
            <a:ext cx="225622" cy="86445"/>
          </a:xfrm>
          <a:custGeom>
            <a:avLst/>
            <a:gdLst/>
            <a:ahLst/>
            <a:cxnLst/>
            <a:rect l="l" t="t" r="r" b="b"/>
            <a:pathLst>
              <a:path w="331469" h="127000">
                <a:moveTo>
                  <a:pt x="101599" y="0"/>
                </a:moveTo>
                <a:lnTo>
                  <a:pt x="64293" y="8731"/>
                </a:lnTo>
                <a:lnTo>
                  <a:pt x="31749" y="31750"/>
                </a:lnTo>
                <a:lnTo>
                  <a:pt x="8731" y="64293"/>
                </a:lnTo>
                <a:lnTo>
                  <a:pt x="0" y="101600"/>
                </a:lnTo>
                <a:lnTo>
                  <a:pt x="0" y="127000"/>
                </a:lnTo>
              </a:path>
              <a:path w="331469" h="127000">
                <a:moveTo>
                  <a:pt x="331470" y="0"/>
                </a:moveTo>
                <a:lnTo>
                  <a:pt x="148590" y="0"/>
                </a:lnTo>
              </a:path>
            </a:pathLst>
          </a:custGeom>
          <a:ln w="355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grpSp>
        <p:nvGrpSpPr>
          <p:cNvPr id="65" name="object 65"/>
          <p:cNvGrpSpPr/>
          <p:nvPr/>
        </p:nvGrpSpPr>
        <p:grpSpPr>
          <a:xfrm>
            <a:off x="3366559" y="2990831"/>
            <a:ext cx="1029564" cy="1041667"/>
            <a:chOff x="1349460" y="4264659"/>
            <a:chExt cx="1512570" cy="1530350"/>
          </a:xfrm>
        </p:grpSpPr>
        <p:sp>
          <p:nvSpPr>
            <p:cNvPr id="66" name="object 66"/>
            <p:cNvSpPr/>
            <p:nvPr/>
          </p:nvSpPr>
          <p:spPr>
            <a:xfrm>
              <a:off x="2098039" y="5507989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>
                  <a:moveTo>
                    <a:pt x="182880" y="0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7" name="object 67"/>
            <p:cNvSpPr/>
            <p:nvPr/>
          </p:nvSpPr>
          <p:spPr>
            <a:xfrm>
              <a:off x="1367789" y="4376419"/>
              <a:ext cx="1475740" cy="1013460"/>
            </a:xfrm>
            <a:custGeom>
              <a:avLst/>
              <a:gdLst/>
              <a:ahLst/>
              <a:cxnLst/>
              <a:rect l="l" t="t" r="r" b="b"/>
              <a:pathLst>
                <a:path w="1475739" h="1013460">
                  <a:moveTo>
                    <a:pt x="1107440" y="1013459"/>
                  </a:moveTo>
                  <a:lnTo>
                    <a:pt x="1475740" y="0"/>
                  </a:lnTo>
                </a:path>
                <a:path w="1475739" h="1013460">
                  <a:moveTo>
                    <a:pt x="0" y="0"/>
                  </a:moveTo>
                  <a:lnTo>
                    <a:pt x="246379" y="1013459"/>
                  </a:lnTo>
                </a:path>
                <a:path w="1475739" h="1013460">
                  <a:moveTo>
                    <a:pt x="1107440" y="1013459"/>
                  </a:moveTo>
                  <a:lnTo>
                    <a:pt x="246379" y="1013459"/>
                  </a:lnTo>
                </a:path>
                <a:path w="1475739" h="1013460">
                  <a:moveTo>
                    <a:pt x="492759" y="0"/>
                  </a:moveTo>
                  <a:lnTo>
                    <a:pt x="0" y="0"/>
                  </a:lnTo>
                </a:path>
                <a:path w="1475739" h="1013460">
                  <a:moveTo>
                    <a:pt x="1475740" y="0"/>
                  </a:moveTo>
                  <a:lnTo>
                    <a:pt x="984249" y="0"/>
                  </a:lnTo>
                </a:path>
                <a:path w="1475739" h="1013460">
                  <a:moveTo>
                    <a:pt x="492759" y="0"/>
                  </a:moveTo>
                  <a:lnTo>
                    <a:pt x="737870" y="303529"/>
                  </a:lnTo>
                </a:path>
                <a:path w="1475739" h="1013460">
                  <a:moveTo>
                    <a:pt x="984249" y="0"/>
                  </a:moveTo>
                  <a:lnTo>
                    <a:pt x="737870" y="303529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8" name="object 68"/>
            <p:cNvSpPr/>
            <p:nvPr/>
          </p:nvSpPr>
          <p:spPr>
            <a:xfrm>
              <a:off x="2105659" y="5389879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60">
                  <a:moveTo>
                    <a:pt x="0" y="0"/>
                  </a:moveTo>
                  <a:lnTo>
                    <a:pt x="0" y="25146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9" name="object 69"/>
            <p:cNvSpPr/>
            <p:nvPr/>
          </p:nvSpPr>
          <p:spPr>
            <a:xfrm>
              <a:off x="1621790" y="4264659"/>
              <a:ext cx="1029969" cy="1530350"/>
            </a:xfrm>
            <a:custGeom>
              <a:avLst/>
              <a:gdLst/>
              <a:ahLst/>
              <a:cxnLst/>
              <a:rect l="l" t="t" r="r" b="b"/>
              <a:pathLst>
                <a:path w="1029969" h="1530350">
                  <a:moveTo>
                    <a:pt x="107950" y="0"/>
                  </a:moveTo>
                  <a:lnTo>
                    <a:pt x="0" y="0"/>
                  </a:lnTo>
                  <a:lnTo>
                    <a:pt x="53340" y="162560"/>
                  </a:lnTo>
                  <a:lnTo>
                    <a:pt x="107950" y="0"/>
                  </a:lnTo>
                  <a:close/>
                </a:path>
                <a:path w="1029969" h="1530350">
                  <a:moveTo>
                    <a:pt x="538480" y="1369060"/>
                  </a:moveTo>
                  <a:lnTo>
                    <a:pt x="430530" y="1369060"/>
                  </a:lnTo>
                  <a:lnTo>
                    <a:pt x="483870" y="1530350"/>
                  </a:lnTo>
                  <a:lnTo>
                    <a:pt x="538480" y="1369060"/>
                  </a:lnTo>
                  <a:close/>
                </a:path>
                <a:path w="1029969" h="1530350">
                  <a:moveTo>
                    <a:pt x="1029970" y="0"/>
                  </a:moveTo>
                  <a:lnTo>
                    <a:pt x="922020" y="0"/>
                  </a:lnTo>
                  <a:lnTo>
                    <a:pt x="976630" y="162560"/>
                  </a:lnTo>
                  <a:lnTo>
                    <a:pt x="10299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70" name="object 70"/>
          <p:cNvGrpSpPr/>
          <p:nvPr/>
        </p:nvGrpSpPr>
        <p:grpSpPr>
          <a:xfrm>
            <a:off x="4690037" y="2996883"/>
            <a:ext cx="1029564" cy="1036480"/>
            <a:chOff x="3293829" y="4273550"/>
            <a:chExt cx="1512570" cy="1522730"/>
          </a:xfrm>
        </p:grpSpPr>
        <p:sp>
          <p:nvSpPr>
            <p:cNvPr id="71" name="object 71"/>
            <p:cNvSpPr/>
            <p:nvPr/>
          </p:nvSpPr>
          <p:spPr>
            <a:xfrm>
              <a:off x="3926839" y="5507989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182880" y="0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2" name="object 72"/>
            <p:cNvSpPr/>
            <p:nvPr/>
          </p:nvSpPr>
          <p:spPr>
            <a:xfrm>
              <a:off x="3312159" y="4385310"/>
              <a:ext cx="1475740" cy="1007110"/>
            </a:xfrm>
            <a:custGeom>
              <a:avLst/>
              <a:gdLst/>
              <a:ahLst/>
              <a:cxnLst/>
              <a:rect l="l" t="t" r="r" b="b"/>
              <a:pathLst>
                <a:path w="1475739" h="1007110">
                  <a:moveTo>
                    <a:pt x="1107439" y="1007109"/>
                  </a:moveTo>
                  <a:lnTo>
                    <a:pt x="1475739" y="0"/>
                  </a:lnTo>
                </a:path>
                <a:path w="1475739" h="1007110">
                  <a:moveTo>
                    <a:pt x="0" y="0"/>
                  </a:moveTo>
                  <a:lnTo>
                    <a:pt x="245110" y="1007109"/>
                  </a:lnTo>
                </a:path>
                <a:path w="1475739" h="1007110">
                  <a:moveTo>
                    <a:pt x="1107439" y="1007109"/>
                  </a:moveTo>
                  <a:lnTo>
                    <a:pt x="245110" y="1007109"/>
                  </a:lnTo>
                </a:path>
                <a:path w="1475739" h="1007110">
                  <a:moveTo>
                    <a:pt x="491489" y="0"/>
                  </a:moveTo>
                  <a:lnTo>
                    <a:pt x="0" y="0"/>
                  </a:lnTo>
                </a:path>
                <a:path w="1475739" h="1007110">
                  <a:moveTo>
                    <a:pt x="1475739" y="0"/>
                  </a:moveTo>
                  <a:lnTo>
                    <a:pt x="984250" y="0"/>
                  </a:lnTo>
                </a:path>
                <a:path w="1475739" h="1007110">
                  <a:moveTo>
                    <a:pt x="491489" y="0"/>
                  </a:moveTo>
                  <a:lnTo>
                    <a:pt x="737869" y="302259"/>
                  </a:lnTo>
                </a:path>
                <a:path w="1475739" h="1007110">
                  <a:moveTo>
                    <a:pt x="984250" y="0"/>
                  </a:moveTo>
                  <a:lnTo>
                    <a:pt x="737869" y="302259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3" name="object 73"/>
            <p:cNvSpPr/>
            <p:nvPr/>
          </p:nvSpPr>
          <p:spPr>
            <a:xfrm>
              <a:off x="4050029" y="5392419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h="248920">
                  <a:moveTo>
                    <a:pt x="0" y="0"/>
                  </a:moveTo>
                  <a:lnTo>
                    <a:pt x="0" y="248919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4" name="object 74"/>
            <p:cNvSpPr/>
            <p:nvPr/>
          </p:nvSpPr>
          <p:spPr>
            <a:xfrm>
              <a:off x="3564890" y="4273549"/>
              <a:ext cx="1031240" cy="1522730"/>
            </a:xfrm>
            <a:custGeom>
              <a:avLst/>
              <a:gdLst/>
              <a:ahLst/>
              <a:cxnLst/>
              <a:rect l="l" t="t" r="r" b="b"/>
              <a:pathLst>
                <a:path w="1031239" h="1522729">
                  <a:moveTo>
                    <a:pt x="107950" y="0"/>
                  </a:moveTo>
                  <a:lnTo>
                    <a:pt x="0" y="0"/>
                  </a:lnTo>
                  <a:lnTo>
                    <a:pt x="54610" y="161290"/>
                  </a:lnTo>
                  <a:lnTo>
                    <a:pt x="107950" y="0"/>
                  </a:lnTo>
                  <a:close/>
                </a:path>
                <a:path w="1031239" h="1522729">
                  <a:moveTo>
                    <a:pt x="538480" y="1360170"/>
                  </a:moveTo>
                  <a:lnTo>
                    <a:pt x="430530" y="1360170"/>
                  </a:lnTo>
                  <a:lnTo>
                    <a:pt x="485140" y="1522730"/>
                  </a:lnTo>
                  <a:lnTo>
                    <a:pt x="538480" y="1360170"/>
                  </a:lnTo>
                  <a:close/>
                </a:path>
                <a:path w="1031239" h="1522729">
                  <a:moveTo>
                    <a:pt x="1031240" y="0"/>
                  </a:moveTo>
                  <a:lnTo>
                    <a:pt x="923290" y="0"/>
                  </a:lnTo>
                  <a:lnTo>
                    <a:pt x="976630" y="161290"/>
                  </a:lnTo>
                  <a:lnTo>
                    <a:pt x="1031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5988447" y="2990831"/>
            <a:ext cx="1029564" cy="1041667"/>
            <a:chOff x="5201370" y="4264659"/>
            <a:chExt cx="1512570" cy="1530350"/>
          </a:xfrm>
        </p:grpSpPr>
        <p:sp>
          <p:nvSpPr>
            <p:cNvPr id="76" name="object 76"/>
            <p:cNvSpPr/>
            <p:nvPr/>
          </p:nvSpPr>
          <p:spPr>
            <a:xfrm>
              <a:off x="5755640" y="5507989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182880" y="0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7" name="object 77"/>
            <p:cNvSpPr/>
            <p:nvPr/>
          </p:nvSpPr>
          <p:spPr>
            <a:xfrm>
              <a:off x="5219700" y="4376419"/>
              <a:ext cx="1475740" cy="1013460"/>
            </a:xfrm>
            <a:custGeom>
              <a:avLst/>
              <a:gdLst/>
              <a:ahLst/>
              <a:cxnLst/>
              <a:rect l="l" t="t" r="r" b="b"/>
              <a:pathLst>
                <a:path w="1475740" h="1013460">
                  <a:moveTo>
                    <a:pt x="1107439" y="1013459"/>
                  </a:moveTo>
                  <a:lnTo>
                    <a:pt x="1475740" y="0"/>
                  </a:lnTo>
                </a:path>
                <a:path w="1475740" h="1013460">
                  <a:moveTo>
                    <a:pt x="0" y="0"/>
                  </a:moveTo>
                  <a:lnTo>
                    <a:pt x="246379" y="1013459"/>
                  </a:lnTo>
                </a:path>
                <a:path w="1475740" h="1013460">
                  <a:moveTo>
                    <a:pt x="1107439" y="1013459"/>
                  </a:moveTo>
                  <a:lnTo>
                    <a:pt x="246379" y="1013459"/>
                  </a:lnTo>
                </a:path>
                <a:path w="1475740" h="1013460">
                  <a:moveTo>
                    <a:pt x="492760" y="0"/>
                  </a:moveTo>
                  <a:lnTo>
                    <a:pt x="0" y="0"/>
                  </a:lnTo>
                </a:path>
                <a:path w="1475740" h="1013460">
                  <a:moveTo>
                    <a:pt x="1475740" y="0"/>
                  </a:moveTo>
                  <a:lnTo>
                    <a:pt x="984250" y="0"/>
                  </a:lnTo>
                </a:path>
                <a:path w="1475740" h="1013460">
                  <a:moveTo>
                    <a:pt x="492760" y="0"/>
                  </a:moveTo>
                  <a:lnTo>
                    <a:pt x="737870" y="303529"/>
                  </a:lnTo>
                </a:path>
                <a:path w="1475740" h="1013460">
                  <a:moveTo>
                    <a:pt x="984250" y="0"/>
                  </a:moveTo>
                  <a:lnTo>
                    <a:pt x="737870" y="303529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8" name="object 78"/>
            <p:cNvSpPr/>
            <p:nvPr/>
          </p:nvSpPr>
          <p:spPr>
            <a:xfrm>
              <a:off x="5957570" y="5389879"/>
              <a:ext cx="0" cy="251460"/>
            </a:xfrm>
            <a:custGeom>
              <a:avLst/>
              <a:gdLst/>
              <a:ahLst/>
              <a:cxnLst/>
              <a:rect l="l" t="t" r="r" b="b"/>
              <a:pathLst>
                <a:path h="251460">
                  <a:moveTo>
                    <a:pt x="0" y="0"/>
                  </a:moveTo>
                  <a:lnTo>
                    <a:pt x="0" y="25146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9" name="object 79"/>
            <p:cNvSpPr/>
            <p:nvPr/>
          </p:nvSpPr>
          <p:spPr>
            <a:xfrm>
              <a:off x="5473700" y="4264659"/>
              <a:ext cx="1029969" cy="1530350"/>
            </a:xfrm>
            <a:custGeom>
              <a:avLst/>
              <a:gdLst/>
              <a:ahLst/>
              <a:cxnLst/>
              <a:rect l="l" t="t" r="r" b="b"/>
              <a:pathLst>
                <a:path w="1029970" h="1530350">
                  <a:moveTo>
                    <a:pt x="107950" y="0"/>
                  </a:moveTo>
                  <a:lnTo>
                    <a:pt x="0" y="0"/>
                  </a:lnTo>
                  <a:lnTo>
                    <a:pt x="53340" y="162560"/>
                  </a:lnTo>
                  <a:lnTo>
                    <a:pt x="107950" y="0"/>
                  </a:lnTo>
                  <a:close/>
                </a:path>
                <a:path w="1029970" h="1530350">
                  <a:moveTo>
                    <a:pt x="538480" y="1369060"/>
                  </a:moveTo>
                  <a:lnTo>
                    <a:pt x="430530" y="1369060"/>
                  </a:lnTo>
                  <a:lnTo>
                    <a:pt x="483870" y="1530350"/>
                  </a:lnTo>
                  <a:lnTo>
                    <a:pt x="538480" y="1369060"/>
                  </a:lnTo>
                  <a:close/>
                </a:path>
                <a:path w="1029970" h="1530350">
                  <a:moveTo>
                    <a:pt x="1029970" y="0"/>
                  </a:moveTo>
                  <a:lnTo>
                    <a:pt x="922020" y="0"/>
                  </a:lnTo>
                  <a:lnTo>
                    <a:pt x="976630" y="162560"/>
                  </a:lnTo>
                  <a:lnTo>
                    <a:pt x="10299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7311925" y="2996883"/>
            <a:ext cx="1029564" cy="1036480"/>
            <a:chOff x="7145739" y="4273550"/>
            <a:chExt cx="1512570" cy="1522730"/>
          </a:xfrm>
        </p:grpSpPr>
        <p:sp>
          <p:nvSpPr>
            <p:cNvPr id="81" name="object 81"/>
            <p:cNvSpPr/>
            <p:nvPr/>
          </p:nvSpPr>
          <p:spPr>
            <a:xfrm>
              <a:off x="7950199" y="5507989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79">
                  <a:moveTo>
                    <a:pt x="182879" y="0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2" name="object 82"/>
            <p:cNvSpPr/>
            <p:nvPr/>
          </p:nvSpPr>
          <p:spPr>
            <a:xfrm>
              <a:off x="7164069" y="4385310"/>
              <a:ext cx="1475740" cy="1007110"/>
            </a:xfrm>
            <a:custGeom>
              <a:avLst/>
              <a:gdLst/>
              <a:ahLst/>
              <a:cxnLst/>
              <a:rect l="l" t="t" r="r" b="b"/>
              <a:pathLst>
                <a:path w="1475740" h="1007110">
                  <a:moveTo>
                    <a:pt x="1107439" y="1007109"/>
                  </a:moveTo>
                  <a:lnTo>
                    <a:pt x="1475739" y="0"/>
                  </a:lnTo>
                </a:path>
                <a:path w="1475740" h="1007110">
                  <a:moveTo>
                    <a:pt x="0" y="0"/>
                  </a:moveTo>
                  <a:lnTo>
                    <a:pt x="246379" y="1007109"/>
                  </a:lnTo>
                </a:path>
                <a:path w="1475740" h="1007110">
                  <a:moveTo>
                    <a:pt x="1107439" y="1007109"/>
                  </a:moveTo>
                  <a:lnTo>
                    <a:pt x="246379" y="1007109"/>
                  </a:lnTo>
                </a:path>
                <a:path w="1475740" h="1007110">
                  <a:moveTo>
                    <a:pt x="491489" y="0"/>
                  </a:moveTo>
                  <a:lnTo>
                    <a:pt x="0" y="0"/>
                  </a:lnTo>
                </a:path>
                <a:path w="1475740" h="1007110">
                  <a:moveTo>
                    <a:pt x="1475739" y="0"/>
                  </a:moveTo>
                  <a:lnTo>
                    <a:pt x="984250" y="0"/>
                  </a:lnTo>
                </a:path>
                <a:path w="1475740" h="1007110">
                  <a:moveTo>
                    <a:pt x="491489" y="0"/>
                  </a:moveTo>
                  <a:lnTo>
                    <a:pt x="737870" y="302259"/>
                  </a:lnTo>
                </a:path>
                <a:path w="1475740" h="1007110">
                  <a:moveTo>
                    <a:pt x="984250" y="0"/>
                  </a:moveTo>
                  <a:lnTo>
                    <a:pt x="737870" y="302259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3" name="object 83"/>
            <p:cNvSpPr/>
            <p:nvPr/>
          </p:nvSpPr>
          <p:spPr>
            <a:xfrm>
              <a:off x="7901939" y="5392419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h="248920">
                  <a:moveTo>
                    <a:pt x="0" y="0"/>
                  </a:moveTo>
                  <a:lnTo>
                    <a:pt x="0" y="248919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4" name="object 84"/>
            <p:cNvSpPr/>
            <p:nvPr/>
          </p:nvSpPr>
          <p:spPr>
            <a:xfrm>
              <a:off x="7418070" y="4273549"/>
              <a:ext cx="1029969" cy="1522730"/>
            </a:xfrm>
            <a:custGeom>
              <a:avLst/>
              <a:gdLst/>
              <a:ahLst/>
              <a:cxnLst/>
              <a:rect l="l" t="t" r="r" b="b"/>
              <a:pathLst>
                <a:path w="1029970" h="1522729">
                  <a:moveTo>
                    <a:pt x="107950" y="0"/>
                  </a:moveTo>
                  <a:lnTo>
                    <a:pt x="0" y="0"/>
                  </a:lnTo>
                  <a:lnTo>
                    <a:pt x="53340" y="161290"/>
                  </a:lnTo>
                  <a:lnTo>
                    <a:pt x="107950" y="0"/>
                  </a:lnTo>
                  <a:close/>
                </a:path>
                <a:path w="1029970" h="1522729">
                  <a:moveTo>
                    <a:pt x="538480" y="1360170"/>
                  </a:moveTo>
                  <a:lnTo>
                    <a:pt x="430530" y="1360170"/>
                  </a:lnTo>
                  <a:lnTo>
                    <a:pt x="483870" y="1522730"/>
                  </a:lnTo>
                  <a:lnTo>
                    <a:pt x="538480" y="1360170"/>
                  </a:lnTo>
                  <a:close/>
                </a:path>
                <a:path w="1029970" h="1522729">
                  <a:moveTo>
                    <a:pt x="1029970" y="0"/>
                  </a:moveTo>
                  <a:lnTo>
                    <a:pt x="922020" y="0"/>
                  </a:lnTo>
                  <a:lnTo>
                    <a:pt x="976630" y="161290"/>
                  </a:lnTo>
                  <a:lnTo>
                    <a:pt x="10299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aphicFrame>
        <p:nvGraphicFramePr>
          <p:cNvPr id="85" name="object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664975"/>
              </p:ext>
            </p:extLst>
          </p:nvPr>
        </p:nvGraphicFramePr>
        <p:xfrm>
          <a:off x="3298355" y="2021061"/>
          <a:ext cx="517808" cy="9725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431"/>
                <a:gridCol w="230377"/>
              </a:tblGrid>
              <a:tr h="267116"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A[12]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238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7116">
                <a:tc gridSpan="2"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A[8]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1238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9709">
                <a:tc gridSpan="2"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A[4]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85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86" name="object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773917"/>
              </p:ext>
            </p:extLst>
          </p:nvPr>
        </p:nvGraphicFramePr>
        <p:xfrm>
          <a:off x="4006343" y="2019332"/>
          <a:ext cx="517808" cy="9742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901"/>
                <a:gridCol w="309907"/>
              </a:tblGrid>
              <a:tr h="267116">
                <a:tc gridSpan="2"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B[12]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6251">
                <a:tc gridSpan="2"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B[8]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9710">
                <a:tc gridSpan="2"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B[4]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1238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11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87" name="object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186371"/>
              </p:ext>
            </p:extLst>
          </p:nvPr>
        </p:nvGraphicFramePr>
        <p:xfrm>
          <a:off x="5357916" y="2040944"/>
          <a:ext cx="488416" cy="9578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942"/>
                <a:gridCol w="309474"/>
              </a:tblGrid>
              <a:tr h="271079">
                <a:tc gridSpan="2"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B[13]</a:t>
                      </a:r>
                      <a:endParaRPr sz="15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73094">
                <a:tc gridSpan="2"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B[9]</a:t>
                      </a:r>
                      <a:endParaRPr sz="15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99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9277">
                <a:tc gridSpan="2"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B[5]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443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88" name="object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822017"/>
              </p:ext>
            </p:extLst>
          </p:nvPr>
        </p:nvGraphicFramePr>
        <p:xfrm>
          <a:off x="4648200" y="2038350"/>
          <a:ext cx="487984" cy="1155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065"/>
                <a:gridCol w="226919"/>
              </a:tblGrid>
              <a:tr h="272376">
                <a:tc gridSpan="2"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A[13]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74391">
                <a:tc gridSpan="2"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A[9]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1238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9277">
                <a:tc gridSpan="2"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A[5]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443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89" name="object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3504"/>
              </p:ext>
            </p:extLst>
          </p:nvPr>
        </p:nvGraphicFramePr>
        <p:xfrm>
          <a:off x="6631690" y="2060827"/>
          <a:ext cx="509595" cy="9327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43"/>
                <a:gridCol w="305152"/>
              </a:tblGrid>
              <a:tr h="271438"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B[14]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6178">
                <a:tc gridSpan="2"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B[10]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1238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5951">
                <a:tc gridSpan="2"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B[6]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86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391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90" name="object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803340"/>
              </p:ext>
            </p:extLst>
          </p:nvPr>
        </p:nvGraphicFramePr>
        <p:xfrm>
          <a:off x="5943584" y="2058233"/>
          <a:ext cx="504841" cy="9353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091"/>
                <a:gridCol w="240750"/>
              </a:tblGrid>
              <a:tr h="271006"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A[14]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7907">
                <a:tc gridSpan="2"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A[10]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1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7680">
                <a:tc gridSpan="2"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A[6]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16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387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91" name="object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280546"/>
              </p:ext>
            </p:extLst>
          </p:nvPr>
        </p:nvGraphicFramePr>
        <p:xfrm>
          <a:off x="7952575" y="2058233"/>
          <a:ext cx="509164" cy="1016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37"/>
                <a:gridCol w="302127"/>
              </a:tblGrid>
              <a:tr h="271006">
                <a:tc gridSpan="2"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B[15]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4449">
                <a:tc gridSpan="2"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500" spc="-4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B[11]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1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3790">
                <a:tc gridSpan="2">
                  <a:txBody>
                    <a:bodyPr/>
                    <a:lstStyle/>
                    <a:p>
                      <a:pPr marL="150495">
                        <a:lnSpc>
                          <a:spcPts val="2625"/>
                        </a:lnSpc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B[7]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1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92" name="object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373351"/>
              </p:ext>
            </p:extLst>
          </p:nvPr>
        </p:nvGraphicFramePr>
        <p:xfrm>
          <a:off x="7264037" y="2055640"/>
          <a:ext cx="509595" cy="10186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116"/>
                <a:gridCol w="242479"/>
              </a:tblGrid>
              <a:tr h="271006"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A[15]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6178">
                <a:tc gridSpan="2"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500" spc="-4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A[11]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1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4654">
                <a:tc gridSpan="2">
                  <a:txBody>
                    <a:bodyPr/>
                    <a:lstStyle/>
                    <a:p>
                      <a:pPr marL="118745">
                        <a:lnSpc>
                          <a:spcPts val="2635"/>
                        </a:lnSpc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A[7]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1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93" name="object 93"/>
          <p:cNvSpPr txBox="1"/>
          <p:nvPr/>
        </p:nvSpPr>
        <p:spPr>
          <a:xfrm>
            <a:off x="3529450" y="4408535"/>
            <a:ext cx="1132434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b="1" spc="-3" dirty="0">
                <a:latin typeface="Arial"/>
                <a:cs typeface="Arial"/>
              </a:rPr>
              <a:t>Element</a:t>
            </a:r>
            <a:r>
              <a:rPr sz="1225" b="1" spc="-51" dirty="0">
                <a:latin typeface="Arial"/>
                <a:cs typeface="Arial"/>
              </a:rPr>
              <a:t> </a:t>
            </a:r>
            <a:r>
              <a:rPr sz="1225" b="1" spc="-3" dirty="0">
                <a:latin typeface="Arial"/>
                <a:cs typeface="Arial"/>
              </a:rPr>
              <a:t>Group</a:t>
            </a:r>
            <a:endParaRPr sz="1225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197155" y="1064829"/>
            <a:ext cx="2815526" cy="339595"/>
          </a:xfrm>
          <a:prstGeom prst="rect">
            <a:avLst/>
          </a:prstGeom>
          <a:ln w="18329">
            <a:solidFill>
              <a:srgbClr val="000000"/>
            </a:solidFill>
          </a:ln>
        </p:spPr>
        <p:txBody>
          <a:bodyPr vert="horz" wrap="square" lIns="0" tIns="66563" rIns="0" bIns="0" rtlCol="0">
            <a:spAutoFit/>
          </a:bodyPr>
          <a:lstStyle/>
          <a:p>
            <a:pPr marL="68295">
              <a:spcBef>
                <a:spcPts val="524"/>
              </a:spcBef>
            </a:pPr>
            <a:r>
              <a:rPr sz="1770" b="1" spc="-3" dirty="0">
                <a:latin typeface="Arial"/>
                <a:cs typeface="Arial"/>
              </a:rPr>
              <a:t>Multiple </a:t>
            </a:r>
            <a:r>
              <a:rPr sz="1770" b="1" dirty="0">
                <a:latin typeface="Arial"/>
                <a:cs typeface="Arial"/>
              </a:rPr>
              <a:t>Functional</a:t>
            </a:r>
            <a:r>
              <a:rPr sz="1770" b="1" spc="-31" dirty="0">
                <a:latin typeface="Arial"/>
                <a:cs typeface="Arial"/>
              </a:rPr>
              <a:t> </a:t>
            </a:r>
            <a:r>
              <a:rPr sz="1770" b="1" dirty="0">
                <a:latin typeface="Arial"/>
                <a:cs typeface="Arial"/>
              </a:rPr>
              <a:t>Units</a:t>
            </a:r>
            <a:endParaRPr sz="177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841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67351" y="1477648"/>
            <a:ext cx="1617825" cy="2913641"/>
            <a:chOff x="197802" y="2145982"/>
            <a:chExt cx="2376805" cy="4280535"/>
          </a:xfrm>
        </p:grpSpPr>
        <p:sp>
          <p:nvSpPr>
            <p:cNvPr id="3" name="object 3"/>
            <p:cNvSpPr/>
            <p:nvPr/>
          </p:nvSpPr>
          <p:spPr>
            <a:xfrm>
              <a:off x="215899" y="2164080"/>
              <a:ext cx="2340610" cy="4244340"/>
            </a:xfrm>
            <a:custGeom>
              <a:avLst/>
              <a:gdLst/>
              <a:ahLst/>
              <a:cxnLst/>
              <a:rect l="l" t="t" r="r" b="b"/>
              <a:pathLst>
                <a:path w="2340610" h="4244340">
                  <a:moveTo>
                    <a:pt x="2194560" y="0"/>
                  </a:moveTo>
                  <a:lnTo>
                    <a:pt x="144779" y="0"/>
                  </a:lnTo>
                  <a:lnTo>
                    <a:pt x="101925" y="8107"/>
                  </a:lnTo>
                  <a:lnTo>
                    <a:pt x="62544" y="30114"/>
                  </a:lnTo>
                  <a:lnTo>
                    <a:pt x="30114" y="62544"/>
                  </a:lnTo>
                  <a:lnTo>
                    <a:pt x="8107" y="101925"/>
                  </a:lnTo>
                  <a:lnTo>
                    <a:pt x="0" y="144780"/>
                  </a:lnTo>
                  <a:lnTo>
                    <a:pt x="0" y="4098290"/>
                  </a:lnTo>
                  <a:lnTo>
                    <a:pt x="8107" y="4141764"/>
                  </a:lnTo>
                  <a:lnTo>
                    <a:pt x="30114" y="4181520"/>
                  </a:lnTo>
                  <a:lnTo>
                    <a:pt x="62544" y="4214144"/>
                  </a:lnTo>
                  <a:lnTo>
                    <a:pt x="101925" y="4236222"/>
                  </a:lnTo>
                  <a:lnTo>
                    <a:pt x="144779" y="4244340"/>
                  </a:lnTo>
                  <a:lnTo>
                    <a:pt x="2194560" y="4244340"/>
                  </a:lnTo>
                  <a:lnTo>
                    <a:pt x="2237546" y="4236222"/>
                  </a:lnTo>
                  <a:lnTo>
                    <a:pt x="2277242" y="4214144"/>
                  </a:lnTo>
                  <a:lnTo>
                    <a:pt x="2310048" y="4181520"/>
                  </a:lnTo>
                  <a:lnTo>
                    <a:pt x="2332370" y="4141764"/>
                  </a:lnTo>
                  <a:lnTo>
                    <a:pt x="2340610" y="4098290"/>
                  </a:lnTo>
                  <a:lnTo>
                    <a:pt x="2340610" y="144780"/>
                  </a:lnTo>
                  <a:lnTo>
                    <a:pt x="2332370" y="101925"/>
                  </a:lnTo>
                  <a:lnTo>
                    <a:pt x="2310048" y="62544"/>
                  </a:lnTo>
                  <a:lnTo>
                    <a:pt x="2277242" y="30114"/>
                  </a:lnTo>
                  <a:lnTo>
                    <a:pt x="2237546" y="8107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" name="object 4"/>
            <p:cNvSpPr/>
            <p:nvPr/>
          </p:nvSpPr>
          <p:spPr>
            <a:xfrm>
              <a:off x="215899" y="2164080"/>
              <a:ext cx="2340610" cy="4244340"/>
            </a:xfrm>
            <a:custGeom>
              <a:avLst/>
              <a:gdLst/>
              <a:ahLst/>
              <a:cxnLst/>
              <a:rect l="l" t="t" r="r" b="b"/>
              <a:pathLst>
                <a:path w="2340610" h="4244340">
                  <a:moveTo>
                    <a:pt x="144779" y="0"/>
                  </a:moveTo>
                  <a:lnTo>
                    <a:pt x="101925" y="8107"/>
                  </a:lnTo>
                  <a:lnTo>
                    <a:pt x="62544" y="30114"/>
                  </a:lnTo>
                  <a:lnTo>
                    <a:pt x="30114" y="62544"/>
                  </a:lnTo>
                  <a:lnTo>
                    <a:pt x="8107" y="101925"/>
                  </a:lnTo>
                  <a:lnTo>
                    <a:pt x="0" y="144780"/>
                  </a:lnTo>
                  <a:lnTo>
                    <a:pt x="0" y="4098290"/>
                  </a:lnTo>
                  <a:lnTo>
                    <a:pt x="8107" y="4141764"/>
                  </a:lnTo>
                  <a:lnTo>
                    <a:pt x="30114" y="4181520"/>
                  </a:lnTo>
                  <a:lnTo>
                    <a:pt x="62544" y="4214144"/>
                  </a:lnTo>
                  <a:lnTo>
                    <a:pt x="101925" y="4236222"/>
                  </a:lnTo>
                  <a:lnTo>
                    <a:pt x="144779" y="4244340"/>
                  </a:lnTo>
                  <a:lnTo>
                    <a:pt x="2194560" y="4244340"/>
                  </a:lnTo>
                  <a:lnTo>
                    <a:pt x="2237546" y="4236222"/>
                  </a:lnTo>
                  <a:lnTo>
                    <a:pt x="2277242" y="4214144"/>
                  </a:lnTo>
                  <a:lnTo>
                    <a:pt x="2310048" y="4181520"/>
                  </a:lnTo>
                  <a:lnTo>
                    <a:pt x="2332370" y="4141764"/>
                  </a:lnTo>
                  <a:lnTo>
                    <a:pt x="2340610" y="4098290"/>
                  </a:lnTo>
                  <a:lnTo>
                    <a:pt x="2340610" y="144780"/>
                  </a:lnTo>
                  <a:lnTo>
                    <a:pt x="2332370" y="101925"/>
                  </a:lnTo>
                  <a:lnTo>
                    <a:pt x="2310048" y="62544"/>
                  </a:lnTo>
                  <a:lnTo>
                    <a:pt x="2277242" y="30114"/>
                  </a:lnTo>
                  <a:lnTo>
                    <a:pt x="2237546" y="8107"/>
                  </a:lnTo>
                  <a:lnTo>
                    <a:pt x="2194560" y="0"/>
                  </a:lnTo>
                  <a:lnTo>
                    <a:pt x="144779" y="0"/>
                  </a:lnTo>
                  <a:close/>
                </a:path>
                <a:path w="2340610" h="4244340">
                  <a:moveTo>
                    <a:pt x="0" y="0"/>
                  </a:moveTo>
                  <a:lnTo>
                    <a:pt x="0" y="0"/>
                  </a:lnTo>
                </a:path>
                <a:path w="2340610" h="4244340">
                  <a:moveTo>
                    <a:pt x="2340610" y="4244340"/>
                  </a:moveTo>
                  <a:lnTo>
                    <a:pt x="2340610" y="4244340"/>
                  </a:lnTo>
                </a:path>
              </a:pathLst>
            </a:custGeom>
            <a:ln w="35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" name="object 5"/>
            <p:cNvSpPr/>
            <p:nvPr/>
          </p:nvSpPr>
          <p:spPr>
            <a:xfrm>
              <a:off x="1121410" y="5400040"/>
              <a:ext cx="463550" cy="421640"/>
            </a:xfrm>
            <a:custGeom>
              <a:avLst/>
              <a:gdLst/>
              <a:ahLst/>
              <a:cxnLst/>
              <a:rect l="l" t="t" r="r" b="b"/>
              <a:pathLst>
                <a:path w="463550" h="421639">
                  <a:moveTo>
                    <a:pt x="463550" y="165100"/>
                  </a:moveTo>
                  <a:lnTo>
                    <a:pt x="297180" y="165100"/>
                  </a:lnTo>
                  <a:lnTo>
                    <a:pt x="297180" y="0"/>
                  </a:lnTo>
                  <a:lnTo>
                    <a:pt x="165100" y="0"/>
                  </a:lnTo>
                  <a:lnTo>
                    <a:pt x="165100" y="165100"/>
                  </a:lnTo>
                  <a:lnTo>
                    <a:pt x="0" y="165100"/>
                  </a:lnTo>
                  <a:lnTo>
                    <a:pt x="0" y="256540"/>
                  </a:lnTo>
                  <a:lnTo>
                    <a:pt x="165100" y="256540"/>
                  </a:lnTo>
                  <a:lnTo>
                    <a:pt x="165100" y="421640"/>
                  </a:lnTo>
                  <a:lnTo>
                    <a:pt x="297180" y="421640"/>
                  </a:lnTo>
                  <a:lnTo>
                    <a:pt x="297180" y="256540"/>
                  </a:lnTo>
                  <a:lnTo>
                    <a:pt x="463550" y="256540"/>
                  </a:lnTo>
                  <a:lnTo>
                    <a:pt x="463550" y="1651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1121409" y="5400040"/>
              <a:ext cx="463550" cy="421640"/>
            </a:xfrm>
            <a:custGeom>
              <a:avLst/>
              <a:gdLst/>
              <a:ahLst/>
              <a:cxnLst/>
              <a:rect l="l" t="t" r="r" b="b"/>
              <a:pathLst>
                <a:path w="463550" h="421639">
                  <a:moveTo>
                    <a:pt x="165100" y="0"/>
                  </a:moveTo>
                  <a:lnTo>
                    <a:pt x="297180" y="0"/>
                  </a:lnTo>
                  <a:lnTo>
                    <a:pt x="297180" y="165100"/>
                  </a:lnTo>
                  <a:lnTo>
                    <a:pt x="463550" y="165100"/>
                  </a:lnTo>
                  <a:lnTo>
                    <a:pt x="463550" y="256540"/>
                  </a:lnTo>
                  <a:lnTo>
                    <a:pt x="297180" y="256540"/>
                  </a:lnTo>
                  <a:lnTo>
                    <a:pt x="297180" y="421640"/>
                  </a:lnTo>
                  <a:lnTo>
                    <a:pt x="165100" y="421640"/>
                  </a:lnTo>
                  <a:lnTo>
                    <a:pt x="165100" y="256540"/>
                  </a:lnTo>
                  <a:lnTo>
                    <a:pt x="0" y="256540"/>
                  </a:lnTo>
                  <a:lnTo>
                    <a:pt x="0" y="165100"/>
                  </a:lnTo>
                  <a:lnTo>
                    <a:pt x="165100" y="165100"/>
                  </a:lnTo>
                  <a:lnTo>
                    <a:pt x="165100" y="0"/>
                  </a:lnTo>
                  <a:close/>
                </a:path>
                <a:path w="463550" h="421639">
                  <a:moveTo>
                    <a:pt x="0" y="0"/>
                  </a:moveTo>
                  <a:lnTo>
                    <a:pt x="0" y="0"/>
                  </a:lnTo>
                </a:path>
                <a:path w="463550" h="421639">
                  <a:moveTo>
                    <a:pt x="463550" y="421640"/>
                  </a:moveTo>
                  <a:lnTo>
                    <a:pt x="463550" y="4216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" name="object 7"/>
            <p:cNvSpPr/>
            <p:nvPr/>
          </p:nvSpPr>
          <p:spPr>
            <a:xfrm>
              <a:off x="1041400" y="2741930"/>
              <a:ext cx="396240" cy="394970"/>
            </a:xfrm>
            <a:custGeom>
              <a:avLst/>
              <a:gdLst/>
              <a:ahLst/>
              <a:cxnLst/>
              <a:rect l="l" t="t" r="r" b="b"/>
              <a:pathLst>
                <a:path w="396240" h="394969">
                  <a:moveTo>
                    <a:pt x="64769" y="2540"/>
                  </a:moveTo>
                  <a:lnTo>
                    <a:pt x="0" y="68580"/>
                  </a:lnTo>
                  <a:lnTo>
                    <a:pt x="119380" y="184150"/>
                  </a:lnTo>
                  <a:lnTo>
                    <a:pt x="3809" y="302260"/>
                  </a:lnTo>
                  <a:lnTo>
                    <a:pt x="97790" y="394970"/>
                  </a:lnTo>
                  <a:lnTo>
                    <a:pt x="213359" y="276860"/>
                  </a:lnTo>
                  <a:lnTo>
                    <a:pt x="345077" y="276860"/>
                  </a:lnTo>
                  <a:lnTo>
                    <a:pt x="276859" y="210820"/>
                  </a:lnTo>
                  <a:lnTo>
                    <a:pt x="368573" y="118110"/>
                  </a:lnTo>
                  <a:lnTo>
                    <a:pt x="182880" y="118110"/>
                  </a:lnTo>
                  <a:lnTo>
                    <a:pt x="64769" y="2540"/>
                  </a:lnTo>
                  <a:close/>
                </a:path>
                <a:path w="396240" h="394969">
                  <a:moveTo>
                    <a:pt x="345077" y="276860"/>
                  </a:moveTo>
                  <a:lnTo>
                    <a:pt x="213359" y="276860"/>
                  </a:lnTo>
                  <a:lnTo>
                    <a:pt x="331469" y="392430"/>
                  </a:lnTo>
                  <a:lnTo>
                    <a:pt x="396240" y="326390"/>
                  </a:lnTo>
                  <a:lnTo>
                    <a:pt x="345077" y="276860"/>
                  </a:lnTo>
                  <a:close/>
                </a:path>
                <a:path w="396240" h="394969">
                  <a:moveTo>
                    <a:pt x="298450" y="0"/>
                  </a:moveTo>
                  <a:lnTo>
                    <a:pt x="182880" y="118110"/>
                  </a:lnTo>
                  <a:lnTo>
                    <a:pt x="368573" y="118110"/>
                  </a:lnTo>
                  <a:lnTo>
                    <a:pt x="393700" y="92710"/>
                  </a:lnTo>
                  <a:lnTo>
                    <a:pt x="298450" y="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" name="object 8"/>
            <p:cNvSpPr/>
            <p:nvPr/>
          </p:nvSpPr>
          <p:spPr>
            <a:xfrm>
              <a:off x="1041400" y="2626360"/>
              <a:ext cx="396240" cy="626110"/>
            </a:xfrm>
            <a:custGeom>
              <a:avLst/>
              <a:gdLst/>
              <a:ahLst/>
              <a:cxnLst/>
              <a:rect l="l" t="t" r="r" b="b"/>
              <a:pathLst>
                <a:path w="396240" h="626110">
                  <a:moveTo>
                    <a:pt x="97790" y="510539"/>
                  </a:moveTo>
                  <a:lnTo>
                    <a:pt x="3809" y="417829"/>
                  </a:lnTo>
                  <a:lnTo>
                    <a:pt x="119380" y="299719"/>
                  </a:lnTo>
                  <a:lnTo>
                    <a:pt x="0" y="184150"/>
                  </a:lnTo>
                  <a:lnTo>
                    <a:pt x="64769" y="118110"/>
                  </a:lnTo>
                  <a:lnTo>
                    <a:pt x="182880" y="233679"/>
                  </a:lnTo>
                  <a:lnTo>
                    <a:pt x="298450" y="115569"/>
                  </a:lnTo>
                  <a:lnTo>
                    <a:pt x="393700" y="208279"/>
                  </a:lnTo>
                  <a:lnTo>
                    <a:pt x="276859" y="326389"/>
                  </a:lnTo>
                  <a:lnTo>
                    <a:pt x="396240" y="441960"/>
                  </a:lnTo>
                  <a:lnTo>
                    <a:pt x="331469" y="508000"/>
                  </a:lnTo>
                  <a:lnTo>
                    <a:pt x="213359" y="392429"/>
                  </a:lnTo>
                  <a:lnTo>
                    <a:pt x="97790" y="510539"/>
                  </a:lnTo>
                  <a:close/>
                </a:path>
                <a:path w="396240" h="626110">
                  <a:moveTo>
                    <a:pt x="215900" y="626110"/>
                  </a:moveTo>
                  <a:lnTo>
                    <a:pt x="215900" y="626110"/>
                  </a:lnTo>
                </a:path>
                <a:path w="396240" h="626110">
                  <a:moveTo>
                    <a:pt x="180340" y="0"/>
                  </a:moveTo>
                  <a:lnTo>
                    <a:pt x="1803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985375" y="55177"/>
            <a:ext cx="5706100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1" dirty="0"/>
              <a:t>Vector </a:t>
            </a:r>
            <a:r>
              <a:rPr spc="-3" dirty="0"/>
              <a:t>Architecture </a:t>
            </a:r>
            <a:r>
              <a:rPr dirty="0"/>
              <a:t>-</a:t>
            </a:r>
            <a:r>
              <a:rPr spc="-167" dirty="0"/>
              <a:t> </a:t>
            </a:r>
            <a:r>
              <a:rPr spc="-7" dirty="0"/>
              <a:t>Lane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764940" y="912511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85375" y="819150"/>
            <a:ext cx="5476746" cy="343886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2178" spc="-3" dirty="0">
                <a:latin typeface="Arial"/>
                <a:cs typeface="Arial"/>
              </a:rPr>
              <a:t>Element </a:t>
            </a:r>
            <a:r>
              <a:rPr sz="2178" dirty="0">
                <a:latin typeface="Arial"/>
                <a:cs typeface="Arial"/>
              </a:rPr>
              <a:t>N of A operates </a:t>
            </a:r>
            <a:r>
              <a:rPr sz="2178" spc="-3" dirty="0">
                <a:latin typeface="Arial"/>
                <a:cs typeface="Arial"/>
              </a:rPr>
              <a:t>with </a:t>
            </a:r>
            <a:r>
              <a:rPr sz="2178" dirty="0">
                <a:latin typeface="Arial"/>
                <a:cs typeface="Arial"/>
              </a:rPr>
              <a:t>element N of</a:t>
            </a:r>
            <a:r>
              <a:rPr sz="2178" spc="-310" dirty="0">
                <a:latin typeface="Arial"/>
                <a:cs typeface="Arial"/>
              </a:rPr>
              <a:t> </a:t>
            </a:r>
            <a:r>
              <a:rPr sz="2178" dirty="0">
                <a:latin typeface="Arial"/>
                <a:cs typeface="Arial"/>
              </a:rPr>
              <a:t>B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3215104" y="1403305"/>
            <a:ext cx="2548842" cy="3012189"/>
            <a:chOff x="1296352" y="2036762"/>
            <a:chExt cx="3744595" cy="4425315"/>
          </a:xfrm>
        </p:grpSpPr>
        <p:sp>
          <p:nvSpPr>
            <p:cNvPr id="13" name="object 13"/>
            <p:cNvSpPr/>
            <p:nvPr/>
          </p:nvSpPr>
          <p:spPr>
            <a:xfrm>
              <a:off x="2123439" y="3288030"/>
              <a:ext cx="99060" cy="1931670"/>
            </a:xfrm>
            <a:custGeom>
              <a:avLst/>
              <a:gdLst/>
              <a:ahLst/>
              <a:cxnLst/>
              <a:rect l="l" t="t" r="r" b="b"/>
              <a:pathLst>
                <a:path w="99060" h="1931670">
                  <a:moveTo>
                    <a:pt x="0" y="1931670"/>
                  </a:moveTo>
                  <a:lnTo>
                    <a:pt x="0" y="1637030"/>
                  </a:lnTo>
                </a:path>
                <a:path w="99060" h="1931670">
                  <a:moveTo>
                    <a:pt x="99060" y="295910"/>
                  </a:moveTo>
                  <a:lnTo>
                    <a:pt x="9906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" name="object 14"/>
            <p:cNvSpPr/>
            <p:nvPr/>
          </p:nvSpPr>
          <p:spPr>
            <a:xfrm>
              <a:off x="1314449" y="2054859"/>
              <a:ext cx="3708400" cy="4389120"/>
            </a:xfrm>
            <a:custGeom>
              <a:avLst/>
              <a:gdLst/>
              <a:ahLst/>
              <a:cxnLst/>
              <a:rect l="l" t="t" r="r" b="b"/>
              <a:pathLst>
                <a:path w="3708400" h="4389120">
                  <a:moveTo>
                    <a:pt x="0" y="4208780"/>
                  </a:moveTo>
                  <a:lnTo>
                    <a:pt x="0" y="4389120"/>
                  </a:lnTo>
                  <a:lnTo>
                    <a:pt x="808989" y="4389120"/>
                  </a:lnTo>
                  <a:lnTo>
                    <a:pt x="808989" y="3164840"/>
                  </a:lnTo>
                </a:path>
                <a:path w="3708400" h="4389120">
                  <a:moveTo>
                    <a:pt x="1269" y="180339"/>
                  </a:moveTo>
                  <a:lnTo>
                    <a:pt x="1269" y="0"/>
                  </a:lnTo>
                  <a:lnTo>
                    <a:pt x="908050" y="0"/>
                  </a:lnTo>
                  <a:lnTo>
                    <a:pt x="908050" y="1233169"/>
                  </a:lnTo>
                </a:path>
                <a:path w="3708400" h="4389120">
                  <a:moveTo>
                    <a:pt x="1512570" y="127000"/>
                  </a:moveTo>
                  <a:lnTo>
                    <a:pt x="1469715" y="135117"/>
                  </a:lnTo>
                  <a:lnTo>
                    <a:pt x="1430334" y="157195"/>
                  </a:lnTo>
                  <a:lnTo>
                    <a:pt x="1397904" y="189819"/>
                  </a:lnTo>
                  <a:lnTo>
                    <a:pt x="1375897" y="229575"/>
                  </a:lnTo>
                  <a:lnTo>
                    <a:pt x="1367789" y="273050"/>
                  </a:lnTo>
                  <a:lnTo>
                    <a:pt x="1367789" y="4226559"/>
                  </a:lnTo>
                  <a:lnTo>
                    <a:pt x="1375897" y="4269414"/>
                  </a:lnTo>
                  <a:lnTo>
                    <a:pt x="1397904" y="4308795"/>
                  </a:lnTo>
                  <a:lnTo>
                    <a:pt x="1430334" y="4341225"/>
                  </a:lnTo>
                  <a:lnTo>
                    <a:pt x="1469715" y="4363232"/>
                  </a:lnTo>
                  <a:lnTo>
                    <a:pt x="1512570" y="4371340"/>
                  </a:lnTo>
                  <a:lnTo>
                    <a:pt x="3562350" y="4371340"/>
                  </a:lnTo>
                  <a:lnTo>
                    <a:pt x="3605204" y="4363232"/>
                  </a:lnTo>
                  <a:lnTo>
                    <a:pt x="3644585" y="4341225"/>
                  </a:lnTo>
                  <a:lnTo>
                    <a:pt x="3677015" y="4308795"/>
                  </a:lnTo>
                  <a:lnTo>
                    <a:pt x="3699022" y="4269414"/>
                  </a:lnTo>
                  <a:lnTo>
                    <a:pt x="3707129" y="4226559"/>
                  </a:lnTo>
                  <a:lnTo>
                    <a:pt x="3707129" y="273050"/>
                  </a:lnTo>
                  <a:lnTo>
                    <a:pt x="3699022" y="229575"/>
                  </a:lnTo>
                  <a:lnTo>
                    <a:pt x="3677015" y="189819"/>
                  </a:lnTo>
                  <a:lnTo>
                    <a:pt x="3644585" y="157195"/>
                  </a:lnTo>
                  <a:lnTo>
                    <a:pt x="3605204" y="135117"/>
                  </a:lnTo>
                  <a:lnTo>
                    <a:pt x="3562350" y="127000"/>
                  </a:lnTo>
                  <a:lnTo>
                    <a:pt x="1512570" y="127000"/>
                  </a:lnTo>
                  <a:close/>
                </a:path>
                <a:path w="3708400" h="4389120">
                  <a:moveTo>
                    <a:pt x="1367789" y="127000"/>
                  </a:moveTo>
                  <a:lnTo>
                    <a:pt x="1367789" y="127000"/>
                  </a:lnTo>
                </a:path>
                <a:path w="3708400" h="4389120">
                  <a:moveTo>
                    <a:pt x="3708400" y="4371340"/>
                  </a:moveTo>
                  <a:lnTo>
                    <a:pt x="3708400" y="4371340"/>
                  </a:lnTo>
                </a:path>
              </a:pathLst>
            </a:custGeom>
            <a:ln w="35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" name="object 15"/>
            <p:cNvSpPr/>
            <p:nvPr/>
          </p:nvSpPr>
          <p:spPr>
            <a:xfrm>
              <a:off x="3317240" y="5374639"/>
              <a:ext cx="463550" cy="421640"/>
            </a:xfrm>
            <a:custGeom>
              <a:avLst/>
              <a:gdLst/>
              <a:ahLst/>
              <a:cxnLst/>
              <a:rect l="l" t="t" r="r" b="b"/>
              <a:pathLst>
                <a:path w="463550" h="421639">
                  <a:moveTo>
                    <a:pt x="463550" y="165100"/>
                  </a:moveTo>
                  <a:lnTo>
                    <a:pt x="297180" y="165100"/>
                  </a:lnTo>
                  <a:lnTo>
                    <a:pt x="297180" y="0"/>
                  </a:lnTo>
                  <a:lnTo>
                    <a:pt x="165100" y="0"/>
                  </a:lnTo>
                  <a:lnTo>
                    <a:pt x="165100" y="165100"/>
                  </a:lnTo>
                  <a:lnTo>
                    <a:pt x="0" y="165100"/>
                  </a:lnTo>
                  <a:lnTo>
                    <a:pt x="0" y="256540"/>
                  </a:lnTo>
                  <a:lnTo>
                    <a:pt x="165100" y="256540"/>
                  </a:lnTo>
                  <a:lnTo>
                    <a:pt x="165100" y="421640"/>
                  </a:lnTo>
                  <a:lnTo>
                    <a:pt x="297180" y="421640"/>
                  </a:lnTo>
                  <a:lnTo>
                    <a:pt x="297180" y="256540"/>
                  </a:lnTo>
                  <a:lnTo>
                    <a:pt x="463550" y="256540"/>
                  </a:lnTo>
                  <a:lnTo>
                    <a:pt x="463550" y="1651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" name="object 16"/>
            <p:cNvSpPr/>
            <p:nvPr/>
          </p:nvSpPr>
          <p:spPr>
            <a:xfrm>
              <a:off x="3317239" y="5374640"/>
              <a:ext cx="463550" cy="421640"/>
            </a:xfrm>
            <a:custGeom>
              <a:avLst/>
              <a:gdLst/>
              <a:ahLst/>
              <a:cxnLst/>
              <a:rect l="l" t="t" r="r" b="b"/>
              <a:pathLst>
                <a:path w="463550" h="421639">
                  <a:moveTo>
                    <a:pt x="165100" y="0"/>
                  </a:moveTo>
                  <a:lnTo>
                    <a:pt x="297180" y="0"/>
                  </a:lnTo>
                  <a:lnTo>
                    <a:pt x="297180" y="165100"/>
                  </a:lnTo>
                  <a:lnTo>
                    <a:pt x="463550" y="165100"/>
                  </a:lnTo>
                  <a:lnTo>
                    <a:pt x="463550" y="256540"/>
                  </a:lnTo>
                  <a:lnTo>
                    <a:pt x="297180" y="256540"/>
                  </a:lnTo>
                  <a:lnTo>
                    <a:pt x="297180" y="421640"/>
                  </a:lnTo>
                  <a:lnTo>
                    <a:pt x="165100" y="421640"/>
                  </a:lnTo>
                  <a:lnTo>
                    <a:pt x="165100" y="256540"/>
                  </a:lnTo>
                  <a:lnTo>
                    <a:pt x="0" y="256540"/>
                  </a:lnTo>
                  <a:lnTo>
                    <a:pt x="0" y="165100"/>
                  </a:lnTo>
                  <a:lnTo>
                    <a:pt x="165100" y="165100"/>
                  </a:lnTo>
                  <a:lnTo>
                    <a:pt x="165100" y="0"/>
                  </a:lnTo>
                  <a:close/>
                </a:path>
                <a:path w="463550" h="421639">
                  <a:moveTo>
                    <a:pt x="0" y="0"/>
                  </a:moveTo>
                  <a:lnTo>
                    <a:pt x="0" y="0"/>
                  </a:lnTo>
                </a:path>
                <a:path w="463550" h="421639">
                  <a:moveTo>
                    <a:pt x="463550" y="421640"/>
                  </a:moveTo>
                  <a:lnTo>
                    <a:pt x="463550" y="4216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" name="object 17"/>
            <p:cNvSpPr/>
            <p:nvPr/>
          </p:nvSpPr>
          <p:spPr>
            <a:xfrm>
              <a:off x="3362960" y="2832100"/>
              <a:ext cx="396240" cy="394970"/>
            </a:xfrm>
            <a:custGeom>
              <a:avLst/>
              <a:gdLst/>
              <a:ahLst/>
              <a:cxnLst/>
              <a:rect l="l" t="t" r="r" b="b"/>
              <a:pathLst>
                <a:path w="396239" h="394969">
                  <a:moveTo>
                    <a:pt x="64769" y="2539"/>
                  </a:moveTo>
                  <a:lnTo>
                    <a:pt x="0" y="68579"/>
                  </a:lnTo>
                  <a:lnTo>
                    <a:pt x="119379" y="184150"/>
                  </a:lnTo>
                  <a:lnTo>
                    <a:pt x="3810" y="302260"/>
                  </a:lnTo>
                  <a:lnTo>
                    <a:pt x="99060" y="394970"/>
                  </a:lnTo>
                  <a:lnTo>
                    <a:pt x="214629" y="275589"/>
                  </a:lnTo>
                  <a:lnTo>
                    <a:pt x="344323" y="275589"/>
                  </a:lnTo>
                  <a:lnTo>
                    <a:pt x="278129" y="210820"/>
                  </a:lnTo>
                  <a:lnTo>
                    <a:pt x="368846" y="118110"/>
                  </a:lnTo>
                  <a:lnTo>
                    <a:pt x="182879" y="118110"/>
                  </a:lnTo>
                  <a:lnTo>
                    <a:pt x="64769" y="2539"/>
                  </a:lnTo>
                  <a:close/>
                </a:path>
                <a:path w="396239" h="394969">
                  <a:moveTo>
                    <a:pt x="344323" y="275589"/>
                  </a:moveTo>
                  <a:lnTo>
                    <a:pt x="214629" y="275589"/>
                  </a:lnTo>
                  <a:lnTo>
                    <a:pt x="331469" y="391160"/>
                  </a:lnTo>
                  <a:lnTo>
                    <a:pt x="396239" y="326389"/>
                  </a:lnTo>
                  <a:lnTo>
                    <a:pt x="344323" y="275589"/>
                  </a:lnTo>
                  <a:close/>
                </a:path>
                <a:path w="396239" h="394969">
                  <a:moveTo>
                    <a:pt x="298450" y="0"/>
                  </a:moveTo>
                  <a:lnTo>
                    <a:pt x="182879" y="118110"/>
                  </a:lnTo>
                  <a:lnTo>
                    <a:pt x="368846" y="118110"/>
                  </a:lnTo>
                  <a:lnTo>
                    <a:pt x="393700" y="92710"/>
                  </a:lnTo>
                  <a:lnTo>
                    <a:pt x="298450" y="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" name="object 18"/>
            <p:cNvSpPr/>
            <p:nvPr/>
          </p:nvSpPr>
          <p:spPr>
            <a:xfrm>
              <a:off x="3362960" y="2716530"/>
              <a:ext cx="396240" cy="624840"/>
            </a:xfrm>
            <a:custGeom>
              <a:avLst/>
              <a:gdLst/>
              <a:ahLst/>
              <a:cxnLst/>
              <a:rect l="l" t="t" r="r" b="b"/>
              <a:pathLst>
                <a:path w="396239" h="624839">
                  <a:moveTo>
                    <a:pt x="99060" y="510540"/>
                  </a:moveTo>
                  <a:lnTo>
                    <a:pt x="3810" y="417830"/>
                  </a:lnTo>
                  <a:lnTo>
                    <a:pt x="119379" y="299720"/>
                  </a:lnTo>
                  <a:lnTo>
                    <a:pt x="0" y="184150"/>
                  </a:lnTo>
                  <a:lnTo>
                    <a:pt x="64769" y="118110"/>
                  </a:lnTo>
                  <a:lnTo>
                    <a:pt x="182879" y="233680"/>
                  </a:lnTo>
                  <a:lnTo>
                    <a:pt x="298450" y="115570"/>
                  </a:lnTo>
                  <a:lnTo>
                    <a:pt x="393700" y="208280"/>
                  </a:lnTo>
                  <a:lnTo>
                    <a:pt x="278129" y="326390"/>
                  </a:lnTo>
                  <a:lnTo>
                    <a:pt x="396239" y="441960"/>
                  </a:lnTo>
                  <a:lnTo>
                    <a:pt x="331469" y="506730"/>
                  </a:lnTo>
                  <a:lnTo>
                    <a:pt x="214629" y="391160"/>
                  </a:lnTo>
                  <a:lnTo>
                    <a:pt x="99060" y="510540"/>
                  </a:lnTo>
                  <a:close/>
                </a:path>
                <a:path w="396239" h="624839">
                  <a:moveTo>
                    <a:pt x="217169" y="624840"/>
                  </a:moveTo>
                  <a:lnTo>
                    <a:pt x="217169" y="624840"/>
                  </a:lnTo>
                </a:path>
                <a:path w="396239" h="624839">
                  <a:moveTo>
                    <a:pt x="180339" y="0"/>
                  </a:moveTo>
                  <a:lnTo>
                    <a:pt x="1803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9" name="object 19"/>
          <p:cNvSpPr/>
          <p:nvPr/>
        </p:nvSpPr>
        <p:spPr>
          <a:xfrm>
            <a:off x="3723618" y="3211094"/>
            <a:ext cx="109786" cy="165111"/>
          </a:xfrm>
          <a:custGeom>
            <a:avLst/>
            <a:gdLst/>
            <a:ahLst/>
            <a:cxnLst/>
            <a:rect l="l" t="t" r="r" b="b"/>
            <a:pathLst>
              <a:path w="161289" h="242570">
                <a:moveTo>
                  <a:pt x="80009" y="0"/>
                </a:moveTo>
                <a:lnTo>
                  <a:pt x="0" y="242569"/>
                </a:lnTo>
                <a:lnTo>
                  <a:pt x="161289" y="242569"/>
                </a:lnTo>
                <a:lnTo>
                  <a:pt x="800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20" name="object 20"/>
          <p:cNvSpPr/>
          <p:nvPr/>
        </p:nvSpPr>
        <p:spPr>
          <a:xfrm>
            <a:off x="3791045" y="2448645"/>
            <a:ext cx="109786" cy="165975"/>
          </a:xfrm>
          <a:custGeom>
            <a:avLst/>
            <a:gdLst/>
            <a:ahLst/>
            <a:cxnLst/>
            <a:rect l="l" t="t" r="r" b="b"/>
            <a:pathLst>
              <a:path w="161289" h="243839">
                <a:moveTo>
                  <a:pt x="161290" y="0"/>
                </a:moveTo>
                <a:lnTo>
                  <a:pt x="0" y="0"/>
                </a:lnTo>
                <a:lnTo>
                  <a:pt x="80010" y="243839"/>
                </a:lnTo>
                <a:lnTo>
                  <a:pt x="161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25"/>
          </a:p>
        </p:txBody>
      </p:sp>
      <p:grpSp>
        <p:nvGrpSpPr>
          <p:cNvPr id="21" name="object 21"/>
          <p:cNvGrpSpPr/>
          <p:nvPr/>
        </p:nvGrpSpPr>
        <p:grpSpPr>
          <a:xfrm>
            <a:off x="4758154" y="1465545"/>
            <a:ext cx="2671594" cy="2949949"/>
            <a:chOff x="3563302" y="2128202"/>
            <a:chExt cx="3924935" cy="4333875"/>
          </a:xfrm>
        </p:grpSpPr>
        <p:sp>
          <p:nvSpPr>
            <p:cNvPr id="22" name="object 22"/>
            <p:cNvSpPr/>
            <p:nvPr/>
          </p:nvSpPr>
          <p:spPr>
            <a:xfrm>
              <a:off x="4446270" y="4942839"/>
              <a:ext cx="0" cy="294640"/>
            </a:xfrm>
            <a:custGeom>
              <a:avLst/>
              <a:gdLst/>
              <a:ahLst/>
              <a:cxnLst/>
              <a:rect l="l" t="t" r="r" b="b"/>
              <a:pathLst>
                <a:path h="294639">
                  <a:moveTo>
                    <a:pt x="0" y="294640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" name="object 23"/>
            <p:cNvSpPr/>
            <p:nvPr/>
          </p:nvSpPr>
          <p:spPr>
            <a:xfrm>
              <a:off x="4364990" y="4710429"/>
              <a:ext cx="162560" cy="242570"/>
            </a:xfrm>
            <a:custGeom>
              <a:avLst/>
              <a:gdLst/>
              <a:ahLst/>
              <a:cxnLst/>
              <a:rect l="l" t="t" r="r" b="b"/>
              <a:pathLst>
                <a:path w="162560" h="242570">
                  <a:moveTo>
                    <a:pt x="81280" y="0"/>
                  </a:moveTo>
                  <a:lnTo>
                    <a:pt x="0" y="242570"/>
                  </a:lnTo>
                  <a:lnTo>
                    <a:pt x="162560" y="242570"/>
                  </a:lnTo>
                  <a:lnTo>
                    <a:pt x="81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" name="object 24"/>
            <p:cNvSpPr/>
            <p:nvPr/>
          </p:nvSpPr>
          <p:spPr>
            <a:xfrm>
              <a:off x="4653280" y="3305809"/>
              <a:ext cx="0" cy="295910"/>
            </a:xfrm>
            <a:custGeom>
              <a:avLst/>
              <a:gdLst/>
              <a:ahLst/>
              <a:cxnLst/>
              <a:rect l="l" t="t" r="r" b="b"/>
              <a:pathLst>
                <a:path h="295910">
                  <a:moveTo>
                    <a:pt x="0" y="295910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" name="object 25"/>
            <p:cNvSpPr/>
            <p:nvPr/>
          </p:nvSpPr>
          <p:spPr>
            <a:xfrm>
              <a:off x="4572000" y="3591559"/>
              <a:ext cx="162560" cy="242570"/>
            </a:xfrm>
            <a:custGeom>
              <a:avLst/>
              <a:gdLst/>
              <a:ahLst/>
              <a:cxnLst/>
              <a:rect l="l" t="t" r="r" b="b"/>
              <a:pathLst>
                <a:path w="162560" h="242570">
                  <a:moveTo>
                    <a:pt x="162560" y="0"/>
                  </a:moveTo>
                  <a:lnTo>
                    <a:pt x="0" y="0"/>
                  </a:lnTo>
                  <a:lnTo>
                    <a:pt x="81279" y="242569"/>
                  </a:lnTo>
                  <a:lnTo>
                    <a:pt x="1625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" name="object 26"/>
            <p:cNvSpPr/>
            <p:nvPr/>
          </p:nvSpPr>
          <p:spPr>
            <a:xfrm>
              <a:off x="3581400" y="2231389"/>
              <a:ext cx="1071880" cy="4212590"/>
            </a:xfrm>
            <a:custGeom>
              <a:avLst/>
              <a:gdLst/>
              <a:ahLst/>
              <a:cxnLst/>
              <a:rect l="l" t="t" r="r" b="b"/>
              <a:pathLst>
                <a:path w="1071879" h="4212590">
                  <a:moveTo>
                    <a:pt x="0" y="4033520"/>
                  </a:moveTo>
                  <a:lnTo>
                    <a:pt x="0" y="4212590"/>
                  </a:lnTo>
                  <a:lnTo>
                    <a:pt x="864870" y="4212590"/>
                  </a:lnTo>
                  <a:lnTo>
                    <a:pt x="864870" y="3006090"/>
                  </a:lnTo>
                </a:path>
                <a:path w="1071879" h="4212590">
                  <a:moveTo>
                    <a:pt x="2539" y="180339"/>
                  </a:moveTo>
                  <a:lnTo>
                    <a:pt x="2539" y="0"/>
                  </a:lnTo>
                  <a:lnTo>
                    <a:pt x="1071879" y="0"/>
                  </a:lnTo>
                  <a:lnTo>
                    <a:pt x="1071879" y="1074420"/>
                  </a:lnTo>
                </a:path>
              </a:pathLst>
            </a:custGeom>
            <a:ln w="35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" name="object 27"/>
            <p:cNvSpPr/>
            <p:nvPr/>
          </p:nvSpPr>
          <p:spPr>
            <a:xfrm>
              <a:off x="5129530" y="2146299"/>
              <a:ext cx="2340610" cy="4244340"/>
            </a:xfrm>
            <a:custGeom>
              <a:avLst/>
              <a:gdLst/>
              <a:ahLst/>
              <a:cxnLst/>
              <a:rect l="l" t="t" r="r" b="b"/>
              <a:pathLst>
                <a:path w="2340609" h="4244340">
                  <a:moveTo>
                    <a:pt x="2195829" y="0"/>
                  </a:moveTo>
                  <a:lnTo>
                    <a:pt x="146050" y="0"/>
                  </a:lnTo>
                  <a:lnTo>
                    <a:pt x="102575" y="8107"/>
                  </a:lnTo>
                  <a:lnTo>
                    <a:pt x="62819" y="30114"/>
                  </a:lnTo>
                  <a:lnTo>
                    <a:pt x="30195" y="62544"/>
                  </a:lnTo>
                  <a:lnTo>
                    <a:pt x="8117" y="101925"/>
                  </a:lnTo>
                  <a:lnTo>
                    <a:pt x="0" y="144779"/>
                  </a:lnTo>
                  <a:lnTo>
                    <a:pt x="0" y="4098290"/>
                  </a:lnTo>
                  <a:lnTo>
                    <a:pt x="8117" y="4141764"/>
                  </a:lnTo>
                  <a:lnTo>
                    <a:pt x="30195" y="4181520"/>
                  </a:lnTo>
                  <a:lnTo>
                    <a:pt x="62819" y="4214144"/>
                  </a:lnTo>
                  <a:lnTo>
                    <a:pt x="102575" y="4236222"/>
                  </a:lnTo>
                  <a:lnTo>
                    <a:pt x="146050" y="4244340"/>
                  </a:lnTo>
                  <a:lnTo>
                    <a:pt x="2195829" y="4244340"/>
                  </a:lnTo>
                  <a:lnTo>
                    <a:pt x="2238684" y="4236222"/>
                  </a:lnTo>
                  <a:lnTo>
                    <a:pt x="2278065" y="4214144"/>
                  </a:lnTo>
                  <a:lnTo>
                    <a:pt x="2310495" y="4181520"/>
                  </a:lnTo>
                  <a:lnTo>
                    <a:pt x="2332502" y="4141764"/>
                  </a:lnTo>
                  <a:lnTo>
                    <a:pt x="2340610" y="4098290"/>
                  </a:lnTo>
                  <a:lnTo>
                    <a:pt x="2340610" y="144779"/>
                  </a:lnTo>
                  <a:lnTo>
                    <a:pt x="2332502" y="101925"/>
                  </a:lnTo>
                  <a:lnTo>
                    <a:pt x="2310495" y="62544"/>
                  </a:lnTo>
                  <a:lnTo>
                    <a:pt x="2278065" y="30114"/>
                  </a:lnTo>
                  <a:lnTo>
                    <a:pt x="2238684" y="8107"/>
                  </a:lnTo>
                  <a:lnTo>
                    <a:pt x="2195829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" name="object 28"/>
            <p:cNvSpPr/>
            <p:nvPr/>
          </p:nvSpPr>
          <p:spPr>
            <a:xfrm>
              <a:off x="5129530" y="2146299"/>
              <a:ext cx="2340610" cy="4244340"/>
            </a:xfrm>
            <a:custGeom>
              <a:avLst/>
              <a:gdLst/>
              <a:ahLst/>
              <a:cxnLst/>
              <a:rect l="l" t="t" r="r" b="b"/>
              <a:pathLst>
                <a:path w="2340609" h="4244340">
                  <a:moveTo>
                    <a:pt x="146050" y="0"/>
                  </a:moveTo>
                  <a:lnTo>
                    <a:pt x="102575" y="8107"/>
                  </a:lnTo>
                  <a:lnTo>
                    <a:pt x="62819" y="30114"/>
                  </a:lnTo>
                  <a:lnTo>
                    <a:pt x="30195" y="62544"/>
                  </a:lnTo>
                  <a:lnTo>
                    <a:pt x="8117" y="101925"/>
                  </a:lnTo>
                  <a:lnTo>
                    <a:pt x="0" y="144779"/>
                  </a:lnTo>
                  <a:lnTo>
                    <a:pt x="0" y="4098290"/>
                  </a:lnTo>
                  <a:lnTo>
                    <a:pt x="8117" y="4141764"/>
                  </a:lnTo>
                  <a:lnTo>
                    <a:pt x="30195" y="4181520"/>
                  </a:lnTo>
                  <a:lnTo>
                    <a:pt x="62819" y="4214144"/>
                  </a:lnTo>
                  <a:lnTo>
                    <a:pt x="102575" y="4236222"/>
                  </a:lnTo>
                  <a:lnTo>
                    <a:pt x="146050" y="4244340"/>
                  </a:lnTo>
                  <a:lnTo>
                    <a:pt x="2195829" y="4244340"/>
                  </a:lnTo>
                  <a:lnTo>
                    <a:pt x="2238684" y="4236222"/>
                  </a:lnTo>
                  <a:lnTo>
                    <a:pt x="2278065" y="4214144"/>
                  </a:lnTo>
                  <a:lnTo>
                    <a:pt x="2310495" y="4181520"/>
                  </a:lnTo>
                  <a:lnTo>
                    <a:pt x="2332502" y="4141764"/>
                  </a:lnTo>
                  <a:lnTo>
                    <a:pt x="2340610" y="4098290"/>
                  </a:lnTo>
                  <a:lnTo>
                    <a:pt x="2340610" y="144779"/>
                  </a:lnTo>
                  <a:lnTo>
                    <a:pt x="2332502" y="101925"/>
                  </a:lnTo>
                  <a:lnTo>
                    <a:pt x="2310495" y="62544"/>
                  </a:lnTo>
                  <a:lnTo>
                    <a:pt x="2278065" y="30114"/>
                  </a:lnTo>
                  <a:lnTo>
                    <a:pt x="2238684" y="8107"/>
                  </a:lnTo>
                  <a:lnTo>
                    <a:pt x="2195829" y="0"/>
                  </a:lnTo>
                  <a:lnTo>
                    <a:pt x="146050" y="0"/>
                  </a:lnTo>
                  <a:close/>
                </a:path>
                <a:path w="2340609" h="4244340">
                  <a:moveTo>
                    <a:pt x="0" y="0"/>
                  </a:moveTo>
                  <a:lnTo>
                    <a:pt x="0" y="0"/>
                  </a:lnTo>
                </a:path>
                <a:path w="2340609" h="4244340">
                  <a:moveTo>
                    <a:pt x="2340610" y="4244340"/>
                  </a:moveTo>
                  <a:lnTo>
                    <a:pt x="2340610" y="4244340"/>
                  </a:lnTo>
                </a:path>
              </a:pathLst>
            </a:custGeom>
            <a:ln w="35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" name="object 29"/>
            <p:cNvSpPr/>
            <p:nvPr/>
          </p:nvSpPr>
          <p:spPr>
            <a:xfrm>
              <a:off x="5711190" y="5360669"/>
              <a:ext cx="463550" cy="421640"/>
            </a:xfrm>
            <a:custGeom>
              <a:avLst/>
              <a:gdLst/>
              <a:ahLst/>
              <a:cxnLst/>
              <a:rect l="l" t="t" r="r" b="b"/>
              <a:pathLst>
                <a:path w="463550" h="421639">
                  <a:moveTo>
                    <a:pt x="463550" y="165100"/>
                  </a:moveTo>
                  <a:lnTo>
                    <a:pt x="297180" y="165100"/>
                  </a:lnTo>
                  <a:lnTo>
                    <a:pt x="297180" y="0"/>
                  </a:lnTo>
                  <a:lnTo>
                    <a:pt x="165100" y="0"/>
                  </a:lnTo>
                  <a:lnTo>
                    <a:pt x="165100" y="165100"/>
                  </a:lnTo>
                  <a:lnTo>
                    <a:pt x="0" y="165100"/>
                  </a:lnTo>
                  <a:lnTo>
                    <a:pt x="0" y="256540"/>
                  </a:lnTo>
                  <a:lnTo>
                    <a:pt x="165100" y="256540"/>
                  </a:lnTo>
                  <a:lnTo>
                    <a:pt x="165100" y="421640"/>
                  </a:lnTo>
                  <a:lnTo>
                    <a:pt x="297180" y="421640"/>
                  </a:lnTo>
                  <a:lnTo>
                    <a:pt x="297180" y="256540"/>
                  </a:lnTo>
                  <a:lnTo>
                    <a:pt x="463550" y="256540"/>
                  </a:lnTo>
                  <a:lnTo>
                    <a:pt x="463550" y="1651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" name="object 30"/>
            <p:cNvSpPr/>
            <p:nvPr/>
          </p:nvSpPr>
          <p:spPr>
            <a:xfrm>
              <a:off x="5711190" y="5360669"/>
              <a:ext cx="463550" cy="421640"/>
            </a:xfrm>
            <a:custGeom>
              <a:avLst/>
              <a:gdLst/>
              <a:ahLst/>
              <a:cxnLst/>
              <a:rect l="l" t="t" r="r" b="b"/>
              <a:pathLst>
                <a:path w="463550" h="421639">
                  <a:moveTo>
                    <a:pt x="165100" y="0"/>
                  </a:moveTo>
                  <a:lnTo>
                    <a:pt x="297180" y="0"/>
                  </a:lnTo>
                  <a:lnTo>
                    <a:pt x="297180" y="165099"/>
                  </a:lnTo>
                  <a:lnTo>
                    <a:pt x="463550" y="165099"/>
                  </a:lnTo>
                  <a:lnTo>
                    <a:pt x="463550" y="256539"/>
                  </a:lnTo>
                  <a:lnTo>
                    <a:pt x="297180" y="256539"/>
                  </a:lnTo>
                  <a:lnTo>
                    <a:pt x="297180" y="421639"/>
                  </a:lnTo>
                  <a:lnTo>
                    <a:pt x="165100" y="421639"/>
                  </a:lnTo>
                  <a:lnTo>
                    <a:pt x="165100" y="256539"/>
                  </a:lnTo>
                  <a:lnTo>
                    <a:pt x="0" y="256539"/>
                  </a:lnTo>
                  <a:lnTo>
                    <a:pt x="0" y="165099"/>
                  </a:lnTo>
                  <a:lnTo>
                    <a:pt x="165100" y="165099"/>
                  </a:lnTo>
                  <a:lnTo>
                    <a:pt x="165100" y="0"/>
                  </a:lnTo>
                  <a:close/>
                </a:path>
                <a:path w="463550" h="421639">
                  <a:moveTo>
                    <a:pt x="0" y="0"/>
                  </a:moveTo>
                  <a:lnTo>
                    <a:pt x="0" y="0"/>
                  </a:lnTo>
                </a:path>
                <a:path w="463550" h="421639">
                  <a:moveTo>
                    <a:pt x="463550" y="421639"/>
                  </a:moveTo>
                  <a:lnTo>
                    <a:pt x="463550" y="4216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" name="object 31"/>
            <p:cNvSpPr/>
            <p:nvPr/>
          </p:nvSpPr>
          <p:spPr>
            <a:xfrm>
              <a:off x="5811520" y="2687319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69">
                  <a:moveTo>
                    <a:pt x="63500" y="3809"/>
                  </a:moveTo>
                  <a:lnTo>
                    <a:pt x="0" y="68579"/>
                  </a:lnTo>
                  <a:lnTo>
                    <a:pt x="119379" y="184150"/>
                  </a:lnTo>
                  <a:lnTo>
                    <a:pt x="3809" y="302259"/>
                  </a:lnTo>
                  <a:lnTo>
                    <a:pt x="97789" y="394969"/>
                  </a:lnTo>
                  <a:lnTo>
                    <a:pt x="213359" y="276859"/>
                  </a:lnTo>
                  <a:lnTo>
                    <a:pt x="343788" y="276859"/>
                  </a:lnTo>
                  <a:lnTo>
                    <a:pt x="276859" y="212089"/>
                  </a:lnTo>
                  <a:lnTo>
                    <a:pt x="367597" y="119379"/>
                  </a:lnTo>
                  <a:lnTo>
                    <a:pt x="182879" y="119379"/>
                  </a:lnTo>
                  <a:lnTo>
                    <a:pt x="63500" y="3809"/>
                  </a:lnTo>
                  <a:close/>
                </a:path>
                <a:path w="394970" h="394969">
                  <a:moveTo>
                    <a:pt x="343788" y="276859"/>
                  </a:moveTo>
                  <a:lnTo>
                    <a:pt x="213359" y="276859"/>
                  </a:lnTo>
                  <a:lnTo>
                    <a:pt x="331469" y="392429"/>
                  </a:lnTo>
                  <a:lnTo>
                    <a:pt x="394969" y="326389"/>
                  </a:lnTo>
                  <a:lnTo>
                    <a:pt x="343788" y="276859"/>
                  </a:lnTo>
                  <a:close/>
                </a:path>
                <a:path w="394970" h="394969">
                  <a:moveTo>
                    <a:pt x="298450" y="0"/>
                  </a:moveTo>
                  <a:lnTo>
                    <a:pt x="182879" y="119379"/>
                  </a:lnTo>
                  <a:lnTo>
                    <a:pt x="367597" y="119379"/>
                  </a:lnTo>
                  <a:lnTo>
                    <a:pt x="393700" y="92709"/>
                  </a:lnTo>
                  <a:lnTo>
                    <a:pt x="298450" y="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" name="object 32"/>
            <p:cNvSpPr/>
            <p:nvPr/>
          </p:nvSpPr>
          <p:spPr>
            <a:xfrm>
              <a:off x="5811520" y="2571749"/>
              <a:ext cx="394970" cy="626110"/>
            </a:xfrm>
            <a:custGeom>
              <a:avLst/>
              <a:gdLst/>
              <a:ahLst/>
              <a:cxnLst/>
              <a:rect l="l" t="t" r="r" b="b"/>
              <a:pathLst>
                <a:path w="394970" h="626110">
                  <a:moveTo>
                    <a:pt x="97789" y="510539"/>
                  </a:moveTo>
                  <a:lnTo>
                    <a:pt x="3809" y="417829"/>
                  </a:lnTo>
                  <a:lnTo>
                    <a:pt x="119379" y="299720"/>
                  </a:lnTo>
                  <a:lnTo>
                    <a:pt x="0" y="184150"/>
                  </a:lnTo>
                  <a:lnTo>
                    <a:pt x="63500" y="119379"/>
                  </a:lnTo>
                  <a:lnTo>
                    <a:pt x="182879" y="234950"/>
                  </a:lnTo>
                  <a:lnTo>
                    <a:pt x="298450" y="115570"/>
                  </a:lnTo>
                  <a:lnTo>
                    <a:pt x="393700" y="208279"/>
                  </a:lnTo>
                  <a:lnTo>
                    <a:pt x="276859" y="327660"/>
                  </a:lnTo>
                  <a:lnTo>
                    <a:pt x="394969" y="441960"/>
                  </a:lnTo>
                  <a:lnTo>
                    <a:pt x="331469" y="508000"/>
                  </a:lnTo>
                  <a:lnTo>
                    <a:pt x="213359" y="392429"/>
                  </a:lnTo>
                  <a:lnTo>
                    <a:pt x="97789" y="510539"/>
                  </a:lnTo>
                  <a:close/>
                </a:path>
                <a:path w="394970" h="626110">
                  <a:moveTo>
                    <a:pt x="215900" y="626110"/>
                  </a:moveTo>
                  <a:lnTo>
                    <a:pt x="215900" y="626110"/>
                  </a:lnTo>
                </a:path>
                <a:path w="394970" h="626110">
                  <a:moveTo>
                    <a:pt x="179069" y="0"/>
                  </a:moveTo>
                  <a:lnTo>
                    <a:pt x="17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6375547" y="1391202"/>
            <a:ext cx="2683697" cy="3024292"/>
            <a:chOff x="5939472" y="2018982"/>
            <a:chExt cx="3942715" cy="4443095"/>
          </a:xfrm>
        </p:grpSpPr>
        <p:sp>
          <p:nvSpPr>
            <p:cNvPr id="34" name="object 34"/>
            <p:cNvSpPr/>
            <p:nvPr/>
          </p:nvSpPr>
          <p:spPr>
            <a:xfrm>
              <a:off x="6822439" y="4906010"/>
              <a:ext cx="0" cy="295910"/>
            </a:xfrm>
            <a:custGeom>
              <a:avLst/>
              <a:gdLst/>
              <a:ahLst/>
              <a:cxnLst/>
              <a:rect l="l" t="t" r="r" b="b"/>
              <a:pathLst>
                <a:path h="295910">
                  <a:moveTo>
                    <a:pt x="0" y="295909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" name="object 35"/>
            <p:cNvSpPr/>
            <p:nvPr/>
          </p:nvSpPr>
          <p:spPr>
            <a:xfrm>
              <a:off x="6741159" y="4674870"/>
              <a:ext cx="161290" cy="242570"/>
            </a:xfrm>
            <a:custGeom>
              <a:avLst/>
              <a:gdLst/>
              <a:ahLst/>
              <a:cxnLst/>
              <a:rect l="l" t="t" r="r" b="b"/>
              <a:pathLst>
                <a:path w="161290" h="242570">
                  <a:moveTo>
                    <a:pt x="81280" y="0"/>
                  </a:moveTo>
                  <a:lnTo>
                    <a:pt x="0" y="242569"/>
                  </a:lnTo>
                  <a:lnTo>
                    <a:pt x="161290" y="242569"/>
                  </a:lnTo>
                  <a:lnTo>
                    <a:pt x="81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" name="object 36"/>
            <p:cNvSpPr/>
            <p:nvPr/>
          </p:nvSpPr>
          <p:spPr>
            <a:xfrm>
              <a:off x="7100569" y="3270250"/>
              <a:ext cx="0" cy="295910"/>
            </a:xfrm>
            <a:custGeom>
              <a:avLst/>
              <a:gdLst/>
              <a:ahLst/>
              <a:cxnLst/>
              <a:rect l="l" t="t" r="r" b="b"/>
              <a:pathLst>
                <a:path h="295910">
                  <a:moveTo>
                    <a:pt x="0" y="295910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" name="object 37"/>
            <p:cNvSpPr/>
            <p:nvPr/>
          </p:nvSpPr>
          <p:spPr>
            <a:xfrm>
              <a:off x="7020559" y="3554730"/>
              <a:ext cx="161290" cy="243840"/>
            </a:xfrm>
            <a:custGeom>
              <a:avLst/>
              <a:gdLst/>
              <a:ahLst/>
              <a:cxnLst/>
              <a:rect l="l" t="t" r="r" b="b"/>
              <a:pathLst>
                <a:path w="161290" h="243839">
                  <a:moveTo>
                    <a:pt x="161290" y="0"/>
                  </a:moveTo>
                  <a:lnTo>
                    <a:pt x="0" y="0"/>
                  </a:lnTo>
                  <a:lnTo>
                    <a:pt x="80010" y="243840"/>
                  </a:lnTo>
                  <a:lnTo>
                    <a:pt x="161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" name="object 38"/>
            <p:cNvSpPr/>
            <p:nvPr/>
          </p:nvSpPr>
          <p:spPr>
            <a:xfrm>
              <a:off x="5957569" y="2037080"/>
              <a:ext cx="3906520" cy="4406900"/>
            </a:xfrm>
            <a:custGeom>
              <a:avLst/>
              <a:gdLst/>
              <a:ahLst/>
              <a:cxnLst/>
              <a:rect l="l" t="t" r="r" b="b"/>
              <a:pathLst>
                <a:path w="3906520" h="4406900">
                  <a:moveTo>
                    <a:pt x="0" y="4226560"/>
                  </a:moveTo>
                  <a:lnTo>
                    <a:pt x="0" y="4406900"/>
                  </a:lnTo>
                  <a:lnTo>
                    <a:pt x="864870" y="4406900"/>
                  </a:lnTo>
                  <a:lnTo>
                    <a:pt x="864870" y="3164840"/>
                  </a:lnTo>
                </a:path>
                <a:path w="3906520" h="4406900">
                  <a:moveTo>
                    <a:pt x="2539" y="180340"/>
                  </a:moveTo>
                  <a:lnTo>
                    <a:pt x="2539" y="0"/>
                  </a:lnTo>
                  <a:lnTo>
                    <a:pt x="1143000" y="0"/>
                  </a:lnTo>
                  <a:lnTo>
                    <a:pt x="1143000" y="1233170"/>
                  </a:lnTo>
                </a:path>
                <a:path w="3906520" h="4406900">
                  <a:moveTo>
                    <a:pt x="1711959" y="127000"/>
                  </a:moveTo>
                  <a:lnTo>
                    <a:pt x="1668485" y="135107"/>
                  </a:lnTo>
                  <a:lnTo>
                    <a:pt x="1628729" y="157114"/>
                  </a:lnTo>
                  <a:lnTo>
                    <a:pt x="1596105" y="189544"/>
                  </a:lnTo>
                  <a:lnTo>
                    <a:pt x="1574027" y="228925"/>
                  </a:lnTo>
                  <a:lnTo>
                    <a:pt x="1565909" y="271780"/>
                  </a:lnTo>
                  <a:lnTo>
                    <a:pt x="1565909" y="4225290"/>
                  </a:lnTo>
                  <a:lnTo>
                    <a:pt x="1574027" y="4268764"/>
                  </a:lnTo>
                  <a:lnTo>
                    <a:pt x="1596105" y="4308520"/>
                  </a:lnTo>
                  <a:lnTo>
                    <a:pt x="1628729" y="4341144"/>
                  </a:lnTo>
                  <a:lnTo>
                    <a:pt x="1668485" y="4363222"/>
                  </a:lnTo>
                  <a:lnTo>
                    <a:pt x="1711959" y="4371340"/>
                  </a:lnTo>
                  <a:lnTo>
                    <a:pt x="3761739" y="4371340"/>
                  </a:lnTo>
                  <a:lnTo>
                    <a:pt x="3804594" y="4363222"/>
                  </a:lnTo>
                  <a:lnTo>
                    <a:pt x="3843975" y="4341144"/>
                  </a:lnTo>
                  <a:lnTo>
                    <a:pt x="3876405" y="4308520"/>
                  </a:lnTo>
                  <a:lnTo>
                    <a:pt x="3898412" y="4268764"/>
                  </a:lnTo>
                  <a:lnTo>
                    <a:pt x="3906520" y="4225290"/>
                  </a:lnTo>
                  <a:lnTo>
                    <a:pt x="3906520" y="271780"/>
                  </a:lnTo>
                  <a:lnTo>
                    <a:pt x="3898412" y="228925"/>
                  </a:lnTo>
                  <a:lnTo>
                    <a:pt x="3876405" y="189544"/>
                  </a:lnTo>
                  <a:lnTo>
                    <a:pt x="3843975" y="157114"/>
                  </a:lnTo>
                  <a:lnTo>
                    <a:pt x="3804594" y="135107"/>
                  </a:lnTo>
                  <a:lnTo>
                    <a:pt x="3761739" y="127000"/>
                  </a:lnTo>
                  <a:lnTo>
                    <a:pt x="1711959" y="127000"/>
                  </a:lnTo>
                  <a:close/>
                </a:path>
                <a:path w="3906520" h="4406900">
                  <a:moveTo>
                    <a:pt x="1565909" y="127000"/>
                  </a:moveTo>
                  <a:lnTo>
                    <a:pt x="1565909" y="127000"/>
                  </a:lnTo>
                </a:path>
                <a:path w="3906520" h="4406900">
                  <a:moveTo>
                    <a:pt x="3906520" y="4371340"/>
                  </a:moveTo>
                  <a:lnTo>
                    <a:pt x="3906520" y="4371340"/>
                  </a:lnTo>
                </a:path>
              </a:pathLst>
            </a:custGeom>
            <a:ln w="35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" name="object 39"/>
            <p:cNvSpPr/>
            <p:nvPr/>
          </p:nvSpPr>
          <p:spPr>
            <a:xfrm>
              <a:off x="8105140" y="5378450"/>
              <a:ext cx="463550" cy="421640"/>
            </a:xfrm>
            <a:custGeom>
              <a:avLst/>
              <a:gdLst/>
              <a:ahLst/>
              <a:cxnLst/>
              <a:rect l="l" t="t" r="r" b="b"/>
              <a:pathLst>
                <a:path w="463550" h="421639">
                  <a:moveTo>
                    <a:pt x="463550" y="165100"/>
                  </a:moveTo>
                  <a:lnTo>
                    <a:pt x="297180" y="165100"/>
                  </a:lnTo>
                  <a:lnTo>
                    <a:pt x="297180" y="0"/>
                  </a:lnTo>
                  <a:lnTo>
                    <a:pt x="165100" y="0"/>
                  </a:lnTo>
                  <a:lnTo>
                    <a:pt x="165100" y="165100"/>
                  </a:lnTo>
                  <a:lnTo>
                    <a:pt x="0" y="165100"/>
                  </a:lnTo>
                  <a:lnTo>
                    <a:pt x="0" y="256540"/>
                  </a:lnTo>
                  <a:lnTo>
                    <a:pt x="165100" y="256540"/>
                  </a:lnTo>
                  <a:lnTo>
                    <a:pt x="165100" y="421640"/>
                  </a:lnTo>
                  <a:lnTo>
                    <a:pt x="297180" y="421640"/>
                  </a:lnTo>
                  <a:lnTo>
                    <a:pt x="297180" y="256540"/>
                  </a:lnTo>
                  <a:lnTo>
                    <a:pt x="463550" y="256540"/>
                  </a:lnTo>
                  <a:lnTo>
                    <a:pt x="463550" y="1651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" name="object 40"/>
            <p:cNvSpPr/>
            <p:nvPr/>
          </p:nvSpPr>
          <p:spPr>
            <a:xfrm>
              <a:off x="8105139" y="5378450"/>
              <a:ext cx="463550" cy="421640"/>
            </a:xfrm>
            <a:custGeom>
              <a:avLst/>
              <a:gdLst/>
              <a:ahLst/>
              <a:cxnLst/>
              <a:rect l="l" t="t" r="r" b="b"/>
              <a:pathLst>
                <a:path w="463550" h="421639">
                  <a:moveTo>
                    <a:pt x="165100" y="0"/>
                  </a:moveTo>
                  <a:lnTo>
                    <a:pt x="297179" y="0"/>
                  </a:lnTo>
                  <a:lnTo>
                    <a:pt x="297179" y="165100"/>
                  </a:lnTo>
                  <a:lnTo>
                    <a:pt x="463550" y="165100"/>
                  </a:lnTo>
                  <a:lnTo>
                    <a:pt x="463550" y="256539"/>
                  </a:lnTo>
                  <a:lnTo>
                    <a:pt x="297179" y="256539"/>
                  </a:lnTo>
                  <a:lnTo>
                    <a:pt x="297179" y="421639"/>
                  </a:lnTo>
                  <a:lnTo>
                    <a:pt x="165100" y="421639"/>
                  </a:lnTo>
                  <a:lnTo>
                    <a:pt x="165100" y="256539"/>
                  </a:lnTo>
                  <a:lnTo>
                    <a:pt x="0" y="256539"/>
                  </a:lnTo>
                  <a:lnTo>
                    <a:pt x="0" y="165100"/>
                  </a:lnTo>
                  <a:lnTo>
                    <a:pt x="165100" y="165100"/>
                  </a:lnTo>
                  <a:lnTo>
                    <a:pt x="165100" y="0"/>
                  </a:lnTo>
                  <a:close/>
                </a:path>
                <a:path w="463550" h="421639">
                  <a:moveTo>
                    <a:pt x="0" y="0"/>
                  </a:moveTo>
                  <a:lnTo>
                    <a:pt x="0" y="0"/>
                  </a:lnTo>
                </a:path>
                <a:path w="463550" h="421639">
                  <a:moveTo>
                    <a:pt x="463550" y="421639"/>
                  </a:moveTo>
                  <a:lnTo>
                    <a:pt x="463550" y="4216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1" name="object 41"/>
            <p:cNvSpPr/>
            <p:nvPr/>
          </p:nvSpPr>
          <p:spPr>
            <a:xfrm>
              <a:off x="8169909" y="2706370"/>
              <a:ext cx="394970" cy="393700"/>
            </a:xfrm>
            <a:custGeom>
              <a:avLst/>
              <a:gdLst/>
              <a:ahLst/>
              <a:cxnLst/>
              <a:rect l="l" t="t" r="r" b="b"/>
              <a:pathLst>
                <a:path w="394970" h="393700">
                  <a:moveTo>
                    <a:pt x="63500" y="2539"/>
                  </a:moveTo>
                  <a:lnTo>
                    <a:pt x="0" y="67309"/>
                  </a:lnTo>
                  <a:lnTo>
                    <a:pt x="118110" y="182879"/>
                  </a:lnTo>
                  <a:lnTo>
                    <a:pt x="2540" y="302259"/>
                  </a:lnTo>
                  <a:lnTo>
                    <a:pt x="97790" y="393700"/>
                  </a:lnTo>
                  <a:lnTo>
                    <a:pt x="213360" y="275589"/>
                  </a:lnTo>
                  <a:lnTo>
                    <a:pt x="343053" y="275589"/>
                  </a:lnTo>
                  <a:lnTo>
                    <a:pt x="276860" y="210819"/>
                  </a:lnTo>
                  <a:lnTo>
                    <a:pt x="366611" y="118109"/>
                  </a:lnTo>
                  <a:lnTo>
                    <a:pt x="181610" y="118109"/>
                  </a:lnTo>
                  <a:lnTo>
                    <a:pt x="63500" y="2539"/>
                  </a:lnTo>
                  <a:close/>
                </a:path>
                <a:path w="394970" h="393700">
                  <a:moveTo>
                    <a:pt x="343053" y="275589"/>
                  </a:moveTo>
                  <a:lnTo>
                    <a:pt x="213360" y="275589"/>
                  </a:lnTo>
                  <a:lnTo>
                    <a:pt x="331470" y="391159"/>
                  </a:lnTo>
                  <a:lnTo>
                    <a:pt x="394970" y="326389"/>
                  </a:lnTo>
                  <a:lnTo>
                    <a:pt x="343053" y="275589"/>
                  </a:lnTo>
                  <a:close/>
                </a:path>
                <a:path w="394970" h="393700">
                  <a:moveTo>
                    <a:pt x="297180" y="0"/>
                  </a:moveTo>
                  <a:lnTo>
                    <a:pt x="181610" y="118109"/>
                  </a:lnTo>
                  <a:lnTo>
                    <a:pt x="366611" y="118109"/>
                  </a:lnTo>
                  <a:lnTo>
                    <a:pt x="392430" y="91439"/>
                  </a:lnTo>
                  <a:lnTo>
                    <a:pt x="297180" y="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2" name="object 42"/>
            <p:cNvSpPr/>
            <p:nvPr/>
          </p:nvSpPr>
          <p:spPr>
            <a:xfrm>
              <a:off x="8169909" y="2590800"/>
              <a:ext cx="394970" cy="624840"/>
            </a:xfrm>
            <a:custGeom>
              <a:avLst/>
              <a:gdLst/>
              <a:ahLst/>
              <a:cxnLst/>
              <a:rect l="l" t="t" r="r" b="b"/>
              <a:pathLst>
                <a:path w="394970" h="624839">
                  <a:moveTo>
                    <a:pt x="97790" y="509270"/>
                  </a:moveTo>
                  <a:lnTo>
                    <a:pt x="2540" y="417829"/>
                  </a:lnTo>
                  <a:lnTo>
                    <a:pt x="118110" y="298450"/>
                  </a:lnTo>
                  <a:lnTo>
                    <a:pt x="0" y="182879"/>
                  </a:lnTo>
                  <a:lnTo>
                    <a:pt x="63500" y="118110"/>
                  </a:lnTo>
                  <a:lnTo>
                    <a:pt x="181610" y="233679"/>
                  </a:lnTo>
                  <a:lnTo>
                    <a:pt x="297180" y="115570"/>
                  </a:lnTo>
                  <a:lnTo>
                    <a:pt x="392430" y="207010"/>
                  </a:lnTo>
                  <a:lnTo>
                    <a:pt x="276860" y="326389"/>
                  </a:lnTo>
                  <a:lnTo>
                    <a:pt x="394970" y="441960"/>
                  </a:lnTo>
                  <a:lnTo>
                    <a:pt x="331470" y="506729"/>
                  </a:lnTo>
                  <a:lnTo>
                    <a:pt x="213360" y="391160"/>
                  </a:lnTo>
                  <a:lnTo>
                    <a:pt x="97790" y="509270"/>
                  </a:lnTo>
                  <a:close/>
                </a:path>
                <a:path w="394970" h="624839">
                  <a:moveTo>
                    <a:pt x="215900" y="624839"/>
                  </a:moveTo>
                  <a:lnTo>
                    <a:pt x="215900" y="624839"/>
                  </a:lnTo>
                </a:path>
                <a:path w="394970" h="624839">
                  <a:moveTo>
                    <a:pt x="179070" y="0"/>
                  </a:moveTo>
                  <a:lnTo>
                    <a:pt x="1790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7992940" y="1385151"/>
            <a:ext cx="784492" cy="3030343"/>
            <a:chOff x="8315642" y="2010092"/>
            <a:chExt cx="1152525" cy="4451985"/>
          </a:xfrm>
        </p:grpSpPr>
        <p:sp>
          <p:nvSpPr>
            <p:cNvPr id="44" name="object 44"/>
            <p:cNvSpPr/>
            <p:nvPr/>
          </p:nvSpPr>
          <p:spPr>
            <a:xfrm>
              <a:off x="9179560" y="4925059"/>
              <a:ext cx="0" cy="294640"/>
            </a:xfrm>
            <a:custGeom>
              <a:avLst/>
              <a:gdLst/>
              <a:ahLst/>
              <a:cxnLst/>
              <a:rect l="l" t="t" r="r" b="b"/>
              <a:pathLst>
                <a:path h="294639">
                  <a:moveTo>
                    <a:pt x="0" y="294639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5" name="object 45"/>
            <p:cNvSpPr/>
            <p:nvPr/>
          </p:nvSpPr>
          <p:spPr>
            <a:xfrm>
              <a:off x="9099550" y="4692650"/>
              <a:ext cx="161290" cy="242570"/>
            </a:xfrm>
            <a:custGeom>
              <a:avLst/>
              <a:gdLst/>
              <a:ahLst/>
              <a:cxnLst/>
              <a:rect l="l" t="t" r="r" b="b"/>
              <a:pathLst>
                <a:path w="161290" h="242570">
                  <a:moveTo>
                    <a:pt x="80009" y="0"/>
                  </a:moveTo>
                  <a:lnTo>
                    <a:pt x="0" y="242569"/>
                  </a:lnTo>
                  <a:lnTo>
                    <a:pt x="161290" y="242569"/>
                  </a:lnTo>
                  <a:lnTo>
                    <a:pt x="80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6" name="object 46"/>
            <p:cNvSpPr/>
            <p:nvPr/>
          </p:nvSpPr>
          <p:spPr>
            <a:xfrm>
              <a:off x="9386570" y="3288029"/>
              <a:ext cx="0" cy="295910"/>
            </a:xfrm>
            <a:custGeom>
              <a:avLst/>
              <a:gdLst/>
              <a:ahLst/>
              <a:cxnLst/>
              <a:rect l="l" t="t" r="r" b="b"/>
              <a:pathLst>
                <a:path h="295910">
                  <a:moveTo>
                    <a:pt x="0" y="295910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7" name="object 47"/>
            <p:cNvSpPr/>
            <p:nvPr/>
          </p:nvSpPr>
          <p:spPr>
            <a:xfrm>
              <a:off x="9306560" y="3572509"/>
              <a:ext cx="161290" cy="243840"/>
            </a:xfrm>
            <a:custGeom>
              <a:avLst/>
              <a:gdLst/>
              <a:ahLst/>
              <a:cxnLst/>
              <a:rect l="l" t="t" r="r" b="b"/>
              <a:pathLst>
                <a:path w="161290" h="243839">
                  <a:moveTo>
                    <a:pt x="161290" y="0"/>
                  </a:moveTo>
                  <a:lnTo>
                    <a:pt x="0" y="0"/>
                  </a:lnTo>
                  <a:lnTo>
                    <a:pt x="80010" y="243839"/>
                  </a:lnTo>
                  <a:lnTo>
                    <a:pt x="161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8" name="object 48"/>
            <p:cNvSpPr/>
            <p:nvPr/>
          </p:nvSpPr>
          <p:spPr>
            <a:xfrm>
              <a:off x="8333740" y="2028189"/>
              <a:ext cx="1052830" cy="4415790"/>
            </a:xfrm>
            <a:custGeom>
              <a:avLst/>
              <a:gdLst/>
              <a:ahLst/>
              <a:cxnLst/>
              <a:rect l="l" t="t" r="r" b="b"/>
              <a:pathLst>
                <a:path w="1052829" h="4415790">
                  <a:moveTo>
                    <a:pt x="0" y="4236720"/>
                  </a:moveTo>
                  <a:lnTo>
                    <a:pt x="0" y="4415790"/>
                  </a:lnTo>
                  <a:lnTo>
                    <a:pt x="845819" y="4415790"/>
                  </a:lnTo>
                  <a:lnTo>
                    <a:pt x="845819" y="3191510"/>
                  </a:lnTo>
                </a:path>
                <a:path w="1052829" h="4415790">
                  <a:moveTo>
                    <a:pt x="2539" y="180339"/>
                  </a:moveTo>
                  <a:lnTo>
                    <a:pt x="2539" y="0"/>
                  </a:lnTo>
                  <a:lnTo>
                    <a:pt x="1052829" y="0"/>
                  </a:lnTo>
                  <a:lnTo>
                    <a:pt x="1052829" y="1259839"/>
                  </a:lnTo>
                </a:path>
              </a:pathLst>
            </a:custGeom>
            <a:ln w="35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473402" y="4519661"/>
            <a:ext cx="6579790" cy="453406"/>
            <a:chOff x="206692" y="6615112"/>
            <a:chExt cx="9666605" cy="666115"/>
          </a:xfrm>
        </p:grpSpPr>
        <p:sp>
          <p:nvSpPr>
            <p:cNvPr id="50" name="object 50"/>
            <p:cNvSpPr/>
            <p:nvPr/>
          </p:nvSpPr>
          <p:spPr>
            <a:xfrm>
              <a:off x="215899" y="6624320"/>
              <a:ext cx="9648190" cy="647700"/>
            </a:xfrm>
            <a:custGeom>
              <a:avLst/>
              <a:gdLst/>
              <a:ahLst/>
              <a:cxnLst/>
              <a:rect l="l" t="t" r="r" b="b"/>
              <a:pathLst>
                <a:path w="9648190" h="647700">
                  <a:moveTo>
                    <a:pt x="9540240" y="0"/>
                  </a:moveTo>
                  <a:lnTo>
                    <a:pt x="107950" y="0"/>
                  </a:lnTo>
                  <a:lnTo>
                    <a:pt x="68579" y="9187"/>
                  </a:lnTo>
                  <a:lnTo>
                    <a:pt x="33972" y="33496"/>
                  </a:lnTo>
                  <a:lnTo>
                    <a:pt x="9366" y="68044"/>
                  </a:lnTo>
                  <a:lnTo>
                    <a:pt x="0" y="107949"/>
                  </a:lnTo>
                  <a:lnTo>
                    <a:pt x="0" y="539749"/>
                  </a:lnTo>
                  <a:lnTo>
                    <a:pt x="9366" y="579119"/>
                  </a:lnTo>
                  <a:lnTo>
                    <a:pt x="33972" y="613727"/>
                  </a:lnTo>
                  <a:lnTo>
                    <a:pt x="68580" y="638333"/>
                  </a:lnTo>
                  <a:lnTo>
                    <a:pt x="107950" y="647699"/>
                  </a:lnTo>
                  <a:lnTo>
                    <a:pt x="9540240" y="647699"/>
                  </a:lnTo>
                  <a:lnTo>
                    <a:pt x="9579610" y="638333"/>
                  </a:lnTo>
                  <a:lnTo>
                    <a:pt x="9614217" y="613727"/>
                  </a:lnTo>
                  <a:lnTo>
                    <a:pt x="9638823" y="579119"/>
                  </a:lnTo>
                  <a:lnTo>
                    <a:pt x="9648190" y="539749"/>
                  </a:lnTo>
                  <a:lnTo>
                    <a:pt x="9648190" y="107949"/>
                  </a:lnTo>
                  <a:lnTo>
                    <a:pt x="9638823" y="68044"/>
                  </a:lnTo>
                  <a:lnTo>
                    <a:pt x="9614217" y="33496"/>
                  </a:lnTo>
                  <a:lnTo>
                    <a:pt x="9579610" y="9187"/>
                  </a:lnTo>
                  <a:lnTo>
                    <a:pt x="9540240" y="0"/>
                  </a:lnTo>
                  <a:close/>
                </a:path>
              </a:pathLst>
            </a:custGeom>
            <a:solidFill>
              <a:srgbClr val="82C9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1" name="object 51"/>
            <p:cNvSpPr/>
            <p:nvPr/>
          </p:nvSpPr>
          <p:spPr>
            <a:xfrm>
              <a:off x="215899" y="6624320"/>
              <a:ext cx="9648190" cy="647700"/>
            </a:xfrm>
            <a:custGeom>
              <a:avLst/>
              <a:gdLst/>
              <a:ahLst/>
              <a:cxnLst/>
              <a:rect l="l" t="t" r="r" b="b"/>
              <a:pathLst>
                <a:path w="9648190" h="647700">
                  <a:moveTo>
                    <a:pt x="107950" y="0"/>
                  </a:moveTo>
                  <a:lnTo>
                    <a:pt x="68579" y="9187"/>
                  </a:lnTo>
                  <a:lnTo>
                    <a:pt x="33972" y="33496"/>
                  </a:lnTo>
                  <a:lnTo>
                    <a:pt x="9366" y="68044"/>
                  </a:lnTo>
                  <a:lnTo>
                    <a:pt x="0" y="107949"/>
                  </a:lnTo>
                  <a:lnTo>
                    <a:pt x="0" y="539749"/>
                  </a:lnTo>
                  <a:lnTo>
                    <a:pt x="9366" y="579119"/>
                  </a:lnTo>
                  <a:lnTo>
                    <a:pt x="33972" y="613727"/>
                  </a:lnTo>
                  <a:lnTo>
                    <a:pt x="68580" y="638333"/>
                  </a:lnTo>
                  <a:lnTo>
                    <a:pt x="107950" y="647699"/>
                  </a:lnTo>
                  <a:lnTo>
                    <a:pt x="9540240" y="647699"/>
                  </a:lnTo>
                  <a:lnTo>
                    <a:pt x="9579610" y="638333"/>
                  </a:lnTo>
                  <a:lnTo>
                    <a:pt x="9614217" y="613727"/>
                  </a:lnTo>
                  <a:lnTo>
                    <a:pt x="9638823" y="579119"/>
                  </a:lnTo>
                  <a:lnTo>
                    <a:pt x="9648190" y="539749"/>
                  </a:lnTo>
                  <a:lnTo>
                    <a:pt x="9648190" y="107949"/>
                  </a:lnTo>
                  <a:lnTo>
                    <a:pt x="9638823" y="68044"/>
                  </a:lnTo>
                  <a:lnTo>
                    <a:pt x="9614217" y="33496"/>
                  </a:lnTo>
                  <a:lnTo>
                    <a:pt x="9579610" y="9187"/>
                  </a:lnTo>
                  <a:lnTo>
                    <a:pt x="9540240" y="0"/>
                  </a:lnTo>
                  <a:lnTo>
                    <a:pt x="107950" y="0"/>
                  </a:lnTo>
                  <a:close/>
                </a:path>
                <a:path w="9648190" h="647700">
                  <a:moveTo>
                    <a:pt x="0" y="0"/>
                  </a:moveTo>
                  <a:lnTo>
                    <a:pt x="0" y="0"/>
                  </a:lnTo>
                </a:path>
                <a:path w="9648190" h="647700">
                  <a:moveTo>
                    <a:pt x="9648190" y="647699"/>
                  </a:moveTo>
                  <a:lnTo>
                    <a:pt x="9648190" y="647699"/>
                  </a:lnTo>
                </a:path>
              </a:pathLst>
            </a:custGeom>
            <a:ln w="17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2712698" y="1520221"/>
            <a:ext cx="6144105" cy="3005706"/>
            <a:chOff x="558250" y="2208529"/>
            <a:chExt cx="9026525" cy="4415790"/>
          </a:xfrm>
        </p:grpSpPr>
        <p:sp>
          <p:nvSpPr>
            <p:cNvPr id="53" name="object 53"/>
            <p:cNvSpPr/>
            <p:nvPr/>
          </p:nvSpPr>
          <p:spPr>
            <a:xfrm>
              <a:off x="9503410" y="4925059"/>
              <a:ext cx="0" cy="1699260"/>
            </a:xfrm>
            <a:custGeom>
              <a:avLst/>
              <a:gdLst/>
              <a:ahLst/>
              <a:cxnLst/>
              <a:rect l="l" t="t" r="r" b="b"/>
              <a:pathLst>
                <a:path h="1699259">
                  <a:moveTo>
                    <a:pt x="0" y="1699259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4" name="object 54"/>
            <p:cNvSpPr/>
            <p:nvPr/>
          </p:nvSpPr>
          <p:spPr>
            <a:xfrm>
              <a:off x="9423399" y="4692650"/>
              <a:ext cx="161290" cy="242570"/>
            </a:xfrm>
            <a:custGeom>
              <a:avLst/>
              <a:gdLst/>
              <a:ahLst/>
              <a:cxnLst/>
              <a:rect l="l" t="t" r="r" b="b"/>
              <a:pathLst>
                <a:path w="161290" h="242570">
                  <a:moveTo>
                    <a:pt x="80009" y="0"/>
                  </a:moveTo>
                  <a:lnTo>
                    <a:pt x="0" y="242569"/>
                  </a:lnTo>
                  <a:lnTo>
                    <a:pt x="161290" y="242569"/>
                  </a:lnTo>
                  <a:lnTo>
                    <a:pt x="80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5" name="object 55"/>
            <p:cNvSpPr/>
            <p:nvPr/>
          </p:nvSpPr>
          <p:spPr>
            <a:xfrm>
              <a:off x="7155179" y="4925059"/>
              <a:ext cx="0" cy="1699260"/>
            </a:xfrm>
            <a:custGeom>
              <a:avLst/>
              <a:gdLst/>
              <a:ahLst/>
              <a:cxnLst/>
              <a:rect l="l" t="t" r="r" b="b"/>
              <a:pathLst>
                <a:path h="1699259">
                  <a:moveTo>
                    <a:pt x="0" y="1699259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6" name="object 56"/>
            <p:cNvSpPr/>
            <p:nvPr/>
          </p:nvSpPr>
          <p:spPr>
            <a:xfrm>
              <a:off x="7073899" y="4692650"/>
              <a:ext cx="162560" cy="242570"/>
            </a:xfrm>
            <a:custGeom>
              <a:avLst/>
              <a:gdLst/>
              <a:ahLst/>
              <a:cxnLst/>
              <a:rect l="l" t="t" r="r" b="b"/>
              <a:pathLst>
                <a:path w="162559" h="242570">
                  <a:moveTo>
                    <a:pt x="81279" y="0"/>
                  </a:moveTo>
                  <a:lnTo>
                    <a:pt x="0" y="242569"/>
                  </a:lnTo>
                  <a:lnTo>
                    <a:pt x="162559" y="242569"/>
                  </a:lnTo>
                  <a:lnTo>
                    <a:pt x="81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7" name="object 57"/>
            <p:cNvSpPr/>
            <p:nvPr/>
          </p:nvSpPr>
          <p:spPr>
            <a:xfrm>
              <a:off x="4707889" y="4925059"/>
              <a:ext cx="0" cy="1699260"/>
            </a:xfrm>
            <a:custGeom>
              <a:avLst/>
              <a:gdLst/>
              <a:ahLst/>
              <a:cxnLst/>
              <a:rect l="l" t="t" r="r" b="b"/>
              <a:pathLst>
                <a:path h="1699259">
                  <a:moveTo>
                    <a:pt x="0" y="1699259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8" name="object 58"/>
            <p:cNvSpPr/>
            <p:nvPr/>
          </p:nvSpPr>
          <p:spPr>
            <a:xfrm>
              <a:off x="4626609" y="4692650"/>
              <a:ext cx="161290" cy="242570"/>
            </a:xfrm>
            <a:custGeom>
              <a:avLst/>
              <a:gdLst/>
              <a:ahLst/>
              <a:cxnLst/>
              <a:rect l="l" t="t" r="r" b="b"/>
              <a:pathLst>
                <a:path w="161289" h="242570">
                  <a:moveTo>
                    <a:pt x="81279" y="0"/>
                  </a:moveTo>
                  <a:lnTo>
                    <a:pt x="0" y="242569"/>
                  </a:lnTo>
                  <a:lnTo>
                    <a:pt x="161289" y="242569"/>
                  </a:lnTo>
                  <a:lnTo>
                    <a:pt x="81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9" name="object 59"/>
            <p:cNvSpPr/>
            <p:nvPr/>
          </p:nvSpPr>
          <p:spPr>
            <a:xfrm>
              <a:off x="2358390" y="4925059"/>
              <a:ext cx="0" cy="1699260"/>
            </a:xfrm>
            <a:custGeom>
              <a:avLst/>
              <a:gdLst/>
              <a:ahLst/>
              <a:cxnLst/>
              <a:rect l="l" t="t" r="r" b="b"/>
              <a:pathLst>
                <a:path h="1699259">
                  <a:moveTo>
                    <a:pt x="0" y="1699259"/>
                  </a:moveTo>
                  <a:lnTo>
                    <a:pt x="0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0" name="object 60"/>
            <p:cNvSpPr/>
            <p:nvPr/>
          </p:nvSpPr>
          <p:spPr>
            <a:xfrm>
              <a:off x="576579" y="5017769"/>
              <a:ext cx="1475740" cy="890269"/>
            </a:xfrm>
            <a:custGeom>
              <a:avLst/>
              <a:gdLst/>
              <a:ahLst/>
              <a:cxnLst/>
              <a:rect l="l" t="t" r="r" b="b"/>
              <a:pathLst>
                <a:path w="1475739" h="890270">
                  <a:moveTo>
                    <a:pt x="1106170" y="890269"/>
                  </a:moveTo>
                  <a:lnTo>
                    <a:pt x="1475739" y="0"/>
                  </a:lnTo>
                </a:path>
                <a:path w="1475739" h="890270">
                  <a:moveTo>
                    <a:pt x="0" y="0"/>
                  </a:moveTo>
                  <a:lnTo>
                    <a:pt x="245110" y="890269"/>
                  </a:lnTo>
                </a:path>
                <a:path w="1475739" h="890270">
                  <a:moveTo>
                    <a:pt x="1106170" y="890269"/>
                  </a:moveTo>
                  <a:lnTo>
                    <a:pt x="245110" y="890269"/>
                  </a:lnTo>
                </a:path>
                <a:path w="1475739" h="890270">
                  <a:moveTo>
                    <a:pt x="491489" y="0"/>
                  </a:moveTo>
                  <a:lnTo>
                    <a:pt x="0" y="0"/>
                  </a:lnTo>
                </a:path>
                <a:path w="1475739" h="890270">
                  <a:moveTo>
                    <a:pt x="1475739" y="0"/>
                  </a:moveTo>
                  <a:lnTo>
                    <a:pt x="982980" y="0"/>
                  </a:lnTo>
                </a:path>
                <a:path w="1475739" h="890270">
                  <a:moveTo>
                    <a:pt x="491489" y="0"/>
                  </a:moveTo>
                  <a:lnTo>
                    <a:pt x="737870" y="266699"/>
                  </a:lnTo>
                </a:path>
                <a:path w="1475739" h="890270">
                  <a:moveTo>
                    <a:pt x="982980" y="0"/>
                  </a:moveTo>
                  <a:lnTo>
                    <a:pt x="737870" y="266699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1" name="object 61"/>
            <p:cNvSpPr/>
            <p:nvPr/>
          </p:nvSpPr>
          <p:spPr>
            <a:xfrm>
              <a:off x="1314450" y="5908039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0"/>
                  </a:moveTo>
                  <a:lnTo>
                    <a:pt x="0" y="20066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2" name="object 62"/>
            <p:cNvSpPr/>
            <p:nvPr/>
          </p:nvSpPr>
          <p:spPr>
            <a:xfrm>
              <a:off x="829310" y="4899659"/>
              <a:ext cx="1031240" cy="1363980"/>
            </a:xfrm>
            <a:custGeom>
              <a:avLst/>
              <a:gdLst/>
              <a:ahLst/>
              <a:cxnLst/>
              <a:rect l="l" t="t" r="r" b="b"/>
              <a:pathLst>
                <a:path w="1031239" h="1363979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  <a:path w="1031239" h="1363979">
                  <a:moveTo>
                    <a:pt x="538480" y="1202690"/>
                  </a:moveTo>
                  <a:lnTo>
                    <a:pt x="430530" y="1202690"/>
                  </a:lnTo>
                  <a:lnTo>
                    <a:pt x="485140" y="1363980"/>
                  </a:lnTo>
                  <a:lnTo>
                    <a:pt x="538480" y="1202690"/>
                  </a:lnTo>
                  <a:close/>
                </a:path>
                <a:path w="1031239" h="1363979">
                  <a:moveTo>
                    <a:pt x="1031240" y="0"/>
                  </a:moveTo>
                  <a:lnTo>
                    <a:pt x="923290" y="0"/>
                  </a:lnTo>
                  <a:lnTo>
                    <a:pt x="976630" y="162560"/>
                  </a:lnTo>
                  <a:lnTo>
                    <a:pt x="1031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3" name="object 63"/>
            <p:cNvSpPr/>
            <p:nvPr/>
          </p:nvSpPr>
          <p:spPr>
            <a:xfrm>
              <a:off x="2843529" y="5017769"/>
              <a:ext cx="1477010" cy="890269"/>
            </a:xfrm>
            <a:custGeom>
              <a:avLst/>
              <a:gdLst/>
              <a:ahLst/>
              <a:cxnLst/>
              <a:rect l="l" t="t" r="r" b="b"/>
              <a:pathLst>
                <a:path w="1477010" h="890270">
                  <a:moveTo>
                    <a:pt x="1107440" y="890269"/>
                  </a:moveTo>
                  <a:lnTo>
                    <a:pt x="1477009" y="0"/>
                  </a:lnTo>
                </a:path>
                <a:path w="1477010" h="890270">
                  <a:moveTo>
                    <a:pt x="0" y="0"/>
                  </a:moveTo>
                  <a:lnTo>
                    <a:pt x="246380" y="890269"/>
                  </a:lnTo>
                </a:path>
                <a:path w="1477010" h="890270">
                  <a:moveTo>
                    <a:pt x="1107440" y="890269"/>
                  </a:moveTo>
                  <a:lnTo>
                    <a:pt x="246380" y="890269"/>
                  </a:lnTo>
                </a:path>
                <a:path w="1477010" h="890270">
                  <a:moveTo>
                    <a:pt x="492759" y="0"/>
                  </a:moveTo>
                  <a:lnTo>
                    <a:pt x="0" y="0"/>
                  </a:lnTo>
                </a:path>
                <a:path w="1477010" h="890270">
                  <a:moveTo>
                    <a:pt x="1477009" y="0"/>
                  </a:moveTo>
                  <a:lnTo>
                    <a:pt x="984249" y="0"/>
                  </a:lnTo>
                </a:path>
                <a:path w="1477010" h="890270">
                  <a:moveTo>
                    <a:pt x="492759" y="0"/>
                  </a:moveTo>
                  <a:lnTo>
                    <a:pt x="737869" y="266699"/>
                  </a:lnTo>
                </a:path>
                <a:path w="1477010" h="890270">
                  <a:moveTo>
                    <a:pt x="984249" y="0"/>
                  </a:moveTo>
                  <a:lnTo>
                    <a:pt x="737869" y="266699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4" name="object 64"/>
            <p:cNvSpPr/>
            <p:nvPr/>
          </p:nvSpPr>
          <p:spPr>
            <a:xfrm>
              <a:off x="3581400" y="5908039"/>
              <a:ext cx="0" cy="201930"/>
            </a:xfrm>
            <a:custGeom>
              <a:avLst/>
              <a:gdLst/>
              <a:ahLst/>
              <a:cxnLst/>
              <a:rect l="l" t="t" r="r" b="b"/>
              <a:pathLst>
                <a:path h="201929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5" name="object 65"/>
            <p:cNvSpPr/>
            <p:nvPr/>
          </p:nvSpPr>
          <p:spPr>
            <a:xfrm>
              <a:off x="3528060" y="610235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3339" y="16255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6" name="object 66"/>
            <p:cNvSpPr/>
            <p:nvPr/>
          </p:nvSpPr>
          <p:spPr>
            <a:xfrm>
              <a:off x="3150869" y="4705350"/>
              <a:ext cx="0" cy="201930"/>
            </a:xfrm>
            <a:custGeom>
              <a:avLst/>
              <a:gdLst/>
              <a:ahLst/>
              <a:cxnLst/>
              <a:rect l="l" t="t" r="r" b="b"/>
              <a:pathLst>
                <a:path h="201929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7" name="object 67"/>
            <p:cNvSpPr/>
            <p:nvPr/>
          </p:nvSpPr>
          <p:spPr>
            <a:xfrm>
              <a:off x="3097529" y="489965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3339" y="16255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8" name="object 68"/>
            <p:cNvSpPr/>
            <p:nvPr/>
          </p:nvSpPr>
          <p:spPr>
            <a:xfrm>
              <a:off x="4074159" y="4705350"/>
              <a:ext cx="0" cy="201930"/>
            </a:xfrm>
            <a:custGeom>
              <a:avLst/>
              <a:gdLst/>
              <a:ahLst/>
              <a:cxnLst/>
              <a:rect l="l" t="t" r="r" b="b"/>
              <a:pathLst>
                <a:path h="201929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9" name="object 69"/>
            <p:cNvSpPr/>
            <p:nvPr/>
          </p:nvSpPr>
          <p:spPr>
            <a:xfrm>
              <a:off x="4019550" y="489965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5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0" name="object 70"/>
            <p:cNvSpPr/>
            <p:nvPr/>
          </p:nvSpPr>
          <p:spPr>
            <a:xfrm>
              <a:off x="5219700" y="5017769"/>
              <a:ext cx="1475740" cy="890269"/>
            </a:xfrm>
            <a:custGeom>
              <a:avLst/>
              <a:gdLst/>
              <a:ahLst/>
              <a:cxnLst/>
              <a:rect l="l" t="t" r="r" b="b"/>
              <a:pathLst>
                <a:path w="1475740" h="890270">
                  <a:moveTo>
                    <a:pt x="1107439" y="890269"/>
                  </a:moveTo>
                  <a:lnTo>
                    <a:pt x="1475740" y="0"/>
                  </a:lnTo>
                </a:path>
                <a:path w="1475740" h="890270">
                  <a:moveTo>
                    <a:pt x="0" y="0"/>
                  </a:moveTo>
                  <a:lnTo>
                    <a:pt x="246379" y="890269"/>
                  </a:lnTo>
                </a:path>
                <a:path w="1475740" h="890270">
                  <a:moveTo>
                    <a:pt x="1107439" y="890269"/>
                  </a:moveTo>
                  <a:lnTo>
                    <a:pt x="246379" y="890269"/>
                  </a:lnTo>
                </a:path>
                <a:path w="1475740" h="890270">
                  <a:moveTo>
                    <a:pt x="492760" y="0"/>
                  </a:moveTo>
                  <a:lnTo>
                    <a:pt x="0" y="0"/>
                  </a:lnTo>
                </a:path>
                <a:path w="1475740" h="890270">
                  <a:moveTo>
                    <a:pt x="1475740" y="0"/>
                  </a:moveTo>
                  <a:lnTo>
                    <a:pt x="984250" y="0"/>
                  </a:lnTo>
                </a:path>
                <a:path w="1475740" h="890270">
                  <a:moveTo>
                    <a:pt x="492760" y="0"/>
                  </a:moveTo>
                  <a:lnTo>
                    <a:pt x="737870" y="266699"/>
                  </a:lnTo>
                </a:path>
                <a:path w="1475740" h="890270">
                  <a:moveTo>
                    <a:pt x="984250" y="0"/>
                  </a:moveTo>
                  <a:lnTo>
                    <a:pt x="737870" y="266699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1" name="object 71"/>
            <p:cNvSpPr/>
            <p:nvPr/>
          </p:nvSpPr>
          <p:spPr>
            <a:xfrm>
              <a:off x="5957570" y="5908039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0"/>
                  </a:moveTo>
                  <a:lnTo>
                    <a:pt x="0" y="20066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2" name="object 72"/>
            <p:cNvSpPr/>
            <p:nvPr/>
          </p:nvSpPr>
          <p:spPr>
            <a:xfrm>
              <a:off x="5904229" y="6102350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107950" y="0"/>
                  </a:moveTo>
                  <a:lnTo>
                    <a:pt x="0" y="0"/>
                  </a:lnTo>
                  <a:lnTo>
                    <a:pt x="53340" y="16129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3" name="object 73"/>
            <p:cNvSpPr/>
            <p:nvPr/>
          </p:nvSpPr>
          <p:spPr>
            <a:xfrm>
              <a:off x="5527039" y="4705350"/>
              <a:ext cx="0" cy="201930"/>
            </a:xfrm>
            <a:custGeom>
              <a:avLst/>
              <a:gdLst/>
              <a:ahLst/>
              <a:cxnLst/>
              <a:rect l="l" t="t" r="r" b="b"/>
              <a:pathLst>
                <a:path h="201929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4" name="object 74"/>
            <p:cNvSpPr/>
            <p:nvPr/>
          </p:nvSpPr>
          <p:spPr>
            <a:xfrm>
              <a:off x="5473700" y="489965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3339" y="16255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5" name="object 75"/>
            <p:cNvSpPr/>
            <p:nvPr/>
          </p:nvSpPr>
          <p:spPr>
            <a:xfrm>
              <a:off x="6450329" y="4705350"/>
              <a:ext cx="0" cy="201930"/>
            </a:xfrm>
            <a:custGeom>
              <a:avLst/>
              <a:gdLst/>
              <a:ahLst/>
              <a:cxnLst/>
              <a:rect l="l" t="t" r="r" b="b"/>
              <a:pathLst>
                <a:path h="201929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6" name="object 76"/>
            <p:cNvSpPr/>
            <p:nvPr/>
          </p:nvSpPr>
          <p:spPr>
            <a:xfrm>
              <a:off x="6395720" y="489965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5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7" name="object 77"/>
            <p:cNvSpPr/>
            <p:nvPr/>
          </p:nvSpPr>
          <p:spPr>
            <a:xfrm>
              <a:off x="7595870" y="5017769"/>
              <a:ext cx="1475740" cy="890269"/>
            </a:xfrm>
            <a:custGeom>
              <a:avLst/>
              <a:gdLst/>
              <a:ahLst/>
              <a:cxnLst/>
              <a:rect l="l" t="t" r="r" b="b"/>
              <a:pathLst>
                <a:path w="1475740" h="890270">
                  <a:moveTo>
                    <a:pt x="1107439" y="890269"/>
                  </a:moveTo>
                  <a:lnTo>
                    <a:pt x="1475739" y="0"/>
                  </a:lnTo>
                </a:path>
                <a:path w="1475740" h="890270">
                  <a:moveTo>
                    <a:pt x="0" y="0"/>
                  </a:moveTo>
                  <a:lnTo>
                    <a:pt x="246379" y="890269"/>
                  </a:lnTo>
                </a:path>
                <a:path w="1475740" h="890270">
                  <a:moveTo>
                    <a:pt x="1107439" y="890269"/>
                  </a:moveTo>
                  <a:lnTo>
                    <a:pt x="246379" y="890269"/>
                  </a:lnTo>
                </a:path>
                <a:path w="1475740" h="890270">
                  <a:moveTo>
                    <a:pt x="492759" y="0"/>
                  </a:moveTo>
                  <a:lnTo>
                    <a:pt x="0" y="0"/>
                  </a:lnTo>
                </a:path>
                <a:path w="1475740" h="890270">
                  <a:moveTo>
                    <a:pt x="1475739" y="0"/>
                  </a:moveTo>
                  <a:lnTo>
                    <a:pt x="984250" y="0"/>
                  </a:lnTo>
                </a:path>
                <a:path w="1475740" h="890270">
                  <a:moveTo>
                    <a:pt x="492759" y="0"/>
                  </a:moveTo>
                  <a:lnTo>
                    <a:pt x="737870" y="266699"/>
                  </a:lnTo>
                </a:path>
                <a:path w="1475740" h="890270">
                  <a:moveTo>
                    <a:pt x="984250" y="0"/>
                  </a:moveTo>
                  <a:lnTo>
                    <a:pt x="737870" y="266699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8" name="object 78"/>
            <p:cNvSpPr/>
            <p:nvPr/>
          </p:nvSpPr>
          <p:spPr>
            <a:xfrm>
              <a:off x="8333739" y="5908039"/>
              <a:ext cx="0" cy="201930"/>
            </a:xfrm>
            <a:custGeom>
              <a:avLst/>
              <a:gdLst/>
              <a:ahLst/>
              <a:cxnLst/>
              <a:rect l="l" t="t" r="r" b="b"/>
              <a:pathLst>
                <a:path h="201929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9" name="object 79"/>
            <p:cNvSpPr/>
            <p:nvPr/>
          </p:nvSpPr>
          <p:spPr>
            <a:xfrm>
              <a:off x="8280399" y="610235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3340" y="16255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0" name="object 80"/>
            <p:cNvSpPr/>
            <p:nvPr/>
          </p:nvSpPr>
          <p:spPr>
            <a:xfrm>
              <a:off x="7903210" y="4705350"/>
              <a:ext cx="0" cy="201930"/>
            </a:xfrm>
            <a:custGeom>
              <a:avLst/>
              <a:gdLst/>
              <a:ahLst/>
              <a:cxnLst/>
              <a:rect l="l" t="t" r="r" b="b"/>
              <a:pathLst>
                <a:path h="201929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1" name="object 81"/>
            <p:cNvSpPr/>
            <p:nvPr/>
          </p:nvSpPr>
          <p:spPr>
            <a:xfrm>
              <a:off x="7849870" y="489965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3339" y="16255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2" name="object 82"/>
            <p:cNvSpPr/>
            <p:nvPr/>
          </p:nvSpPr>
          <p:spPr>
            <a:xfrm>
              <a:off x="8826499" y="4705350"/>
              <a:ext cx="0" cy="201930"/>
            </a:xfrm>
            <a:custGeom>
              <a:avLst/>
              <a:gdLst/>
              <a:ahLst/>
              <a:cxnLst/>
              <a:rect l="l" t="t" r="r" b="b"/>
              <a:pathLst>
                <a:path h="201929">
                  <a:moveTo>
                    <a:pt x="0" y="0"/>
                  </a:moveTo>
                  <a:lnTo>
                    <a:pt x="0" y="20193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3" name="object 83"/>
            <p:cNvSpPr/>
            <p:nvPr/>
          </p:nvSpPr>
          <p:spPr>
            <a:xfrm>
              <a:off x="8771889" y="489965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5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4" name="object 84"/>
            <p:cNvSpPr/>
            <p:nvPr/>
          </p:nvSpPr>
          <p:spPr>
            <a:xfrm>
              <a:off x="577849" y="2589529"/>
              <a:ext cx="1475740" cy="894080"/>
            </a:xfrm>
            <a:custGeom>
              <a:avLst/>
              <a:gdLst/>
              <a:ahLst/>
              <a:cxnLst/>
              <a:rect l="l" t="t" r="r" b="b"/>
              <a:pathLst>
                <a:path w="1475739" h="894079">
                  <a:moveTo>
                    <a:pt x="1103630" y="0"/>
                  </a:moveTo>
                  <a:lnTo>
                    <a:pt x="1475739" y="889000"/>
                  </a:lnTo>
                </a:path>
                <a:path w="1475739" h="894079">
                  <a:moveTo>
                    <a:pt x="0" y="894080"/>
                  </a:moveTo>
                  <a:lnTo>
                    <a:pt x="242569" y="3810"/>
                  </a:lnTo>
                </a:path>
                <a:path w="1475739" h="894079">
                  <a:moveTo>
                    <a:pt x="1103630" y="0"/>
                  </a:moveTo>
                  <a:lnTo>
                    <a:pt x="242569" y="3810"/>
                  </a:lnTo>
                </a:path>
                <a:path w="1475739" h="894079">
                  <a:moveTo>
                    <a:pt x="491490" y="892810"/>
                  </a:moveTo>
                  <a:lnTo>
                    <a:pt x="0" y="894080"/>
                  </a:lnTo>
                </a:path>
                <a:path w="1475739" h="894079">
                  <a:moveTo>
                    <a:pt x="1475739" y="889000"/>
                  </a:moveTo>
                  <a:lnTo>
                    <a:pt x="984250" y="891540"/>
                  </a:lnTo>
                </a:path>
                <a:path w="1475739" h="894079">
                  <a:moveTo>
                    <a:pt x="491490" y="892810"/>
                  </a:moveTo>
                  <a:lnTo>
                    <a:pt x="736600" y="624840"/>
                  </a:lnTo>
                </a:path>
                <a:path w="1475739" h="894079">
                  <a:moveTo>
                    <a:pt x="984250" y="891540"/>
                  </a:moveTo>
                  <a:lnTo>
                    <a:pt x="736600" y="624840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5" name="object 85"/>
            <p:cNvSpPr/>
            <p:nvPr/>
          </p:nvSpPr>
          <p:spPr>
            <a:xfrm>
              <a:off x="1311909" y="2390139"/>
              <a:ext cx="1270" cy="200660"/>
            </a:xfrm>
            <a:custGeom>
              <a:avLst/>
              <a:gdLst/>
              <a:ahLst/>
              <a:cxnLst/>
              <a:rect l="l" t="t" r="r" b="b"/>
              <a:pathLst>
                <a:path w="1269" h="200660">
                  <a:moveTo>
                    <a:pt x="634" y="-18414"/>
                  </a:moveTo>
                  <a:lnTo>
                    <a:pt x="634" y="2190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6" name="object 86"/>
            <p:cNvSpPr/>
            <p:nvPr/>
          </p:nvSpPr>
          <p:spPr>
            <a:xfrm>
              <a:off x="831850" y="2235199"/>
              <a:ext cx="1029969" cy="1365250"/>
            </a:xfrm>
            <a:custGeom>
              <a:avLst/>
              <a:gdLst/>
              <a:ahLst/>
              <a:cxnLst/>
              <a:rect l="l" t="t" r="r" b="b"/>
              <a:pathLst>
                <a:path w="1029969" h="1365250">
                  <a:moveTo>
                    <a:pt x="107950" y="1365250"/>
                  </a:moveTo>
                  <a:lnTo>
                    <a:pt x="53340" y="1203960"/>
                  </a:lnTo>
                  <a:lnTo>
                    <a:pt x="0" y="1365250"/>
                  </a:lnTo>
                  <a:lnTo>
                    <a:pt x="107950" y="1365250"/>
                  </a:lnTo>
                  <a:close/>
                </a:path>
                <a:path w="1029969" h="1365250">
                  <a:moveTo>
                    <a:pt x="533400" y="161290"/>
                  </a:moveTo>
                  <a:lnTo>
                    <a:pt x="478790" y="0"/>
                  </a:lnTo>
                  <a:lnTo>
                    <a:pt x="425450" y="162560"/>
                  </a:lnTo>
                  <a:lnTo>
                    <a:pt x="533400" y="161290"/>
                  </a:lnTo>
                  <a:close/>
                </a:path>
                <a:path w="1029969" h="1365250">
                  <a:moveTo>
                    <a:pt x="1029970" y="1361440"/>
                  </a:moveTo>
                  <a:lnTo>
                    <a:pt x="975360" y="1200150"/>
                  </a:lnTo>
                  <a:lnTo>
                    <a:pt x="922020" y="1362710"/>
                  </a:lnTo>
                  <a:lnTo>
                    <a:pt x="1029970" y="1361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7" name="object 87"/>
            <p:cNvSpPr/>
            <p:nvPr/>
          </p:nvSpPr>
          <p:spPr>
            <a:xfrm>
              <a:off x="2846069" y="2731769"/>
              <a:ext cx="1475740" cy="808990"/>
            </a:xfrm>
            <a:custGeom>
              <a:avLst/>
              <a:gdLst/>
              <a:ahLst/>
              <a:cxnLst/>
              <a:rect l="l" t="t" r="r" b="b"/>
              <a:pathLst>
                <a:path w="1475739" h="808989">
                  <a:moveTo>
                    <a:pt x="1103630" y="0"/>
                  </a:moveTo>
                  <a:lnTo>
                    <a:pt x="1475740" y="803909"/>
                  </a:lnTo>
                </a:path>
                <a:path w="1475739" h="808989">
                  <a:moveTo>
                    <a:pt x="0" y="808989"/>
                  </a:moveTo>
                  <a:lnTo>
                    <a:pt x="242569" y="3809"/>
                  </a:lnTo>
                </a:path>
                <a:path w="1475739" h="808989">
                  <a:moveTo>
                    <a:pt x="1103630" y="0"/>
                  </a:moveTo>
                  <a:lnTo>
                    <a:pt x="242569" y="3809"/>
                  </a:lnTo>
                </a:path>
                <a:path w="1475739" h="808989">
                  <a:moveTo>
                    <a:pt x="491490" y="807719"/>
                  </a:moveTo>
                  <a:lnTo>
                    <a:pt x="0" y="808989"/>
                  </a:lnTo>
                </a:path>
                <a:path w="1475739" h="808989">
                  <a:moveTo>
                    <a:pt x="1475740" y="803909"/>
                  </a:moveTo>
                  <a:lnTo>
                    <a:pt x="982980" y="806450"/>
                  </a:lnTo>
                </a:path>
                <a:path w="1475739" h="808989">
                  <a:moveTo>
                    <a:pt x="491490" y="807719"/>
                  </a:moveTo>
                  <a:lnTo>
                    <a:pt x="736600" y="566419"/>
                  </a:lnTo>
                </a:path>
                <a:path w="1475739" h="808989">
                  <a:moveTo>
                    <a:pt x="982980" y="806450"/>
                  </a:moveTo>
                  <a:lnTo>
                    <a:pt x="736600" y="566419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8" name="object 88"/>
            <p:cNvSpPr/>
            <p:nvPr/>
          </p:nvSpPr>
          <p:spPr>
            <a:xfrm>
              <a:off x="3580129" y="2566669"/>
              <a:ext cx="0" cy="167640"/>
            </a:xfrm>
            <a:custGeom>
              <a:avLst/>
              <a:gdLst/>
              <a:ahLst/>
              <a:cxnLst/>
              <a:rect l="l" t="t" r="r" b="b"/>
              <a:pathLst>
                <a:path h="167639">
                  <a:moveTo>
                    <a:pt x="0" y="167639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9" name="object 89"/>
            <p:cNvSpPr/>
            <p:nvPr/>
          </p:nvSpPr>
          <p:spPr>
            <a:xfrm>
              <a:off x="3525519" y="241172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53339" y="0"/>
                  </a:moveTo>
                  <a:lnTo>
                    <a:pt x="0" y="162560"/>
                  </a:lnTo>
                  <a:lnTo>
                    <a:pt x="107950" y="161290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0" name="object 90"/>
            <p:cNvSpPr/>
            <p:nvPr/>
          </p:nvSpPr>
          <p:spPr>
            <a:xfrm>
              <a:off x="3153410" y="3655059"/>
              <a:ext cx="1270" cy="167640"/>
            </a:xfrm>
            <a:custGeom>
              <a:avLst/>
              <a:gdLst/>
              <a:ahLst/>
              <a:cxnLst/>
              <a:rect l="l" t="t" r="r" b="b"/>
              <a:pathLst>
                <a:path w="1269" h="167639">
                  <a:moveTo>
                    <a:pt x="635" y="-18414"/>
                  </a:moveTo>
                  <a:lnTo>
                    <a:pt x="635" y="1860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1" name="object 91"/>
            <p:cNvSpPr/>
            <p:nvPr/>
          </p:nvSpPr>
          <p:spPr>
            <a:xfrm>
              <a:off x="3100069" y="350011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53340" y="0"/>
                  </a:moveTo>
                  <a:lnTo>
                    <a:pt x="0" y="162559"/>
                  </a:lnTo>
                  <a:lnTo>
                    <a:pt x="107950" y="161289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2" name="object 92"/>
            <p:cNvSpPr/>
            <p:nvPr/>
          </p:nvSpPr>
          <p:spPr>
            <a:xfrm>
              <a:off x="4076700" y="3651249"/>
              <a:ext cx="0" cy="167640"/>
            </a:xfrm>
            <a:custGeom>
              <a:avLst/>
              <a:gdLst/>
              <a:ahLst/>
              <a:cxnLst/>
              <a:rect l="l" t="t" r="r" b="b"/>
              <a:pathLst>
                <a:path h="167639">
                  <a:moveTo>
                    <a:pt x="0" y="167639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3" name="object 93"/>
            <p:cNvSpPr/>
            <p:nvPr/>
          </p:nvSpPr>
          <p:spPr>
            <a:xfrm>
              <a:off x="4022089" y="3497579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53339" y="0"/>
                  </a:moveTo>
                  <a:lnTo>
                    <a:pt x="0" y="161290"/>
                  </a:lnTo>
                  <a:lnTo>
                    <a:pt x="107950" y="161290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4" name="object 94"/>
            <p:cNvSpPr/>
            <p:nvPr/>
          </p:nvSpPr>
          <p:spPr>
            <a:xfrm>
              <a:off x="5222239" y="2573019"/>
              <a:ext cx="1475740" cy="894080"/>
            </a:xfrm>
            <a:custGeom>
              <a:avLst/>
              <a:gdLst/>
              <a:ahLst/>
              <a:cxnLst/>
              <a:rect l="l" t="t" r="r" b="b"/>
              <a:pathLst>
                <a:path w="1475740" h="894079">
                  <a:moveTo>
                    <a:pt x="1103630" y="0"/>
                  </a:moveTo>
                  <a:lnTo>
                    <a:pt x="1475739" y="889000"/>
                  </a:lnTo>
                </a:path>
                <a:path w="1475740" h="894079">
                  <a:moveTo>
                    <a:pt x="0" y="894079"/>
                  </a:moveTo>
                  <a:lnTo>
                    <a:pt x="242570" y="2539"/>
                  </a:lnTo>
                </a:path>
                <a:path w="1475740" h="894079">
                  <a:moveTo>
                    <a:pt x="1103630" y="0"/>
                  </a:moveTo>
                  <a:lnTo>
                    <a:pt x="242570" y="2539"/>
                  </a:lnTo>
                </a:path>
                <a:path w="1475740" h="894079">
                  <a:moveTo>
                    <a:pt x="491489" y="892809"/>
                  </a:moveTo>
                  <a:lnTo>
                    <a:pt x="0" y="894079"/>
                  </a:lnTo>
                </a:path>
                <a:path w="1475740" h="894079">
                  <a:moveTo>
                    <a:pt x="1475739" y="889000"/>
                  </a:moveTo>
                  <a:lnTo>
                    <a:pt x="982980" y="890269"/>
                  </a:lnTo>
                </a:path>
                <a:path w="1475740" h="894079">
                  <a:moveTo>
                    <a:pt x="491489" y="892809"/>
                  </a:moveTo>
                  <a:lnTo>
                    <a:pt x="736600" y="624839"/>
                  </a:lnTo>
                </a:path>
                <a:path w="1475740" h="894079">
                  <a:moveTo>
                    <a:pt x="982980" y="890269"/>
                  </a:moveTo>
                  <a:lnTo>
                    <a:pt x="736600" y="624839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5" name="object 95"/>
            <p:cNvSpPr/>
            <p:nvPr/>
          </p:nvSpPr>
          <p:spPr>
            <a:xfrm>
              <a:off x="5956300" y="2372359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200660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6" name="object 96"/>
            <p:cNvSpPr/>
            <p:nvPr/>
          </p:nvSpPr>
          <p:spPr>
            <a:xfrm>
              <a:off x="5901689" y="221741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53339" y="0"/>
                  </a:moveTo>
                  <a:lnTo>
                    <a:pt x="0" y="162559"/>
                  </a:lnTo>
                  <a:lnTo>
                    <a:pt x="107950" y="161289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7" name="object 97"/>
            <p:cNvSpPr/>
            <p:nvPr/>
          </p:nvSpPr>
          <p:spPr>
            <a:xfrm>
              <a:off x="5529579" y="3576319"/>
              <a:ext cx="1270" cy="200660"/>
            </a:xfrm>
            <a:custGeom>
              <a:avLst/>
              <a:gdLst/>
              <a:ahLst/>
              <a:cxnLst/>
              <a:rect l="l" t="t" r="r" b="b"/>
              <a:pathLst>
                <a:path w="1270" h="200660">
                  <a:moveTo>
                    <a:pt x="635" y="-18414"/>
                  </a:moveTo>
                  <a:lnTo>
                    <a:pt x="635" y="21907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8" name="object 98"/>
            <p:cNvSpPr/>
            <p:nvPr/>
          </p:nvSpPr>
          <p:spPr>
            <a:xfrm>
              <a:off x="5474970" y="3421379"/>
              <a:ext cx="109220" cy="162560"/>
            </a:xfrm>
            <a:custGeom>
              <a:avLst/>
              <a:gdLst/>
              <a:ahLst/>
              <a:cxnLst/>
              <a:rect l="l" t="t" r="r" b="b"/>
              <a:pathLst>
                <a:path w="109220" h="162560">
                  <a:moveTo>
                    <a:pt x="53339" y="0"/>
                  </a:moveTo>
                  <a:lnTo>
                    <a:pt x="0" y="162560"/>
                  </a:lnTo>
                  <a:lnTo>
                    <a:pt x="109219" y="161290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9" name="object 99"/>
            <p:cNvSpPr/>
            <p:nvPr/>
          </p:nvSpPr>
          <p:spPr>
            <a:xfrm>
              <a:off x="6452870" y="3572509"/>
              <a:ext cx="0" cy="201930"/>
            </a:xfrm>
            <a:custGeom>
              <a:avLst/>
              <a:gdLst/>
              <a:ahLst/>
              <a:cxnLst/>
              <a:rect l="l" t="t" r="r" b="b"/>
              <a:pathLst>
                <a:path h="201929">
                  <a:moveTo>
                    <a:pt x="0" y="201929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398259" y="341756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53339" y="0"/>
                  </a:moveTo>
                  <a:lnTo>
                    <a:pt x="0" y="162559"/>
                  </a:lnTo>
                  <a:lnTo>
                    <a:pt x="107949" y="162559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598410" y="2564129"/>
              <a:ext cx="1475740" cy="894080"/>
            </a:xfrm>
            <a:custGeom>
              <a:avLst/>
              <a:gdLst/>
              <a:ahLst/>
              <a:cxnLst/>
              <a:rect l="l" t="t" r="r" b="b"/>
              <a:pathLst>
                <a:path w="1475740" h="894079">
                  <a:moveTo>
                    <a:pt x="1103630" y="0"/>
                  </a:moveTo>
                  <a:lnTo>
                    <a:pt x="1475740" y="889000"/>
                  </a:lnTo>
                </a:path>
                <a:path w="1475740" h="894079">
                  <a:moveTo>
                    <a:pt x="0" y="894080"/>
                  </a:moveTo>
                  <a:lnTo>
                    <a:pt x="242570" y="2540"/>
                  </a:lnTo>
                </a:path>
                <a:path w="1475740" h="894079">
                  <a:moveTo>
                    <a:pt x="1103630" y="0"/>
                  </a:moveTo>
                  <a:lnTo>
                    <a:pt x="242570" y="2540"/>
                  </a:lnTo>
                </a:path>
                <a:path w="1475740" h="894079">
                  <a:moveTo>
                    <a:pt x="491490" y="892810"/>
                  </a:moveTo>
                  <a:lnTo>
                    <a:pt x="0" y="894080"/>
                  </a:lnTo>
                </a:path>
                <a:path w="1475740" h="894079">
                  <a:moveTo>
                    <a:pt x="1475740" y="889000"/>
                  </a:moveTo>
                  <a:lnTo>
                    <a:pt x="982980" y="890270"/>
                  </a:lnTo>
                </a:path>
                <a:path w="1475740" h="894079">
                  <a:moveTo>
                    <a:pt x="491490" y="892810"/>
                  </a:moveTo>
                  <a:lnTo>
                    <a:pt x="736600" y="623570"/>
                  </a:lnTo>
                </a:path>
                <a:path w="1475740" h="894079">
                  <a:moveTo>
                    <a:pt x="982980" y="890270"/>
                  </a:moveTo>
                  <a:lnTo>
                    <a:pt x="736600" y="623570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8332470" y="2363469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200659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277860" y="220852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53340" y="0"/>
                  </a:moveTo>
                  <a:lnTo>
                    <a:pt x="0" y="162560"/>
                  </a:lnTo>
                  <a:lnTo>
                    <a:pt x="107950" y="161290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905749" y="3567429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200660"/>
                  </a:moveTo>
                  <a:lnTo>
                    <a:pt x="0" y="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851139" y="341248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53339" y="0"/>
                  </a:moveTo>
                  <a:lnTo>
                    <a:pt x="0" y="162560"/>
                  </a:lnTo>
                  <a:lnTo>
                    <a:pt x="107950" y="161289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827770" y="3563619"/>
              <a:ext cx="1270" cy="201930"/>
            </a:xfrm>
            <a:custGeom>
              <a:avLst/>
              <a:gdLst/>
              <a:ahLst/>
              <a:cxnLst/>
              <a:rect l="l" t="t" r="r" b="b"/>
              <a:pathLst>
                <a:path w="1270" h="201929">
                  <a:moveTo>
                    <a:pt x="635" y="-18414"/>
                  </a:moveTo>
                  <a:lnTo>
                    <a:pt x="635" y="22034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774429" y="340867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53340" y="0"/>
                  </a:moveTo>
                  <a:lnTo>
                    <a:pt x="0" y="162560"/>
                  </a:lnTo>
                  <a:lnTo>
                    <a:pt x="107950" y="162560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08" name="object 108"/>
          <p:cNvSpPr/>
          <p:nvPr/>
        </p:nvSpPr>
        <p:spPr>
          <a:xfrm>
            <a:off x="3882678" y="3211094"/>
            <a:ext cx="110650" cy="165111"/>
          </a:xfrm>
          <a:custGeom>
            <a:avLst/>
            <a:gdLst/>
            <a:ahLst/>
            <a:cxnLst/>
            <a:rect l="l" t="t" r="r" b="b"/>
            <a:pathLst>
              <a:path w="162560" h="242570">
                <a:moveTo>
                  <a:pt x="81279" y="0"/>
                </a:moveTo>
                <a:lnTo>
                  <a:pt x="0" y="242569"/>
                </a:lnTo>
                <a:lnTo>
                  <a:pt x="162559" y="242569"/>
                </a:lnTo>
                <a:lnTo>
                  <a:pt x="812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25"/>
          </a:p>
        </p:txBody>
      </p:sp>
      <p:graphicFrame>
        <p:nvGraphicFramePr>
          <p:cNvPr id="109" name="object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987474"/>
              </p:ext>
            </p:extLst>
          </p:nvPr>
        </p:nvGraphicFramePr>
        <p:xfrm>
          <a:off x="2669784" y="2460748"/>
          <a:ext cx="1347682" cy="13548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336"/>
                <a:gridCol w="627593"/>
                <a:gridCol w="460753"/>
              </a:tblGrid>
              <a:tr h="1538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6473">
                <a:tc gridSpan="3">
                  <a:txBody>
                    <a:bodyPr/>
                    <a:lstStyle/>
                    <a:p>
                      <a:pPr marL="120014" marR="114300" algn="ctr">
                        <a:lnSpc>
                          <a:spcPts val="2010"/>
                        </a:lnSpc>
                        <a:spcBef>
                          <a:spcPts val="450"/>
                        </a:spcBef>
                      </a:pPr>
                      <a:r>
                        <a:rPr sz="1200" spc="-2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Vector </a:t>
                      </a:r>
                      <a:r>
                        <a:rPr sz="1200" spc="-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Registers:  </a:t>
                      </a:r>
                      <a:r>
                        <a:rPr sz="12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Elements: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980"/>
                        </a:lnSpc>
                      </a:pPr>
                      <a:r>
                        <a:rPr sz="12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0, </a:t>
                      </a:r>
                      <a:r>
                        <a:rPr sz="1200" spc="-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4, </a:t>
                      </a:r>
                      <a:r>
                        <a:rPr sz="12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8, ...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9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460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0" name="object 110"/>
          <p:cNvSpPr txBox="1"/>
          <p:nvPr/>
        </p:nvSpPr>
        <p:spPr>
          <a:xfrm>
            <a:off x="4354669" y="2626722"/>
            <a:ext cx="1347683" cy="565065"/>
          </a:xfrm>
          <a:prstGeom prst="rect">
            <a:avLst/>
          </a:prstGeom>
          <a:ln w="17970">
            <a:solidFill>
              <a:srgbClr val="000000"/>
            </a:solidFill>
          </a:ln>
        </p:spPr>
        <p:txBody>
          <a:bodyPr vert="horz" wrap="square" lIns="0" tIns="38900" rIns="0" bIns="0" rtlCol="0">
            <a:spAutoFit/>
          </a:bodyPr>
          <a:lstStyle/>
          <a:p>
            <a:pPr marL="81694" marR="77804" algn="ctr">
              <a:lnSpc>
                <a:spcPts val="1368"/>
              </a:lnSpc>
              <a:spcBef>
                <a:spcPts val="306"/>
              </a:spcBef>
            </a:pPr>
            <a:r>
              <a:rPr sz="1225" spc="-17" dirty="0">
                <a:latin typeface="Arial"/>
                <a:cs typeface="Arial"/>
              </a:rPr>
              <a:t>Vector</a:t>
            </a:r>
            <a:r>
              <a:rPr sz="1225" spc="-48" dirty="0">
                <a:latin typeface="Arial"/>
                <a:cs typeface="Arial"/>
              </a:rPr>
              <a:t> </a:t>
            </a:r>
            <a:r>
              <a:rPr sz="1225" spc="-3" dirty="0">
                <a:latin typeface="Arial"/>
                <a:cs typeface="Arial"/>
              </a:rPr>
              <a:t>Registers:  </a:t>
            </a:r>
            <a:r>
              <a:rPr sz="1225" spc="-7" dirty="0">
                <a:latin typeface="Arial"/>
                <a:cs typeface="Arial"/>
              </a:rPr>
              <a:t>Elements:</a:t>
            </a:r>
            <a:endParaRPr sz="1225">
              <a:latin typeface="Arial"/>
              <a:cs typeface="Arial"/>
            </a:endParaRPr>
          </a:p>
          <a:p>
            <a:pPr algn="ctr">
              <a:lnSpc>
                <a:spcPts val="1348"/>
              </a:lnSpc>
            </a:pPr>
            <a:r>
              <a:rPr sz="1225" spc="-7" dirty="0">
                <a:latin typeface="Arial"/>
                <a:cs typeface="Arial"/>
              </a:rPr>
              <a:t>1, </a:t>
            </a:r>
            <a:r>
              <a:rPr sz="1225" spc="-3" dirty="0">
                <a:latin typeface="Arial"/>
                <a:cs typeface="Arial"/>
              </a:rPr>
              <a:t>5, </a:t>
            </a:r>
            <a:r>
              <a:rPr sz="1225" spc="-7" dirty="0">
                <a:latin typeface="Arial"/>
                <a:cs typeface="Arial"/>
              </a:rPr>
              <a:t>9,</a:t>
            </a:r>
            <a:r>
              <a:rPr sz="1225" spc="3" dirty="0">
                <a:latin typeface="Arial"/>
                <a:cs typeface="Arial"/>
              </a:rPr>
              <a:t> </a:t>
            </a:r>
            <a:r>
              <a:rPr sz="1225" spc="-3" dirty="0">
                <a:latin typeface="Arial"/>
                <a:cs typeface="Arial"/>
              </a:rPr>
              <a:t>...</a:t>
            </a:r>
            <a:endParaRPr sz="1225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020473" y="2602518"/>
            <a:ext cx="1347683" cy="563755"/>
          </a:xfrm>
          <a:prstGeom prst="rect">
            <a:avLst/>
          </a:prstGeom>
          <a:ln w="17970">
            <a:solidFill>
              <a:srgbClr val="000000"/>
            </a:solidFill>
          </a:ln>
        </p:spPr>
        <p:txBody>
          <a:bodyPr vert="horz" wrap="square" lIns="0" tIns="37603" rIns="0" bIns="0" rtlCol="0">
            <a:spAutoFit/>
          </a:bodyPr>
          <a:lstStyle/>
          <a:p>
            <a:pPr marL="82126" marR="76940" algn="ctr">
              <a:lnSpc>
                <a:spcPts val="1375"/>
              </a:lnSpc>
              <a:spcBef>
                <a:spcPts val="295"/>
              </a:spcBef>
            </a:pPr>
            <a:r>
              <a:rPr sz="1225" spc="-17" dirty="0">
                <a:latin typeface="Arial"/>
                <a:cs typeface="Arial"/>
              </a:rPr>
              <a:t>Vector </a:t>
            </a:r>
            <a:r>
              <a:rPr sz="1225" spc="-7" dirty="0">
                <a:latin typeface="Arial"/>
                <a:cs typeface="Arial"/>
              </a:rPr>
              <a:t>Registers:  Elements:</a:t>
            </a:r>
            <a:endParaRPr sz="1225">
              <a:latin typeface="Arial"/>
              <a:cs typeface="Arial"/>
            </a:endParaRPr>
          </a:p>
          <a:p>
            <a:pPr algn="ctr">
              <a:lnSpc>
                <a:spcPts val="1337"/>
              </a:lnSpc>
            </a:pPr>
            <a:r>
              <a:rPr sz="1225" spc="-7" dirty="0">
                <a:latin typeface="Arial"/>
                <a:cs typeface="Arial"/>
              </a:rPr>
              <a:t>2, </a:t>
            </a:r>
            <a:r>
              <a:rPr sz="1225" spc="-3" dirty="0">
                <a:latin typeface="Arial"/>
                <a:cs typeface="Arial"/>
              </a:rPr>
              <a:t>6, 10,</a:t>
            </a:r>
            <a:r>
              <a:rPr sz="1225" spc="-10" dirty="0">
                <a:latin typeface="Arial"/>
                <a:cs typeface="Arial"/>
              </a:rPr>
              <a:t> </a:t>
            </a:r>
            <a:r>
              <a:rPr sz="1225" spc="-3" dirty="0">
                <a:latin typeface="Arial"/>
                <a:cs typeface="Arial"/>
              </a:rPr>
              <a:t>...</a:t>
            </a:r>
            <a:endParaRPr sz="1225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7649967" y="2614621"/>
            <a:ext cx="1347683" cy="565065"/>
          </a:xfrm>
          <a:prstGeom prst="rect">
            <a:avLst/>
          </a:prstGeom>
          <a:ln w="17970">
            <a:solidFill>
              <a:srgbClr val="000000"/>
            </a:solidFill>
          </a:ln>
        </p:spPr>
        <p:txBody>
          <a:bodyPr vert="horz" wrap="square" lIns="0" tIns="38900" rIns="0" bIns="0" rtlCol="0">
            <a:spAutoFit/>
          </a:bodyPr>
          <a:lstStyle/>
          <a:p>
            <a:pPr marL="82126" marR="76940" algn="ctr">
              <a:lnSpc>
                <a:spcPts val="1368"/>
              </a:lnSpc>
              <a:spcBef>
                <a:spcPts val="306"/>
              </a:spcBef>
            </a:pPr>
            <a:r>
              <a:rPr sz="1225" spc="-17" dirty="0">
                <a:latin typeface="Arial"/>
                <a:cs typeface="Arial"/>
              </a:rPr>
              <a:t>Vector </a:t>
            </a:r>
            <a:r>
              <a:rPr sz="1225" spc="-7" dirty="0">
                <a:latin typeface="Arial"/>
                <a:cs typeface="Arial"/>
              </a:rPr>
              <a:t>Registers:  Elements:</a:t>
            </a:r>
            <a:endParaRPr sz="1225">
              <a:latin typeface="Arial"/>
              <a:cs typeface="Arial"/>
            </a:endParaRPr>
          </a:p>
          <a:p>
            <a:pPr algn="ctr">
              <a:lnSpc>
                <a:spcPts val="1348"/>
              </a:lnSpc>
            </a:pPr>
            <a:r>
              <a:rPr sz="1225" spc="-3" dirty="0">
                <a:latin typeface="Arial"/>
                <a:cs typeface="Arial"/>
              </a:rPr>
              <a:t>3, </a:t>
            </a:r>
            <a:r>
              <a:rPr sz="1225" spc="-7" dirty="0">
                <a:latin typeface="Arial"/>
                <a:cs typeface="Arial"/>
              </a:rPr>
              <a:t>7, </a:t>
            </a:r>
            <a:r>
              <a:rPr sz="1225" spc="-34" dirty="0">
                <a:latin typeface="Arial"/>
                <a:cs typeface="Arial"/>
              </a:rPr>
              <a:t>11, </a:t>
            </a:r>
            <a:r>
              <a:rPr sz="1225" spc="-3" dirty="0">
                <a:latin typeface="Arial"/>
                <a:cs typeface="Arial"/>
              </a:rPr>
              <a:t>...</a:t>
            </a:r>
            <a:endParaRPr sz="1225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826316" y="1221985"/>
            <a:ext cx="5765474" cy="23924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  <a:tabLst>
                <a:tab pos="1699153" algn="l"/>
                <a:tab pos="3390094" algn="l"/>
                <a:tab pos="5081034" algn="l"/>
              </a:tabLst>
            </a:pPr>
            <a:r>
              <a:rPr sz="1498" b="1" spc="-3" dirty="0">
                <a:latin typeface="Arial"/>
                <a:cs typeface="Arial"/>
              </a:rPr>
              <a:t>LANE </a:t>
            </a:r>
            <a:r>
              <a:rPr sz="1498" b="1" dirty="0">
                <a:latin typeface="Arial"/>
                <a:cs typeface="Arial"/>
              </a:rPr>
              <a:t>0	</a:t>
            </a:r>
            <a:r>
              <a:rPr sz="1498" b="1" spc="-3" dirty="0">
                <a:latin typeface="Arial"/>
                <a:cs typeface="Arial"/>
              </a:rPr>
              <a:t>LANE </a:t>
            </a:r>
            <a:r>
              <a:rPr sz="1498" b="1" dirty="0">
                <a:latin typeface="Arial"/>
                <a:cs typeface="Arial"/>
              </a:rPr>
              <a:t>1	</a:t>
            </a:r>
            <a:r>
              <a:rPr sz="1498" b="1" spc="-3" dirty="0">
                <a:latin typeface="Arial"/>
                <a:cs typeface="Arial"/>
              </a:rPr>
              <a:t>LANE</a:t>
            </a:r>
            <a:r>
              <a:rPr sz="1498" b="1" dirty="0">
                <a:latin typeface="Arial"/>
                <a:cs typeface="Arial"/>
              </a:rPr>
              <a:t> 2	</a:t>
            </a:r>
            <a:r>
              <a:rPr sz="1498" b="1" spc="-3" dirty="0">
                <a:latin typeface="Arial"/>
                <a:cs typeface="Arial"/>
              </a:rPr>
              <a:t>LANE</a:t>
            </a:r>
            <a:r>
              <a:rPr sz="1498" b="1" spc="-58" dirty="0">
                <a:latin typeface="Arial"/>
                <a:cs typeface="Arial"/>
              </a:rPr>
              <a:t> </a:t>
            </a:r>
            <a:r>
              <a:rPr sz="1498" b="1" dirty="0">
                <a:latin typeface="Arial"/>
                <a:cs typeface="Arial"/>
              </a:rPr>
              <a:t>3</a:t>
            </a:r>
            <a:endParaRPr sz="1498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4550037" y="4602000"/>
            <a:ext cx="2423928" cy="260209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634" b="1" spc="-20" dirty="0">
                <a:solidFill>
                  <a:schemeClr val="bg1"/>
                </a:solidFill>
                <a:latin typeface="Arial"/>
                <a:cs typeface="Arial"/>
              </a:rPr>
              <a:t>Vector </a:t>
            </a:r>
            <a:r>
              <a:rPr sz="1634" b="1" spc="-3" dirty="0">
                <a:solidFill>
                  <a:schemeClr val="bg1"/>
                </a:solidFill>
                <a:latin typeface="Arial"/>
                <a:cs typeface="Arial"/>
              </a:rPr>
              <a:t>Load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– </a:t>
            </a:r>
            <a:r>
              <a:rPr sz="1634" b="1" spc="-3" dirty="0">
                <a:solidFill>
                  <a:schemeClr val="bg1"/>
                </a:solidFill>
                <a:latin typeface="Arial"/>
                <a:cs typeface="Arial"/>
              </a:rPr>
              <a:t>Store</a:t>
            </a:r>
            <a:r>
              <a:rPr sz="1634" b="1" spc="-31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34" b="1" spc="-3" dirty="0">
                <a:solidFill>
                  <a:schemeClr val="bg1"/>
                </a:solidFill>
                <a:latin typeface="Arial"/>
                <a:cs typeface="Arial"/>
              </a:rPr>
              <a:t>Unit</a:t>
            </a:r>
            <a:endParaRPr sz="1634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893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5319" y="49093"/>
            <a:ext cx="4696578" cy="1116725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z="3600" spc="-31" dirty="0"/>
              <a:t>Vector </a:t>
            </a:r>
            <a:r>
              <a:rPr sz="3600" spc="-3" dirty="0"/>
              <a:t>Microarchitecture </a:t>
            </a:r>
            <a:r>
              <a:rPr sz="3600" dirty="0"/>
              <a:t>– </a:t>
            </a:r>
            <a:r>
              <a:rPr sz="3600" spc="-58" dirty="0"/>
              <a:t>Two</a:t>
            </a:r>
            <a:r>
              <a:rPr sz="3600" spc="-44" dirty="0"/>
              <a:t> </a:t>
            </a:r>
            <a:r>
              <a:rPr sz="3600" spc="-7" dirty="0"/>
              <a:t>Lanes</a:t>
            </a:r>
          </a:p>
        </p:txBody>
      </p:sp>
      <p:sp>
        <p:nvSpPr>
          <p:cNvPr id="3" name="object 3"/>
          <p:cNvSpPr/>
          <p:nvPr/>
        </p:nvSpPr>
        <p:spPr>
          <a:xfrm>
            <a:off x="3059926" y="2215964"/>
            <a:ext cx="293914" cy="293914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215900" y="431800"/>
                </a:moveTo>
                <a:lnTo>
                  <a:pt x="0" y="431800"/>
                </a:lnTo>
                <a:lnTo>
                  <a:pt x="0" y="0"/>
                </a:lnTo>
                <a:lnTo>
                  <a:pt x="431800" y="0"/>
                </a:lnTo>
                <a:lnTo>
                  <a:pt x="431800" y="431800"/>
                </a:lnTo>
                <a:lnTo>
                  <a:pt x="215900" y="431800"/>
                </a:lnTo>
                <a:close/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" name="object 4"/>
          <p:cNvSpPr txBox="1"/>
          <p:nvPr/>
        </p:nvSpPr>
        <p:spPr>
          <a:xfrm>
            <a:off x="3138591" y="2237254"/>
            <a:ext cx="13744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57"/>
              </a:lnSpc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F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59926" y="2118280"/>
            <a:ext cx="808264" cy="509163"/>
            <a:chOff x="215900" y="3096260"/>
            <a:chExt cx="1187450" cy="748030"/>
          </a:xfrm>
        </p:grpSpPr>
        <p:sp>
          <p:nvSpPr>
            <p:cNvPr id="6" name="object 6"/>
            <p:cNvSpPr/>
            <p:nvPr/>
          </p:nvSpPr>
          <p:spPr>
            <a:xfrm>
              <a:off x="647700" y="345567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" name="object 7"/>
            <p:cNvSpPr/>
            <p:nvPr/>
          </p:nvSpPr>
          <p:spPr>
            <a:xfrm>
              <a:off x="934719" y="3096260"/>
              <a:ext cx="175260" cy="744220"/>
            </a:xfrm>
            <a:custGeom>
              <a:avLst/>
              <a:gdLst/>
              <a:ahLst/>
              <a:cxnLst/>
              <a:rect l="l" t="t" r="r" b="b"/>
              <a:pathLst>
                <a:path w="175259" h="744220">
                  <a:moveTo>
                    <a:pt x="165100" y="0"/>
                  </a:moveTo>
                  <a:lnTo>
                    <a:pt x="0" y="2539"/>
                  </a:lnTo>
                  <a:lnTo>
                    <a:pt x="5080" y="373379"/>
                  </a:lnTo>
                  <a:lnTo>
                    <a:pt x="11430" y="744219"/>
                  </a:lnTo>
                  <a:lnTo>
                    <a:pt x="175260" y="741679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" name="object 8"/>
            <p:cNvSpPr/>
            <p:nvPr/>
          </p:nvSpPr>
          <p:spPr>
            <a:xfrm>
              <a:off x="934719" y="3096260"/>
              <a:ext cx="175260" cy="744220"/>
            </a:xfrm>
            <a:custGeom>
              <a:avLst/>
              <a:gdLst/>
              <a:ahLst/>
              <a:cxnLst/>
              <a:rect l="l" t="t" r="r" b="b"/>
              <a:pathLst>
                <a:path w="175259" h="744220">
                  <a:moveTo>
                    <a:pt x="5080" y="373379"/>
                  </a:moveTo>
                  <a:lnTo>
                    <a:pt x="0" y="2539"/>
                  </a:lnTo>
                  <a:lnTo>
                    <a:pt x="165100" y="0"/>
                  </a:lnTo>
                  <a:lnTo>
                    <a:pt x="175260" y="741679"/>
                  </a:lnTo>
                  <a:lnTo>
                    <a:pt x="11430" y="744219"/>
                  </a:lnTo>
                  <a:lnTo>
                    <a:pt x="5080" y="37337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" name="object 9"/>
            <p:cNvSpPr/>
            <p:nvPr/>
          </p:nvSpPr>
          <p:spPr>
            <a:xfrm>
              <a:off x="944880" y="3632200"/>
              <a:ext cx="165100" cy="212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" name="object 10"/>
            <p:cNvSpPr/>
            <p:nvPr/>
          </p:nvSpPr>
          <p:spPr>
            <a:xfrm>
              <a:off x="773430" y="340233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" name="object 11"/>
            <p:cNvSpPr/>
            <p:nvPr/>
          </p:nvSpPr>
          <p:spPr>
            <a:xfrm>
              <a:off x="1115060" y="343789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" name="object 12"/>
            <p:cNvSpPr/>
            <p:nvPr/>
          </p:nvSpPr>
          <p:spPr>
            <a:xfrm>
              <a:off x="1242060" y="338455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90" h="107950">
                  <a:moveTo>
                    <a:pt x="0" y="0"/>
                  </a:moveTo>
                  <a:lnTo>
                    <a:pt x="0" y="107950"/>
                  </a:lnTo>
                  <a:lnTo>
                    <a:pt x="161290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" name="object 13"/>
            <p:cNvSpPr/>
            <p:nvPr/>
          </p:nvSpPr>
          <p:spPr>
            <a:xfrm>
              <a:off x="215900" y="323977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" name="object 14"/>
            <p:cNvSpPr/>
            <p:nvPr/>
          </p:nvSpPr>
          <p:spPr>
            <a:xfrm>
              <a:off x="215900" y="323977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1800"/>
                  </a:lnTo>
                  <a:lnTo>
                    <a:pt x="215900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59926" y="2215964"/>
            <a:ext cx="293914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804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F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53408" y="2166689"/>
            <a:ext cx="809561" cy="460754"/>
            <a:chOff x="647065" y="3167379"/>
            <a:chExt cx="1189355" cy="676910"/>
          </a:xfrm>
        </p:grpSpPr>
        <p:sp>
          <p:nvSpPr>
            <p:cNvPr id="17" name="object 17"/>
            <p:cNvSpPr/>
            <p:nvPr/>
          </p:nvSpPr>
          <p:spPr>
            <a:xfrm>
              <a:off x="944880" y="3632199"/>
              <a:ext cx="165100" cy="212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" name="object 18"/>
            <p:cNvSpPr/>
            <p:nvPr/>
          </p:nvSpPr>
          <p:spPr>
            <a:xfrm>
              <a:off x="647700" y="345566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" name="object 19"/>
            <p:cNvSpPr/>
            <p:nvPr/>
          </p:nvSpPr>
          <p:spPr>
            <a:xfrm>
              <a:off x="773430" y="340232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" name="object 20"/>
            <p:cNvSpPr/>
            <p:nvPr/>
          </p:nvSpPr>
          <p:spPr>
            <a:xfrm>
              <a:off x="1404620" y="316737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3070"/>
                  </a:lnTo>
                  <a:lnTo>
                    <a:pt x="215900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946855" y="2188844"/>
            <a:ext cx="13744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57"/>
              </a:lnSpc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F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68190" y="2069007"/>
            <a:ext cx="609440" cy="509163"/>
            <a:chOff x="1403350" y="3023870"/>
            <a:chExt cx="895350" cy="748030"/>
          </a:xfrm>
        </p:grpSpPr>
        <p:sp>
          <p:nvSpPr>
            <p:cNvPr id="23" name="object 23"/>
            <p:cNvSpPr/>
            <p:nvPr/>
          </p:nvSpPr>
          <p:spPr>
            <a:xfrm>
              <a:off x="1836419" y="338455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" name="object 24"/>
            <p:cNvSpPr/>
            <p:nvPr/>
          </p:nvSpPr>
          <p:spPr>
            <a:xfrm>
              <a:off x="2122169" y="3023870"/>
              <a:ext cx="176530" cy="744220"/>
            </a:xfrm>
            <a:custGeom>
              <a:avLst/>
              <a:gdLst/>
              <a:ahLst/>
              <a:cxnLst/>
              <a:rect l="l" t="t" r="r" b="b"/>
              <a:pathLst>
                <a:path w="176530" h="744220">
                  <a:moveTo>
                    <a:pt x="165100" y="0"/>
                  </a:moveTo>
                  <a:lnTo>
                    <a:pt x="0" y="2539"/>
                  </a:lnTo>
                  <a:lnTo>
                    <a:pt x="6350" y="373379"/>
                  </a:lnTo>
                  <a:lnTo>
                    <a:pt x="11430" y="744219"/>
                  </a:lnTo>
                  <a:lnTo>
                    <a:pt x="176530" y="741679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" name="object 25"/>
            <p:cNvSpPr/>
            <p:nvPr/>
          </p:nvSpPr>
          <p:spPr>
            <a:xfrm>
              <a:off x="2122169" y="3023870"/>
              <a:ext cx="176530" cy="744220"/>
            </a:xfrm>
            <a:custGeom>
              <a:avLst/>
              <a:gdLst/>
              <a:ahLst/>
              <a:cxnLst/>
              <a:rect l="l" t="t" r="r" b="b"/>
              <a:pathLst>
                <a:path w="176530" h="744220">
                  <a:moveTo>
                    <a:pt x="6350" y="373379"/>
                  </a:moveTo>
                  <a:lnTo>
                    <a:pt x="0" y="2539"/>
                  </a:lnTo>
                  <a:lnTo>
                    <a:pt x="165100" y="0"/>
                  </a:lnTo>
                  <a:lnTo>
                    <a:pt x="176530" y="741679"/>
                  </a:lnTo>
                  <a:lnTo>
                    <a:pt x="11430" y="744219"/>
                  </a:lnTo>
                  <a:lnTo>
                    <a:pt x="6350" y="37337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" name="object 26"/>
            <p:cNvSpPr/>
            <p:nvPr/>
          </p:nvSpPr>
          <p:spPr>
            <a:xfrm>
              <a:off x="2133600" y="3559810"/>
              <a:ext cx="165100" cy="2120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" name="object 27"/>
            <p:cNvSpPr/>
            <p:nvPr/>
          </p:nvSpPr>
          <p:spPr>
            <a:xfrm>
              <a:off x="1962150" y="332994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" name="object 28"/>
            <p:cNvSpPr/>
            <p:nvPr/>
          </p:nvSpPr>
          <p:spPr>
            <a:xfrm>
              <a:off x="1403350" y="3167380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431800" y="0"/>
                  </a:moveTo>
                  <a:lnTo>
                    <a:pt x="0" y="0"/>
                  </a:lnTo>
                  <a:lnTo>
                    <a:pt x="0" y="433070"/>
                  </a:lnTo>
                  <a:lnTo>
                    <a:pt x="431800" y="4330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" name="object 29"/>
            <p:cNvSpPr/>
            <p:nvPr/>
          </p:nvSpPr>
          <p:spPr>
            <a:xfrm>
              <a:off x="1403350" y="3167380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3070"/>
                  </a:lnTo>
                  <a:lnTo>
                    <a:pt x="215900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868190" y="2166689"/>
            <a:ext cx="293914" cy="273255"/>
          </a:xfrm>
          <a:prstGeom prst="rect">
            <a:avLst/>
          </a:prstGeom>
        </p:spPr>
        <p:txBody>
          <a:bodyPr vert="horz" wrap="square" lIns="0" tIns="864" rIns="0" bIns="0" rtlCol="0">
            <a:spAutoFit/>
          </a:bodyPr>
          <a:lstStyle/>
          <a:p>
            <a:pPr marL="65269">
              <a:spcBef>
                <a:spcPts val="7"/>
              </a:spcBef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D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161672" y="2166689"/>
            <a:ext cx="785356" cy="411480"/>
            <a:chOff x="1834514" y="3167379"/>
            <a:chExt cx="1153795" cy="604520"/>
          </a:xfrm>
        </p:grpSpPr>
        <p:sp>
          <p:nvSpPr>
            <p:cNvPr id="32" name="object 32"/>
            <p:cNvSpPr/>
            <p:nvPr/>
          </p:nvSpPr>
          <p:spPr>
            <a:xfrm>
              <a:off x="2133599" y="3559809"/>
              <a:ext cx="165100" cy="2120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" name="object 33"/>
            <p:cNvSpPr/>
            <p:nvPr/>
          </p:nvSpPr>
          <p:spPr>
            <a:xfrm>
              <a:off x="1835149" y="338454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" name="object 34"/>
            <p:cNvSpPr/>
            <p:nvPr/>
          </p:nvSpPr>
          <p:spPr>
            <a:xfrm>
              <a:off x="1962149" y="332993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" name="object 35"/>
            <p:cNvSpPr/>
            <p:nvPr/>
          </p:nvSpPr>
          <p:spPr>
            <a:xfrm>
              <a:off x="2556509" y="3167379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3070"/>
                  </a:lnTo>
                  <a:lnTo>
                    <a:pt x="215900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730915" y="2188844"/>
            <a:ext cx="13744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57"/>
              </a:lnSpc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F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653114" y="2069007"/>
            <a:ext cx="608575" cy="509163"/>
            <a:chOff x="2556510" y="3023870"/>
            <a:chExt cx="894080" cy="748030"/>
          </a:xfrm>
        </p:grpSpPr>
        <p:sp>
          <p:nvSpPr>
            <p:cNvPr id="38" name="object 38"/>
            <p:cNvSpPr/>
            <p:nvPr/>
          </p:nvSpPr>
          <p:spPr>
            <a:xfrm>
              <a:off x="2988310" y="338455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" name="object 39"/>
            <p:cNvSpPr/>
            <p:nvPr/>
          </p:nvSpPr>
          <p:spPr>
            <a:xfrm>
              <a:off x="3275330" y="3023870"/>
              <a:ext cx="175260" cy="744220"/>
            </a:xfrm>
            <a:custGeom>
              <a:avLst/>
              <a:gdLst/>
              <a:ahLst/>
              <a:cxnLst/>
              <a:rect l="l" t="t" r="r" b="b"/>
              <a:pathLst>
                <a:path w="175260" h="744220">
                  <a:moveTo>
                    <a:pt x="165100" y="0"/>
                  </a:moveTo>
                  <a:lnTo>
                    <a:pt x="0" y="2539"/>
                  </a:lnTo>
                  <a:lnTo>
                    <a:pt x="10160" y="744219"/>
                  </a:lnTo>
                  <a:lnTo>
                    <a:pt x="175260" y="74167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" name="object 40"/>
            <p:cNvSpPr/>
            <p:nvPr/>
          </p:nvSpPr>
          <p:spPr>
            <a:xfrm>
              <a:off x="3275330" y="3023870"/>
              <a:ext cx="175260" cy="744220"/>
            </a:xfrm>
            <a:custGeom>
              <a:avLst/>
              <a:gdLst/>
              <a:ahLst/>
              <a:cxnLst/>
              <a:rect l="l" t="t" r="r" b="b"/>
              <a:pathLst>
                <a:path w="175260" h="744220">
                  <a:moveTo>
                    <a:pt x="5080" y="373379"/>
                  </a:moveTo>
                  <a:lnTo>
                    <a:pt x="0" y="2539"/>
                  </a:lnTo>
                  <a:lnTo>
                    <a:pt x="165100" y="0"/>
                  </a:lnTo>
                  <a:lnTo>
                    <a:pt x="175260" y="741679"/>
                  </a:lnTo>
                  <a:lnTo>
                    <a:pt x="10160" y="744219"/>
                  </a:lnTo>
                  <a:lnTo>
                    <a:pt x="5080" y="37337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5490" y="3559810"/>
              <a:ext cx="165100" cy="21208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2" name="object 42"/>
            <p:cNvSpPr/>
            <p:nvPr/>
          </p:nvSpPr>
          <p:spPr>
            <a:xfrm>
              <a:off x="3114040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3" name="object 43"/>
            <p:cNvSpPr/>
            <p:nvPr/>
          </p:nvSpPr>
          <p:spPr>
            <a:xfrm>
              <a:off x="2556510" y="3167380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431800" y="0"/>
                  </a:moveTo>
                  <a:lnTo>
                    <a:pt x="0" y="0"/>
                  </a:lnTo>
                  <a:lnTo>
                    <a:pt x="0" y="433070"/>
                  </a:lnTo>
                  <a:lnTo>
                    <a:pt x="431800" y="4330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4" name="object 44"/>
            <p:cNvSpPr/>
            <p:nvPr/>
          </p:nvSpPr>
          <p:spPr>
            <a:xfrm>
              <a:off x="2556510" y="3167380"/>
              <a:ext cx="431800" cy="433070"/>
            </a:xfrm>
            <a:custGeom>
              <a:avLst/>
              <a:gdLst/>
              <a:ahLst/>
              <a:cxnLst/>
              <a:rect l="l" t="t" r="r" b="b"/>
              <a:pathLst>
                <a:path w="431800" h="433070">
                  <a:moveTo>
                    <a:pt x="215900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3070"/>
                  </a:lnTo>
                  <a:lnTo>
                    <a:pt x="215900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710167" y="2158910"/>
            <a:ext cx="179806" cy="2811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R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480655" y="1628135"/>
            <a:ext cx="1348115" cy="950035"/>
            <a:chOff x="2303145" y="2376170"/>
            <a:chExt cx="1980564" cy="1395730"/>
          </a:xfrm>
        </p:grpSpPr>
        <p:sp>
          <p:nvSpPr>
            <p:cNvPr id="47" name="object 47"/>
            <p:cNvSpPr/>
            <p:nvPr/>
          </p:nvSpPr>
          <p:spPr>
            <a:xfrm>
              <a:off x="2303780" y="3365500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80">
                  <a:moveTo>
                    <a:pt x="0" y="0"/>
                  </a:moveTo>
                  <a:lnTo>
                    <a:pt x="1320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8" name="object 48"/>
            <p:cNvSpPr/>
            <p:nvPr/>
          </p:nvSpPr>
          <p:spPr>
            <a:xfrm>
              <a:off x="3285490" y="3559810"/>
              <a:ext cx="165100" cy="2120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9" name="object 49"/>
            <p:cNvSpPr/>
            <p:nvPr/>
          </p:nvSpPr>
          <p:spPr>
            <a:xfrm>
              <a:off x="2988310" y="338455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0" name="object 50"/>
            <p:cNvSpPr/>
            <p:nvPr/>
          </p:nvSpPr>
          <p:spPr>
            <a:xfrm>
              <a:off x="2429510" y="3312159"/>
              <a:ext cx="847090" cy="125730"/>
            </a:xfrm>
            <a:custGeom>
              <a:avLst/>
              <a:gdLst/>
              <a:ahLst/>
              <a:cxnLst/>
              <a:rect l="l" t="t" r="r" b="b"/>
              <a:pathLst>
                <a:path w="847089" h="125729">
                  <a:moveTo>
                    <a:pt x="161290" y="53340"/>
                  </a:moveTo>
                  <a:lnTo>
                    <a:pt x="0" y="0"/>
                  </a:lnTo>
                  <a:lnTo>
                    <a:pt x="0" y="107950"/>
                  </a:lnTo>
                  <a:lnTo>
                    <a:pt x="161290" y="53340"/>
                  </a:lnTo>
                  <a:close/>
                </a:path>
                <a:path w="847089" h="125729">
                  <a:moveTo>
                    <a:pt x="847090" y="72390"/>
                  </a:moveTo>
                  <a:lnTo>
                    <a:pt x="684530" y="17780"/>
                  </a:lnTo>
                  <a:lnTo>
                    <a:pt x="684530" y="125730"/>
                  </a:lnTo>
                  <a:lnTo>
                    <a:pt x="847090" y="723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1" name="object 51"/>
            <p:cNvSpPr/>
            <p:nvPr/>
          </p:nvSpPr>
          <p:spPr>
            <a:xfrm>
              <a:off x="3779520" y="237617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2" name="object 52"/>
            <p:cNvSpPr/>
            <p:nvPr/>
          </p:nvSpPr>
          <p:spPr>
            <a:xfrm>
              <a:off x="3779520" y="237617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272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272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485583" y="1628135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83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X0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485583" y="1995528"/>
            <a:ext cx="343188" cy="293914"/>
            <a:chOff x="3779520" y="2915920"/>
            <a:chExt cx="504190" cy="431800"/>
          </a:xfrm>
        </p:grpSpPr>
        <p:sp>
          <p:nvSpPr>
            <p:cNvPr id="55" name="object 55"/>
            <p:cNvSpPr/>
            <p:nvPr/>
          </p:nvSpPr>
          <p:spPr>
            <a:xfrm>
              <a:off x="3779520" y="291592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6" name="object 56"/>
            <p:cNvSpPr/>
            <p:nvPr/>
          </p:nvSpPr>
          <p:spPr>
            <a:xfrm>
              <a:off x="3779520" y="291592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272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272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485583" y="1995528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34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L0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5485583" y="2362921"/>
            <a:ext cx="343188" cy="293914"/>
            <a:chOff x="3779520" y="3455670"/>
            <a:chExt cx="504190" cy="431800"/>
          </a:xfrm>
        </p:grpSpPr>
        <p:sp>
          <p:nvSpPr>
            <p:cNvPr id="59" name="object 59"/>
            <p:cNvSpPr/>
            <p:nvPr/>
          </p:nvSpPr>
          <p:spPr>
            <a:xfrm>
              <a:off x="3779520" y="345567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0" name="object 60"/>
            <p:cNvSpPr/>
            <p:nvPr/>
          </p:nvSpPr>
          <p:spPr>
            <a:xfrm>
              <a:off x="3779520" y="345567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145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145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5485583" y="2362921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83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S0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485583" y="2730314"/>
            <a:ext cx="342324" cy="293914"/>
            <a:chOff x="3779520" y="3995420"/>
            <a:chExt cx="502920" cy="431800"/>
          </a:xfrm>
        </p:grpSpPr>
        <p:sp>
          <p:nvSpPr>
            <p:cNvPr id="63" name="object 63"/>
            <p:cNvSpPr/>
            <p:nvPr/>
          </p:nvSpPr>
          <p:spPr>
            <a:xfrm>
              <a:off x="3779520" y="3995420"/>
              <a:ext cx="502920" cy="431800"/>
            </a:xfrm>
            <a:custGeom>
              <a:avLst/>
              <a:gdLst/>
              <a:ahLst/>
              <a:cxnLst/>
              <a:rect l="l" t="t" r="r" b="b"/>
              <a:pathLst>
                <a:path w="502920" h="431800">
                  <a:moveTo>
                    <a:pt x="502919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502919" y="431799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4" name="object 64"/>
            <p:cNvSpPr/>
            <p:nvPr/>
          </p:nvSpPr>
          <p:spPr>
            <a:xfrm>
              <a:off x="3779520" y="3995420"/>
              <a:ext cx="502920" cy="431800"/>
            </a:xfrm>
            <a:custGeom>
              <a:avLst/>
              <a:gdLst/>
              <a:ahLst/>
              <a:cxnLst/>
              <a:rect l="l" t="t" r="r" b="b"/>
              <a:pathLst>
                <a:path w="502920" h="431800">
                  <a:moveTo>
                    <a:pt x="251459" y="431799"/>
                  </a:moveTo>
                  <a:lnTo>
                    <a:pt x="0" y="431799"/>
                  </a:lnTo>
                  <a:lnTo>
                    <a:pt x="0" y="0"/>
                  </a:lnTo>
                  <a:lnTo>
                    <a:pt x="502919" y="0"/>
                  </a:lnTo>
                  <a:lnTo>
                    <a:pt x="502919" y="431799"/>
                  </a:lnTo>
                  <a:lnTo>
                    <a:pt x="251459" y="43179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5485583" y="2730314"/>
            <a:ext cx="342324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418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Y0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257800" y="1504950"/>
            <a:ext cx="1379236" cy="1642462"/>
            <a:chOff x="3444875" y="2195195"/>
            <a:chExt cx="2026285" cy="2413000"/>
          </a:xfrm>
        </p:grpSpPr>
        <p:sp>
          <p:nvSpPr>
            <p:cNvPr id="67" name="object 67"/>
            <p:cNvSpPr/>
            <p:nvPr/>
          </p:nvSpPr>
          <p:spPr>
            <a:xfrm>
              <a:off x="3445510" y="2195830"/>
              <a:ext cx="1018540" cy="1198880"/>
            </a:xfrm>
            <a:custGeom>
              <a:avLst/>
              <a:gdLst/>
              <a:ahLst/>
              <a:cxnLst/>
              <a:rect l="l" t="t" r="r" b="b"/>
              <a:pathLst>
                <a:path w="1018539" h="1198879">
                  <a:moveTo>
                    <a:pt x="0" y="1198880"/>
                  </a:moveTo>
                  <a:lnTo>
                    <a:pt x="1018539" y="1198880"/>
                  </a:lnTo>
                  <a:lnTo>
                    <a:pt x="1018539" y="0"/>
                  </a:lnTo>
                  <a:lnTo>
                    <a:pt x="153669" y="0"/>
                  </a:lnTo>
                  <a:lnTo>
                    <a:pt x="153669" y="396240"/>
                  </a:lnTo>
                  <a:lnTo>
                    <a:pt x="179069" y="3962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8" name="object 68"/>
            <p:cNvSpPr/>
            <p:nvPr/>
          </p:nvSpPr>
          <p:spPr>
            <a:xfrm>
              <a:off x="3618229" y="253746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9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9" name="object 69"/>
            <p:cNvSpPr/>
            <p:nvPr/>
          </p:nvSpPr>
          <p:spPr>
            <a:xfrm>
              <a:off x="3445510" y="3131820"/>
              <a:ext cx="179070" cy="262890"/>
            </a:xfrm>
            <a:custGeom>
              <a:avLst/>
              <a:gdLst/>
              <a:ahLst/>
              <a:cxnLst/>
              <a:rect l="l" t="t" r="r" b="b"/>
              <a:pathLst>
                <a:path w="179070" h="262889">
                  <a:moveTo>
                    <a:pt x="0" y="262889"/>
                  </a:moveTo>
                  <a:lnTo>
                    <a:pt x="170179" y="262889"/>
                  </a:lnTo>
                  <a:lnTo>
                    <a:pt x="170179" y="0"/>
                  </a:lnTo>
                  <a:lnTo>
                    <a:pt x="17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0" name="object 70"/>
            <p:cNvSpPr/>
            <p:nvPr/>
          </p:nvSpPr>
          <p:spPr>
            <a:xfrm>
              <a:off x="3618229" y="307721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9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1" name="object 71"/>
            <p:cNvSpPr/>
            <p:nvPr/>
          </p:nvSpPr>
          <p:spPr>
            <a:xfrm>
              <a:off x="3445510" y="3394710"/>
              <a:ext cx="179070" cy="276860"/>
            </a:xfrm>
            <a:custGeom>
              <a:avLst/>
              <a:gdLst/>
              <a:ahLst/>
              <a:cxnLst/>
              <a:rect l="l" t="t" r="r" b="b"/>
              <a:pathLst>
                <a:path w="179070" h="276860">
                  <a:moveTo>
                    <a:pt x="0" y="0"/>
                  </a:moveTo>
                  <a:lnTo>
                    <a:pt x="170179" y="0"/>
                  </a:lnTo>
                  <a:lnTo>
                    <a:pt x="170179" y="276860"/>
                  </a:lnTo>
                  <a:lnTo>
                    <a:pt x="179069" y="2768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2" name="object 72"/>
            <p:cNvSpPr/>
            <p:nvPr/>
          </p:nvSpPr>
          <p:spPr>
            <a:xfrm>
              <a:off x="3616960" y="361696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3" name="object 73"/>
            <p:cNvSpPr/>
            <p:nvPr/>
          </p:nvSpPr>
          <p:spPr>
            <a:xfrm>
              <a:off x="3445510" y="3394710"/>
              <a:ext cx="1017269" cy="1212850"/>
            </a:xfrm>
            <a:custGeom>
              <a:avLst/>
              <a:gdLst/>
              <a:ahLst/>
              <a:cxnLst/>
              <a:rect l="l" t="t" r="r" b="b"/>
              <a:pathLst>
                <a:path w="1017270" h="1212850">
                  <a:moveTo>
                    <a:pt x="0" y="0"/>
                  </a:moveTo>
                  <a:lnTo>
                    <a:pt x="1017269" y="0"/>
                  </a:lnTo>
                  <a:lnTo>
                    <a:pt x="1017269" y="1212850"/>
                  </a:lnTo>
                  <a:lnTo>
                    <a:pt x="153669" y="1212850"/>
                  </a:lnTo>
                  <a:lnTo>
                    <a:pt x="153669" y="816610"/>
                  </a:lnTo>
                  <a:lnTo>
                    <a:pt x="179069" y="816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4" name="object 74"/>
            <p:cNvSpPr/>
            <p:nvPr/>
          </p:nvSpPr>
          <p:spPr>
            <a:xfrm>
              <a:off x="3616960" y="415671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5" name="object 75"/>
            <p:cNvSpPr/>
            <p:nvPr/>
          </p:nvSpPr>
          <p:spPr>
            <a:xfrm>
              <a:off x="4283710" y="252730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6" name="object 76"/>
            <p:cNvSpPr/>
            <p:nvPr/>
          </p:nvSpPr>
          <p:spPr>
            <a:xfrm>
              <a:off x="4589780" y="234061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69"/>
                  </a:lnTo>
                  <a:lnTo>
                    <a:pt x="5080" y="384810"/>
                  </a:lnTo>
                  <a:lnTo>
                    <a:pt x="91440" y="38353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7" name="object 77"/>
            <p:cNvSpPr/>
            <p:nvPr/>
          </p:nvSpPr>
          <p:spPr>
            <a:xfrm>
              <a:off x="4589780" y="234061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39"/>
                  </a:moveTo>
                  <a:lnTo>
                    <a:pt x="0" y="1269"/>
                  </a:lnTo>
                  <a:lnTo>
                    <a:pt x="85090" y="0"/>
                  </a:lnTo>
                  <a:lnTo>
                    <a:pt x="91440" y="383539"/>
                  </a:lnTo>
                  <a:lnTo>
                    <a:pt x="5080" y="384810"/>
                  </a:lnTo>
                  <a:lnTo>
                    <a:pt x="2540" y="19303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8" name="object 78"/>
            <p:cNvSpPr/>
            <p:nvPr/>
          </p:nvSpPr>
          <p:spPr>
            <a:xfrm>
              <a:off x="4594860" y="2618740"/>
              <a:ext cx="85090" cy="107950"/>
            </a:xfrm>
            <a:custGeom>
              <a:avLst/>
              <a:gdLst/>
              <a:ahLst/>
              <a:cxnLst/>
              <a:rect l="l" t="t" r="r" b="b"/>
              <a:pathLst>
                <a:path w="85089" h="107950">
                  <a:moveTo>
                    <a:pt x="44450" y="0"/>
                  </a:moveTo>
                  <a:lnTo>
                    <a:pt x="0" y="105410"/>
                  </a:lnTo>
                  <a:lnTo>
                    <a:pt x="85089" y="107950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9" name="object 79"/>
            <p:cNvSpPr/>
            <p:nvPr/>
          </p:nvSpPr>
          <p:spPr>
            <a:xfrm>
              <a:off x="4594860" y="261747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69"/>
                  </a:moveTo>
                  <a:lnTo>
                    <a:pt x="85089" y="109219"/>
                  </a:lnTo>
                  <a:lnTo>
                    <a:pt x="0" y="106679"/>
                  </a:lnTo>
                  <a:lnTo>
                    <a:pt x="44450" y="1269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89"/>
                  </a:moveTo>
                  <a:lnTo>
                    <a:pt x="8508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0" name="object 80"/>
            <p:cNvSpPr/>
            <p:nvPr/>
          </p:nvSpPr>
          <p:spPr>
            <a:xfrm>
              <a:off x="4409439" y="247396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1" name="object 81"/>
            <p:cNvSpPr/>
            <p:nvPr/>
          </p:nvSpPr>
          <p:spPr>
            <a:xfrm>
              <a:off x="4594860" y="2618740"/>
              <a:ext cx="85090" cy="107950"/>
            </a:xfrm>
            <a:custGeom>
              <a:avLst/>
              <a:gdLst/>
              <a:ahLst/>
              <a:cxnLst/>
              <a:rect l="l" t="t" r="r" b="b"/>
              <a:pathLst>
                <a:path w="85089" h="107950">
                  <a:moveTo>
                    <a:pt x="44450" y="0"/>
                  </a:moveTo>
                  <a:lnTo>
                    <a:pt x="0" y="105410"/>
                  </a:lnTo>
                  <a:lnTo>
                    <a:pt x="85089" y="107950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2" name="object 82"/>
            <p:cNvSpPr/>
            <p:nvPr/>
          </p:nvSpPr>
          <p:spPr>
            <a:xfrm>
              <a:off x="4594860" y="261747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69"/>
                  </a:moveTo>
                  <a:lnTo>
                    <a:pt x="85089" y="109219"/>
                  </a:lnTo>
                  <a:lnTo>
                    <a:pt x="0" y="106679"/>
                  </a:lnTo>
                  <a:lnTo>
                    <a:pt x="44450" y="1269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89"/>
                  </a:moveTo>
                  <a:lnTo>
                    <a:pt x="8508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3" name="object 83"/>
            <p:cNvSpPr/>
            <p:nvPr/>
          </p:nvSpPr>
          <p:spPr>
            <a:xfrm>
              <a:off x="4283710" y="252730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4" name="object 84"/>
            <p:cNvSpPr/>
            <p:nvPr/>
          </p:nvSpPr>
          <p:spPr>
            <a:xfrm>
              <a:off x="4409439" y="247396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5" name="object 85"/>
            <p:cNvSpPr/>
            <p:nvPr/>
          </p:nvSpPr>
          <p:spPr>
            <a:xfrm>
              <a:off x="4589780" y="295148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40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6" name="object 86"/>
            <p:cNvSpPr/>
            <p:nvPr/>
          </p:nvSpPr>
          <p:spPr>
            <a:xfrm>
              <a:off x="4589780" y="295148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40"/>
                  </a:moveTo>
                  <a:lnTo>
                    <a:pt x="0" y="1270"/>
                  </a:lnTo>
                  <a:lnTo>
                    <a:pt x="85090" y="0"/>
                  </a:lnTo>
                  <a:lnTo>
                    <a:pt x="91440" y="383540"/>
                  </a:lnTo>
                  <a:lnTo>
                    <a:pt x="5080" y="384810"/>
                  </a:lnTo>
                  <a:lnTo>
                    <a:pt x="2540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7" name="object 87"/>
            <p:cNvSpPr/>
            <p:nvPr/>
          </p:nvSpPr>
          <p:spPr>
            <a:xfrm>
              <a:off x="4594860" y="322961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4450" y="0"/>
                  </a:moveTo>
                  <a:lnTo>
                    <a:pt x="0" y="106679"/>
                  </a:lnTo>
                  <a:lnTo>
                    <a:pt x="85089" y="109219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8" name="object 88"/>
            <p:cNvSpPr/>
            <p:nvPr/>
          </p:nvSpPr>
          <p:spPr>
            <a:xfrm>
              <a:off x="4594860" y="322834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70"/>
                  </a:moveTo>
                  <a:lnTo>
                    <a:pt x="85089" y="110489"/>
                  </a:lnTo>
                  <a:lnTo>
                    <a:pt x="0" y="107950"/>
                  </a:lnTo>
                  <a:lnTo>
                    <a:pt x="44450" y="1270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89"/>
                  </a:moveTo>
                  <a:lnTo>
                    <a:pt x="8508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9" name="object 89"/>
            <p:cNvSpPr/>
            <p:nvPr/>
          </p:nvSpPr>
          <p:spPr>
            <a:xfrm>
              <a:off x="4283710" y="313944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0" name="object 90"/>
            <p:cNvSpPr/>
            <p:nvPr/>
          </p:nvSpPr>
          <p:spPr>
            <a:xfrm>
              <a:off x="4409439" y="308610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1" name="object 91"/>
            <p:cNvSpPr/>
            <p:nvPr/>
          </p:nvSpPr>
          <p:spPr>
            <a:xfrm>
              <a:off x="4594860" y="322961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4450" y="0"/>
                  </a:moveTo>
                  <a:lnTo>
                    <a:pt x="0" y="106679"/>
                  </a:lnTo>
                  <a:lnTo>
                    <a:pt x="85089" y="109219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2" name="object 92"/>
            <p:cNvSpPr/>
            <p:nvPr/>
          </p:nvSpPr>
          <p:spPr>
            <a:xfrm>
              <a:off x="4594860" y="322834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70"/>
                  </a:moveTo>
                  <a:lnTo>
                    <a:pt x="85089" y="110489"/>
                  </a:lnTo>
                  <a:lnTo>
                    <a:pt x="0" y="107950"/>
                  </a:lnTo>
                  <a:lnTo>
                    <a:pt x="44450" y="1270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89"/>
                  </a:moveTo>
                  <a:lnTo>
                    <a:pt x="8508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3" name="object 93"/>
            <p:cNvSpPr/>
            <p:nvPr/>
          </p:nvSpPr>
          <p:spPr>
            <a:xfrm>
              <a:off x="4283710" y="313944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4" name="object 94"/>
            <p:cNvSpPr/>
            <p:nvPr/>
          </p:nvSpPr>
          <p:spPr>
            <a:xfrm>
              <a:off x="4409439" y="308610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5" name="object 95"/>
            <p:cNvSpPr/>
            <p:nvPr/>
          </p:nvSpPr>
          <p:spPr>
            <a:xfrm>
              <a:off x="4589780" y="349123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40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6" name="object 96"/>
            <p:cNvSpPr/>
            <p:nvPr/>
          </p:nvSpPr>
          <p:spPr>
            <a:xfrm>
              <a:off x="4589780" y="349123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40"/>
                  </a:moveTo>
                  <a:lnTo>
                    <a:pt x="0" y="1270"/>
                  </a:lnTo>
                  <a:lnTo>
                    <a:pt x="85090" y="0"/>
                  </a:lnTo>
                  <a:lnTo>
                    <a:pt x="91440" y="383540"/>
                  </a:lnTo>
                  <a:lnTo>
                    <a:pt x="5080" y="384810"/>
                  </a:lnTo>
                  <a:lnTo>
                    <a:pt x="2540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7" name="object 97"/>
            <p:cNvSpPr/>
            <p:nvPr/>
          </p:nvSpPr>
          <p:spPr>
            <a:xfrm>
              <a:off x="4594860" y="376936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4450" y="0"/>
                  </a:moveTo>
                  <a:lnTo>
                    <a:pt x="0" y="106679"/>
                  </a:lnTo>
                  <a:lnTo>
                    <a:pt x="85089" y="109219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8" name="object 98"/>
            <p:cNvSpPr/>
            <p:nvPr/>
          </p:nvSpPr>
          <p:spPr>
            <a:xfrm>
              <a:off x="4594860" y="376809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70"/>
                  </a:moveTo>
                  <a:lnTo>
                    <a:pt x="85089" y="110489"/>
                  </a:lnTo>
                  <a:lnTo>
                    <a:pt x="0" y="107950"/>
                  </a:lnTo>
                  <a:lnTo>
                    <a:pt x="44450" y="1270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89"/>
                  </a:moveTo>
                  <a:lnTo>
                    <a:pt x="8508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9" name="object 99"/>
            <p:cNvSpPr/>
            <p:nvPr/>
          </p:nvSpPr>
          <p:spPr>
            <a:xfrm>
              <a:off x="4283710" y="367919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409439" y="3624580"/>
              <a:ext cx="162560" cy="109220"/>
            </a:xfrm>
            <a:custGeom>
              <a:avLst/>
              <a:gdLst/>
              <a:ahLst/>
              <a:cxnLst/>
              <a:rect l="l" t="t" r="r" b="b"/>
              <a:pathLst>
                <a:path w="162560" h="109220">
                  <a:moveTo>
                    <a:pt x="0" y="0"/>
                  </a:moveTo>
                  <a:lnTo>
                    <a:pt x="0" y="10922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594860" y="376936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4450" y="0"/>
                  </a:moveTo>
                  <a:lnTo>
                    <a:pt x="0" y="106679"/>
                  </a:lnTo>
                  <a:lnTo>
                    <a:pt x="85089" y="109219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594860" y="376809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70"/>
                  </a:moveTo>
                  <a:lnTo>
                    <a:pt x="85089" y="110489"/>
                  </a:lnTo>
                  <a:lnTo>
                    <a:pt x="0" y="107950"/>
                  </a:lnTo>
                  <a:lnTo>
                    <a:pt x="44450" y="1270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89"/>
                  </a:moveTo>
                  <a:lnTo>
                    <a:pt x="8508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283710" y="367919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409439" y="3624580"/>
              <a:ext cx="162560" cy="109220"/>
            </a:xfrm>
            <a:custGeom>
              <a:avLst/>
              <a:gdLst/>
              <a:ahLst/>
              <a:cxnLst/>
              <a:rect l="l" t="t" r="r" b="b"/>
              <a:pathLst>
                <a:path w="162560" h="109220">
                  <a:moveTo>
                    <a:pt x="0" y="0"/>
                  </a:moveTo>
                  <a:lnTo>
                    <a:pt x="0" y="10922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589780" y="403098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40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589780" y="403098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40"/>
                  </a:moveTo>
                  <a:lnTo>
                    <a:pt x="0" y="1270"/>
                  </a:lnTo>
                  <a:lnTo>
                    <a:pt x="85090" y="0"/>
                  </a:lnTo>
                  <a:lnTo>
                    <a:pt x="91440" y="383540"/>
                  </a:lnTo>
                  <a:lnTo>
                    <a:pt x="5080" y="384810"/>
                  </a:lnTo>
                  <a:lnTo>
                    <a:pt x="2540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594860" y="430911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4450" y="0"/>
                  </a:moveTo>
                  <a:lnTo>
                    <a:pt x="0" y="106679"/>
                  </a:lnTo>
                  <a:lnTo>
                    <a:pt x="85089" y="109219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594860" y="430784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70"/>
                  </a:moveTo>
                  <a:lnTo>
                    <a:pt x="85089" y="110490"/>
                  </a:lnTo>
                  <a:lnTo>
                    <a:pt x="0" y="107950"/>
                  </a:lnTo>
                  <a:lnTo>
                    <a:pt x="44450" y="1270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90"/>
                  </a:moveTo>
                  <a:lnTo>
                    <a:pt x="85089" y="11049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283710" y="421894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409439" y="416433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594860" y="430911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4450" y="0"/>
                  </a:moveTo>
                  <a:lnTo>
                    <a:pt x="0" y="106679"/>
                  </a:lnTo>
                  <a:lnTo>
                    <a:pt x="85089" y="109219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594860" y="4307840"/>
              <a:ext cx="85090" cy="110489"/>
            </a:xfrm>
            <a:custGeom>
              <a:avLst/>
              <a:gdLst/>
              <a:ahLst/>
              <a:cxnLst/>
              <a:rect l="l" t="t" r="r" b="b"/>
              <a:pathLst>
                <a:path w="85089" h="110489">
                  <a:moveTo>
                    <a:pt x="44450" y="1270"/>
                  </a:moveTo>
                  <a:lnTo>
                    <a:pt x="85089" y="110490"/>
                  </a:lnTo>
                  <a:lnTo>
                    <a:pt x="0" y="107950"/>
                  </a:lnTo>
                  <a:lnTo>
                    <a:pt x="44450" y="1270"/>
                  </a:lnTo>
                  <a:close/>
                </a:path>
                <a:path w="85089" h="110489">
                  <a:moveTo>
                    <a:pt x="2539" y="0"/>
                  </a:moveTo>
                  <a:lnTo>
                    <a:pt x="2539" y="0"/>
                  </a:lnTo>
                </a:path>
                <a:path w="85089" h="110489">
                  <a:moveTo>
                    <a:pt x="85089" y="110490"/>
                  </a:moveTo>
                  <a:lnTo>
                    <a:pt x="85089" y="11049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283710" y="421894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409439" y="416433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678680" y="315722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805680" y="310388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90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678680" y="364363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804410" y="358902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678680" y="423799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804410" y="418338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968239" y="2914650"/>
              <a:ext cx="502920" cy="433070"/>
            </a:xfrm>
            <a:custGeom>
              <a:avLst/>
              <a:gdLst/>
              <a:ahLst/>
              <a:cxnLst/>
              <a:rect l="l" t="t" r="r" b="b"/>
              <a:pathLst>
                <a:path w="502920" h="433070">
                  <a:moveTo>
                    <a:pt x="502920" y="0"/>
                  </a:moveTo>
                  <a:lnTo>
                    <a:pt x="0" y="0"/>
                  </a:lnTo>
                  <a:lnTo>
                    <a:pt x="0" y="433070"/>
                  </a:lnTo>
                  <a:lnTo>
                    <a:pt x="502920" y="4330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968239" y="2914650"/>
              <a:ext cx="502920" cy="433070"/>
            </a:xfrm>
            <a:custGeom>
              <a:avLst/>
              <a:gdLst/>
              <a:ahLst/>
              <a:cxnLst/>
              <a:rect l="l" t="t" r="r" b="b"/>
              <a:pathLst>
                <a:path w="502920" h="433070">
                  <a:moveTo>
                    <a:pt x="251460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502920" y="0"/>
                  </a:lnTo>
                  <a:lnTo>
                    <a:pt x="502920" y="433070"/>
                  </a:lnTo>
                  <a:lnTo>
                    <a:pt x="251460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6294712" y="1994664"/>
            <a:ext cx="342324" cy="273255"/>
          </a:xfrm>
          <a:prstGeom prst="rect">
            <a:avLst/>
          </a:prstGeom>
        </p:spPr>
        <p:txBody>
          <a:bodyPr vert="horz" wrap="square" lIns="0" tIns="864" rIns="0" bIns="0" rtlCol="0">
            <a:spAutoFit/>
          </a:bodyPr>
          <a:lstStyle/>
          <a:p>
            <a:pPr marL="38902">
              <a:spcBef>
                <a:spcPts val="7"/>
              </a:spcBef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L1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6293847" y="2362056"/>
            <a:ext cx="343188" cy="294779"/>
            <a:chOff x="4966970" y="3454400"/>
            <a:chExt cx="504190" cy="433070"/>
          </a:xfrm>
        </p:grpSpPr>
        <p:sp>
          <p:nvSpPr>
            <p:cNvPr id="125" name="object 125"/>
            <p:cNvSpPr/>
            <p:nvPr/>
          </p:nvSpPr>
          <p:spPr>
            <a:xfrm>
              <a:off x="4966970" y="3454400"/>
              <a:ext cx="504190" cy="433070"/>
            </a:xfrm>
            <a:custGeom>
              <a:avLst/>
              <a:gdLst/>
              <a:ahLst/>
              <a:cxnLst/>
              <a:rect l="l" t="t" r="r" b="b"/>
              <a:pathLst>
                <a:path w="504189" h="433070">
                  <a:moveTo>
                    <a:pt x="504189" y="0"/>
                  </a:moveTo>
                  <a:lnTo>
                    <a:pt x="0" y="0"/>
                  </a:lnTo>
                  <a:lnTo>
                    <a:pt x="0" y="433070"/>
                  </a:lnTo>
                  <a:lnTo>
                    <a:pt x="504189" y="43307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966970" y="3454400"/>
              <a:ext cx="504190" cy="433070"/>
            </a:xfrm>
            <a:custGeom>
              <a:avLst/>
              <a:gdLst/>
              <a:ahLst/>
              <a:cxnLst/>
              <a:rect l="l" t="t" r="r" b="b"/>
              <a:pathLst>
                <a:path w="504189" h="433070">
                  <a:moveTo>
                    <a:pt x="252729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3070"/>
                  </a:lnTo>
                  <a:lnTo>
                    <a:pt x="252729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6293847" y="2362057"/>
            <a:ext cx="343188" cy="273255"/>
          </a:xfrm>
          <a:prstGeom prst="rect">
            <a:avLst/>
          </a:prstGeom>
        </p:spPr>
        <p:txBody>
          <a:bodyPr vert="horz" wrap="square" lIns="0" tIns="864" rIns="0" bIns="0" rtlCol="0">
            <a:spAutoFit/>
          </a:bodyPr>
          <a:lstStyle/>
          <a:p>
            <a:pPr marL="33283">
              <a:spcBef>
                <a:spcPts val="7"/>
              </a:spcBef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S1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6293847" y="2729449"/>
            <a:ext cx="343188" cy="293914"/>
            <a:chOff x="4966970" y="3994150"/>
            <a:chExt cx="504190" cy="431800"/>
          </a:xfrm>
        </p:grpSpPr>
        <p:sp>
          <p:nvSpPr>
            <p:cNvPr id="129" name="object 129"/>
            <p:cNvSpPr/>
            <p:nvPr/>
          </p:nvSpPr>
          <p:spPr>
            <a:xfrm>
              <a:off x="4966970" y="399415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966970" y="399415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145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145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6293847" y="2729450"/>
            <a:ext cx="343188" cy="273255"/>
          </a:xfrm>
          <a:prstGeom prst="rect">
            <a:avLst/>
          </a:prstGeom>
        </p:spPr>
        <p:txBody>
          <a:bodyPr vert="horz" wrap="square" lIns="0" tIns="864" rIns="0" bIns="0" rtlCol="0">
            <a:spAutoFit/>
          </a:bodyPr>
          <a:lstStyle/>
          <a:p>
            <a:pPr marL="33283">
              <a:spcBef>
                <a:spcPts val="7"/>
              </a:spcBef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Y1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6636603" y="2019732"/>
            <a:ext cx="808697" cy="1003631"/>
            <a:chOff x="5470525" y="2951479"/>
            <a:chExt cx="1188085" cy="1474470"/>
          </a:xfrm>
        </p:grpSpPr>
        <p:sp>
          <p:nvSpPr>
            <p:cNvPr id="133" name="object 133"/>
            <p:cNvSpPr/>
            <p:nvPr/>
          </p:nvSpPr>
          <p:spPr>
            <a:xfrm>
              <a:off x="5472430" y="313943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783579" y="3228339"/>
              <a:ext cx="85090" cy="1104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598160" y="308482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777229" y="295147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40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777229" y="295147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40"/>
                  </a:moveTo>
                  <a:lnTo>
                    <a:pt x="0" y="1270"/>
                  </a:lnTo>
                  <a:lnTo>
                    <a:pt x="85090" y="0"/>
                  </a:lnTo>
                  <a:lnTo>
                    <a:pt x="91440" y="383540"/>
                  </a:lnTo>
                  <a:lnTo>
                    <a:pt x="5080" y="384810"/>
                  </a:lnTo>
                  <a:lnTo>
                    <a:pt x="2540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783579" y="3228339"/>
              <a:ext cx="85090" cy="1104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471160" y="313943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598160" y="308482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1" name="object 141"/>
            <p:cNvSpPr/>
            <p:nvPr/>
          </p:nvSpPr>
          <p:spPr>
            <a:xfrm>
              <a:off x="5783579" y="3768089"/>
              <a:ext cx="85090" cy="11048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2" name="object 142"/>
            <p:cNvSpPr/>
            <p:nvPr/>
          </p:nvSpPr>
          <p:spPr>
            <a:xfrm>
              <a:off x="5472430" y="367918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3" name="object 143"/>
            <p:cNvSpPr/>
            <p:nvPr/>
          </p:nvSpPr>
          <p:spPr>
            <a:xfrm>
              <a:off x="5598160" y="362457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777229" y="349122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40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5" name="object 145"/>
            <p:cNvSpPr/>
            <p:nvPr/>
          </p:nvSpPr>
          <p:spPr>
            <a:xfrm>
              <a:off x="5777229" y="349122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40"/>
                  </a:moveTo>
                  <a:lnTo>
                    <a:pt x="0" y="1270"/>
                  </a:lnTo>
                  <a:lnTo>
                    <a:pt x="85090" y="0"/>
                  </a:lnTo>
                  <a:lnTo>
                    <a:pt x="91440" y="383540"/>
                  </a:lnTo>
                  <a:lnTo>
                    <a:pt x="5080" y="384810"/>
                  </a:lnTo>
                  <a:lnTo>
                    <a:pt x="2540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6" name="object 146"/>
            <p:cNvSpPr/>
            <p:nvPr/>
          </p:nvSpPr>
          <p:spPr>
            <a:xfrm>
              <a:off x="5783579" y="3768089"/>
              <a:ext cx="85090" cy="11048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7" name="object 147"/>
            <p:cNvSpPr/>
            <p:nvPr/>
          </p:nvSpPr>
          <p:spPr>
            <a:xfrm>
              <a:off x="5471160" y="367918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8" name="object 148"/>
            <p:cNvSpPr/>
            <p:nvPr/>
          </p:nvSpPr>
          <p:spPr>
            <a:xfrm>
              <a:off x="5598160" y="362457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9" name="object 149"/>
            <p:cNvSpPr/>
            <p:nvPr/>
          </p:nvSpPr>
          <p:spPr>
            <a:xfrm>
              <a:off x="5783579" y="4307839"/>
              <a:ext cx="85090" cy="11049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0" name="object 150"/>
            <p:cNvSpPr/>
            <p:nvPr/>
          </p:nvSpPr>
          <p:spPr>
            <a:xfrm>
              <a:off x="5472430" y="421893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1" name="object 151"/>
            <p:cNvSpPr/>
            <p:nvPr/>
          </p:nvSpPr>
          <p:spPr>
            <a:xfrm>
              <a:off x="5598160" y="416432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2" name="object 152"/>
            <p:cNvSpPr/>
            <p:nvPr/>
          </p:nvSpPr>
          <p:spPr>
            <a:xfrm>
              <a:off x="5777229" y="403097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90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40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3" name="object 153"/>
            <p:cNvSpPr/>
            <p:nvPr/>
          </p:nvSpPr>
          <p:spPr>
            <a:xfrm>
              <a:off x="5777229" y="403097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40" y="193040"/>
                  </a:moveTo>
                  <a:lnTo>
                    <a:pt x="0" y="1270"/>
                  </a:lnTo>
                  <a:lnTo>
                    <a:pt x="85090" y="0"/>
                  </a:lnTo>
                  <a:lnTo>
                    <a:pt x="91440" y="383540"/>
                  </a:lnTo>
                  <a:lnTo>
                    <a:pt x="5080" y="384810"/>
                  </a:lnTo>
                  <a:lnTo>
                    <a:pt x="2540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4" name="object 154"/>
            <p:cNvSpPr/>
            <p:nvPr/>
          </p:nvSpPr>
          <p:spPr>
            <a:xfrm>
              <a:off x="5783579" y="4307839"/>
              <a:ext cx="85090" cy="11049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471160" y="421893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598160" y="416432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7" name="object 157"/>
            <p:cNvSpPr/>
            <p:nvPr/>
          </p:nvSpPr>
          <p:spPr>
            <a:xfrm>
              <a:off x="5866129" y="423671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8" name="object 158"/>
            <p:cNvSpPr/>
            <p:nvPr/>
          </p:nvSpPr>
          <p:spPr>
            <a:xfrm>
              <a:off x="5993130" y="418337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90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154419" y="3994149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90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0" name="object 160"/>
            <p:cNvSpPr/>
            <p:nvPr/>
          </p:nvSpPr>
          <p:spPr>
            <a:xfrm>
              <a:off x="6154419" y="3994149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90" h="431800">
                  <a:moveTo>
                    <a:pt x="25272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272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61" name="object 161"/>
          <p:cNvSpPr txBox="1"/>
          <p:nvPr/>
        </p:nvSpPr>
        <p:spPr>
          <a:xfrm>
            <a:off x="7102112" y="2729449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83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Y2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7653633" y="2729449"/>
            <a:ext cx="599931" cy="293914"/>
            <a:chOff x="6964680" y="3994150"/>
            <a:chExt cx="881380" cy="431800"/>
          </a:xfrm>
        </p:grpSpPr>
        <p:sp>
          <p:nvSpPr>
            <p:cNvPr id="163" name="object 163"/>
            <p:cNvSpPr/>
            <p:nvPr/>
          </p:nvSpPr>
          <p:spPr>
            <a:xfrm>
              <a:off x="6969760" y="4306570"/>
              <a:ext cx="86360" cy="11049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4" name="object 164"/>
            <p:cNvSpPr/>
            <p:nvPr/>
          </p:nvSpPr>
          <p:spPr>
            <a:xfrm>
              <a:off x="6964680" y="402970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40" h="384810">
                  <a:moveTo>
                    <a:pt x="85090" y="0"/>
                  </a:moveTo>
                  <a:lnTo>
                    <a:pt x="0" y="2539"/>
                  </a:lnTo>
                  <a:lnTo>
                    <a:pt x="5079" y="384809"/>
                  </a:lnTo>
                  <a:lnTo>
                    <a:pt x="91440" y="38480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5" name="object 165"/>
            <p:cNvSpPr/>
            <p:nvPr/>
          </p:nvSpPr>
          <p:spPr>
            <a:xfrm>
              <a:off x="6964680" y="402970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40" h="384810">
                  <a:moveTo>
                    <a:pt x="2540" y="194310"/>
                  </a:moveTo>
                  <a:lnTo>
                    <a:pt x="0" y="2539"/>
                  </a:lnTo>
                  <a:lnTo>
                    <a:pt x="85090" y="0"/>
                  </a:lnTo>
                  <a:lnTo>
                    <a:pt x="91440" y="384809"/>
                  </a:lnTo>
                  <a:lnTo>
                    <a:pt x="5079" y="384809"/>
                  </a:lnTo>
                  <a:lnTo>
                    <a:pt x="2540" y="19431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6" name="object 166"/>
            <p:cNvSpPr/>
            <p:nvPr/>
          </p:nvSpPr>
          <p:spPr>
            <a:xfrm>
              <a:off x="6969760" y="4306570"/>
              <a:ext cx="86360" cy="11049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053580" y="423672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179310" y="418337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60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341870" y="399415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90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341870" y="399415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90" h="431800">
                  <a:moveTo>
                    <a:pt x="25272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272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7910375" y="2729449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83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Y3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7444003" y="2166689"/>
            <a:ext cx="1619554" cy="850623"/>
            <a:chOff x="6656705" y="3167379"/>
            <a:chExt cx="2379345" cy="1249680"/>
          </a:xfrm>
        </p:grpSpPr>
        <p:sp>
          <p:nvSpPr>
            <p:cNvPr id="173" name="object 173"/>
            <p:cNvSpPr/>
            <p:nvPr/>
          </p:nvSpPr>
          <p:spPr>
            <a:xfrm>
              <a:off x="6657340" y="421893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4" name="object 174"/>
            <p:cNvSpPr/>
            <p:nvPr/>
          </p:nvSpPr>
          <p:spPr>
            <a:xfrm>
              <a:off x="6783070" y="416432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846060" y="4218939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79">
                  <a:moveTo>
                    <a:pt x="0" y="0"/>
                  </a:moveTo>
                  <a:lnTo>
                    <a:pt x="1320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6" name="object 176"/>
            <p:cNvSpPr/>
            <p:nvPr/>
          </p:nvSpPr>
          <p:spPr>
            <a:xfrm>
              <a:off x="8158480" y="4306569"/>
              <a:ext cx="85090" cy="11049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7" name="object 177"/>
            <p:cNvSpPr/>
            <p:nvPr/>
          </p:nvSpPr>
          <p:spPr>
            <a:xfrm>
              <a:off x="8152130" y="402970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40" h="384810">
                  <a:moveTo>
                    <a:pt x="86360" y="0"/>
                  </a:moveTo>
                  <a:lnTo>
                    <a:pt x="0" y="1269"/>
                  </a:lnTo>
                  <a:lnTo>
                    <a:pt x="2540" y="193039"/>
                  </a:lnTo>
                  <a:lnTo>
                    <a:pt x="6350" y="384809"/>
                  </a:lnTo>
                  <a:lnTo>
                    <a:pt x="91440" y="383539"/>
                  </a:lnTo>
                  <a:lnTo>
                    <a:pt x="8636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8" name="object 178"/>
            <p:cNvSpPr/>
            <p:nvPr/>
          </p:nvSpPr>
          <p:spPr>
            <a:xfrm>
              <a:off x="8152130" y="402970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40" h="384810">
                  <a:moveTo>
                    <a:pt x="2540" y="193039"/>
                  </a:moveTo>
                  <a:lnTo>
                    <a:pt x="0" y="1269"/>
                  </a:lnTo>
                  <a:lnTo>
                    <a:pt x="86360" y="0"/>
                  </a:lnTo>
                  <a:lnTo>
                    <a:pt x="91440" y="383539"/>
                  </a:lnTo>
                  <a:lnTo>
                    <a:pt x="6350" y="384809"/>
                  </a:lnTo>
                  <a:lnTo>
                    <a:pt x="2540" y="19303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9" name="object 179"/>
            <p:cNvSpPr/>
            <p:nvPr/>
          </p:nvSpPr>
          <p:spPr>
            <a:xfrm>
              <a:off x="8158480" y="4306569"/>
              <a:ext cx="85090" cy="11049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971790" y="416432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90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1" name="object 181"/>
            <p:cNvSpPr/>
            <p:nvPr/>
          </p:nvSpPr>
          <p:spPr>
            <a:xfrm>
              <a:off x="8604250" y="3167379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2" name="object 182"/>
            <p:cNvSpPr/>
            <p:nvPr/>
          </p:nvSpPr>
          <p:spPr>
            <a:xfrm>
              <a:off x="8604250" y="3167379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9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1800"/>
                  </a:lnTo>
                  <a:lnTo>
                    <a:pt x="215900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83" name="object 183"/>
          <p:cNvSpPr txBox="1"/>
          <p:nvPr/>
        </p:nvSpPr>
        <p:spPr>
          <a:xfrm>
            <a:off x="8769643" y="2166689"/>
            <a:ext cx="293914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31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W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6096320" y="1734031"/>
            <a:ext cx="2673323" cy="1150588"/>
            <a:chOff x="4676775" y="2531745"/>
            <a:chExt cx="3927475" cy="1690370"/>
          </a:xfrm>
        </p:grpSpPr>
        <p:sp>
          <p:nvSpPr>
            <p:cNvPr id="185" name="object 185"/>
            <p:cNvSpPr/>
            <p:nvPr/>
          </p:nvSpPr>
          <p:spPr>
            <a:xfrm>
              <a:off x="4677410" y="2532380"/>
              <a:ext cx="3771900" cy="850900"/>
            </a:xfrm>
            <a:custGeom>
              <a:avLst/>
              <a:gdLst/>
              <a:ahLst/>
              <a:cxnLst/>
              <a:rect l="l" t="t" r="r" b="b"/>
              <a:pathLst>
                <a:path w="3771900" h="850900">
                  <a:moveTo>
                    <a:pt x="0" y="0"/>
                  </a:moveTo>
                  <a:lnTo>
                    <a:pt x="1964689" y="0"/>
                  </a:lnTo>
                  <a:lnTo>
                    <a:pt x="1964689" y="850900"/>
                  </a:lnTo>
                  <a:lnTo>
                    <a:pt x="3771899" y="850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6" name="object 186"/>
            <p:cNvSpPr/>
            <p:nvPr/>
          </p:nvSpPr>
          <p:spPr>
            <a:xfrm>
              <a:off x="8441690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7" name="object 187"/>
            <p:cNvSpPr/>
            <p:nvPr/>
          </p:nvSpPr>
          <p:spPr>
            <a:xfrm>
              <a:off x="5864860" y="3143250"/>
              <a:ext cx="2584450" cy="240029"/>
            </a:xfrm>
            <a:custGeom>
              <a:avLst/>
              <a:gdLst/>
              <a:ahLst/>
              <a:cxnLst/>
              <a:rect l="l" t="t" r="r" b="b"/>
              <a:pathLst>
                <a:path w="2584450" h="240029">
                  <a:moveTo>
                    <a:pt x="0" y="0"/>
                  </a:moveTo>
                  <a:lnTo>
                    <a:pt x="1371599" y="0"/>
                  </a:lnTo>
                  <a:lnTo>
                    <a:pt x="1371599" y="240029"/>
                  </a:lnTo>
                  <a:lnTo>
                    <a:pt x="2584449" y="2400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8" name="object 188"/>
            <p:cNvSpPr/>
            <p:nvPr/>
          </p:nvSpPr>
          <p:spPr>
            <a:xfrm>
              <a:off x="8441690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9" name="object 189"/>
            <p:cNvSpPr/>
            <p:nvPr/>
          </p:nvSpPr>
          <p:spPr>
            <a:xfrm>
              <a:off x="5864860" y="3383280"/>
              <a:ext cx="2584450" cy="299720"/>
            </a:xfrm>
            <a:custGeom>
              <a:avLst/>
              <a:gdLst/>
              <a:ahLst/>
              <a:cxnLst/>
              <a:rect l="l" t="t" r="r" b="b"/>
              <a:pathLst>
                <a:path w="2584450" h="299720">
                  <a:moveTo>
                    <a:pt x="0" y="299720"/>
                  </a:moveTo>
                  <a:lnTo>
                    <a:pt x="1371599" y="299720"/>
                  </a:lnTo>
                  <a:lnTo>
                    <a:pt x="1371599" y="0"/>
                  </a:lnTo>
                  <a:lnTo>
                    <a:pt x="25844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0" name="object 190"/>
            <p:cNvSpPr/>
            <p:nvPr/>
          </p:nvSpPr>
          <p:spPr>
            <a:xfrm>
              <a:off x="8441690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1" name="object 191"/>
            <p:cNvSpPr/>
            <p:nvPr/>
          </p:nvSpPr>
          <p:spPr>
            <a:xfrm>
              <a:off x="8241029" y="3383280"/>
              <a:ext cx="208279" cy="838200"/>
            </a:xfrm>
            <a:custGeom>
              <a:avLst/>
              <a:gdLst/>
              <a:ahLst/>
              <a:cxnLst/>
              <a:rect l="l" t="t" r="r" b="b"/>
              <a:pathLst>
                <a:path w="208279" h="838200">
                  <a:moveTo>
                    <a:pt x="0" y="838200"/>
                  </a:moveTo>
                  <a:lnTo>
                    <a:pt x="182879" y="838200"/>
                  </a:lnTo>
                  <a:lnTo>
                    <a:pt x="182879" y="431800"/>
                  </a:lnTo>
                  <a:lnTo>
                    <a:pt x="182879" y="0"/>
                  </a:lnTo>
                  <a:lnTo>
                    <a:pt x="208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2" name="object 192"/>
            <p:cNvSpPr/>
            <p:nvPr/>
          </p:nvSpPr>
          <p:spPr>
            <a:xfrm>
              <a:off x="8441690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93" name="object 193"/>
          <p:cNvSpPr txBox="1"/>
          <p:nvPr/>
        </p:nvSpPr>
        <p:spPr>
          <a:xfrm>
            <a:off x="7985582" y="1089581"/>
            <a:ext cx="931017" cy="259218"/>
          </a:xfrm>
          <a:prstGeom prst="rect">
            <a:avLst/>
          </a:prstGeom>
          <a:solidFill>
            <a:srgbClr val="CEE6F4"/>
          </a:solidFill>
          <a:ln w="3175">
            <a:solidFill>
              <a:srgbClr val="7F7F7F"/>
            </a:solidFill>
          </a:ln>
        </p:spPr>
        <p:txBody>
          <a:bodyPr vert="horz" wrap="square" lIns="0" tIns="70021" rIns="0" bIns="0" rtlCol="0">
            <a:spAutoFit/>
          </a:bodyPr>
          <a:lstStyle/>
          <a:p>
            <a:pPr algn="ctr">
              <a:spcBef>
                <a:spcPts val="551"/>
              </a:spcBef>
            </a:pPr>
            <a:r>
              <a:rPr sz="1225" b="1" spc="-7" dirty="0">
                <a:solidFill>
                  <a:srgbClr val="3B3B3B"/>
                </a:solidFill>
                <a:latin typeface="Arial"/>
                <a:cs typeface="Arial"/>
              </a:rPr>
              <a:t>SRF</a:t>
            </a:r>
            <a:endParaRPr sz="1225">
              <a:latin typeface="Arial"/>
              <a:cs typeface="Arial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7985582" y="1481178"/>
            <a:ext cx="931017" cy="259218"/>
          </a:xfrm>
          <a:prstGeom prst="rect">
            <a:avLst/>
          </a:prstGeom>
          <a:solidFill>
            <a:srgbClr val="CEE6F4"/>
          </a:solidFill>
          <a:ln w="3175">
            <a:solidFill>
              <a:srgbClr val="7F7F7F"/>
            </a:solidFill>
          </a:ln>
        </p:spPr>
        <p:txBody>
          <a:bodyPr vert="horz" wrap="square" lIns="0" tIns="70021" rIns="0" bIns="0" rtlCol="0">
            <a:spAutoFit/>
          </a:bodyPr>
          <a:lstStyle/>
          <a:p>
            <a:pPr marL="309486">
              <a:spcBef>
                <a:spcPts val="551"/>
              </a:spcBef>
            </a:pPr>
            <a:r>
              <a:rPr sz="1225" b="1" spc="-3" dirty="0">
                <a:solidFill>
                  <a:srgbClr val="3B3B3B"/>
                </a:solidFill>
                <a:latin typeface="Arial"/>
                <a:cs typeface="Arial"/>
              </a:rPr>
              <a:t>VRF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5510652" y="3220458"/>
            <a:ext cx="343188" cy="294779"/>
            <a:chOff x="3816350" y="4715509"/>
            <a:chExt cx="504190" cy="433070"/>
          </a:xfrm>
        </p:grpSpPr>
        <p:sp>
          <p:nvSpPr>
            <p:cNvPr id="196" name="object 196"/>
            <p:cNvSpPr/>
            <p:nvPr/>
          </p:nvSpPr>
          <p:spPr>
            <a:xfrm>
              <a:off x="3816350" y="4715509"/>
              <a:ext cx="504190" cy="433070"/>
            </a:xfrm>
            <a:custGeom>
              <a:avLst/>
              <a:gdLst/>
              <a:ahLst/>
              <a:cxnLst/>
              <a:rect l="l" t="t" r="r" b="b"/>
              <a:pathLst>
                <a:path w="504189" h="433070">
                  <a:moveTo>
                    <a:pt x="504189" y="0"/>
                  </a:moveTo>
                  <a:lnTo>
                    <a:pt x="0" y="0"/>
                  </a:lnTo>
                  <a:lnTo>
                    <a:pt x="0" y="433069"/>
                  </a:lnTo>
                  <a:lnTo>
                    <a:pt x="504189" y="433069"/>
                  </a:lnTo>
                  <a:close/>
                </a:path>
              </a:pathLst>
            </a:custGeom>
            <a:solidFill>
              <a:srgbClr val="E5E54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7" name="object 197"/>
            <p:cNvSpPr/>
            <p:nvPr/>
          </p:nvSpPr>
          <p:spPr>
            <a:xfrm>
              <a:off x="3816350" y="4715509"/>
              <a:ext cx="504190" cy="433070"/>
            </a:xfrm>
            <a:custGeom>
              <a:avLst/>
              <a:gdLst/>
              <a:ahLst/>
              <a:cxnLst/>
              <a:rect l="l" t="t" r="r" b="b"/>
              <a:pathLst>
                <a:path w="504189" h="433070">
                  <a:moveTo>
                    <a:pt x="251460" y="433069"/>
                  </a:moveTo>
                  <a:lnTo>
                    <a:pt x="0" y="433069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3069"/>
                  </a:lnTo>
                  <a:lnTo>
                    <a:pt x="251460" y="43306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98" name="object 198"/>
          <p:cNvSpPr txBox="1"/>
          <p:nvPr/>
        </p:nvSpPr>
        <p:spPr>
          <a:xfrm>
            <a:off x="5510652" y="3220459"/>
            <a:ext cx="343188" cy="273255"/>
          </a:xfrm>
          <a:prstGeom prst="rect">
            <a:avLst/>
          </a:prstGeom>
        </p:spPr>
        <p:txBody>
          <a:bodyPr vert="horz" wrap="square" lIns="0" tIns="864" rIns="0" bIns="0" rtlCol="0">
            <a:spAutoFit/>
          </a:bodyPr>
          <a:lstStyle/>
          <a:p>
            <a:pPr marL="33283">
              <a:spcBef>
                <a:spcPts val="7"/>
              </a:spcBef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X0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199" name="object 199"/>
          <p:cNvGrpSpPr/>
          <p:nvPr/>
        </p:nvGrpSpPr>
        <p:grpSpPr>
          <a:xfrm>
            <a:off x="5509787" y="3587851"/>
            <a:ext cx="343188" cy="293914"/>
            <a:chOff x="3815079" y="5255259"/>
            <a:chExt cx="504190" cy="431800"/>
          </a:xfrm>
        </p:grpSpPr>
        <p:sp>
          <p:nvSpPr>
            <p:cNvPr id="200" name="object 200"/>
            <p:cNvSpPr/>
            <p:nvPr/>
          </p:nvSpPr>
          <p:spPr>
            <a:xfrm>
              <a:off x="3815079" y="5255259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9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90" y="431800"/>
                  </a:lnTo>
                  <a:close/>
                </a:path>
              </a:pathLst>
            </a:custGeom>
            <a:solidFill>
              <a:srgbClr val="E5E54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1" name="object 201"/>
            <p:cNvSpPr/>
            <p:nvPr/>
          </p:nvSpPr>
          <p:spPr>
            <a:xfrm>
              <a:off x="3815079" y="5255259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273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90" y="0"/>
                  </a:lnTo>
                  <a:lnTo>
                    <a:pt x="504190" y="431800"/>
                  </a:lnTo>
                  <a:lnTo>
                    <a:pt x="252730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02" name="object 202"/>
          <p:cNvSpPr txBox="1"/>
          <p:nvPr/>
        </p:nvSpPr>
        <p:spPr>
          <a:xfrm>
            <a:off x="5509787" y="3587851"/>
            <a:ext cx="343188" cy="273255"/>
          </a:xfrm>
          <a:prstGeom prst="rect">
            <a:avLst/>
          </a:prstGeom>
        </p:spPr>
        <p:txBody>
          <a:bodyPr vert="horz" wrap="square" lIns="0" tIns="864" rIns="0" bIns="0" rtlCol="0">
            <a:spAutoFit/>
          </a:bodyPr>
          <a:lstStyle/>
          <a:p>
            <a:pPr marL="39766">
              <a:spcBef>
                <a:spcPts val="7"/>
              </a:spcBef>
            </a:pPr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L0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203" name="object 203"/>
          <p:cNvGrpSpPr/>
          <p:nvPr/>
        </p:nvGrpSpPr>
        <p:grpSpPr>
          <a:xfrm>
            <a:off x="5509787" y="3955244"/>
            <a:ext cx="343188" cy="293914"/>
            <a:chOff x="3815079" y="5795009"/>
            <a:chExt cx="504190" cy="431800"/>
          </a:xfrm>
        </p:grpSpPr>
        <p:sp>
          <p:nvSpPr>
            <p:cNvPr id="204" name="object 204"/>
            <p:cNvSpPr/>
            <p:nvPr/>
          </p:nvSpPr>
          <p:spPr>
            <a:xfrm>
              <a:off x="3815079" y="5795009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90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504190" y="431799"/>
                  </a:lnTo>
                  <a:close/>
                </a:path>
              </a:pathLst>
            </a:custGeom>
            <a:solidFill>
              <a:srgbClr val="E5E54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5" name="object 205"/>
            <p:cNvSpPr/>
            <p:nvPr/>
          </p:nvSpPr>
          <p:spPr>
            <a:xfrm>
              <a:off x="3815079" y="5795009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2730" y="431799"/>
                  </a:moveTo>
                  <a:lnTo>
                    <a:pt x="0" y="431799"/>
                  </a:lnTo>
                  <a:lnTo>
                    <a:pt x="0" y="0"/>
                  </a:lnTo>
                  <a:lnTo>
                    <a:pt x="504190" y="0"/>
                  </a:lnTo>
                  <a:lnTo>
                    <a:pt x="504190" y="431799"/>
                  </a:lnTo>
                  <a:lnTo>
                    <a:pt x="252730" y="43179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06" name="object 206"/>
          <p:cNvSpPr txBox="1"/>
          <p:nvPr/>
        </p:nvSpPr>
        <p:spPr>
          <a:xfrm>
            <a:off x="5509787" y="3955244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715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S0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5509787" y="4322637"/>
            <a:ext cx="343188" cy="293914"/>
            <a:chOff x="3815079" y="6334759"/>
            <a:chExt cx="504190" cy="431800"/>
          </a:xfrm>
        </p:grpSpPr>
        <p:sp>
          <p:nvSpPr>
            <p:cNvPr id="208" name="object 208"/>
            <p:cNvSpPr/>
            <p:nvPr/>
          </p:nvSpPr>
          <p:spPr>
            <a:xfrm>
              <a:off x="3815079" y="6334759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90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504190" y="431799"/>
                  </a:lnTo>
                  <a:close/>
                </a:path>
              </a:pathLst>
            </a:custGeom>
            <a:solidFill>
              <a:srgbClr val="E5E54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9" name="object 209"/>
            <p:cNvSpPr/>
            <p:nvPr/>
          </p:nvSpPr>
          <p:spPr>
            <a:xfrm>
              <a:off x="3815079" y="6334759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1460" y="431799"/>
                  </a:moveTo>
                  <a:lnTo>
                    <a:pt x="0" y="431799"/>
                  </a:lnTo>
                  <a:lnTo>
                    <a:pt x="0" y="0"/>
                  </a:lnTo>
                  <a:lnTo>
                    <a:pt x="504190" y="0"/>
                  </a:lnTo>
                  <a:lnTo>
                    <a:pt x="504190" y="431799"/>
                  </a:lnTo>
                  <a:lnTo>
                    <a:pt x="251460" y="43179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10" name="object 210"/>
          <p:cNvSpPr txBox="1"/>
          <p:nvPr/>
        </p:nvSpPr>
        <p:spPr>
          <a:xfrm>
            <a:off x="5509787" y="4322637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715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Y0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211" name="object 211"/>
          <p:cNvGrpSpPr/>
          <p:nvPr/>
        </p:nvGrpSpPr>
        <p:grpSpPr>
          <a:xfrm>
            <a:off x="5257800" y="2320995"/>
            <a:ext cx="1404304" cy="2289506"/>
            <a:chOff x="3444875" y="3394075"/>
            <a:chExt cx="2063114" cy="3363595"/>
          </a:xfrm>
        </p:grpSpPr>
        <p:sp>
          <p:nvSpPr>
            <p:cNvPr id="212" name="object 212"/>
            <p:cNvSpPr/>
            <p:nvPr/>
          </p:nvSpPr>
          <p:spPr>
            <a:xfrm>
              <a:off x="3445510" y="3394710"/>
              <a:ext cx="215900" cy="1536700"/>
            </a:xfrm>
            <a:custGeom>
              <a:avLst/>
              <a:gdLst/>
              <a:ahLst/>
              <a:cxnLst/>
              <a:rect l="l" t="t" r="r" b="b"/>
              <a:pathLst>
                <a:path w="215900" h="1536700">
                  <a:moveTo>
                    <a:pt x="0" y="0"/>
                  </a:moveTo>
                  <a:lnTo>
                    <a:pt x="187960" y="0"/>
                  </a:lnTo>
                  <a:lnTo>
                    <a:pt x="187960" y="1536700"/>
                  </a:lnTo>
                  <a:lnTo>
                    <a:pt x="215900" y="15367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3" name="object 213"/>
            <p:cNvSpPr/>
            <p:nvPr/>
          </p:nvSpPr>
          <p:spPr>
            <a:xfrm>
              <a:off x="3653790" y="487806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49"/>
                  </a:lnTo>
                  <a:lnTo>
                    <a:pt x="162560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4" name="object 214"/>
            <p:cNvSpPr/>
            <p:nvPr/>
          </p:nvSpPr>
          <p:spPr>
            <a:xfrm>
              <a:off x="3445510" y="3394710"/>
              <a:ext cx="215900" cy="2076450"/>
            </a:xfrm>
            <a:custGeom>
              <a:avLst/>
              <a:gdLst/>
              <a:ahLst/>
              <a:cxnLst/>
              <a:rect l="l" t="t" r="r" b="b"/>
              <a:pathLst>
                <a:path w="215900" h="2076450">
                  <a:moveTo>
                    <a:pt x="0" y="0"/>
                  </a:moveTo>
                  <a:lnTo>
                    <a:pt x="187960" y="0"/>
                  </a:lnTo>
                  <a:lnTo>
                    <a:pt x="187960" y="2076450"/>
                  </a:lnTo>
                  <a:lnTo>
                    <a:pt x="215900" y="20764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5" name="object 215"/>
            <p:cNvSpPr/>
            <p:nvPr/>
          </p:nvSpPr>
          <p:spPr>
            <a:xfrm>
              <a:off x="3653790" y="541782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49"/>
                  </a:lnTo>
                  <a:lnTo>
                    <a:pt x="16128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6" name="object 216"/>
            <p:cNvSpPr/>
            <p:nvPr/>
          </p:nvSpPr>
          <p:spPr>
            <a:xfrm>
              <a:off x="3445510" y="3394710"/>
              <a:ext cx="214629" cy="2616200"/>
            </a:xfrm>
            <a:custGeom>
              <a:avLst/>
              <a:gdLst/>
              <a:ahLst/>
              <a:cxnLst/>
              <a:rect l="l" t="t" r="r" b="b"/>
              <a:pathLst>
                <a:path w="214629" h="2616200">
                  <a:moveTo>
                    <a:pt x="0" y="0"/>
                  </a:moveTo>
                  <a:lnTo>
                    <a:pt x="187960" y="0"/>
                  </a:lnTo>
                  <a:lnTo>
                    <a:pt x="187960" y="2616200"/>
                  </a:lnTo>
                  <a:lnTo>
                    <a:pt x="214629" y="2616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7" name="object 217"/>
            <p:cNvSpPr/>
            <p:nvPr/>
          </p:nvSpPr>
          <p:spPr>
            <a:xfrm>
              <a:off x="3653790" y="595757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49"/>
                  </a:lnTo>
                  <a:lnTo>
                    <a:pt x="16128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8" name="object 218"/>
            <p:cNvSpPr/>
            <p:nvPr/>
          </p:nvSpPr>
          <p:spPr>
            <a:xfrm>
              <a:off x="3445510" y="3394710"/>
              <a:ext cx="214629" cy="3155950"/>
            </a:xfrm>
            <a:custGeom>
              <a:avLst/>
              <a:gdLst/>
              <a:ahLst/>
              <a:cxnLst/>
              <a:rect l="l" t="t" r="r" b="b"/>
              <a:pathLst>
                <a:path w="214629" h="3155950">
                  <a:moveTo>
                    <a:pt x="0" y="0"/>
                  </a:moveTo>
                  <a:lnTo>
                    <a:pt x="187960" y="0"/>
                  </a:lnTo>
                  <a:lnTo>
                    <a:pt x="187960" y="3155950"/>
                  </a:lnTo>
                  <a:lnTo>
                    <a:pt x="214629" y="31559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9" name="object 219"/>
            <p:cNvSpPr/>
            <p:nvPr/>
          </p:nvSpPr>
          <p:spPr>
            <a:xfrm>
              <a:off x="3652520" y="649732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49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0" name="object 220"/>
            <p:cNvSpPr/>
            <p:nvPr/>
          </p:nvSpPr>
          <p:spPr>
            <a:xfrm>
              <a:off x="4625339" y="467995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89" y="0"/>
                  </a:moveTo>
                  <a:lnTo>
                    <a:pt x="0" y="1269"/>
                  </a:lnTo>
                  <a:lnTo>
                    <a:pt x="5080" y="384810"/>
                  </a:lnTo>
                  <a:lnTo>
                    <a:pt x="91439" y="38353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1" name="object 221"/>
            <p:cNvSpPr/>
            <p:nvPr/>
          </p:nvSpPr>
          <p:spPr>
            <a:xfrm>
              <a:off x="4625339" y="467995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39" y="193039"/>
                  </a:moveTo>
                  <a:lnTo>
                    <a:pt x="0" y="1269"/>
                  </a:lnTo>
                  <a:lnTo>
                    <a:pt x="85089" y="0"/>
                  </a:lnTo>
                  <a:lnTo>
                    <a:pt x="91439" y="383539"/>
                  </a:lnTo>
                  <a:lnTo>
                    <a:pt x="5080" y="384810"/>
                  </a:lnTo>
                  <a:lnTo>
                    <a:pt x="2539" y="19303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2" name="object 222"/>
            <p:cNvSpPr/>
            <p:nvPr/>
          </p:nvSpPr>
          <p:spPr>
            <a:xfrm>
              <a:off x="4630419" y="495808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5719" y="0"/>
                  </a:moveTo>
                  <a:lnTo>
                    <a:pt x="0" y="106680"/>
                  </a:lnTo>
                  <a:lnTo>
                    <a:pt x="85089" y="10922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3" name="object 223"/>
            <p:cNvSpPr/>
            <p:nvPr/>
          </p:nvSpPr>
          <p:spPr>
            <a:xfrm>
              <a:off x="4630419" y="4956810"/>
              <a:ext cx="86360" cy="110489"/>
            </a:xfrm>
            <a:custGeom>
              <a:avLst/>
              <a:gdLst/>
              <a:ahLst/>
              <a:cxnLst/>
              <a:rect l="l" t="t" r="r" b="b"/>
              <a:pathLst>
                <a:path w="86360" h="110489">
                  <a:moveTo>
                    <a:pt x="45719" y="1269"/>
                  </a:moveTo>
                  <a:lnTo>
                    <a:pt x="85089" y="110489"/>
                  </a:lnTo>
                  <a:lnTo>
                    <a:pt x="0" y="107950"/>
                  </a:lnTo>
                  <a:lnTo>
                    <a:pt x="45719" y="1269"/>
                  </a:lnTo>
                  <a:close/>
                </a:path>
                <a:path w="86360" h="110489">
                  <a:moveTo>
                    <a:pt x="2539" y="0"/>
                  </a:moveTo>
                  <a:lnTo>
                    <a:pt x="2539" y="0"/>
                  </a:lnTo>
                </a:path>
                <a:path w="86360" h="110489">
                  <a:moveTo>
                    <a:pt x="86359" y="110489"/>
                  </a:moveTo>
                  <a:lnTo>
                    <a:pt x="8635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4" name="object 224"/>
            <p:cNvSpPr/>
            <p:nvPr/>
          </p:nvSpPr>
          <p:spPr>
            <a:xfrm>
              <a:off x="4320539" y="4867910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79">
                  <a:moveTo>
                    <a:pt x="0" y="0"/>
                  </a:moveTo>
                  <a:lnTo>
                    <a:pt x="1320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5" name="object 225"/>
            <p:cNvSpPr/>
            <p:nvPr/>
          </p:nvSpPr>
          <p:spPr>
            <a:xfrm>
              <a:off x="4446269" y="4813300"/>
              <a:ext cx="161290" cy="109220"/>
            </a:xfrm>
            <a:custGeom>
              <a:avLst/>
              <a:gdLst/>
              <a:ahLst/>
              <a:cxnLst/>
              <a:rect l="l" t="t" r="r" b="b"/>
              <a:pathLst>
                <a:path w="161289" h="109220">
                  <a:moveTo>
                    <a:pt x="0" y="0"/>
                  </a:moveTo>
                  <a:lnTo>
                    <a:pt x="0" y="109219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6" name="object 226"/>
            <p:cNvSpPr/>
            <p:nvPr/>
          </p:nvSpPr>
          <p:spPr>
            <a:xfrm>
              <a:off x="4630419" y="4958080"/>
              <a:ext cx="85090" cy="109220"/>
            </a:xfrm>
            <a:custGeom>
              <a:avLst/>
              <a:gdLst/>
              <a:ahLst/>
              <a:cxnLst/>
              <a:rect l="l" t="t" r="r" b="b"/>
              <a:pathLst>
                <a:path w="85089" h="109220">
                  <a:moveTo>
                    <a:pt x="45719" y="0"/>
                  </a:moveTo>
                  <a:lnTo>
                    <a:pt x="0" y="106680"/>
                  </a:lnTo>
                  <a:lnTo>
                    <a:pt x="85089" y="10922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7" name="object 227"/>
            <p:cNvSpPr/>
            <p:nvPr/>
          </p:nvSpPr>
          <p:spPr>
            <a:xfrm>
              <a:off x="4630419" y="4956810"/>
              <a:ext cx="86360" cy="110489"/>
            </a:xfrm>
            <a:custGeom>
              <a:avLst/>
              <a:gdLst/>
              <a:ahLst/>
              <a:cxnLst/>
              <a:rect l="l" t="t" r="r" b="b"/>
              <a:pathLst>
                <a:path w="86360" h="110489">
                  <a:moveTo>
                    <a:pt x="45719" y="1269"/>
                  </a:moveTo>
                  <a:lnTo>
                    <a:pt x="85089" y="110489"/>
                  </a:lnTo>
                  <a:lnTo>
                    <a:pt x="0" y="107950"/>
                  </a:lnTo>
                  <a:lnTo>
                    <a:pt x="45719" y="1269"/>
                  </a:lnTo>
                  <a:close/>
                </a:path>
                <a:path w="86360" h="110489">
                  <a:moveTo>
                    <a:pt x="2539" y="0"/>
                  </a:moveTo>
                  <a:lnTo>
                    <a:pt x="2539" y="0"/>
                  </a:lnTo>
                </a:path>
                <a:path w="86360" h="110489">
                  <a:moveTo>
                    <a:pt x="86359" y="110489"/>
                  </a:moveTo>
                  <a:lnTo>
                    <a:pt x="8635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8" name="object 228"/>
            <p:cNvSpPr/>
            <p:nvPr/>
          </p:nvSpPr>
          <p:spPr>
            <a:xfrm>
              <a:off x="4319269" y="486791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9" name="object 229"/>
            <p:cNvSpPr/>
            <p:nvPr/>
          </p:nvSpPr>
          <p:spPr>
            <a:xfrm>
              <a:off x="4446269" y="4813300"/>
              <a:ext cx="161290" cy="109220"/>
            </a:xfrm>
            <a:custGeom>
              <a:avLst/>
              <a:gdLst/>
              <a:ahLst/>
              <a:cxnLst/>
              <a:rect l="l" t="t" r="r" b="b"/>
              <a:pathLst>
                <a:path w="161289" h="109220">
                  <a:moveTo>
                    <a:pt x="0" y="0"/>
                  </a:moveTo>
                  <a:lnTo>
                    <a:pt x="0" y="109219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0" name="object 230"/>
            <p:cNvSpPr/>
            <p:nvPr/>
          </p:nvSpPr>
          <p:spPr>
            <a:xfrm>
              <a:off x="4625339" y="529208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89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39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1" name="object 231"/>
            <p:cNvSpPr/>
            <p:nvPr/>
          </p:nvSpPr>
          <p:spPr>
            <a:xfrm>
              <a:off x="4625339" y="529208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39" y="193040"/>
                  </a:moveTo>
                  <a:lnTo>
                    <a:pt x="0" y="1270"/>
                  </a:lnTo>
                  <a:lnTo>
                    <a:pt x="85089" y="0"/>
                  </a:lnTo>
                  <a:lnTo>
                    <a:pt x="91439" y="383540"/>
                  </a:lnTo>
                  <a:lnTo>
                    <a:pt x="5080" y="384810"/>
                  </a:lnTo>
                  <a:lnTo>
                    <a:pt x="2539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2" name="object 232"/>
            <p:cNvSpPr/>
            <p:nvPr/>
          </p:nvSpPr>
          <p:spPr>
            <a:xfrm>
              <a:off x="4630419" y="5570220"/>
              <a:ext cx="85090" cy="107950"/>
            </a:xfrm>
            <a:custGeom>
              <a:avLst/>
              <a:gdLst/>
              <a:ahLst/>
              <a:cxnLst/>
              <a:rect l="l" t="t" r="r" b="b"/>
              <a:pathLst>
                <a:path w="85089" h="107950">
                  <a:moveTo>
                    <a:pt x="45719" y="0"/>
                  </a:moveTo>
                  <a:lnTo>
                    <a:pt x="0" y="105409"/>
                  </a:lnTo>
                  <a:lnTo>
                    <a:pt x="85089" y="10794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3" name="object 233"/>
            <p:cNvSpPr/>
            <p:nvPr/>
          </p:nvSpPr>
          <p:spPr>
            <a:xfrm>
              <a:off x="4630419" y="5568950"/>
              <a:ext cx="86360" cy="110489"/>
            </a:xfrm>
            <a:custGeom>
              <a:avLst/>
              <a:gdLst/>
              <a:ahLst/>
              <a:cxnLst/>
              <a:rect l="l" t="t" r="r" b="b"/>
              <a:pathLst>
                <a:path w="86360" h="110489">
                  <a:moveTo>
                    <a:pt x="45719" y="1269"/>
                  </a:moveTo>
                  <a:lnTo>
                    <a:pt x="85089" y="109219"/>
                  </a:lnTo>
                  <a:lnTo>
                    <a:pt x="0" y="106680"/>
                  </a:lnTo>
                  <a:lnTo>
                    <a:pt x="45719" y="1269"/>
                  </a:lnTo>
                  <a:close/>
                </a:path>
                <a:path w="86360" h="110489">
                  <a:moveTo>
                    <a:pt x="2539" y="0"/>
                  </a:moveTo>
                  <a:lnTo>
                    <a:pt x="2539" y="0"/>
                  </a:lnTo>
                </a:path>
                <a:path w="86360" h="110489">
                  <a:moveTo>
                    <a:pt x="86359" y="110489"/>
                  </a:moveTo>
                  <a:lnTo>
                    <a:pt x="8635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4" name="object 234"/>
            <p:cNvSpPr/>
            <p:nvPr/>
          </p:nvSpPr>
          <p:spPr>
            <a:xfrm>
              <a:off x="4320539" y="5480050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79">
                  <a:moveTo>
                    <a:pt x="0" y="0"/>
                  </a:moveTo>
                  <a:lnTo>
                    <a:pt x="1320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5" name="object 235"/>
            <p:cNvSpPr/>
            <p:nvPr/>
          </p:nvSpPr>
          <p:spPr>
            <a:xfrm>
              <a:off x="4446269" y="542543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6" name="object 236"/>
            <p:cNvSpPr/>
            <p:nvPr/>
          </p:nvSpPr>
          <p:spPr>
            <a:xfrm>
              <a:off x="4630419" y="5570220"/>
              <a:ext cx="85090" cy="107950"/>
            </a:xfrm>
            <a:custGeom>
              <a:avLst/>
              <a:gdLst/>
              <a:ahLst/>
              <a:cxnLst/>
              <a:rect l="l" t="t" r="r" b="b"/>
              <a:pathLst>
                <a:path w="85089" h="107950">
                  <a:moveTo>
                    <a:pt x="45719" y="0"/>
                  </a:moveTo>
                  <a:lnTo>
                    <a:pt x="0" y="105409"/>
                  </a:lnTo>
                  <a:lnTo>
                    <a:pt x="85089" y="10794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7" name="object 237"/>
            <p:cNvSpPr/>
            <p:nvPr/>
          </p:nvSpPr>
          <p:spPr>
            <a:xfrm>
              <a:off x="4630419" y="5568950"/>
              <a:ext cx="86360" cy="110489"/>
            </a:xfrm>
            <a:custGeom>
              <a:avLst/>
              <a:gdLst/>
              <a:ahLst/>
              <a:cxnLst/>
              <a:rect l="l" t="t" r="r" b="b"/>
              <a:pathLst>
                <a:path w="86360" h="110489">
                  <a:moveTo>
                    <a:pt x="45719" y="1269"/>
                  </a:moveTo>
                  <a:lnTo>
                    <a:pt x="85089" y="109219"/>
                  </a:lnTo>
                  <a:lnTo>
                    <a:pt x="0" y="106680"/>
                  </a:lnTo>
                  <a:lnTo>
                    <a:pt x="45719" y="1269"/>
                  </a:lnTo>
                  <a:close/>
                </a:path>
                <a:path w="86360" h="110489">
                  <a:moveTo>
                    <a:pt x="2539" y="0"/>
                  </a:moveTo>
                  <a:lnTo>
                    <a:pt x="2539" y="0"/>
                  </a:lnTo>
                </a:path>
                <a:path w="86360" h="110489">
                  <a:moveTo>
                    <a:pt x="86359" y="110489"/>
                  </a:moveTo>
                  <a:lnTo>
                    <a:pt x="86359" y="110489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8" name="object 238"/>
            <p:cNvSpPr/>
            <p:nvPr/>
          </p:nvSpPr>
          <p:spPr>
            <a:xfrm>
              <a:off x="4319269" y="548005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9" name="object 239"/>
            <p:cNvSpPr/>
            <p:nvPr/>
          </p:nvSpPr>
          <p:spPr>
            <a:xfrm>
              <a:off x="4446269" y="542543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0" name="object 240"/>
            <p:cNvSpPr/>
            <p:nvPr/>
          </p:nvSpPr>
          <p:spPr>
            <a:xfrm>
              <a:off x="4625339" y="583183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5089" y="0"/>
                  </a:moveTo>
                  <a:lnTo>
                    <a:pt x="0" y="1270"/>
                  </a:lnTo>
                  <a:lnTo>
                    <a:pt x="5080" y="384810"/>
                  </a:lnTo>
                  <a:lnTo>
                    <a:pt x="91439" y="38354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1" name="object 241"/>
            <p:cNvSpPr/>
            <p:nvPr/>
          </p:nvSpPr>
          <p:spPr>
            <a:xfrm>
              <a:off x="4625339" y="5831839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39" y="193040"/>
                  </a:moveTo>
                  <a:lnTo>
                    <a:pt x="0" y="1270"/>
                  </a:lnTo>
                  <a:lnTo>
                    <a:pt x="85089" y="0"/>
                  </a:lnTo>
                  <a:lnTo>
                    <a:pt x="91439" y="383540"/>
                  </a:lnTo>
                  <a:lnTo>
                    <a:pt x="5080" y="384810"/>
                  </a:lnTo>
                  <a:lnTo>
                    <a:pt x="2539" y="19304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2" name="object 242"/>
            <p:cNvSpPr/>
            <p:nvPr/>
          </p:nvSpPr>
          <p:spPr>
            <a:xfrm>
              <a:off x="4630419" y="6109970"/>
              <a:ext cx="85090" cy="107950"/>
            </a:xfrm>
            <a:custGeom>
              <a:avLst/>
              <a:gdLst/>
              <a:ahLst/>
              <a:cxnLst/>
              <a:rect l="l" t="t" r="r" b="b"/>
              <a:pathLst>
                <a:path w="85089" h="107950">
                  <a:moveTo>
                    <a:pt x="45719" y="0"/>
                  </a:moveTo>
                  <a:lnTo>
                    <a:pt x="0" y="105409"/>
                  </a:lnTo>
                  <a:lnTo>
                    <a:pt x="85089" y="10794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3" name="object 243"/>
            <p:cNvSpPr/>
            <p:nvPr/>
          </p:nvSpPr>
          <p:spPr>
            <a:xfrm>
              <a:off x="4630419" y="6108700"/>
              <a:ext cx="86360" cy="110489"/>
            </a:xfrm>
            <a:custGeom>
              <a:avLst/>
              <a:gdLst/>
              <a:ahLst/>
              <a:cxnLst/>
              <a:rect l="l" t="t" r="r" b="b"/>
              <a:pathLst>
                <a:path w="86360" h="110489">
                  <a:moveTo>
                    <a:pt x="45719" y="1269"/>
                  </a:moveTo>
                  <a:lnTo>
                    <a:pt x="85089" y="109219"/>
                  </a:lnTo>
                  <a:lnTo>
                    <a:pt x="0" y="106680"/>
                  </a:lnTo>
                  <a:lnTo>
                    <a:pt x="45719" y="1269"/>
                  </a:lnTo>
                  <a:close/>
                </a:path>
                <a:path w="86360" h="110489">
                  <a:moveTo>
                    <a:pt x="2539" y="0"/>
                  </a:moveTo>
                  <a:lnTo>
                    <a:pt x="2539" y="0"/>
                  </a:lnTo>
                </a:path>
                <a:path w="86360" h="110489">
                  <a:moveTo>
                    <a:pt x="86359" y="110490"/>
                  </a:moveTo>
                  <a:lnTo>
                    <a:pt x="86359" y="11049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4" name="object 244"/>
            <p:cNvSpPr/>
            <p:nvPr/>
          </p:nvSpPr>
          <p:spPr>
            <a:xfrm>
              <a:off x="4320539" y="6019800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79">
                  <a:moveTo>
                    <a:pt x="0" y="0"/>
                  </a:moveTo>
                  <a:lnTo>
                    <a:pt x="1320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5" name="object 245"/>
            <p:cNvSpPr/>
            <p:nvPr/>
          </p:nvSpPr>
          <p:spPr>
            <a:xfrm>
              <a:off x="4446269" y="596518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6" name="object 246"/>
            <p:cNvSpPr/>
            <p:nvPr/>
          </p:nvSpPr>
          <p:spPr>
            <a:xfrm>
              <a:off x="4630419" y="6109970"/>
              <a:ext cx="85090" cy="107950"/>
            </a:xfrm>
            <a:custGeom>
              <a:avLst/>
              <a:gdLst/>
              <a:ahLst/>
              <a:cxnLst/>
              <a:rect l="l" t="t" r="r" b="b"/>
              <a:pathLst>
                <a:path w="85089" h="107950">
                  <a:moveTo>
                    <a:pt x="45719" y="0"/>
                  </a:moveTo>
                  <a:lnTo>
                    <a:pt x="0" y="105409"/>
                  </a:lnTo>
                  <a:lnTo>
                    <a:pt x="85089" y="10794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7" name="object 247"/>
            <p:cNvSpPr/>
            <p:nvPr/>
          </p:nvSpPr>
          <p:spPr>
            <a:xfrm>
              <a:off x="4630419" y="6108700"/>
              <a:ext cx="86360" cy="110489"/>
            </a:xfrm>
            <a:custGeom>
              <a:avLst/>
              <a:gdLst/>
              <a:ahLst/>
              <a:cxnLst/>
              <a:rect l="l" t="t" r="r" b="b"/>
              <a:pathLst>
                <a:path w="86360" h="110489">
                  <a:moveTo>
                    <a:pt x="45719" y="1269"/>
                  </a:moveTo>
                  <a:lnTo>
                    <a:pt x="85089" y="109219"/>
                  </a:lnTo>
                  <a:lnTo>
                    <a:pt x="0" y="106680"/>
                  </a:lnTo>
                  <a:lnTo>
                    <a:pt x="45719" y="1269"/>
                  </a:lnTo>
                  <a:close/>
                </a:path>
                <a:path w="86360" h="110489">
                  <a:moveTo>
                    <a:pt x="2539" y="0"/>
                  </a:moveTo>
                  <a:lnTo>
                    <a:pt x="2539" y="0"/>
                  </a:lnTo>
                </a:path>
                <a:path w="86360" h="110489">
                  <a:moveTo>
                    <a:pt x="86359" y="110490"/>
                  </a:moveTo>
                  <a:lnTo>
                    <a:pt x="86359" y="11049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8" name="object 248"/>
            <p:cNvSpPr/>
            <p:nvPr/>
          </p:nvSpPr>
          <p:spPr>
            <a:xfrm>
              <a:off x="4319269" y="601980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9" name="object 249"/>
            <p:cNvSpPr/>
            <p:nvPr/>
          </p:nvSpPr>
          <p:spPr>
            <a:xfrm>
              <a:off x="4446269" y="596518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0" name="object 250"/>
            <p:cNvSpPr/>
            <p:nvPr/>
          </p:nvSpPr>
          <p:spPr>
            <a:xfrm>
              <a:off x="4625339" y="637032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09">
                  <a:moveTo>
                    <a:pt x="85089" y="0"/>
                  </a:moveTo>
                  <a:lnTo>
                    <a:pt x="0" y="2539"/>
                  </a:lnTo>
                  <a:lnTo>
                    <a:pt x="5080" y="384809"/>
                  </a:lnTo>
                  <a:lnTo>
                    <a:pt x="91439" y="38480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1" name="object 251"/>
            <p:cNvSpPr/>
            <p:nvPr/>
          </p:nvSpPr>
          <p:spPr>
            <a:xfrm>
              <a:off x="4625339" y="637032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09">
                  <a:moveTo>
                    <a:pt x="2539" y="194309"/>
                  </a:moveTo>
                  <a:lnTo>
                    <a:pt x="0" y="2539"/>
                  </a:lnTo>
                  <a:lnTo>
                    <a:pt x="85089" y="0"/>
                  </a:lnTo>
                  <a:lnTo>
                    <a:pt x="91439" y="384809"/>
                  </a:lnTo>
                  <a:lnTo>
                    <a:pt x="5080" y="384809"/>
                  </a:lnTo>
                  <a:lnTo>
                    <a:pt x="2539" y="19430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2" name="object 252"/>
            <p:cNvSpPr/>
            <p:nvPr/>
          </p:nvSpPr>
          <p:spPr>
            <a:xfrm>
              <a:off x="4630419" y="6649720"/>
              <a:ext cx="85090" cy="107950"/>
            </a:xfrm>
            <a:custGeom>
              <a:avLst/>
              <a:gdLst/>
              <a:ahLst/>
              <a:cxnLst/>
              <a:rect l="l" t="t" r="r" b="b"/>
              <a:pathLst>
                <a:path w="85089" h="107950">
                  <a:moveTo>
                    <a:pt x="45719" y="0"/>
                  </a:moveTo>
                  <a:lnTo>
                    <a:pt x="0" y="105409"/>
                  </a:lnTo>
                  <a:lnTo>
                    <a:pt x="85089" y="10794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3" name="object 253"/>
            <p:cNvSpPr/>
            <p:nvPr/>
          </p:nvSpPr>
          <p:spPr>
            <a:xfrm>
              <a:off x="4630419" y="6647179"/>
              <a:ext cx="86360" cy="110489"/>
            </a:xfrm>
            <a:custGeom>
              <a:avLst/>
              <a:gdLst/>
              <a:ahLst/>
              <a:cxnLst/>
              <a:rect l="l" t="t" r="r" b="b"/>
              <a:pathLst>
                <a:path w="86360" h="110490">
                  <a:moveTo>
                    <a:pt x="45719" y="2540"/>
                  </a:moveTo>
                  <a:lnTo>
                    <a:pt x="85089" y="110490"/>
                  </a:lnTo>
                  <a:lnTo>
                    <a:pt x="0" y="107950"/>
                  </a:lnTo>
                  <a:lnTo>
                    <a:pt x="45719" y="2540"/>
                  </a:lnTo>
                  <a:close/>
                </a:path>
                <a:path w="86360" h="110490">
                  <a:moveTo>
                    <a:pt x="2539" y="0"/>
                  </a:moveTo>
                  <a:lnTo>
                    <a:pt x="2539" y="0"/>
                  </a:lnTo>
                </a:path>
                <a:path w="86360" h="110490">
                  <a:moveTo>
                    <a:pt x="86359" y="110490"/>
                  </a:moveTo>
                  <a:lnTo>
                    <a:pt x="86359" y="11049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4" name="object 254"/>
            <p:cNvSpPr/>
            <p:nvPr/>
          </p:nvSpPr>
          <p:spPr>
            <a:xfrm>
              <a:off x="4320539" y="6558279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79">
                  <a:moveTo>
                    <a:pt x="0" y="0"/>
                  </a:moveTo>
                  <a:lnTo>
                    <a:pt x="1320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5" name="object 255"/>
            <p:cNvSpPr/>
            <p:nvPr/>
          </p:nvSpPr>
          <p:spPr>
            <a:xfrm>
              <a:off x="4446269" y="650493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49"/>
                  </a:lnTo>
                  <a:lnTo>
                    <a:pt x="16128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6" name="object 256"/>
            <p:cNvSpPr/>
            <p:nvPr/>
          </p:nvSpPr>
          <p:spPr>
            <a:xfrm>
              <a:off x="4630419" y="6649720"/>
              <a:ext cx="85090" cy="107950"/>
            </a:xfrm>
            <a:custGeom>
              <a:avLst/>
              <a:gdLst/>
              <a:ahLst/>
              <a:cxnLst/>
              <a:rect l="l" t="t" r="r" b="b"/>
              <a:pathLst>
                <a:path w="85089" h="107950">
                  <a:moveTo>
                    <a:pt x="45719" y="0"/>
                  </a:moveTo>
                  <a:lnTo>
                    <a:pt x="0" y="105409"/>
                  </a:lnTo>
                  <a:lnTo>
                    <a:pt x="85089" y="10794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4B18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7" name="object 257"/>
            <p:cNvSpPr/>
            <p:nvPr/>
          </p:nvSpPr>
          <p:spPr>
            <a:xfrm>
              <a:off x="4630419" y="6647179"/>
              <a:ext cx="86360" cy="110489"/>
            </a:xfrm>
            <a:custGeom>
              <a:avLst/>
              <a:gdLst/>
              <a:ahLst/>
              <a:cxnLst/>
              <a:rect l="l" t="t" r="r" b="b"/>
              <a:pathLst>
                <a:path w="86360" h="110490">
                  <a:moveTo>
                    <a:pt x="45719" y="2540"/>
                  </a:moveTo>
                  <a:lnTo>
                    <a:pt x="85089" y="110490"/>
                  </a:lnTo>
                  <a:lnTo>
                    <a:pt x="0" y="107950"/>
                  </a:lnTo>
                  <a:lnTo>
                    <a:pt x="45719" y="2540"/>
                  </a:lnTo>
                  <a:close/>
                </a:path>
                <a:path w="86360" h="110490">
                  <a:moveTo>
                    <a:pt x="2539" y="0"/>
                  </a:moveTo>
                  <a:lnTo>
                    <a:pt x="2539" y="0"/>
                  </a:lnTo>
                </a:path>
                <a:path w="86360" h="110490">
                  <a:moveTo>
                    <a:pt x="86359" y="110490"/>
                  </a:moveTo>
                  <a:lnTo>
                    <a:pt x="86359" y="11049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8" name="object 258"/>
            <p:cNvSpPr/>
            <p:nvPr/>
          </p:nvSpPr>
          <p:spPr>
            <a:xfrm>
              <a:off x="4319269" y="655827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9" name="object 259"/>
            <p:cNvSpPr/>
            <p:nvPr/>
          </p:nvSpPr>
          <p:spPr>
            <a:xfrm>
              <a:off x="4446269" y="650493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49"/>
                  </a:lnTo>
                  <a:lnTo>
                    <a:pt x="16128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0" name="object 260"/>
            <p:cNvSpPr/>
            <p:nvPr/>
          </p:nvSpPr>
          <p:spPr>
            <a:xfrm>
              <a:off x="4715510" y="549782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1" name="object 261"/>
            <p:cNvSpPr/>
            <p:nvPr/>
          </p:nvSpPr>
          <p:spPr>
            <a:xfrm>
              <a:off x="4841239" y="544322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49"/>
                  </a:lnTo>
                  <a:lnTo>
                    <a:pt x="162560" y="546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2" name="object 262"/>
            <p:cNvSpPr/>
            <p:nvPr/>
          </p:nvSpPr>
          <p:spPr>
            <a:xfrm>
              <a:off x="4715510" y="5982970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79">
                  <a:moveTo>
                    <a:pt x="0" y="0"/>
                  </a:moveTo>
                  <a:lnTo>
                    <a:pt x="1320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3" name="object 263"/>
            <p:cNvSpPr/>
            <p:nvPr/>
          </p:nvSpPr>
          <p:spPr>
            <a:xfrm>
              <a:off x="4841239" y="5929629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4" name="object 264"/>
            <p:cNvSpPr/>
            <p:nvPr/>
          </p:nvSpPr>
          <p:spPr>
            <a:xfrm>
              <a:off x="4714239" y="6577329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5" name="object 265"/>
            <p:cNvSpPr/>
            <p:nvPr/>
          </p:nvSpPr>
          <p:spPr>
            <a:xfrm>
              <a:off x="4839969" y="6523989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49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6" name="object 266"/>
            <p:cNvSpPr/>
            <p:nvPr/>
          </p:nvSpPr>
          <p:spPr>
            <a:xfrm>
              <a:off x="5003800" y="525526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4189" y="431800"/>
                  </a:lnTo>
                  <a:close/>
                </a:path>
              </a:pathLst>
            </a:custGeom>
            <a:solidFill>
              <a:srgbClr val="E5E54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7" name="object 267"/>
            <p:cNvSpPr/>
            <p:nvPr/>
          </p:nvSpPr>
          <p:spPr>
            <a:xfrm>
              <a:off x="5003800" y="525526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146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4189" y="0"/>
                  </a:lnTo>
                  <a:lnTo>
                    <a:pt x="504189" y="431800"/>
                  </a:lnTo>
                  <a:lnTo>
                    <a:pt x="251460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68" name="object 268"/>
          <p:cNvSpPr txBox="1"/>
          <p:nvPr/>
        </p:nvSpPr>
        <p:spPr>
          <a:xfrm>
            <a:off x="6318916" y="3587851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766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L1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269" name="object 269"/>
          <p:cNvGrpSpPr/>
          <p:nvPr/>
        </p:nvGrpSpPr>
        <p:grpSpPr>
          <a:xfrm>
            <a:off x="6318916" y="3955244"/>
            <a:ext cx="342324" cy="293914"/>
            <a:chOff x="5003800" y="5795009"/>
            <a:chExt cx="502920" cy="431800"/>
          </a:xfrm>
        </p:grpSpPr>
        <p:sp>
          <p:nvSpPr>
            <p:cNvPr id="270" name="object 270"/>
            <p:cNvSpPr/>
            <p:nvPr/>
          </p:nvSpPr>
          <p:spPr>
            <a:xfrm>
              <a:off x="5003800" y="5795009"/>
              <a:ext cx="502920" cy="431800"/>
            </a:xfrm>
            <a:custGeom>
              <a:avLst/>
              <a:gdLst/>
              <a:ahLst/>
              <a:cxnLst/>
              <a:rect l="l" t="t" r="r" b="b"/>
              <a:pathLst>
                <a:path w="502920" h="431800">
                  <a:moveTo>
                    <a:pt x="502920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502920" y="431799"/>
                  </a:lnTo>
                  <a:close/>
                </a:path>
              </a:pathLst>
            </a:custGeom>
            <a:solidFill>
              <a:srgbClr val="E5E54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1" name="object 271"/>
            <p:cNvSpPr/>
            <p:nvPr/>
          </p:nvSpPr>
          <p:spPr>
            <a:xfrm>
              <a:off x="5003800" y="5795009"/>
              <a:ext cx="502920" cy="431800"/>
            </a:xfrm>
            <a:custGeom>
              <a:avLst/>
              <a:gdLst/>
              <a:ahLst/>
              <a:cxnLst/>
              <a:rect l="l" t="t" r="r" b="b"/>
              <a:pathLst>
                <a:path w="502920" h="431800">
                  <a:moveTo>
                    <a:pt x="251460" y="431799"/>
                  </a:moveTo>
                  <a:lnTo>
                    <a:pt x="0" y="431799"/>
                  </a:lnTo>
                  <a:lnTo>
                    <a:pt x="0" y="0"/>
                  </a:lnTo>
                  <a:lnTo>
                    <a:pt x="502920" y="0"/>
                  </a:lnTo>
                  <a:lnTo>
                    <a:pt x="502920" y="431799"/>
                  </a:lnTo>
                  <a:lnTo>
                    <a:pt x="251460" y="43179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72" name="object 272"/>
          <p:cNvSpPr txBox="1"/>
          <p:nvPr/>
        </p:nvSpPr>
        <p:spPr>
          <a:xfrm>
            <a:off x="6318916" y="3955244"/>
            <a:ext cx="342324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851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S1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273" name="object 273"/>
          <p:cNvGrpSpPr/>
          <p:nvPr/>
        </p:nvGrpSpPr>
        <p:grpSpPr>
          <a:xfrm>
            <a:off x="6318051" y="4322637"/>
            <a:ext cx="343188" cy="293914"/>
            <a:chOff x="5002529" y="6334759"/>
            <a:chExt cx="504190" cy="431800"/>
          </a:xfrm>
        </p:grpSpPr>
        <p:sp>
          <p:nvSpPr>
            <p:cNvPr id="274" name="object 274"/>
            <p:cNvSpPr/>
            <p:nvPr/>
          </p:nvSpPr>
          <p:spPr>
            <a:xfrm>
              <a:off x="5002529" y="6334759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504190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504190" y="431799"/>
                  </a:lnTo>
                  <a:close/>
                </a:path>
              </a:pathLst>
            </a:custGeom>
            <a:solidFill>
              <a:srgbClr val="E5E54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5" name="object 275"/>
            <p:cNvSpPr/>
            <p:nvPr/>
          </p:nvSpPr>
          <p:spPr>
            <a:xfrm>
              <a:off x="5002529" y="6334759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89" h="431800">
                  <a:moveTo>
                    <a:pt x="252730" y="431799"/>
                  </a:moveTo>
                  <a:lnTo>
                    <a:pt x="0" y="431799"/>
                  </a:lnTo>
                  <a:lnTo>
                    <a:pt x="0" y="0"/>
                  </a:lnTo>
                  <a:lnTo>
                    <a:pt x="504190" y="0"/>
                  </a:lnTo>
                  <a:lnTo>
                    <a:pt x="504190" y="431799"/>
                  </a:lnTo>
                  <a:lnTo>
                    <a:pt x="252730" y="43179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76" name="object 276"/>
          <p:cNvSpPr txBox="1"/>
          <p:nvPr/>
        </p:nvSpPr>
        <p:spPr>
          <a:xfrm>
            <a:off x="6318051" y="4322637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715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Y1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277" name="object 277"/>
          <p:cNvGrpSpPr/>
          <p:nvPr/>
        </p:nvGrpSpPr>
        <p:grpSpPr>
          <a:xfrm>
            <a:off x="6661672" y="3612057"/>
            <a:ext cx="808697" cy="1004495"/>
            <a:chOff x="5507354" y="5290820"/>
            <a:chExt cx="1188085" cy="1475740"/>
          </a:xfrm>
        </p:grpSpPr>
        <p:sp>
          <p:nvSpPr>
            <p:cNvPr id="278" name="object 278"/>
            <p:cNvSpPr/>
            <p:nvPr/>
          </p:nvSpPr>
          <p:spPr>
            <a:xfrm>
              <a:off x="5819139" y="5567680"/>
              <a:ext cx="85089" cy="11048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9" name="object 279"/>
            <p:cNvSpPr/>
            <p:nvPr/>
          </p:nvSpPr>
          <p:spPr>
            <a:xfrm>
              <a:off x="5507989" y="547878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0" name="object 280"/>
            <p:cNvSpPr/>
            <p:nvPr/>
          </p:nvSpPr>
          <p:spPr>
            <a:xfrm>
              <a:off x="5633719" y="54254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1" name="object 281"/>
            <p:cNvSpPr/>
            <p:nvPr/>
          </p:nvSpPr>
          <p:spPr>
            <a:xfrm>
              <a:off x="5812789" y="529082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6360" y="0"/>
                  </a:moveTo>
                  <a:lnTo>
                    <a:pt x="0" y="1269"/>
                  </a:lnTo>
                  <a:lnTo>
                    <a:pt x="2539" y="194309"/>
                  </a:lnTo>
                  <a:lnTo>
                    <a:pt x="6350" y="384809"/>
                  </a:lnTo>
                  <a:lnTo>
                    <a:pt x="91439" y="384809"/>
                  </a:lnTo>
                  <a:lnTo>
                    <a:pt x="8636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2" name="object 282"/>
            <p:cNvSpPr/>
            <p:nvPr/>
          </p:nvSpPr>
          <p:spPr>
            <a:xfrm>
              <a:off x="5812789" y="529082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39" y="194309"/>
                  </a:moveTo>
                  <a:lnTo>
                    <a:pt x="0" y="1269"/>
                  </a:lnTo>
                  <a:lnTo>
                    <a:pt x="86360" y="0"/>
                  </a:lnTo>
                  <a:lnTo>
                    <a:pt x="91439" y="384809"/>
                  </a:lnTo>
                  <a:lnTo>
                    <a:pt x="6350" y="384809"/>
                  </a:lnTo>
                  <a:lnTo>
                    <a:pt x="2539" y="19430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3" name="object 283"/>
            <p:cNvSpPr/>
            <p:nvPr/>
          </p:nvSpPr>
          <p:spPr>
            <a:xfrm>
              <a:off x="5819139" y="5567680"/>
              <a:ext cx="85089" cy="11048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4" name="object 284"/>
            <p:cNvSpPr/>
            <p:nvPr/>
          </p:nvSpPr>
          <p:spPr>
            <a:xfrm>
              <a:off x="5507989" y="547878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5" name="object 285"/>
            <p:cNvSpPr/>
            <p:nvPr/>
          </p:nvSpPr>
          <p:spPr>
            <a:xfrm>
              <a:off x="5633719" y="542544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6" name="object 286"/>
            <p:cNvSpPr/>
            <p:nvPr/>
          </p:nvSpPr>
          <p:spPr>
            <a:xfrm>
              <a:off x="5819139" y="6107430"/>
              <a:ext cx="85089" cy="11048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7" name="object 287"/>
            <p:cNvSpPr/>
            <p:nvPr/>
          </p:nvSpPr>
          <p:spPr>
            <a:xfrm>
              <a:off x="5507989" y="601853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8" name="object 288"/>
            <p:cNvSpPr/>
            <p:nvPr/>
          </p:nvSpPr>
          <p:spPr>
            <a:xfrm>
              <a:off x="5633719" y="596519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9" name="object 289"/>
            <p:cNvSpPr/>
            <p:nvPr/>
          </p:nvSpPr>
          <p:spPr>
            <a:xfrm>
              <a:off x="5812789" y="583057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86360" y="0"/>
                  </a:moveTo>
                  <a:lnTo>
                    <a:pt x="0" y="1269"/>
                  </a:lnTo>
                  <a:lnTo>
                    <a:pt x="2539" y="193039"/>
                  </a:lnTo>
                  <a:lnTo>
                    <a:pt x="6350" y="384809"/>
                  </a:lnTo>
                  <a:lnTo>
                    <a:pt x="91439" y="383539"/>
                  </a:lnTo>
                  <a:lnTo>
                    <a:pt x="8636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0" name="object 290"/>
            <p:cNvSpPr/>
            <p:nvPr/>
          </p:nvSpPr>
          <p:spPr>
            <a:xfrm>
              <a:off x="5812789" y="583057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10">
                  <a:moveTo>
                    <a:pt x="2539" y="193039"/>
                  </a:moveTo>
                  <a:lnTo>
                    <a:pt x="0" y="1269"/>
                  </a:lnTo>
                  <a:lnTo>
                    <a:pt x="86360" y="0"/>
                  </a:lnTo>
                  <a:lnTo>
                    <a:pt x="91439" y="383539"/>
                  </a:lnTo>
                  <a:lnTo>
                    <a:pt x="6350" y="384809"/>
                  </a:lnTo>
                  <a:lnTo>
                    <a:pt x="2539" y="19303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1" name="object 291"/>
            <p:cNvSpPr/>
            <p:nvPr/>
          </p:nvSpPr>
          <p:spPr>
            <a:xfrm>
              <a:off x="5819139" y="6107430"/>
              <a:ext cx="85089" cy="11048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2" name="object 292"/>
            <p:cNvSpPr/>
            <p:nvPr/>
          </p:nvSpPr>
          <p:spPr>
            <a:xfrm>
              <a:off x="5507989" y="601853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3" name="object 293"/>
            <p:cNvSpPr/>
            <p:nvPr/>
          </p:nvSpPr>
          <p:spPr>
            <a:xfrm>
              <a:off x="5633719" y="596519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3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4" name="object 294"/>
            <p:cNvSpPr/>
            <p:nvPr/>
          </p:nvSpPr>
          <p:spPr>
            <a:xfrm>
              <a:off x="5819139" y="6647180"/>
              <a:ext cx="85089" cy="11048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5" name="object 295"/>
            <p:cNvSpPr/>
            <p:nvPr/>
          </p:nvSpPr>
          <p:spPr>
            <a:xfrm>
              <a:off x="5507989" y="655828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6" name="object 296"/>
            <p:cNvSpPr/>
            <p:nvPr/>
          </p:nvSpPr>
          <p:spPr>
            <a:xfrm>
              <a:off x="5633719" y="6504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60" h="107950">
                  <a:moveTo>
                    <a:pt x="0" y="0"/>
                  </a:moveTo>
                  <a:lnTo>
                    <a:pt x="0" y="107949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7" name="object 297"/>
            <p:cNvSpPr/>
            <p:nvPr/>
          </p:nvSpPr>
          <p:spPr>
            <a:xfrm>
              <a:off x="5812789" y="637032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09">
                  <a:moveTo>
                    <a:pt x="86360" y="0"/>
                  </a:moveTo>
                  <a:lnTo>
                    <a:pt x="0" y="1269"/>
                  </a:lnTo>
                  <a:lnTo>
                    <a:pt x="2539" y="193039"/>
                  </a:lnTo>
                  <a:lnTo>
                    <a:pt x="6350" y="384809"/>
                  </a:lnTo>
                  <a:lnTo>
                    <a:pt x="91439" y="383539"/>
                  </a:lnTo>
                  <a:lnTo>
                    <a:pt x="8636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8" name="object 298"/>
            <p:cNvSpPr/>
            <p:nvPr/>
          </p:nvSpPr>
          <p:spPr>
            <a:xfrm>
              <a:off x="5812789" y="637032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39" h="384809">
                  <a:moveTo>
                    <a:pt x="2539" y="193039"/>
                  </a:moveTo>
                  <a:lnTo>
                    <a:pt x="0" y="1269"/>
                  </a:lnTo>
                  <a:lnTo>
                    <a:pt x="86360" y="0"/>
                  </a:lnTo>
                  <a:lnTo>
                    <a:pt x="91439" y="383539"/>
                  </a:lnTo>
                  <a:lnTo>
                    <a:pt x="6350" y="384809"/>
                  </a:lnTo>
                  <a:lnTo>
                    <a:pt x="2539" y="19303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9" name="object 299"/>
            <p:cNvSpPr/>
            <p:nvPr/>
          </p:nvSpPr>
          <p:spPr>
            <a:xfrm>
              <a:off x="5819139" y="6647180"/>
              <a:ext cx="85089" cy="11048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0" name="object 300"/>
            <p:cNvSpPr/>
            <p:nvPr/>
          </p:nvSpPr>
          <p:spPr>
            <a:xfrm>
              <a:off x="5507989" y="655828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1" name="object 301"/>
            <p:cNvSpPr/>
            <p:nvPr/>
          </p:nvSpPr>
          <p:spPr>
            <a:xfrm>
              <a:off x="5633719" y="650494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49"/>
                  </a:lnTo>
                  <a:lnTo>
                    <a:pt x="16128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2" name="object 302"/>
            <p:cNvSpPr/>
            <p:nvPr/>
          </p:nvSpPr>
          <p:spPr>
            <a:xfrm>
              <a:off x="5902959" y="657733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3" name="object 303"/>
            <p:cNvSpPr/>
            <p:nvPr/>
          </p:nvSpPr>
          <p:spPr>
            <a:xfrm>
              <a:off x="6028689" y="652272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49"/>
                  </a:lnTo>
                  <a:lnTo>
                    <a:pt x="161289" y="546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4" name="object 304"/>
            <p:cNvSpPr/>
            <p:nvPr/>
          </p:nvSpPr>
          <p:spPr>
            <a:xfrm>
              <a:off x="6191249" y="633476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90" h="431800">
                  <a:moveTo>
                    <a:pt x="504190" y="0"/>
                  </a:moveTo>
                  <a:lnTo>
                    <a:pt x="0" y="0"/>
                  </a:lnTo>
                  <a:lnTo>
                    <a:pt x="0" y="431799"/>
                  </a:lnTo>
                  <a:lnTo>
                    <a:pt x="504190" y="431799"/>
                  </a:lnTo>
                  <a:close/>
                </a:path>
              </a:pathLst>
            </a:custGeom>
            <a:solidFill>
              <a:srgbClr val="E5E54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5" name="object 305"/>
            <p:cNvSpPr/>
            <p:nvPr/>
          </p:nvSpPr>
          <p:spPr>
            <a:xfrm>
              <a:off x="6191249" y="6334760"/>
              <a:ext cx="504190" cy="431800"/>
            </a:xfrm>
            <a:custGeom>
              <a:avLst/>
              <a:gdLst/>
              <a:ahLst/>
              <a:cxnLst/>
              <a:rect l="l" t="t" r="r" b="b"/>
              <a:pathLst>
                <a:path w="504190" h="431800">
                  <a:moveTo>
                    <a:pt x="251460" y="431799"/>
                  </a:moveTo>
                  <a:lnTo>
                    <a:pt x="0" y="431799"/>
                  </a:lnTo>
                  <a:lnTo>
                    <a:pt x="0" y="0"/>
                  </a:lnTo>
                  <a:lnTo>
                    <a:pt x="504190" y="0"/>
                  </a:lnTo>
                  <a:lnTo>
                    <a:pt x="504190" y="431799"/>
                  </a:lnTo>
                  <a:lnTo>
                    <a:pt x="251460" y="43179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306" name="object 306"/>
          <p:cNvSpPr txBox="1"/>
          <p:nvPr/>
        </p:nvSpPr>
        <p:spPr>
          <a:xfrm>
            <a:off x="7127181" y="4322637"/>
            <a:ext cx="343188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83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Y2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307" name="object 307"/>
          <p:cNvGrpSpPr/>
          <p:nvPr/>
        </p:nvGrpSpPr>
        <p:grpSpPr>
          <a:xfrm>
            <a:off x="7677838" y="4321773"/>
            <a:ext cx="599931" cy="293914"/>
            <a:chOff x="7000240" y="6333490"/>
            <a:chExt cx="881380" cy="431800"/>
          </a:xfrm>
        </p:grpSpPr>
        <p:sp>
          <p:nvSpPr>
            <p:cNvPr id="308" name="object 308"/>
            <p:cNvSpPr/>
            <p:nvPr/>
          </p:nvSpPr>
          <p:spPr>
            <a:xfrm>
              <a:off x="7006590" y="6647180"/>
              <a:ext cx="85089" cy="11048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9" name="object 309"/>
            <p:cNvSpPr/>
            <p:nvPr/>
          </p:nvSpPr>
          <p:spPr>
            <a:xfrm>
              <a:off x="7000240" y="637032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40" h="384809">
                  <a:moveTo>
                    <a:pt x="85089" y="0"/>
                  </a:moveTo>
                  <a:lnTo>
                    <a:pt x="0" y="1269"/>
                  </a:lnTo>
                  <a:lnTo>
                    <a:pt x="2539" y="193039"/>
                  </a:lnTo>
                  <a:lnTo>
                    <a:pt x="6350" y="384809"/>
                  </a:lnTo>
                  <a:lnTo>
                    <a:pt x="91439" y="383539"/>
                  </a:lnTo>
                  <a:lnTo>
                    <a:pt x="8508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0" name="object 310"/>
            <p:cNvSpPr/>
            <p:nvPr/>
          </p:nvSpPr>
          <p:spPr>
            <a:xfrm>
              <a:off x="7000240" y="637032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40" h="384809">
                  <a:moveTo>
                    <a:pt x="2539" y="193039"/>
                  </a:moveTo>
                  <a:lnTo>
                    <a:pt x="0" y="1269"/>
                  </a:lnTo>
                  <a:lnTo>
                    <a:pt x="85089" y="0"/>
                  </a:lnTo>
                  <a:lnTo>
                    <a:pt x="91439" y="383539"/>
                  </a:lnTo>
                  <a:lnTo>
                    <a:pt x="6350" y="384809"/>
                  </a:lnTo>
                  <a:lnTo>
                    <a:pt x="2539" y="19303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1" name="object 311"/>
            <p:cNvSpPr/>
            <p:nvPr/>
          </p:nvSpPr>
          <p:spPr>
            <a:xfrm>
              <a:off x="7006590" y="6647180"/>
              <a:ext cx="85089" cy="11048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2" name="object 312"/>
            <p:cNvSpPr/>
            <p:nvPr/>
          </p:nvSpPr>
          <p:spPr>
            <a:xfrm>
              <a:off x="7090410" y="6577330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79">
                  <a:moveTo>
                    <a:pt x="0" y="0"/>
                  </a:moveTo>
                  <a:lnTo>
                    <a:pt x="1320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3" name="object 313"/>
            <p:cNvSpPr/>
            <p:nvPr/>
          </p:nvSpPr>
          <p:spPr>
            <a:xfrm>
              <a:off x="7216140" y="652272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90" h="107950">
                  <a:moveTo>
                    <a:pt x="0" y="0"/>
                  </a:moveTo>
                  <a:lnTo>
                    <a:pt x="0" y="107949"/>
                  </a:lnTo>
                  <a:lnTo>
                    <a:pt x="161289" y="546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4" name="object 314"/>
            <p:cNvSpPr/>
            <p:nvPr/>
          </p:nvSpPr>
          <p:spPr>
            <a:xfrm>
              <a:off x="7378700" y="6333490"/>
              <a:ext cx="502920" cy="431800"/>
            </a:xfrm>
            <a:custGeom>
              <a:avLst/>
              <a:gdLst/>
              <a:ahLst/>
              <a:cxnLst/>
              <a:rect l="l" t="t" r="r" b="b"/>
              <a:pathLst>
                <a:path w="502920" h="431800">
                  <a:moveTo>
                    <a:pt x="50292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502920" y="431800"/>
                  </a:lnTo>
                  <a:close/>
                </a:path>
              </a:pathLst>
            </a:custGeom>
            <a:solidFill>
              <a:srgbClr val="E5E54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5" name="object 315"/>
            <p:cNvSpPr/>
            <p:nvPr/>
          </p:nvSpPr>
          <p:spPr>
            <a:xfrm>
              <a:off x="7378700" y="6333490"/>
              <a:ext cx="502920" cy="431800"/>
            </a:xfrm>
            <a:custGeom>
              <a:avLst/>
              <a:gdLst/>
              <a:ahLst/>
              <a:cxnLst/>
              <a:rect l="l" t="t" r="r" b="b"/>
              <a:pathLst>
                <a:path w="502920" h="431800">
                  <a:moveTo>
                    <a:pt x="251459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502920" y="0"/>
                  </a:lnTo>
                  <a:lnTo>
                    <a:pt x="502920" y="431800"/>
                  </a:lnTo>
                  <a:lnTo>
                    <a:pt x="251459" y="43180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316" name="object 316"/>
          <p:cNvSpPr txBox="1"/>
          <p:nvPr/>
        </p:nvSpPr>
        <p:spPr>
          <a:xfrm>
            <a:off x="7935445" y="4321773"/>
            <a:ext cx="342324" cy="272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418"/>
            <a:r>
              <a:rPr sz="1770" b="1" dirty="0">
                <a:solidFill>
                  <a:srgbClr val="3B3B3B"/>
                </a:solidFill>
                <a:latin typeface="Arial"/>
                <a:cs typeface="Arial"/>
              </a:rPr>
              <a:t>Y3</a:t>
            </a:r>
            <a:endParaRPr sz="1770">
              <a:latin typeface="Arial"/>
              <a:cs typeface="Arial"/>
            </a:endParaRPr>
          </a:p>
        </p:txBody>
      </p:sp>
      <p:grpSp>
        <p:nvGrpSpPr>
          <p:cNvPr id="317" name="object 317"/>
          <p:cNvGrpSpPr/>
          <p:nvPr/>
        </p:nvGrpSpPr>
        <p:grpSpPr>
          <a:xfrm>
            <a:off x="8490424" y="4535293"/>
            <a:ext cx="57918" cy="75207"/>
            <a:chOff x="8194040" y="6647180"/>
            <a:chExt cx="85090" cy="110489"/>
          </a:xfrm>
        </p:grpSpPr>
        <p:sp>
          <p:nvSpPr>
            <p:cNvPr id="318" name="object 318"/>
            <p:cNvSpPr/>
            <p:nvPr/>
          </p:nvSpPr>
          <p:spPr>
            <a:xfrm>
              <a:off x="8194040" y="6647180"/>
              <a:ext cx="85089" cy="11048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9" name="object 319"/>
            <p:cNvSpPr/>
            <p:nvPr/>
          </p:nvSpPr>
          <p:spPr>
            <a:xfrm>
              <a:off x="8194040" y="6647180"/>
              <a:ext cx="85089" cy="11048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320" name="object 320"/>
          <p:cNvGrpSpPr/>
          <p:nvPr/>
        </p:nvGrpSpPr>
        <p:grpSpPr>
          <a:xfrm>
            <a:off x="6121388" y="2277340"/>
            <a:ext cx="2648254" cy="2331432"/>
            <a:chOff x="4713604" y="3329940"/>
            <a:chExt cx="3890645" cy="3425190"/>
          </a:xfrm>
        </p:grpSpPr>
        <p:sp>
          <p:nvSpPr>
            <p:cNvPr id="321" name="object 321"/>
            <p:cNvSpPr/>
            <p:nvPr/>
          </p:nvSpPr>
          <p:spPr>
            <a:xfrm>
              <a:off x="8187689" y="637032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40" h="384809">
                  <a:moveTo>
                    <a:pt x="86359" y="0"/>
                  </a:moveTo>
                  <a:lnTo>
                    <a:pt x="0" y="1269"/>
                  </a:lnTo>
                  <a:lnTo>
                    <a:pt x="3809" y="193039"/>
                  </a:lnTo>
                  <a:lnTo>
                    <a:pt x="6350" y="384809"/>
                  </a:lnTo>
                  <a:lnTo>
                    <a:pt x="91439" y="383539"/>
                  </a:lnTo>
                  <a:lnTo>
                    <a:pt x="8635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2" name="object 322"/>
            <p:cNvSpPr/>
            <p:nvPr/>
          </p:nvSpPr>
          <p:spPr>
            <a:xfrm>
              <a:off x="8187689" y="6370320"/>
              <a:ext cx="91440" cy="384810"/>
            </a:xfrm>
            <a:custGeom>
              <a:avLst/>
              <a:gdLst/>
              <a:ahLst/>
              <a:cxnLst/>
              <a:rect l="l" t="t" r="r" b="b"/>
              <a:pathLst>
                <a:path w="91440" h="384809">
                  <a:moveTo>
                    <a:pt x="3809" y="193039"/>
                  </a:moveTo>
                  <a:lnTo>
                    <a:pt x="0" y="1269"/>
                  </a:lnTo>
                  <a:lnTo>
                    <a:pt x="86359" y="0"/>
                  </a:lnTo>
                  <a:lnTo>
                    <a:pt x="91439" y="383539"/>
                  </a:lnTo>
                  <a:lnTo>
                    <a:pt x="6350" y="384809"/>
                  </a:lnTo>
                  <a:lnTo>
                    <a:pt x="3809" y="19303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3" name="object 323"/>
            <p:cNvSpPr/>
            <p:nvPr/>
          </p:nvSpPr>
          <p:spPr>
            <a:xfrm>
              <a:off x="7881619" y="6558280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4" name="object 324"/>
            <p:cNvSpPr/>
            <p:nvPr/>
          </p:nvSpPr>
          <p:spPr>
            <a:xfrm>
              <a:off x="8007350" y="6504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49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5" name="object 325"/>
            <p:cNvSpPr/>
            <p:nvPr/>
          </p:nvSpPr>
          <p:spPr>
            <a:xfrm>
              <a:off x="4714239" y="3383280"/>
              <a:ext cx="3735070" cy="1488440"/>
            </a:xfrm>
            <a:custGeom>
              <a:avLst/>
              <a:gdLst/>
              <a:ahLst/>
              <a:cxnLst/>
              <a:rect l="l" t="t" r="r" b="b"/>
              <a:pathLst>
                <a:path w="3735070" h="1488439">
                  <a:moveTo>
                    <a:pt x="0" y="1488440"/>
                  </a:moveTo>
                  <a:lnTo>
                    <a:pt x="1945639" y="1488440"/>
                  </a:lnTo>
                  <a:lnTo>
                    <a:pt x="1945639" y="0"/>
                  </a:lnTo>
                  <a:lnTo>
                    <a:pt x="3735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6" name="object 326"/>
            <p:cNvSpPr/>
            <p:nvPr/>
          </p:nvSpPr>
          <p:spPr>
            <a:xfrm>
              <a:off x="8441689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7" name="object 327"/>
            <p:cNvSpPr/>
            <p:nvPr/>
          </p:nvSpPr>
          <p:spPr>
            <a:xfrm>
              <a:off x="5901689" y="3383280"/>
              <a:ext cx="2547620" cy="2099310"/>
            </a:xfrm>
            <a:custGeom>
              <a:avLst/>
              <a:gdLst/>
              <a:ahLst/>
              <a:cxnLst/>
              <a:rect l="l" t="t" r="r" b="b"/>
              <a:pathLst>
                <a:path w="2547620" h="2099310">
                  <a:moveTo>
                    <a:pt x="0" y="2099310"/>
                  </a:moveTo>
                  <a:lnTo>
                    <a:pt x="1352550" y="2099310"/>
                  </a:lnTo>
                  <a:lnTo>
                    <a:pt x="1352550" y="0"/>
                  </a:lnTo>
                  <a:lnTo>
                    <a:pt x="2547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8" name="object 328"/>
            <p:cNvSpPr/>
            <p:nvPr/>
          </p:nvSpPr>
          <p:spPr>
            <a:xfrm>
              <a:off x="8441689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9" name="object 329"/>
            <p:cNvSpPr/>
            <p:nvPr/>
          </p:nvSpPr>
          <p:spPr>
            <a:xfrm>
              <a:off x="5901689" y="3383280"/>
              <a:ext cx="2547620" cy="2639060"/>
            </a:xfrm>
            <a:custGeom>
              <a:avLst/>
              <a:gdLst/>
              <a:ahLst/>
              <a:cxnLst/>
              <a:rect l="l" t="t" r="r" b="b"/>
              <a:pathLst>
                <a:path w="2547620" h="2639060">
                  <a:moveTo>
                    <a:pt x="0" y="2639060"/>
                  </a:moveTo>
                  <a:lnTo>
                    <a:pt x="1352550" y="2639060"/>
                  </a:lnTo>
                  <a:lnTo>
                    <a:pt x="1352550" y="0"/>
                  </a:lnTo>
                  <a:lnTo>
                    <a:pt x="2547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0" name="object 330"/>
            <p:cNvSpPr/>
            <p:nvPr/>
          </p:nvSpPr>
          <p:spPr>
            <a:xfrm>
              <a:off x="8441689" y="3329940"/>
              <a:ext cx="162560" cy="107950"/>
            </a:xfrm>
            <a:custGeom>
              <a:avLst/>
              <a:gdLst/>
              <a:ahLst/>
              <a:cxnLst/>
              <a:rect l="l" t="t" r="r" b="b"/>
              <a:pathLst>
                <a:path w="162559" h="107950">
                  <a:moveTo>
                    <a:pt x="0" y="0"/>
                  </a:moveTo>
                  <a:lnTo>
                    <a:pt x="0" y="107950"/>
                  </a:lnTo>
                  <a:lnTo>
                    <a:pt x="162559" y="53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1" name="object 331"/>
            <p:cNvSpPr/>
            <p:nvPr/>
          </p:nvSpPr>
          <p:spPr>
            <a:xfrm>
              <a:off x="6692900" y="3383280"/>
              <a:ext cx="1766570" cy="3178810"/>
            </a:xfrm>
            <a:custGeom>
              <a:avLst/>
              <a:gdLst/>
              <a:ahLst/>
              <a:cxnLst/>
              <a:rect l="l" t="t" r="r" b="b"/>
              <a:pathLst>
                <a:path w="1766570" h="3178809">
                  <a:moveTo>
                    <a:pt x="1583690" y="3178810"/>
                  </a:moveTo>
                  <a:lnTo>
                    <a:pt x="1766570" y="3178810"/>
                  </a:lnTo>
                  <a:lnTo>
                    <a:pt x="1766570" y="1601470"/>
                  </a:lnTo>
                  <a:lnTo>
                    <a:pt x="1731009" y="1601470"/>
                  </a:lnTo>
                  <a:lnTo>
                    <a:pt x="1731009" y="0"/>
                  </a:lnTo>
                  <a:lnTo>
                    <a:pt x="1756409" y="0"/>
                  </a:lnTo>
                </a:path>
                <a:path w="1766570" h="3178809">
                  <a:moveTo>
                    <a:pt x="0" y="3175000"/>
                  </a:moveTo>
                  <a:lnTo>
                    <a:pt x="133350" y="3175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2" name="object 332"/>
            <p:cNvSpPr/>
            <p:nvPr/>
          </p:nvSpPr>
          <p:spPr>
            <a:xfrm>
              <a:off x="6819900" y="3329939"/>
              <a:ext cx="1784350" cy="3282950"/>
            </a:xfrm>
            <a:custGeom>
              <a:avLst/>
              <a:gdLst/>
              <a:ahLst/>
              <a:cxnLst/>
              <a:rect l="l" t="t" r="r" b="b"/>
              <a:pathLst>
                <a:path w="1784350" h="3282950">
                  <a:moveTo>
                    <a:pt x="161290" y="3228340"/>
                  </a:moveTo>
                  <a:lnTo>
                    <a:pt x="0" y="3175000"/>
                  </a:lnTo>
                  <a:lnTo>
                    <a:pt x="0" y="3282950"/>
                  </a:lnTo>
                  <a:lnTo>
                    <a:pt x="161290" y="3228340"/>
                  </a:lnTo>
                  <a:close/>
                </a:path>
                <a:path w="1784350" h="3282950">
                  <a:moveTo>
                    <a:pt x="1784350" y="53340"/>
                  </a:moveTo>
                  <a:lnTo>
                    <a:pt x="1621790" y="0"/>
                  </a:lnTo>
                  <a:lnTo>
                    <a:pt x="1621790" y="107950"/>
                  </a:lnTo>
                  <a:lnTo>
                    <a:pt x="1784350" y="533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</p:spTree>
    <p:extLst>
      <p:ext uri="{BB962C8B-B14F-4D97-AF65-F5344CB8AC3E}">
        <p14:creationId xmlns:p14="http://schemas.microsoft.com/office/powerpoint/2010/main" val="2205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3621" y="216978"/>
            <a:ext cx="1306622" cy="469625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2995" spc="-3" dirty="0">
                <a:solidFill>
                  <a:schemeClr val="tx2"/>
                </a:solidFill>
                <a:latin typeface="Arial"/>
                <a:cs typeface="Arial"/>
              </a:rPr>
              <a:t>D</a:t>
            </a:r>
            <a:r>
              <a:rPr sz="2995" dirty="0">
                <a:solidFill>
                  <a:schemeClr val="tx2"/>
                </a:solidFill>
                <a:latin typeface="Arial"/>
                <a:cs typeface="Arial"/>
              </a:rPr>
              <a:t>AX</a:t>
            </a:r>
            <a:r>
              <a:rPr sz="2995" spc="-3" dirty="0">
                <a:solidFill>
                  <a:schemeClr val="tx2"/>
                </a:solidFill>
                <a:latin typeface="Arial"/>
                <a:cs typeface="Arial"/>
              </a:rPr>
              <a:t>PY</a:t>
            </a:r>
            <a:endParaRPr sz="2995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80490" y="785786"/>
            <a:ext cx="2219917" cy="524565"/>
          </a:xfrm>
          <a:prstGeom prst="rect">
            <a:avLst/>
          </a:prstGeom>
        </p:spPr>
        <p:txBody>
          <a:bodyPr vert="horz" wrap="square" lIns="0" tIns="11238" rIns="0" bIns="0" rtlCol="0" anchor="b">
            <a:spAutoFit/>
          </a:bodyPr>
          <a:lstStyle/>
          <a:p>
            <a:pPr marL="8645">
              <a:spcBef>
                <a:spcPts val="88"/>
              </a:spcBef>
            </a:pPr>
            <a:r>
              <a:rPr sz="3335" i="1" spc="27" dirty="0">
                <a:solidFill>
                  <a:schemeClr val="tx1"/>
                </a:solidFill>
                <a:latin typeface="Times New Roman"/>
                <a:cs typeface="Times New Roman"/>
              </a:rPr>
              <a:t>Y </a:t>
            </a:r>
            <a:r>
              <a:rPr sz="3335" spc="123" dirty="0">
                <a:solidFill>
                  <a:schemeClr val="tx1"/>
                </a:solidFill>
                <a:latin typeface="OpenSymbol"/>
                <a:cs typeface="OpenSymbol"/>
              </a:rPr>
              <a:t>=</a:t>
            </a:r>
            <a:r>
              <a:rPr sz="3335" i="1" spc="123" dirty="0">
                <a:solidFill>
                  <a:schemeClr val="tx1"/>
                </a:solidFill>
                <a:latin typeface="Times New Roman"/>
                <a:cs typeface="Times New Roman"/>
              </a:rPr>
              <a:t>a</a:t>
            </a:r>
            <a:r>
              <a:rPr sz="3335" spc="123" dirty="0">
                <a:solidFill>
                  <a:schemeClr val="tx1"/>
                </a:solidFill>
                <a:latin typeface="OpenSymbol"/>
                <a:cs typeface="OpenSymbol"/>
              </a:rPr>
              <a:t>×</a:t>
            </a:r>
            <a:r>
              <a:rPr sz="3335" spc="-1406" dirty="0">
                <a:solidFill>
                  <a:schemeClr val="tx1"/>
                </a:solidFill>
                <a:latin typeface="OpenSymbol"/>
                <a:cs typeface="OpenSymbol"/>
              </a:rPr>
              <a:t> </a:t>
            </a:r>
            <a:r>
              <a:rPr sz="3335" i="1" spc="31" dirty="0">
                <a:solidFill>
                  <a:schemeClr val="tx1"/>
                </a:solidFill>
                <a:latin typeface="Times New Roman"/>
                <a:cs typeface="Times New Roman"/>
              </a:rPr>
              <a:t>X </a:t>
            </a:r>
            <a:r>
              <a:rPr sz="3335" spc="92" dirty="0">
                <a:solidFill>
                  <a:schemeClr val="tx1"/>
                </a:solidFill>
                <a:latin typeface="OpenSymbol"/>
                <a:cs typeface="OpenSymbol"/>
              </a:rPr>
              <a:t>+</a:t>
            </a:r>
            <a:r>
              <a:rPr sz="3335" i="1" spc="92" dirty="0">
                <a:solidFill>
                  <a:schemeClr val="tx1"/>
                </a:solidFill>
                <a:latin typeface="Times New Roman"/>
                <a:cs typeface="Times New Roman"/>
              </a:rPr>
              <a:t>Y</a:t>
            </a:r>
            <a:endParaRPr sz="3335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9503" y="1245745"/>
            <a:ext cx="96387" cy="1292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783" dirty="0">
                <a:latin typeface="OpenSymbol"/>
                <a:cs typeface="OpenSymbol"/>
              </a:rPr>
              <a:t>●</a:t>
            </a:r>
            <a:endParaRPr sz="783">
              <a:latin typeface="OpenSymbol"/>
              <a:cs typeface="Open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78444" y="1088243"/>
            <a:ext cx="2035789" cy="680067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 marR="3458">
              <a:lnSpc>
                <a:spcPct val="129800"/>
              </a:lnSpc>
              <a:spcBef>
                <a:spcPts val="68"/>
              </a:spcBef>
            </a:pPr>
            <a:r>
              <a:rPr sz="1770" spc="-7" dirty="0">
                <a:latin typeface="Arial"/>
                <a:cs typeface="Arial"/>
              </a:rPr>
              <a:t>X and Y are</a:t>
            </a:r>
            <a:r>
              <a:rPr sz="1770" spc="-116" dirty="0">
                <a:latin typeface="Arial"/>
                <a:cs typeface="Arial"/>
              </a:rPr>
              <a:t> </a:t>
            </a:r>
            <a:r>
              <a:rPr sz="1770" spc="-7" dirty="0">
                <a:latin typeface="Arial"/>
                <a:cs typeface="Arial"/>
              </a:rPr>
              <a:t>vectors.  Scalar:</a:t>
            </a:r>
            <a:r>
              <a:rPr sz="1770" spc="-10" dirty="0">
                <a:latin typeface="Arial"/>
                <a:cs typeface="Arial"/>
              </a:rPr>
              <a:t> </a:t>
            </a:r>
            <a:r>
              <a:rPr sz="1770" spc="-7" dirty="0">
                <a:latin typeface="Arial"/>
                <a:cs typeface="Arial"/>
              </a:rPr>
              <a:t>a</a:t>
            </a:r>
            <a:endParaRPr sz="177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9503" y="1595849"/>
            <a:ext cx="96387" cy="1292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783" dirty="0">
                <a:latin typeface="OpenSymbol"/>
                <a:cs typeface="OpenSymbol"/>
              </a:rPr>
              <a:t>●</a:t>
            </a:r>
            <a:endParaRPr sz="783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99503" y="1946818"/>
            <a:ext cx="96387" cy="1292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783" dirty="0">
                <a:latin typeface="OpenSymbol"/>
                <a:cs typeface="OpenSymbol"/>
              </a:rPr>
              <a:t>●</a:t>
            </a:r>
            <a:endParaRPr sz="783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8445" y="1870746"/>
            <a:ext cx="2368171" cy="280238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1770" spc="-7" dirty="0">
                <a:latin typeface="Arial"/>
                <a:cs typeface="Arial"/>
              </a:rPr>
              <a:t>Single/Double</a:t>
            </a:r>
            <a:r>
              <a:rPr sz="1770" spc="-51" dirty="0">
                <a:latin typeface="Arial"/>
                <a:cs typeface="Arial"/>
              </a:rPr>
              <a:t> </a:t>
            </a:r>
            <a:r>
              <a:rPr sz="1770" spc="-7" dirty="0">
                <a:latin typeface="Arial"/>
                <a:cs typeface="Arial"/>
              </a:rPr>
              <a:t>precision</a:t>
            </a:r>
            <a:endParaRPr sz="177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44766" y="2209457"/>
            <a:ext cx="2847062" cy="24788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0" name="object 10"/>
          <p:cNvSpPr txBox="1"/>
          <p:nvPr/>
        </p:nvSpPr>
        <p:spPr>
          <a:xfrm>
            <a:off x="1982005" y="4746753"/>
            <a:ext cx="1142195" cy="226738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20315">
              <a:lnSpc>
                <a:spcPts val="1736"/>
              </a:lnSpc>
              <a:spcBef>
                <a:spcPts val="68"/>
              </a:spcBef>
            </a:pPr>
            <a:r>
              <a:rPr sz="1498" b="1" spc="-10" dirty="0" smtClean="0">
                <a:latin typeface="Arial"/>
                <a:cs typeface="Arial"/>
              </a:rPr>
              <a:t>M</a:t>
            </a:r>
            <a:r>
              <a:rPr sz="1498" b="1" spc="-3" dirty="0" smtClean="0">
                <a:latin typeface="Arial"/>
                <a:cs typeface="Arial"/>
              </a:rPr>
              <a:t>I</a:t>
            </a:r>
            <a:r>
              <a:rPr sz="1498" b="1" dirty="0" smtClean="0">
                <a:latin typeface="Arial"/>
                <a:cs typeface="Arial"/>
              </a:rPr>
              <a:t>PS</a:t>
            </a:r>
            <a:r>
              <a:rPr lang="en-IN" sz="1498" b="1" dirty="0" smtClean="0">
                <a:latin typeface="Arial"/>
                <a:cs typeface="Arial"/>
              </a:rPr>
              <a:t> </a:t>
            </a:r>
            <a:r>
              <a:rPr sz="1498" b="1" spc="-3" dirty="0" smtClean="0">
                <a:latin typeface="Arial"/>
                <a:cs typeface="Arial"/>
              </a:rPr>
              <a:t>Cod</a:t>
            </a:r>
            <a:r>
              <a:rPr sz="1498" b="1" dirty="0" smtClean="0">
                <a:latin typeface="Arial"/>
                <a:cs typeface="Arial"/>
              </a:rPr>
              <a:t>e</a:t>
            </a:r>
            <a:endParaRPr sz="1498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99952" y="2836340"/>
            <a:ext cx="2230291" cy="1711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2" name="object 12"/>
          <p:cNvSpPr txBox="1"/>
          <p:nvPr/>
        </p:nvSpPr>
        <p:spPr>
          <a:xfrm>
            <a:off x="6401025" y="4632676"/>
            <a:ext cx="607711" cy="444746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lnSpc>
                <a:spcPts val="1736"/>
              </a:lnSpc>
              <a:spcBef>
                <a:spcPts val="68"/>
              </a:spcBef>
            </a:pPr>
            <a:r>
              <a:rPr sz="1498" b="1" spc="-7" dirty="0">
                <a:latin typeface="Arial"/>
                <a:cs typeface="Arial"/>
              </a:rPr>
              <a:t>V</a:t>
            </a:r>
            <a:r>
              <a:rPr sz="1498" b="1" spc="-3" dirty="0">
                <a:latin typeface="Arial"/>
                <a:cs typeface="Arial"/>
              </a:rPr>
              <a:t>MI</a:t>
            </a:r>
            <a:r>
              <a:rPr sz="1498" b="1" spc="-7" dirty="0">
                <a:latin typeface="Arial"/>
                <a:cs typeface="Arial"/>
              </a:rPr>
              <a:t>P</a:t>
            </a:r>
            <a:r>
              <a:rPr sz="1498" b="1" dirty="0">
                <a:latin typeface="Arial"/>
                <a:cs typeface="Arial"/>
              </a:rPr>
              <a:t>S</a:t>
            </a:r>
            <a:endParaRPr sz="1498">
              <a:latin typeface="Arial"/>
              <a:cs typeface="Arial"/>
            </a:endParaRPr>
          </a:p>
          <a:p>
            <a:pPr marL="65701">
              <a:lnSpc>
                <a:spcPts val="1736"/>
              </a:lnSpc>
            </a:pPr>
            <a:r>
              <a:rPr sz="1498" b="1" spc="-3" dirty="0">
                <a:latin typeface="Arial"/>
                <a:cs typeface="Arial"/>
              </a:rPr>
              <a:t>Code</a:t>
            </a:r>
            <a:endParaRPr sz="1498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02146" y="1596071"/>
            <a:ext cx="3205467" cy="6133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4" name="object 14"/>
          <p:cNvSpPr txBox="1"/>
          <p:nvPr/>
        </p:nvSpPr>
        <p:spPr>
          <a:xfrm>
            <a:off x="6133043" y="1328407"/>
            <a:ext cx="682054" cy="23924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498" b="1" dirty="0">
                <a:latin typeface="Arial"/>
                <a:cs typeface="Arial"/>
              </a:rPr>
              <a:t>C</a:t>
            </a:r>
            <a:r>
              <a:rPr sz="1498" b="1" spc="-61" dirty="0">
                <a:latin typeface="Arial"/>
                <a:cs typeface="Arial"/>
              </a:rPr>
              <a:t> </a:t>
            </a:r>
            <a:r>
              <a:rPr sz="1498" b="1" spc="-3" dirty="0">
                <a:latin typeface="Arial"/>
                <a:cs typeface="Arial"/>
              </a:rPr>
              <a:t>Code</a:t>
            </a:r>
            <a:endParaRPr sz="1498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969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9400" y="310608"/>
            <a:ext cx="1798256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" dirty="0"/>
              <a:t>D</a:t>
            </a:r>
            <a:r>
              <a:rPr dirty="0"/>
              <a:t>AX</a:t>
            </a:r>
            <a:r>
              <a:rPr spc="-3" dirty="0"/>
              <a:t>PY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8210" y="1318452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0" y="1123950"/>
            <a:ext cx="5083420" cy="2731410"/>
          </a:xfrm>
          <a:prstGeom prst="rect">
            <a:avLst/>
          </a:prstGeom>
        </p:spPr>
        <p:txBody>
          <a:bodyPr vert="horz" wrap="square" lIns="0" tIns="8212" rIns="0" bIns="0" rtlCol="0">
            <a:spAutoFit/>
          </a:bodyPr>
          <a:lstStyle/>
          <a:p>
            <a:pPr marL="17290" marR="549383">
              <a:lnSpc>
                <a:spcPct val="130500"/>
              </a:lnSpc>
              <a:spcBef>
                <a:spcPts val="65"/>
              </a:spcBef>
            </a:pPr>
            <a:r>
              <a:rPr sz="2178" spc="-3" dirty="0">
                <a:latin typeface="Arial"/>
                <a:cs typeface="Arial"/>
              </a:rPr>
              <a:t>Instruction </a:t>
            </a:r>
            <a:r>
              <a:rPr sz="2178" dirty="0">
                <a:latin typeface="Arial"/>
                <a:cs typeface="Arial"/>
              </a:rPr>
              <a:t>bandwidth has decreased  Individual loops are</a:t>
            </a:r>
            <a:r>
              <a:rPr sz="2178" spc="-31" dirty="0">
                <a:latin typeface="Arial"/>
                <a:cs typeface="Arial"/>
              </a:rPr>
              <a:t> </a:t>
            </a:r>
            <a:r>
              <a:rPr sz="2178" dirty="0">
                <a:latin typeface="Arial"/>
                <a:cs typeface="Arial"/>
              </a:rPr>
              <a:t>independent</a:t>
            </a:r>
          </a:p>
          <a:p>
            <a:pPr marL="312081" indent="-221309">
              <a:spcBef>
                <a:spcPts val="810"/>
              </a:spcBef>
              <a:buSzPct val="75000"/>
              <a:buFont typeface="OpenSymbol"/>
              <a:buChar char="–"/>
              <a:tabLst>
                <a:tab pos="312081" algn="l"/>
              </a:tabLst>
            </a:pPr>
            <a:r>
              <a:rPr sz="1906" spc="-7" dirty="0">
                <a:latin typeface="Arial"/>
                <a:cs typeface="Arial"/>
              </a:rPr>
              <a:t>They </a:t>
            </a:r>
            <a:r>
              <a:rPr sz="1906" dirty="0">
                <a:latin typeface="Arial"/>
                <a:cs typeface="Arial"/>
              </a:rPr>
              <a:t>are</a:t>
            </a:r>
            <a:r>
              <a:rPr sz="1906" spc="-3" dirty="0">
                <a:latin typeface="Arial"/>
                <a:cs typeface="Arial"/>
              </a:rPr>
              <a:t> vectorizable</a:t>
            </a:r>
            <a:endParaRPr sz="1906" dirty="0">
              <a:latin typeface="Arial"/>
              <a:cs typeface="Arial"/>
            </a:endParaRPr>
          </a:p>
          <a:p>
            <a:pPr marL="312081" indent="-221309">
              <a:spcBef>
                <a:spcPts val="613"/>
              </a:spcBef>
              <a:buSzPct val="75000"/>
              <a:buFont typeface="OpenSymbol"/>
              <a:buChar char="–"/>
              <a:tabLst>
                <a:tab pos="312081" algn="l"/>
              </a:tabLst>
            </a:pPr>
            <a:r>
              <a:rPr sz="1906" spc="-7" dirty="0">
                <a:latin typeface="Arial"/>
                <a:cs typeface="Arial"/>
              </a:rPr>
              <a:t>They </a:t>
            </a:r>
            <a:r>
              <a:rPr sz="1906" spc="-3" dirty="0">
                <a:latin typeface="Arial"/>
                <a:cs typeface="Arial"/>
              </a:rPr>
              <a:t>do not have </a:t>
            </a:r>
            <a:r>
              <a:rPr sz="1906" i="1" spc="-3" dirty="0">
                <a:latin typeface="Arial"/>
                <a:cs typeface="Arial"/>
              </a:rPr>
              <a:t>loop-carried</a:t>
            </a:r>
            <a:r>
              <a:rPr sz="1906" i="1" spc="20" dirty="0">
                <a:latin typeface="Arial"/>
                <a:cs typeface="Arial"/>
              </a:rPr>
              <a:t> </a:t>
            </a:r>
            <a:r>
              <a:rPr sz="1906" i="1" spc="-3" dirty="0">
                <a:latin typeface="Arial"/>
                <a:cs typeface="Arial"/>
              </a:rPr>
              <a:t>dependences</a:t>
            </a:r>
            <a:endParaRPr sz="1906" dirty="0">
              <a:latin typeface="Arial"/>
              <a:cs typeface="Arial"/>
            </a:endParaRPr>
          </a:p>
          <a:p>
            <a:pPr marL="17290">
              <a:spcBef>
                <a:spcPts val="592"/>
              </a:spcBef>
            </a:pPr>
            <a:r>
              <a:rPr sz="2178" dirty="0">
                <a:latin typeface="Arial"/>
                <a:cs typeface="Arial"/>
              </a:rPr>
              <a:t>Reduced </a:t>
            </a:r>
            <a:r>
              <a:rPr sz="2178" spc="-3" dirty="0">
                <a:latin typeface="Arial"/>
                <a:cs typeface="Arial"/>
              </a:rPr>
              <a:t>pipeline </a:t>
            </a:r>
            <a:r>
              <a:rPr sz="2178" dirty="0">
                <a:latin typeface="Arial"/>
                <a:cs typeface="Arial"/>
              </a:rPr>
              <a:t>interlocks </a:t>
            </a:r>
            <a:r>
              <a:rPr sz="2178" spc="-7" dirty="0">
                <a:latin typeface="Arial"/>
                <a:cs typeface="Arial"/>
              </a:rPr>
              <a:t>in</a:t>
            </a:r>
            <a:r>
              <a:rPr sz="2178" spc="-14" dirty="0">
                <a:latin typeface="Arial"/>
                <a:cs typeface="Arial"/>
              </a:rPr>
              <a:t> </a:t>
            </a:r>
            <a:r>
              <a:rPr sz="2178" spc="-3" dirty="0">
                <a:latin typeface="Arial"/>
                <a:cs typeface="Arial"/>
              </a:rPr>
              <a:t>VMIPS</a:t>
            </a:r>
            <a:endParaRPr sz="2178" dirty="0">
              <a:latin typeface="Arial"/>
              <a:cs typeface="Arial"/>
            </a:endParaRPr>
          </a:p>
          <a:p>
            <a:pPr marL="311648" marR="12103" indent="-221309">
              <a:lnSpc>
                <a:spcPts val="2124"/>
              </a:lnSpc>
              <a:spcBef>
                <a:spcPts val="1018"/>
              </a:spcBef>
              <a:buSzPct val="75000"/>
              <a:buFont typeface="OpenSymbol"/>
              <a:buChar char="–"/>
              <a:tabLst>
                <a:tab pos="312081" algn="l"/>
              </a:tabLst>
            </a:pPr>
            <a:r>
              <a:rPr sz="1906" spc="-7" dirty="0">
                <a:latin typeface="Arial"/>
                <a:cs typeface="Arial"/>
              </a:rPr>
              <a:t>MIPS: ADD.D </a:t>
            </a:r>
            <a:r>
              <a:rPr sz="1906" spc="-3" dirty="0">
                <a:latin typeface="Arial"/>
                <a:cs typeface="Arial"/>
              </a:rPr>
              <a:t>waits for MUL.D, </a:t>
            </a:r>
            <a:r>
              <a:rPr sz="1906" spc="-7" dirty="0">
                <a:latin typeface="Arial"/>
                <a:cs typeface="Arial"/>
              </a:rPr>
              <a:t>S.D </a:t>
            </a:r>
            <a:r>
              <a:rPr sz="1906" spc="-3" dirty="0">
                <a:latin typeface="Arial"/>
                <a:cs typeface="Arial"/>
              </a:rPr>
              <a:t>waits</a:t>
            </a:r>
            <a:r>
              <a:rPr sz="1906" spc="-85" dirty="0">
                <a:latin typeface="Arial"/>
                <a:cs typeface="Arial"/>
              </a:rPr>
              <a:t> </a:t>
            </a:r>
            <a:r>
              <a:rPr sz="1906" spc="-3" dirty="0">
                <a:latin typeface="Arial"/>
                <a:cs typeface="Arial"/>
              </a:rPr>
              <a:t>for  </a:t>
            </a:r>
            <a:r>
              <a:rPr sz="1906" spc="-7" dirty="0">
                <a:latin typeface="Arial"/>
                <a:cs typeface="Arial"/>
              </a:rPr>
              <a:t>ADD.D</a:t>
            </a:r>
            <a:endParaRPr sz="1906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8210" y="1751544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8210" y="2920286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0086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2434" y="158911"/>
            <a:ext cx="3993552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1" dirty="0"/>
              <a:t>Vector</a:t>
            </a:r>
            <a:r>
              <a:rPr spc="-37" dirty="0"/>
              <a:t> </a:t>
            </a:r>
            <a:r>
              <a:rPr spc="-3" dirty="0"/>
              <a:t>Stripmining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03764" y="1698589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4200" y="1504950"/>
            <a:ext cx="5936636" cy="1188934"/>
          </a:xfrm>
          <a:prstGeom prst="rect">
            <a:avLst/>
          </a:prstGeom>
        </p:spPr>
        <p:txBody>
          <a:bodyPr vert="horz" wrap="square" lIns="0" tIns="108921" rIns="0" bIns="0" rtlCol="0">
            <a:spAutoFit/>
          </a:bodyPr>
          <a:lstStyle/>
          <a:p>
            <a:pPr marL="8645">
              <a:spcBef>
                <a:spcPts val="858"/>
              </a:spcBef>
            </a:pPr>
            <a:r>
              <a:rPr sz="2178" dirty="0">
                <a:latin typeface="Arial"/>
                <a:cs typeface="Arial"/>
              </a:rPr>
              <a:t>What </a:t>
            </a:r>
            <a:r>
              <a:rPr sz="2178" spc="-7" dirty="0">
                <a:latin typeface="Arial"/>
                <a:cs typeface="Arial"/>
              </a:rPr>
              <a:t>if </a:t>
            </a:r>
            <a:r>
              <a:rPr sz="2178" i="1" dirty="0">
                <a:latin typeface="Arial"/>
                <a:cs typeface="Arial"/>
              </a:rPr>
              <a:t>n </a:t>
            </a:r>
            <a:r>
              <a:rPr sz="2178" spc="-7" dirty="0">
                <a:latin typeface="Arial"/>
                <a:cs typeface="Arial"/>
              </a:rPr>
              <a:t>is </a:t>
            </a:r>
            <a:r>
              <a:rPr sz="2178" dirty="0">
                <a:latin typeface="Arial"/>
                <a:cs typeface="Arial"/>
              </a:rPr>
              <a:t>not a </a:t>
            </a:r>
            <a:r>
              <a:rPr sz="2178" spc="-3" dirty="0">
                <a:latin typeface="Arial"/>
                <a:cs typeface="Arial"/>
              </a:rPr>
              <a:t>multiple of VLRMAX </a:t>
            </a:r>
            <a:r>
              <a:rPr sz="2178" dirty="0">
                <a:latin typeface="Arial"/>
                <a:cs typeface="Arial"/>
              </a:rPr>
              <a:t>(or</a:t>
            </a:r>
            <a:r>
              <a:rPr sz="2178" spc="-17" dirty="0">
                <a:latin typeface="Arial"/>
                <a:cs typeface="Arial"/>
              </a:rPr>
              <a:t> </a:t>
            </a:r>
            <a:r>
              <a:rPr sz="2178" spc="-3" dirty="0">
                <a:latin typeface="Arial"/>
                <a:cs typeface="Arial"/>
              </a:rPr>
              <a:t>MVL)?</a:t>
            </a:r>
            <a:endParaRPr sz="2178">
              <a:latin typeface="Arial"/>
              <a:cs typeface="Arial"/>
            </a:endParaRPr>
          </a:p>
          <a:p>
            <a:pPr marL="8645" marR="32418">
              <a:lnSpc>
                <a:spcPts val="2444"/>
              </a:lnSpc>
              <a:spcBef>
                <a:spcPts val="1011"/>
              </a:spcBef>
            </a:pPr>
            <a:r>
              <a:rPr sz="2178" dirty="0">
                <a:latin typeface="Arial"/>
                <a:cs typeface="Arial"/>
              </a:rPr>
              <a:t>Use </a:t>
            </a:r>
            <a:r>
              <a:rPr sz="2178" spc="-3" dirty="0">
                <a:latin typeface="Arial"/>
                <a:cs typeface="Arial"/>
              </a:rPr>
              <a:t>VLR to </a:t>
            </a:r>
            <a:r>
              <a:rPr sz="2178" dirty="0">
                <a:latin typeface="Arial"/>
                <a:cs typeface="Arial"/>
              </a:rPr>
              <a:t>set </a:t>
            </a:r>
            <a:r>
              <a:rPr sz="2178" spc="-3" dirty="0">
                <a:latin typeface="Arial"/>
                <a:cs typeface="Arial"/>
              </a:rPr>
              <a:t>the </a:t>
            </a:r>
            <a:r>
              <a:rPr sz="2178" dirty="0">
                <a:latin typeface="Arial"/>
                <a:cs typeface="Arial"/>
              </a:rPr>
              <a:t>correct subset of </a:t>
            </a:r>
            <a:r>
              <a:rPr sz="2178" spc="-3" dirty="0">
                <a:latin typeface="Arial"/>
                <a:cs typeface="Arial"/>
              </a:rPr>
              <a:t>registers </a:t>
            </a:r>
            <a:r>
              <a:rPr sz="2178" spc="-7" dirty="0">
                <a:latin typeface="Arial"/>
                <a:cs typeface="Arial"/>
              </a:rPr>
              <a:t>to  </a:t>
            </a:r>
            <a:r>
              <a:rPr sz="2178" dirty="0">
                <a:latin typeface="Arial"/>
                <a:cs typeface="Arial"/>
              </a:rPr>
              <a:t>be used </a:t>
            </a:r>
            <a:r>
              <a:rPr sz="2178" spc="-3" dirty="0">
                <a:latin typeface="Arial"/>
                <a:cs typeface="Arial"/>
              </a:rPr>
              <a:t>from the</a:t>
            </a:r>
            <a:r>
              <a:rPr sz="2178" spc="-20" dirty="0">
                <a:latin typeface="Arial"/>
                <a:cs typeface="Arial"/>
              </a:rPr>
              <a:t> </a:t>
            </a:r>
            <a:r>
              <a:rPr sz="2178" spc="-17" dirty="0">
                <a:latin typeface="Arial"/>
                <a:cs typeface="Arial"/>
              </a:rPr>
              <a:t>vector.</a:t>
            </a:r>
            <a:endParaRPr sz="217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03764" y="2130816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82845" y="903290"/>
            <a:ext cx="3205467" cy="5460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7" name="object 7"/>
          <p:cNvSpPr/>
          <p:nvPr/>
        </p:nvSpPr>
        <p:spPr>
          <a:xfrm>
            <a:off x="3145995" y="2840532"/>
            <a:ext cx="5551610" cy="2026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174700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9175" y="262774"/>
            <a:ext cx="4069752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1" dirty="0"/>
              <a:t>Vector</a:t>
            </a:r>
            <a:r>
              <a:rPr spc="-37" dirty="0"/>
              <a:t> </a:t>
            </a:r>
            <a:r>
              <a:rPr spc="-3" dirty="0"/>
              <a:t>Stripmining</a:t>
            </a:r>
          </a:p>
        </p:txBody>
      </p:sp>
      <p:sp>
        <p:nvSpPr>
          <p:cNvPr id="3" name="object 3"/>
          <p:cNvSpPr/>
          <p:nvPr/>
        </p:nvSpPr>
        <p:spPr>
          <a:xfrm>
            <a:off x="2923925" y="863457"/>
            <a:ext cx="5636239" cy="2026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651982"/>
              </p:ext>
            </p:extLst>
          </p:nvPr>
        </p:nvGraphicFramePr>
        <p:xfrm>
          <a:off x="3364796" y="4122448"/>
          <a:ext cx="5683786" cy="2943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2030"/>
                <a:gridCol w="587829"/>
                <a:gridCol w="587829"/>
                <a:gridCol w="587829"/>
                <a:gridCol w="588260"/>
                <a:gridCol w="587829"/>
                <a:gridCol w="587829"/>
                <a:gridCol w="587829"/>
                <a:gridCol w="587829"/>
                <a:gridCol w="588693"/>
              </a:tblGrid>
              <a:tr h="294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657673" y="3889910"/>
            <a:ext cx="955654" cy="197307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  <a:tabLst>
                <a:tab pos="859734" algn="l"/>
              </a:tabLst>
            </a:pPr>
            <a:r>
              <a:rPr sz="1838" spc="-138" baseline="1543" dirty="0">
                <a:latin typeface="Arial"/>
                <a:cs typeface="Arial"/>
              </a:rPr>
              <a:t>V</a:t>
            </a:r>
            <a:r>
              <a:rPr sz="1838" spc="-5" baseline="1543" dirty="0">
                <a:latin typeface="Arial"/>
                <a:cs typeface="Arial"/>
              </a:rPr>
              <a:t>a</a:t>
            </a:r>
            <a:r>
              <a:rPr sz="1838" spc="-10" baseline="1543" dirty="0">
                <a:latin typeface="Arial"/>
                <a:cs typeface="Arial"/>
              </a:rPr>
              <a:t>l</a:t>
            </a:r>
            <a:r>
              <a:rPr sz="1838" spc="-5" baseline="1543" dirty="0">
                <a:latin typeface="Arial"/>
                <a:cs typeface="Arial"/>
              </a:rPr>
              <a:t>u</a:t>
            </a:r>
            <a:r>
              <a:rPr sz="1838" baseline="1543" dirty="0">
                <a:latin typeface="Arial"/>
                <a:cs typeface="Arial"/>
              </a:rPr>
              <a:t>e</a:t>
            </a:r>
            <a:r>
              <a:rPr sz="1838" spc="-5" baseline="1543" dirty="0">
                <a:latin typeface="Arial"/>
                <a:cs typeface="Arial"/>
              </a:rPr>
              <a:t> o</a:t>
            </a:r>
            <a:r>
              <a:rPr sz="1838" baseline="1543" dirty="0">
                <a:latin typeface="Arial"/>
                <a:cs typeface="Arial"/>
              </a:rPr>
              <a:t>f</a:t>
            </a:r>
            <a:r>
              <a:rPr sz="1838" spc="-5" baseline="1543" dirty="0">
                <a:latin typeface="Arial"/>
                <a:cs typeface="Arial"/>
              </a:rPr>
              <a:t> </a:t>
            </a:r>
            <a:r>
              <a:rPr sz="1838" b="1" i="1" baseline="1543" dirty="0">
                <a:latin typeface="Arial"/>
                <a:cs typeface="Arial"/>
              </a:rPr>
              <a:t>j	</a:t>
            </a:r>
            <a:r>
              <a:rPr sz="1225" dirty="0">
                <a:latin typeface="Arial"/>
                <a:cs typeface="Arial"/>
              </a:rPr>
              <a:t>0</a:t>
            </a:r>
            <a:endParaRPr sz="1225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98441" y="3889910"/>
            <a:ext cx="104167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dirty="0">
                <a:latin typeface="Arial"/>
                <a:cs typeface="Arial"/>
              </a:rPr>
              <a:t>1</a:t>
            </a:r>
            <a:endParaRPr sz="1225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86270" y="3889045"/>
            <a:ext cx="104167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dirty="0">
                <a:latin typeface="Arial"/>
                <a:cs typeface="Arial"/>
              </a:rPr>
              <a:t>2</a:t>
            </a:r>
            <a:endParaRPr sz="1225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4099" y="3889910"/>
            <a:ext cx="104167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dirty="0">
                <a:latin typeface="Arial"/>
                <a:cs typeface="Arial"/>
              </a:rPr>
              <a:t>3</a:t>
            </a:r>
            <a:endParaRPr sz="1225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40315" y="3889045"/>
            <a:ext cx="147822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.</a:t>
            </a:r>
            <a:r>
              <a:rPr sz="1225" spc="3" dirty="0">
                <a:latin typeface="Arial"/>
                <a:cs typeface="Arial"/>
              </a:rPr>
              <a:t>.</a:t>
            </a:r>
            <a:r>
              <a:rPr sz="1225" dirty="0">
                <a:latin typeface="Arial"/>
                <a:cs typeface="Arial"/>
              </a:rPr>
              <a:t>.</a:t>
            </a:r>
            <a:endParaRPr sz="1225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8145" y="3889910"/>
            <a:ext cx="147389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3" dirty="0">
                <a:latin typeface="Arial"/>
                <a:cs typeface="Arial"/>
              </a:rPr>
              <a:t>.</a:t>
            </a:r>
            <a:r>
              <a:rPr sz="1225" spc="-3" dirty="0">
                <a:latin typeface="Arial"/>
                <a:cs typeface="Arial"/>
              </a:rPr>
              <a:t>..</a:t>
            </a:r>
            <a:endParaRPr sz="1225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5973" y="3889045"/>
            <a:ext cx="147389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3" dirty="0">
                <a:latin typeface="Arial"/>
                <a:cs typeface="Arial"/>
              </a:rPr>
              <a:t>.</a:t>
            </a:r>
            <a:r>
              <a:rPr sz="1225" spc="-3" dirty="0">
                <a:latin typeface="Arial"/>
                <a:cs typeface="Arial"/>
              </a:rPr>
              <a:t>..</a:t>
            </a:r>
            <a:endParaRPr sz="1225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03802" y="3889910"/>
            <a:ext cx="147389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3" dirty="0">
                <a:latin typeface="Arial"/>
                <a:cs typeface="Arial"/>
              </a:rPr>
              <a:t>.</a:t>
            </a:r>
            <a:r>
              <a:rPr sz="1225" spc="-3" dirty="0">
                <a:latin typeface="Arial"/>
                <a:cs typeface="Arial"/>
              </a:rPr>
              <a:t>..</a:t>
            </a:r>
            <a:endParaRPr sz="1225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91630" y="3889045"/>
            <a:ext cx="147389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3" dirty="0">
                <a:latin typeface="Arial"/>
                <a:cs typeface="Arial"/>
              </a:rPr>
              <a:t>.</a:t>
            </a:r>
            <a:r>
              <a:rPr sz="1225" spc="-3" dirty="0">
                <a:latin typeface="Arial"/>
                <a:cs typeface="Arial"/>
              </a:rPr>
              <a:t>..</a:t>
            </a:r>
            <a:endParaRPr sz="122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58711" y="3889910"/>
            <a:ext cx="190612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latin typeface="Arial"/>
                <a:cs typeface="Arial"/>
              </a:rPr>
              <a:t>10</a:t>
            </a:r>
            <a:endParaRPr sz="1225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09264" y="4453533"/>
            <a:ext cx="1116010" cy="197307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838" spc="-10" baseline="1543" dirty="0">
                <a:latin typeface="Arial"/>
                <a:cs typeface="Arial"/>
              </a:rPr>
              <a:t>Range </a:t>
            </a:r>
            <a:r>
              <a:rPr sz="1838" spc="-5" baseline="1543" dirty="0">
                <a:latin typeface="Arial"/>
                <a:cs typeface="Arial"/>
              </a:rPr>
              <a:t>of </a:t>
            </a:r>
            <a:r>
              <a:rPr sz="1838" b="1" i="1" baseline="1543" dirty="0">
                <a:latin typeface="Arial"/>
                <a:cs typeface="Arial"/>
              </a:rPr>
              <a:t>i </a:t>
            </a:r>
            <a:r>
              <a:rPr sz="1225" b="1" dirty="0">
                <a:latin typeface="Arial"/>
                <a:cs typeface="Arial"/>
              </a:rPr>
              <a:t>0 -</a:t>
            </a:r>
            <a:r>
              <a:rPr sz="1225" b="1" spc="-177" dirty="0">
                <a:latin typeface="Arial"/>
                <a:cs typeface="Arial"/>
              </a:rPr>
              <a:t> </a:t>
            </a:r>
            <a:r>
              <a:rPr sz="1225" b="1" dirty="0">
                <a:latin typeface="Arial"/>
                <a:cs typeface="Arial"/>
              </a:rPr>
              <a:t>5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97404" y="2995200"/>
            <a:ext cx="1665802" cy="392462"/>
            <a:chOff x="720090" y="4103370"/>
            <a:chExt cx="2447290" cy="576580"/>
          </a:xfrm>
        </p:grpSpPr>
        <p:sp>
          <p:nvSpPr>
            <p:cNvPr id="17" name="object 17"/>
            <p:cNvSpPr/>
            <p:nvPr/>
          </p:nvSpPr>
          <p:spPr>
            <a:xfrm>
              <a:off x="792480" y="4175759"/>
              <a:ext cx="2374900" cy="504190"/>
            </a:xfrm>
            <a:custGeom>
              <a:avLst/>
              <a:gdLst/>
              <a:ahLst/>
              <a:cxnLst/>
              <a:rect l="l" t="t" r="r" b="b"/>
              <a:pathLst>
                <a:path w="2374900" h="504189">
                  <a:moveTo>
                    <a:pt x="23749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0" y="504190"/>
                  </a:lnTo>
                  <a:lnTo>
                    <a:pt x="2374900" y="504190"/>
                  </a:lnTo>
                  <a:lnTo>
                    <a:pt x="2374900" y="431800"/>
                  </a:lnTo>
                  <a:lnTo>
                    <a:pt x="237490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" name="object 18"/>
            <p:cNvSpPr/>
            <p:nvPr/>
          </p:nvSpPr>
          <p:spPr>
            <a:xfrm>
              <a:off x="792480" y="4175760"/>
              <a:ext cx="2374900" cy="504190"/>
            </a:xfrm>
            <a:custGeom>
              <a:avLst/>
              <a:gdLst/>
              <a:ahLst/>
              <a:cxnLst/>
              <a:rect l="l" t="t" r="r" b="b"/>
              <a:pathLst>
                <a:path w="2374900" h="504189">
                  <a:moveTo>
                    <a:pt x="1187450" y="504189"/>
                  </a:moveTo>
                  <a:lnTo>
                    <a:pt x="0" y="504189"/>
                  </a:lnTo>
                  <a:lnTo>
                    <a:pt x="0" y="0"/>
                  </a:lnTo>
                  <a:lnTo>
                    <a:pt x="2374900" y="0"/>
                  </a:lnTo>
                  <a:lnTo>
                    <a:pt x="2374900" y="504189"/>
                  </a:lnTo>
                  <a:lnTo>
                    <a:pt x="1187450" y="50418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" name="object 19"/>
            <p:cNvSpPr/>
            <p:nvPr/>
          </p:nvSpPr>
          <p:spPr>
            <a:xfrm>
              <a:off x="720090" y="4103370"/>
              <a:ext cx="2376170" cy="504190"/>
            </a:xfrm>
            <a:custGeom>
              <a:avLst/>
              <a:gdLst/>
              <a:ahLst/>
              <a:cxnLst/>
              <a:rect l="l" t="t" r="r" b="b"/>
              <a:pathLst>
                <a:path w="2376170" h="504189">
                  <a:moveTo>
                    <a:pt x="2376170" y="0"/>
                  </a:moveTo>
                  <a:lnTo>
                    <a:pt x="0" y="0"/>
                  </a:lnTo>
                  <a:lnTo>
                    <a:pt x="0" y="504189"/>
                  </a:lnTo>
                  <a:lnTo>
                    <a:pt x="2376170" y="504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997404" y="2995200"/>
            <a:ext cx="1617393" cy="269646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59647" rIns="0" bIns="0" rtlCol="0">
            <a:spAutoFit/>
          </a:bodyPr>
          <a:lstStyle/>
          <a:p>
            <a:pPr marL="108493">
              <a:spcBef>
                <a:spcPts val="470"/>
              </a:spcBef>
            </a:pPr>
            <a:r>
              <a:rPr sz="1361" b="1" spc="-3" dirty="0">
                <a:latin typeface="Arial"/>
                <a:cs typeface="Arial"/>
              </a:rPr>
              <a:t>MVL: </a:t>
            </a:r>
            <a:r>
              <a:rPr sz="1361" b="1" dirty="0">
                <a:latin typeface="Arial"/>
                <a:cs typeface="Arial"/>
              </a:rPr>
              <a:t>16. n =</a:t>
            </a:r>
            <a:r>
              <a:rPr sz="1361" b="1" spc="-44" dirty="0">
                <a:latin typeface="Arial"/>
                <a:cs typeface="Arial"/>
              </a:rPr>
              <a:t> </a:t>
            </a:r>
            <a:r>
              <a:rPr sz="1361" b="1" dirty="0">
                <a:latin typeface="Arial"/>
                <a:cs typeface="Arial"/>
              </a:rPr>
              <a:t>166.</a:t>
            </a:r>
            <a:endParaRPr sz="1361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374652" y="2995200"/>
            <a:ext cx="1469571" cy="416667"/>
            <a:chOff x="4212590" y="4103370"/>
            <a:chExt cx="2159000" cy="612140"/>
          </a:xfrm>
        </p:grpSpPr>
        <p:sp>
          <p:nvSpPr>
            <p:cNvPr id="22" name="object 22"/>
            <p:cNvSpPr/>
            <p:nvPr/>
          </p:nvSpPr>
          <p:spPr>
            <a:xfrm>
              <a:off x="4283710" y="4175759"/>
              <a:ext cx="2087880" cy="539750"/>
            </a:xfrm>
            <a:custGeom>
              <a:avLst/>
              <a:gdLst/>
              <a:ahLst/>
              <a:cxnLst/>
              <a:rect l="l" t="t" r="r" b="b"/>
              <a:pathLst>
                <a:path w="2087879" h="539750">
                  <a:moveTo>
                    <a:pt x="2087880" y="0"/>
                  </a:moveTo>
                  <a:lnTo>
                    <a:pt x="0" y="0"/>
                  </a:lnTo>
                  <a:lnTo>
                    <a:pt x="0" y="468630"/>
                  </a:lnTo>
                  <a:lnTo>
                    <a:pt x="0" y="539750"/>
                  </a:lnTo>
                  <a:lnTo>
                    <a:pt x="2087880" y="539750"/>
                  </a:lnTo>
                  <a:lnTo>
                    <a:pt x="2087880" y="468630"/>
                  </a:lnTo>
                  <a:lnTo>
                    <a:pt x="20878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" name="object 23"/>
            <p:cNvSpPr/>
            <p:nvPr/>
          </p:nvSpPr>
          <p:spPr>
            <a:xfrm>
              <a:off x="4283710" y="4175760"/>
              <a:ext cx="2087880" cy="539750"/>
            </a:xfrm>
            <a:custGeom>
              <a:avLst/>
              <a:gdLst/>
              <a:ahLst/>
              <a:cxnLst/>
              <a:rect l="l" t="t" r="r" b="b"/>
              <a:pathLst>
                <a:path w="2087879" h="539750">
                  <a:moveTo>
                    <a:pt x="1043939" y="539750"/>
                  </a:moveTo>
                  <a:lnTo>
                    <a:pt x="0" y="539750"/>
                  </a:lnTo>
                  <a:lnTo>
                    <a:pt x="0" y="0"/>
                  </a:lnTo>
                  <a:lnTo>
                    <a:pt x="2087879" y="0"/>
                  </a:lnTo>
                  <a:lnTo>
                    <a:pt x="2087879" y="539750"/>
                  </a:lnTo>
                  <a:lnTo>
                    <a:pt x="1043939" y="53975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" name="object 24"/>
            <p:cNvSpPr/>
            <p:nvPr/>
          </p:nvSpPr>
          <p:spPr>
            <a:xfrm>
              <a:off x="4212590" y="4103370"/>
              <a:ext cx="2087880" cy="541020"/>
            </a:xfrm>
            <a:custGeom>
              <a:avLst/>
              <a:gdLst/>
              <a:ahLst/>
              <a:cxnLst/>
              <a:rect l="l" t="t" r="r" b="b"/>
              <a:pathLst>
                <a:path w="2087879" h="541020">
                  <a:moveTo>
                    <a:pt x="2087880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087880" y="5410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374652" y="2995200"/>
            <a:ext cx="1421162" cy="281867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1750" rIns="0" bIns="0" rtlCol="0">
            <a:spAutoFit/>
          </a:bodyPr>
          <a:lstStyle/>
          <a:p>
            <a:pPr marL="43224">
              <a:spcBef>
                <a:spcPts val="565"/>
              </a:spcBef>
            </a:pPr>
            <a:r>
              <a:rPr sz="1361" b="1" dirty="0">
                <a:latin typeface="Arial"/>
                <a:cs typeface="Arial"/>
              </a:rPr>
              <a:t>(16 * 10) + (6 *</a:t>
            </a:r>
            <a:r>
              <a:rPr sz="1361" b="1" spc="-71" dirty="0">
                <a:latin typeface="Arial"/>
                <a:cs typeface="Arial"/>
              </a:rPr>
              <a:t> </a:t>
            </a:r>
            <a:r>
              <a:rPr sz="1361" b="1" dirty="0">
                <a:latin typeface="Arial"/>
                <a:cs typeface="Arial"/>
              </a:rPr>
              <a:t>1)</a:t>
            </a:r>
            <a:endParaRPr sz="1361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614797" y="3093748"/>
            <a:ext cx="734786" cy="196231"/>
            <a:chOff x="3096260" y="4248150"/>
            <a:chExt cx="1079500" cy="288290"/>
          </a:xfrm>
        </p:grpSpPr>
        <p:sp>
          <p:nvSpPr>
            <p:cNvPr id="27" name="object 27"/>
            <p:cNvSpPr/>
            <p:nvPr/>
          </p:nvSpPr>
          <p:spPr>
            <a:xfrm>
              <a:off x="3096260" y="4248150"/>
              <a:ext cx="1079500" cy="288290"/>
            </a:xfrm>
            <a:custGeom>
              <a:avLst/>
              <a:gdLst/>
              <a:ahLst/>
              <a:cxnLst/>
              <a:rect l="l" t="t" r="r" b="b"/>
              <a:pathLst>
                <a:path w="1079500" h="288289">
                  <a:moveTo>
                    <a:pt x="810260" y="0"/>
                  </a:moveTo>
                  <a:lnTo>
                    <a:pt x="810260" y="72389"/>
                  </a:lnTo>
                  <a:lnTo>
                    <a:pt x="0" y="72389"/>
                  </a:lnTo>
                  <a:lnTo>
                    <a:pt x="0" y="215900"/>
                  </a:lnTo>
                  <a:lnTo>
                    <a:pt x="810260" y="215900"/>
                  </a:lnTo>
                  <a:lnTo>
                    <a:pt x="810260" y="288289"/>
                  </a:lnTo>
                  <a:lnTo>
                    <a:pt x="1079500" y="143510"/>
                  </a:lnTo>
                  <a:lnTo>
                    <a:pt x="810260" y="0"/>
                  </a:lnTo>
                  <a:close/>
                </a:path>
              </a:pathLst>
            </a:custGeom>
            <a:solidFill>
              <a:srgbClr val="33A2A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" name="object 28"/>
            <p:cNvSpPr/>
            <p:nvPr/>
          </p:nvSpPr>
          <p:spPr>
            <a:xfrm>
              <a:off x="3096260" y="4248150"/>
              <a:ext cx="1079500" cy="288290"/>
            </a:xfrm>
            <a:custGeom>
              <a:avLst/>
              <a:gdLst/>
              <a:ahLst/>
              <a:cxnLst/>
              <a:rect l="l" t="t" r="r" b="b"/>
              <a:pathLst>
                <a:path w="1079500" h="288289">
                  <a:moveTo>
                    <a:pt x="0" y="72389"/>
                  </a:moveTo>
                  <a:lnTo>
                    <a:pt x="810260" y="72389"/>
                  </a:lnTo>
                  <a:lnTo>
                    <a:pt x="810260" y="0"/>
                  </a:lnTo>
                  <a:lnTo>
                    <a:pt x="1079500" y="143510"/>
                  </a:lnTo>
                  <a:lnTo>
                    <a:pt x="810260" y="288289"/>
                  </a:lnTo>
                  <a:lnTo>
                    <a:pt x="810260" y="215900"/>
                  </a:lnTo>
                  <a:lnTo>
                    <a:pt x="0" y="215900"/>
                  </a:lnTo>
                  <a:lnTo>
                    <a:pt x="0" y="72389"/>
                  </a:lnTo>
                  <a:close/>
                </a:path>
                <a:path w="1079500" h="288289">
                  <a:moveTo>
                    <a:pt x="0" y="0"/>
                  </a:moveTo>
                  <a:lnTo>
                    <a:pt x="0" y="0"/>
                  </a:lnTo>
                </a:path>
                <a:path w="1079500" h="288289">
                  <a:moveTo>
                    <a:pt x="1079500" y="288289"/>
                  </a:moveTo>
                  <a:lnTo>
                    <a:pt x="1079500" y="2882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818635" y="4453533"/>
            <a:ext cx="5279651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  <a:tabLst>
                <a:tab pos="577910" algn="l"/>
                <a:tab pos="4067853" algn="l"/>
              </a:tabLst>
            </a:pPr>
            <a:r>
              <a:rPr sz="1225" b="1" dirty="0">
                <a:latin typeface="Arial"/>
                <a:cs typeface="Arial"/>
              </a:rPr>
              <a:t>6</a:t>
            </a:r>
            <a:r>
              <a:rPr sz="1225" b="1" spc="-3" dirty="0">
                <a:latin typeface="Arial"/>
                <a:cs typeface="Arial"/>
              </a:rPr>
              <a:t> </a:t>
            </a:r>
            <a:r>
              <a:rPr sz="1225" b="1" dirty="0">
                <a:latin typeface="Arial"/>
                <a:cs typeface="Arial"/>
              </a:rPr>
              <a:t>-</a:t>
            </a:r>
            <a:r>
              <a:rPr sz="1225" b="1" spc="3" dirty="0">
                <a:latin typeface="Arial"/>
                <a:cs typeface="Arial"/>
              </a:rPr>
              <a:t> </a:t>
            </a:r>
            <a:r>
              <a:rPr sz="1225" b="1" spc="-7" dirty="0">
                <a:latin typeface="Arial"/>
                <a:cs typeface="Arial"/>
              </a:rPr>
              <a:t>21	</a:t>
            </a:r>
            <a:r>
              <a:rPr sz="1225" b="1" spc="-3" dirty="0">
                <a:latin typeface="Arial"/>
                <a:cs typeface="Arial"/>
              </a:rPr>
              <a:t>22 </a:t>
            </a:r>
            <a:r>
              <a:rPr sz="1225" b="1" dirty="0">
                <a:latin typeface="Arial"/>
                <a:cs typeface="Arial"/>
              </a:rPr>
              <a:t>- </a:t>
            </a:r>
            <a:r>
              <a:rPr sz="1225" b="1" spc="-3" dirty="0">
                <a:latin typeface="Arial"/>
                <a:cs typeface="Arial"/>
              </a:rPr>
              <a:t>37	134-149</a:t>
            </a:r>
            <a:r>
              <a:rPr sz="1225" b="1" spc="123" dirty="0">
                <a:latin typeface="Arial"/>
                <a:cs typeface="Arial"/>
              </a:rPr>
              <a:t> </a:t>
            </a:r>
            <a:r>
              <a:rPr sz="1225" b="1" spc="-7" dirty="0">
                <a:latin typeface="Arial"/>
                <a:cs typeface="Arial"/>
              </a:rPr>
              <a:t>150-165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095087" y="4808824"/>
            <a:ext cx="686376" cy="343188"/>
            <a:chOff x="863600" y="6767830"/>
            <a:chExt cx="1008380" cy="504190"/>
          </a:xfrm>
        </p:grpSpPr>
        <p:sp>
          <p:nvSpPr>
            <p:cNvPr id="31" name="object 31"/>
            <p:cNvSpPr/>
            <p:nvPr/>
          </p:nvSpPr>
          <p:spPr>
            <a:xfrm>
              <a:off x="935990" y="6840220"/>
              <a:ext cx="935990" cy="431800"/>
            </a:xfrm>
            <a:custGeom>
              <a:avLst/>
              <a:gdLst/>
              <a:ahLst/>
              <a:cxnLst/>
              <a:rect l="l" t="t" r="r" b="b"/>
              <a:pathLst>
                <a:path w="935989" h="431800">
                  <a:moveTo>
                    <a:pt x="935990" y="0"/>
                  </a:moveTo>
                  <a:lnTo>
                    <a:pt x="0" y="0"/>
                  </a:lnTo>
                  <a:lnTo>
                    <a:pt x="0" y="359410"/>
                  </a:lnTo>
                  <a:lnTo>
                    <a:pt x="0" y="431800"/>
                  </a:lnTo>
                  <a:lnTo>
                    <a:pt x="935990" y="431800"/>
                  </a:lnTo>
                  <a:lnTo>
                    <a:pt x="935990" y="359410"/>
                  </a:lnTo>
                  <a:lnTo>
                    <a:pt x="93599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" name="object 32"/>
            <p:cNvSpPr/>
            <p:nvPr/>
          </p:nvSpPr>
          <p:spPr>
            <a:xfrm>
              <a:off x="935989" y="6840220"/>
              <a:ext cx="935990" cy="431800"/>
            </a:xfrm>
            <a:custGeom>
              <a:avLst/>
              <a:gdLst/>
              <a:ahLst/>
              <a:cxnLst/>
              <a:rect l="l" t="t" r="r" b="b"/>
              <a:pathLst>
                <a:path w="935989" h="431800">
                  <a:moveTo>
                    <a:pt x="468629" y="431799"/>
                  </a:moveTo>
                  <a:lnTo>
                    <a:pt x="0" y="431799"/>
                  </a:lnTo>
                  <a:lnTo>
                    <a:pt x="0" y="0"/>
                  </a:lnTo>
                  <a:lnTo>
                    <a:pt x="935990" y="0"/>
                  </a:lnTo>
                  <a:lnTo>
                    <a:pt x="935990" y="431799"/>
                  </a:lnTo>
                  <a:lnTo>
                    <a:pt x="468629" y="431799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" name="object 33"/>
            <p:cNvSpPr/>
            <p:nvPr/>
          </p:nvSpPr>
          <p:spPr>
            <a:xfrm>
              <a:off x="863600" y="6767830"/>
              <a:ext cx="935990" cy="431800"/>
            </a:xfrm>
            <a:custGeom>
              <a:avLst/>
              <a:gdLst/>
              <a:ahLst/>
              <a:cxnLst/>
              <a:rect l="l" t="t" r="r" b="b"/>
              <a:pathLst>
                <a:path w="935989" h="431800">
                  <a:moveTo>
                    <a:pt x="935989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935989" y="431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095087" y="4808824"/>
            <a:ext cx="645747" cy="244332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4578" rIns="0" bIns="0" rtlCol="0">
            <a:spAutoFit/>
          </a:bodyPr>
          <a:lstStyle/>
          <a:p>
            <a:pPr>
              <a:spcBef>
                <a:spcPts val="272"/>
              </a:spcBef>
            </a:pPr>
            <a:r>
              <a:rPr sz="1361" b="1" spc="-3" dirty="0">
                <a:latin typeface="Arial"/>
                <a:cs typeface="Arial"/>
              </a:rPr>
              <a:t>VLR </a:t>
            </a:r>
            <a:r>
              <a:rPr sz="1361" b="1" dirty="0">
                <a:latin typeface="Arial"/>
                <a:cs typeface="Arial"/>
              </a:rPr>
              <a:t>=</a:t>
            </a:r>
            <a:r>
              <a:rPr sz="1361" b="1" spc="-65" dirty="0">
                <a:latin typeface="Arial"/>
                <a:cs typeface="Arial"/>
              </a:rPr>
              <a:t> </a:t>
            </a:r>
            <a:r>
              <a:rPr sz="1361" b="1" dirty="0">
                <a:latin typeface="Arial"/>
                <a:cs typeface="Arial"/>
              </a:rPr>
              <a:t>6</a:t>
            </a:r>
            <a:endParaRPr sz="1361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780599" y="4808824"/>
            <a:ext cx="5342324" cy="343188"/>
            <a:chOff x="1870710" y="6767830"/>
            <a:chExt cx="7848600" cy="504190"/>
          </a:xfrm>
        </p:grpSpPr>
        <p:sp>
          <p:nvSpPr>
            <p:cNvPr id="36" name="object 36"/>
            <p:cNvSpPr/>
            <p:nvPr/>
          </p:nvSpPr>
          <p:spPr>
            <a:xfrm>
              <a:off x="1943100" y="6838950"/>
              <a:ext cx="7776209" cy="433070"/>
            </a:xfrm>
            <a:custGeom>
              <a:avLst/>
              <a:gdLst/>
              <a:ahLst/>
              <a:cxnLst/>
              <a:rect l="l" t="t" r="r" b="b"/>
              <a:pathLst>
                <a:path w="7776209" h="433070">
                  <a:moveTo>
                    <a:pt x="7776210" y="0"/>
                  </a:moveTo>
                  <a:lnTo>
                    <a:pt x="0" y="0"/>
                  </a:lnTo>
                  <a:lnTo>
                    <a:pt x="0" y="360680"/>
                  </a:lnTo>
                  <a:lnTo>
                    <a:pt x="0" y="433070"/>
                  </a:lnTo>
                  <a:lnTo>
                    <a:pt x="7776210" y="433070"/>
                  </a:lnTo>
                  <a:lnTo>
                    <a:pt x="7776210" y="360680"/>
                  </a:lnTo>
                  <a:lnTo>
                    <a:pt x="777621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" name="object 37"/>
            <p:cNvSpPr/>
            <p:nvPr/>
          </p:nvSpPr>
          <p:spPr>
            <a:xfrm>
              <a:off x="1943100" y="6838950"/>
              <a:ext cx="7776209" cy="433070"/>
            </a:xfrm>
            <a:custGeom>
              <a:avLst/>
              <a:gdLst/>
              <a:ahLst/>
              <a:cxnLst/>
              <a:rect l="l" t="t" r="r" b="b"/>
              <a:pathLst>
                <a:path w="7776209" h="433070">
                  <a:moveTo>
                    <a:pt x="3888740" y="433070"/>
                  </a:moveTo>
                  <a:lnTo>
                    <a:pt x="0" y="433070"/>
                  </a:lnTo>
                  <a:lnTo>
                    <a:pt x="0" y="0"/>
                  </a:lnTo>
                  <a:lnTo>
                    <a:pt x="7776209" y="0"/>
                  </a:lnTo>
                  <a:lnTo>
                    <a:pt x="7776209" y="433070"/>
                  </a:lnTo>
                  <a:lnTo>
                    <a:pt x="3888740" y="43307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" name="object 38"/>
            <p:cNvSpPr/>
            <p:nvPr/>
          </p:nvSpPr>
          <p:spPr>
            <a:xfrm>
              <a:off x="1870710" y="6767830"/>
              <a:ext cx="7777480" cy="431800"/>
            </a:xfrm>
            <a:custGeom>
              <a:avLst/>
              <a:gdLst/>
              <a:ahLst/>
              <a:cxnLst/>
              <a:rect l="l" t="t" r="r" b="b"/>
              <a:pathLst>
                <a:path w="7777480" h="431800">
                  <a:moveTo>
                    <a:pt x="777748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7777480" y="431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780599" y="4808824"/>
            <a:ext cx="5293915" cy="24346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3714" rIns="0" bIns="0" rtlCol="0">
            <a:spAutoFit/>
          </a:bodyPr>
          <a:lstStyle/>
          <a:p>
            <a:pPr algn="ctr">
              <a:spcBef>
                <a:spcPts val="265"/>
              </a:spcBef>
            </a:pPr>
            <a:r>
              <a:rPr sz="1361" b="1" dirty="0">
                <a:latin typeface="Arial"/>
                <a:cs typeface="Arial"/>
              </a:rPr>
              <a:t>VLR =</a:t>
            </a:r>
            <a:r>
              <a:rPr sz="1361" b="1" spc="-7" dirty="0">
                <a:latin typeface="Arial"/>
                <a:cs typeface="Arial"/>
              </a:rPr>
              <a:t> </a:t>
            </a:r>
            <a:r>
              <a:rPr sz="1361" b="1" dirty="0">
                <a:latin typeface="Arial"/>
                <a:cs typeface="Arial"/>
              </a:rPr>
              <a:t>16</a:t>
            </a:r>
            <a:endParaRPr sz="136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887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1400" y="352523"/>
            <a:ext cx="4880706" cy="469625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2995" spc="-31" dirty="0">
                <a:solidFill>
                  <a:schemeClr val="tx2"/>
                </a:solidFill>
                <a:latin typeface="Arial"/>
                <a:cs typeface="Arial"/>
              </a:rPr>
              <a:t>Vector </a:t>
            </a:r>
            <a:r>
              <a:rPr sz="2995" spc="-3" dirty="0">
                <a:solidFill>
                  <a:schemeClr val="tx2"/>
                </a:solidFill>
                <a:latin typeface="Arial"/>
                <a:cs typeface="Arial"/>
              </a:rPr>
              <a:t>Conditional</a:t>
            </a:r>
            <a:r>
              <a:rPr sz="2995" spc="-14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995" spc="-3" dirty="0">
                <a:solidFill>
                  <a:schemeClr val="tx2"/>
                </a:solidFill>
                <a:latin typeface="Arial"/>
                <a:cs typeface="Arial"/>
              </a:rPr>
              <a:t>Execution</a:t>
            </a:r>
            <a:endParaRPr sz="2995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9400" y="2266950"/>
            <a:ext cx="103302" cy="13966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851" dirty="0">
                <a:latin typeface="OpenSymbol"/>
                <a:cs typeface="OpenSymbol"/>
              </a:rPr>
              <a:t>●</a:t>
            </a:r>
            <a:endParaRPr sz="851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3903" y="2094232"/>
            <a:ext cx="4065526" cy="736749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 marR="3458">
              <a:lnSpc>
                <a:spcPct val="131200"/>
              </a:lnSpc>
              <a:spcBef>
                <a:spcPts val="68"/>
              </a:spcBef>
            </a:pPr>
            <a:r>
              <a:rPr sz="1906" spc="-7" dirty="0">
                <a:latin typeface="Arial"/>
                <a:cs typeface="Arial"/>
              </a:rPr>
              <a:t>Vectorizing </a:t>
            </a:r>
            <a:r>
              <a:rPr sz="1906" spc="3" dirty="0">
                <a:latin typeface="Arial"/>
                <a:cs typeface="Arial"/>
              </a:rPr>
              <a:t>loop </a:t>
            </a:r>
            <a:r>
              <a:rPr sz="1906" dirty="0">
                <a:latin typeface="Arial"/>
                <a:cs typeface="Arial"/>
              </a:rPr>
              <a:t>with </a:t>
            </a:r>
            <a:r>
              <a:rPr sz="1906" spc="3" dirty="0">
                <a:latin typeface="Arial"/>
                <a:cs typeface="Arial"/>
              </a:rPr>
              <a:t>conditional code  </a:t>
            </a:r>
            <a:r>
              <a:rPr sz="1906" spc="7" dirty="0">
                <a:latin typeface="Arial"/>
                <a:cs typeface="Arial"/>
              </a:rPr>
              <a:t>Mask</a:t>
            </a:r>
            <a:r>
              <a:rPr sz="1906" spc="3" dirty="0">
                <a:latin typeface="Arial"/>
                <a:cs typeface="Arial"/>
              </a:rPr>
              <a:t> Registers</a:t>
            </a:r>
            <a:endParaRPr sz="1906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9400" y="2647310"/>
            <a:ext cx="103302" cy="13966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851" dirty="0">
                <a:latin typeface="OpenSymbol"/>
                <a:cs typeface="OpenSymbol"/>
              </a:rPr>
              <a:t>●</a:t>
            </a:r>
            <a:endParaRPr sz="851">
              <a:latin typeface="OpenSymbol"/>
              <a:cs typeface="OpenSymbo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64672" y="1157726"/>
            <a:ext cx="3087397" cy="808697"/>
            <a:chOff x="2340419" y="1224089"/>
            <a:chExt cx="4535805" cy="1188085"/>
          </a:xfrm>
        </p:grpSpPr>
        <p:sp>
          <p:nvSpPr>
            <p:cNvPr id="7" name="object 7"/>
            <p:cNvSpPr/>
            <p:nvPr/>
          </p:nvSpPr>
          <p:spPr>
            <a:xfrm>
              <a:off x="2358390" y="1242060"/>
              <a:ext cx="4499610" cy="1151890"/>
            </a:xfrm>
            <a:custGeom>
              <a:avLst/>
              <a:gdLst/>
              <a:ahLst/>
              <a:cxnLst/>
              <a:rect l="l" t="t" r="r" b="b"/>
              <a:pathLst>
                <a:path w="4499609" h="1151889">
                  <a:moveTo>
                    <a:pt x="0" y="0"/>
                  </a:moveTo>
                  <a:lnTo>
                    <a:pt x="4499610" y="0"/>
                  </a:lnTo>
                  <a:lnTo>
                    <a:pt x="4499610" y="1151889"/>
                  </a:lnTo>
                  <a:lnTo>
                    <a:pt x="0" y="1151889"/>
                  </a:lnTo>
                  <a:lnTo>
                    <a:pt x="0" y="0"/>
                  </a:lnTo>
                  <a:close/>
                </a:path>
              </a:pathLst>
            </a:custGeom>
            <a:ln w="359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" name="object 8"/>
            <p:cNvSpPr/>
            <p:nvPr/>
          </p:nvSpPr>
          <p:spPr>
            <a:xfrm>
              <a:off x="2376170" y="1303617"/>
              <a:ext cx="4464050" cy="10506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714672" y="3156343"/>
            <a:ext cx="6278960" cy="1799361"/>
            <a:chOff x="503999" y="4160329"/>
            <a:chExt cx="9224645" cy="2643505"/>
          </a:xfrm>
        </p:grpSpPr>
        <p:sp>
          <p:nvSpPr>
            <p:cNvPr id="10" name="object 10"/>
            <p:cNvSpPr/>
            <p:nvPr/>
          </p:nvSpPr>
          <p:spPr>
            <a:xfrm>
              <a:off x="521970" y="4178299"/>
              <a:ext cx="9188450" cy="2607310"/>
            </a:xfrm>
            <a:custGeom>
              <a:avLst/>
              <a:gdLst/>
              <a:ahLst/>
              <a:cxnLst/>
              <a:rect l="l" t="t" r="r" b="b"/>
              <a:pathLst>
                <a:path w="9188450" h="2607309">
                  <a:moveTo>
                    <a:pt x="0" y="0"/>
                  </a:moveTo>
                  <a:lnTo>
                    <a:pt x="9188450" y="0"/>
                  </a:lnTo>
                  <a:lnTo>
                    <a:pt x="9188450" y="2607310"/>
                  </a:lnTo>
                  <a:lnTo>
                    <a:pt x="0" y="2607310"/>
                  </a:lnTo>
                  <a:lnTo>
                    <a:pt x="0" y="0"/>
                  </a:lnTo>
                  <a:close/>
                </a:path>
              </a:pathLst>
            </a:custGeom>
            <a:ln w="35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" name="object 11"/>
            <p:cNvSpPr/>
            <p:nvPr/>
          </p:nvSpPr>
          <p:spPr>
            <a:xfrm>
              <a:off x="539750" y="4196079"/>
              <a:ext cx="9067170" cy="2514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</p:spTree>
    <p:extLst>
      <p:ext uri="{BB962C8B-B14F-4D97-AF65-F5344CB8AC3E}">
        <p14:creationId xmlns:p14="http://schemas.microsoft.com/office/powerpoint/2010/main" val="2049257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0495" y="272751"/>
            <a:ext cx="5725854" cy="562727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  <a:tabLst>
                <a:tab pos="2631937" algn="l"/>
              </a:tabLst>
            </a:pPr>
            <a:r>
              <a:rPr sz="3600" spc="-3" dirty="0"/>
              <a:t>Masked</a:t>
            </a:r>
            <a:r>
              <a:rPr sz="3600" spc="14" dirty="0"/>
              <a:t> </a:t>
            </a:r>
            <a:r>
              <a:rPr sz="3600" spc="-31" dirty="0"/>
              <a:t>Vector	</a:t>
            </a:r>
            <a:r>
              <a:rPr sz="3600" spc="-3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24200" y="892514"/>
            <a:ext cx="2097165" cy="23924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498" b="1" spc="-3" dirty="0">
                <a:latin typeface="Arial"/>
                <a:cs typeface="Arial"/>
              </a:rPr>
              <a:t>Simple</a:t>
            </a:r>
            <a:r>
              <a:rPr sz="1498" b="1" spc="-41" dirty="0">
                <a:latin typeface="Arial"/>
                <a:cs typeface="Arial"/>
              </a:rPr>
              <a:t> </a:t>
            </a:r>
            <a:r>
              <a:rPr sz="1498" b="1" spc="-3" dirty="0">
                <a:latin typeface="Arial"/>
                <a:cs typeface="Arial"/>
              </a:rPr>
              <a:t>Implementation</a:t>
            </a:r>
            <a:endParaRPr sz="1498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15106" y="3784112"/>
            <a:ext cx="315526" cy="287862"/>
            <a:chOff x="2769870" y="5334000"/>
            <a:chExt cx="463550" cy="422909"/>
          </a:xfrm>
        </p:grpSpPr>
        <p:sp>
          <p:nvSpPr>
            <p:cNvPr id="5" name="object 5"/>
            <p:cNvSpPr/>
            <p:nvPr/>
          </p:nvSpPr>
          <p:spPr>
            <a:xfrm>
              <a:off x="2769870" y="5333999"/>
              <a:ext cx="463550" cy="422909"/>
            </a:xfrm>
            <a:custGeom>
              <a:avLst/>
              <a:gdLst/>
              <a:ahLst/>
              <a:cxnLst/>
              <a:rect l="l" t="t" r="r" b="b"/>
              <a:pathLst>
                <a:path w="463550" h="422910">
                  <a:moveTo>
                    <a:pt x="463550" y="165100"/>
                  </a:moveTo>
                  <a:lnTo>
                    <a:pt x="298450" y="165100"/>
                  </a:lnTo>
                  <a:lnTo>
                    <a:pt x="298450" y="0"/>
                  </a:lnTo>
                  <a:lnTo>
                    <a:pt x="165100" y="0"/>
                  </a:lnTo>
                  <a:lnTo>
                    <a:pt x="165100" y="165100"/>
                  </a:lnTo>
                  <a:lnTo>
                    <a:pt x="0" y="165100"/>
                  </a:lnTo>
                  <a:lnTo>
                    <a:pt x="0" y="256540"/>
                  </a:lnTo>
                  <a:lnTo>
                    <a:pt x="165100" y="256540"/>
                  </a:lnTo>
                  <a:lnTo>
                    <a:pt x="165100" y="422910"/>
                  </a:lnTo>
                  <a:lnTo>
                    <a:pt x="298450" y="422910"/>
                  </a:lnTo>
                  <a:lnTo>
                    <a:pt x="298450" y="256540"/>
                  </a:lnTo>
                  <a:lnTo>
                    <a:pt x="463550" y="256540"/>
                  </a:lnTo>
                  <a:lnTo>
                    <a:pt x="463550" y="1651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2769870" y="5334000"/>
              <a:ext cx="463550" cy="422909"/>
            </a:xfrm>
            <a:custGeom>
              <a:avLst/>
              <a:gdLst/>
              <a:ahLst/>
              <a:cxnLst/>
              <a:rect l="l" t="t" r="r" b="b"/>
              <a:pathLst>
                <a:path w="463550" h="422910">
                  <a:moveTo>
                    <a:pt x="165100" y="0"/>
                  </a:moveTo>
                  <a:lnTo>
                    <a:pt x="298450" y="0"/>
                  </a:lnTo>
                  <a:lnTo>
                    <a:pt x="298450" y="165100"/>
                  </a:lnTo>
                  <a:lnTo>
                    <a:pt x="463550" y="165100"/>
                  </a:lnTo>
                  <a:lnTo>
                    <a:pt x="463550" y="256539"/>
                  </a:lnTo>
                  <a:lnTo>
                    <a:pt x="298450" y="256539"/>
                  </a:lnTo>
                  <a:lnTo>
                    <a:pt x="298450" y="422910"/>
                  </a:lnTo>
                  <a:lnTo>
                    <a:pt x="165100" y="422910"/>
                  </a:lnTo>
                  <a:lnTo>
                    <a:pt x="165100" y="256539"/>
                  </a:lnTo>
                  <a:lnTo>
                    <a:pt x="0" y="256539"/>
                  </a:lnTo>
                  <a:lnTo>
                    <a:pt x="0" y="165100"/>
                  </a:lnTo>
                  <a:lnTo>
                    <a:pt x="165100" y="165100"/>
                  </a:lnTo>
                  <a:lnTo>
                    <a:pt x="165100" y="0"/>
                  </a:lnTo>
                  <a:close/>
                </a:path>
                <a:path w="463550" h="422910">
                  <a:moveTo>
                    <a:pt x="0" y="0"/>
                  </a:moveTo>
                  <a:lnTo>
                    <a:pt x="0" y="0"/>
                  </a:lnTo>
                </a:path>
                <a:path w="463550" h="422910">
                  <a:moveTo>
                    <a:pt x="463550" y="422910"/>
                  </a:moveTo>
                  <a:lnTo>
                    <a:pt x="463550" y="4229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391736"/>
              </p:ext>
            </p:extLst>
          </p:nvPr>
        </p:nvGraphicFramePr>
        <p:xfrm>
          <a:off x="2997126" y="1326470"/>
          <a:ext cx="833333" cy="19368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3333"/>
              </a:tblGrid>
              <a:tr h="28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M[15]=1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87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M[14]=1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36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36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M[3]=0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05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87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M[2]=1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0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M[1]=0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022194" y="4441962"/>
            <a:ext cx="784060" cy="209463"/>
          </a:xfrm>
          <a:prstGeom prst="rect">
            <a:avLst/>
          </a:prstGeom>
          <a:ln w="35940">
            <a:solidFill>
              <a:srgbClr val="000000"/>
            </a:solidFill>
          </a:ln>
        </p:spPr>
        <p:txBody>
          <a:bodyPr vert="horz" wrap="square" lIns="0" tIns="20747" rIns="0" bIns="0" rtlCol="0">
            <a:spAutoFit/>
          </a:bodyPr>
          <a:lstStyle/>
          <a:p>
            <a:pPr marL="151286">
              <a:spcBef>
                <a:spcPts val="163"/>
              </a:spcBef>
            </a:pPr>
            <a:r>
              <a:rPr sz="1225" spc="-3" dirty="0">
                <a:latin typeface="Arial"/>
                <a:cs typeface="Arial"/>
              </a:rPr>
              <a:t>M[0]=1</a:t>
            </a:r>
            <a:endParaRPr sz="1225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23854" y="4951125"/>
            <a:ext cx="903354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7" dirty="0">
                <a:latin typeface="Arial"/>
                <a:cs typeface="Arial"/>
              </a:rPr>
              <a:t>Write</a:t>
            </a:r>
            <a:r>
              <a:rPr sz="1225" spc="-37" dirty="0">
                <a:latin typeface="Arial"/>
                <a:cs typeface="Arial"/>
              </a:rPr>
              <a:t> </a:t>
            </a:r>
            <a:r>
              <a:rPr sz="1225" spc="-7" dirty="0">
                <a:latin typeface="Arial"/>
                <a:cs typeface="Arial"/>
              </a:rPr>
              <a:t>Enable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00202" y="4557798"/>
            <a:ext cx="315526" cy="374308"/>
            <a:chOff x="1719579" y="6470650"/>
            <a:chExt cx="463550" cy="549910"/>
          </a:xfrm>
        </p:grpSpPr>
        <p:sp>
          <p:nvSpPr>
            <p:cNvPr id="11" name="object 11"/>
            <p:cNvSpPr/>
            <p:nvPr/>
          </p:nvSpPr>
          <p:spPr>
            <a:xfrm>
              <a:off x="1728469" y="6479539"/>
              <a:ext cx="394970" cy="369570"/>
            </a:xfrm>
            <a:custGeom>
              <a:avLst/>
              <a:gdLst/>
              <a:ahLst/>
              <a:cxnLst/>
              <a:rect l="l" t="t" r="r" b="b"/>
              <a:pathLst>
                <a:path w="394969" h="369570">
                  <a:moveTo>
                    <a:pt x="0" y="0"/>
                  </a:moveTo>
                  <a:lnTo>
                    <a:pt x="394969" y="0"/>
                  </a:lnTo>
                  <a:lnTo>
                    <a:pt x="394969" y="369570"/>
                  </a:lnTo>
                </a:path>
              </a:pathLst>
            </a:custGeom>
            <a:ln w="17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" name="object 12"/>
            <p:cNvSpPr/>
            <p:nvPr/>
          </p:nvSpPr>
          <p:spPr>
            <a:xfrm>
              <a:off x="2065019" y="6841490"/>
              <a:ext cx="118110" cy="179070"/>
            </a:xfrm>
            <a:custGeom>
              <a:avLst/>
              <a:gdLst/>
              <a:ahLst/>
              <a:cxnLst/>
              <a:rect l="l" t="t" r="r" b="b"/>
              <a:pathLst>
                <a:path w="118110" h="179070">
                  <a:moveTo>
                    <a:pt x="118110" y="0"/>
                  </a:moveTo>
                  <a:lnTo>
                    <a:pt x="0" y="0"/>
                  </a:lnTo>
                  <a:lnTo>
                    <a:pt x="58419" y="179069"/>
                  </a:lnTo>
                  <a:lnTo>
                    <a:pt x="1181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965833" y="868309"/>
            <a:ext cx="1422459" cy="464822"/>
          </a:xfrm>
          <a:prstGeom prst="rect">
            <a:avLst/>
          </a:prstGeom>
        </p:spPr>
        <p:txBody>
          <a:bodyPr vert="horz" wrap="square" lIns="0" tIns="28527" rIns="0" bIns="0" rtlCol="0">
            <a:spAutoFit/>
          </a:bodyPr>
          <a:lstStyle/>
          <a:p>
            <a:pPr marL="8645" marR="3458" indent="6916">
              <a:lnSpc>
                <a:spcPts val="1675"/>
              </a:lnSpc>
              <a:spcBef>
                <a:spcPts val="225"/>
              </a:spcBef>
            </a:pPr>
            <a:r>
              <a:rPr sz="1498" b="1" spc="-3" dirty="0">
                <a:latin typeface="Arial"/>
                <a:cs typeface="Arial"/>
              </a:rPr>
              <a:t>Density </a:t>
            </a:r>
            <a:r>
              <a:rPr sz="1498" b="1" dirty="0">
                <a:latin typeface="Arial"/>
                <a:cs typeface="Arial"/>
              </a:rPr>
              <a:t>– </a:t>
            </a:r>
            <a:r>
              <a:rPr sz="1498" b="1" spc="-7" dirty="0">
                <a:latin typeface="Arial"/>
                <a:cs typeface="Arial"/>
              </a:rPr>
              <a:t>Time  </a:t>
            </a:r>
            <a:r>
              <a:rPr sz="1498" b="1" spc="-3" dirty="0">
                <a:latin typeface="Arial"/>
                <a:cs typeface="Arial"/>
              </a:rPr>
              <a:t>I</a:t>
            </a:r>
            <a:r>
              <a:rPr sz="1498" b="1" dirty="0">
                <a:latin typeface="Arial"/>
                <a:cs typeface="Arial"/>
              </a:rPr>
              <a:t>m</a:t>
            </a:r>
            <a:r>
              <a:rPr sz="1498" b="1" spc="-3" dirty="0">
                <a:latin typeface="Arial"/>
                <a:cs typeface="Arial"/>
              </a:rPr>
              <a:t>p</a:t>
            </a:r>
            <a:r>
              <a:rPr sz="1498" b="1" spc="3" dirty="0">
                <a:latin typeface="Arial"/>
                <a:cs typeface="Arial"/>
              </a:rPr>
              <a:t>l</a:t>
            </a:r>
            <a:r>
              <a:rPr sz="1498" b="1" spc="-3" dirty="0">
                <a:latin typeface="Arial"/>
                <a:cs typeface="Arial"/>
              </a:rPr>
              <a:t>e</a:t>
            </a:r>
            <a:r>
              <a:rPr sz="1498" b="1" dirty="0">
                <a:latin typeface="Arial"/>
                <a:cs typeface="Arial"/>
              </a:rPr>
              <a:t>m</a:t>
            </a:r>
            <a:r>
              <a:rPr sz="1498" b="1" spc="-3" dirty="0">
                <a:latin typeface="Arial"/>
                <a:cs typeface="Arial"/>
              </a:rPr>
              <a:t>en</a:t>
            </a:r>
            <a:r>
              <a:rPr sz="1498" b="1" dirty="0">
                <a:latin typeface="Arial"/>
                <a:cs typeface="Arial"/>
              </a:rPr>
              <a:t>t</a:t>
            </a:r>
            <a:r>
              <a:rPr sz="1498" b="1" spc="-3" dirty="0">
                <a:latin typeface="Arial"/>
                <a:cs typeface="Arial"/>
              </a:rPr>
              <a:t>ati</a:t>
            </a:r>
            <a:r>
              <a:rPr sz="1498" b="1" dirty="0">
                <a:latin typeface="Arial"/>
                <a:cs typeface="Arial"/>
              </a:rPr>
              <a:t>on</a:t>
            </a:r>
            <a:endParaRPr sz="1498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099545"/>
              </p:ext>
            </p:extLst>
          </p:nvPr>
        </p:nvGraphicFramePr>
        <p:xfrm>
          <a:off x="8284989" y="1816614"/>
          <a:ext cx="591286" cy="14445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286"/>
              </a:tblGrid>
              <a:tr h="2887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B[15]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87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B[14]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B[9]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87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B[4]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0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B[2]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971192" y="4439368"/>
            <a:ext cx="440007" cy="223382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3831" rIns="0" bIns="0" rtlCol="0">
            <a:spAutoFit/>
          </a:bodyPr>
          <a:lstStyle/>
          <a:p>
            <a:pPr marL="61379">
              <a:spcBef>
                <a:spcPts val="109"/>
              </a:spcBef>
            </a:pPr>
            <a:r>
              <a:rPr sz="1361" spc="-3" dirty="0">
                <a:latin typeface="Arial"/>
                <a:cs typeface="Arial"/>
              </a:rPr>
              <a:t>C[0]</a:t>
            </a:r>
            <a:endParaRPr sz="1361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689870" y="3271491"/>
            <a:ext cx="1029564" cy="1167013"/>
            <a:chOff x="7434029" y="4580890"/>
            <a:chExt cx="1512570" cy="1714500"/>
          </a:xfrm>
        </p:grpSpPr>
        <p:sp>
          <p:nvSpPr>
            <p:cNvPr id="17" name="object 17"/>
            <p:cNvSpPr/>
            <p:nvPr/>
          </p:nvSpPr>
          <p:spPr>
            <a:xfrm>
              <a:off x="7989570" y="5226050"/>
              <a:ext cx="463550" cy="422909"/>
            </a:xfrm>
            <a:custGeom>
              <a:avLst/>
              <a:gdLst/>
              <a:ahLst/>
              <a:cxnLst/>
              <a:rect l="l" t="t" r="r" b="b"/>
              <a:pathLst>
                <a:path w="463550" h="422910">
                  <a:moveTo>
                    <a:pt x="463550" y="165100"/>
                  </a:moveTo>
                  <a:lnTo>
                    <a:pt x="298450" y="165100"/>
                  </a:lnTo>
                  <a:lnTo>
                    <a:pt x="298450" y="0"/>
                  </a:lnTo>
                  <a:lnTo>
                    <a:pt x="165100" y="0"/>
                  </a:lnTo>
                  <a:lnTo>
                    <a:pt x="165100" y="165100"/>
                  </a:lnTo>
                  <a:lnTo>
                    <a:pt x="0" y="165100"/>
                  </a:lnTo>
                  <a:lnTo>
                    <a:pt x="0" y="256540"/>
                  </a:lnTo>
                  <a:lnTo>
                    <a:pt x="165100" y="256540"/>
                  </a:lnTo>
                  <a:lnTo>
                    <a:pt x="165100" y="422910"/>
                  </a:lnTo>
                  <a:lnTo>
                    <a:pt x="298450" y="422910"/>
                  </a:lnTo>
                  <a:lnTo>
                    <a:pt x="298450" y="256540"/>
                  </a:lnTo>
                  <a:lnTo>
                    <a:pt x="463550" y="256540"/>
                  </a:lnTo>
                  <a:lnTo>
                    <a:pt x="463550" y="16510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" name="object 18"/>
            <p:cNvSpPr/>
            <p:nvPr/>
          </p:nvSpPr>
          <p:spPr>
            <a:xfrm>
              <a:off x="7989569" y="5226050"/>
              <a:ext cx="463550" cy="422909"/>
            </a:xfrm>
            <a:custGeom>
              <a:avLst/>
              <a:gdLst/>
              <a:ahLst/>
              <a:cxnLst/>
              <a:rect l="l" t="t" r="r" b="b"/>
              <a:pathLst>
                <a:path w="463550" h="422910">
                  <a:moveTo>
                    <a:pt x="165100" y="0"/>
                  </a:moveTo>
                  <a:lnTo>
                    <a:pt x="298450" y="0"/>
                  </a:lnTo>
                  <a:lnTo>
                    <a:pt x="298450" y="165100"/>
                  </a:lnTo>
                  <a:lnTo>
                    <a:pt x="463550" y="165100"/>
                  </a:lnTo>
                  <a:lnTo>
                    <a:pt x="463550" y="256539"/>
                  </a:lnTo>
                  <a:lnTo>
                    <a:pt x="298450" y="256539"/>
                  </a:lnTo>
                  <a:lnTo>
                    <a:pt x="298450" y="422910"/>
                  </a:lnTo>
                  <a:lnTo>
                    <a:pt x="165100" y="422910"/>
                  </a:lnTo>
                  <a:lnTo>
                    <a:pt x="165100" y="256539"/>
                  </a:lnTo>
                  <a:lnTo>
                    <a:pt x="0" y="256539"/>
                  </a:lnTo>
                  <a:lnTo>
                    <a:pt x="0" y="165100"/>
                  </a:lnTo>
                  <a:lnTo>
                    <a:pt x="165100" y="165100"/>
                  </a:lnTo>
                  <a:lnTo>
                    <a:pt x="165100" y="0"/>
                  </a:lnTo>
                  <a:close/>
                </a:path>
                <a:path w="463550" h="422910">
                  <a:moveTo>
                    <a:pt x="0" y="0"/>
                  </a:moveTo>
                  <a:lnTo>
                    <a:pt x="0" y="0"/>
                  </a:lnTo>
                </a:path>
                <a:path w="463550" h="422910">
                  <a:moveTo>
                    <a:pt x="463550" y="422910"/>
                  </a:moveTo>
                  <a:lnTo>
                    <a:pt x="463550" y="4229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" name="object 19"/>
            <p:cNvSpPr/>
            <p:nvPr/>
          </p:nvSpPr>
          <p:spPr>
            <a:xfrm>
              <a:off x="7452359" y="4923790"/>
              <a:ext cx="1475740" cy="980440"/>
            </a:xfrm>
            <a:custGeom>
              <a:avLst/>
              <a:gdLst/>
              <a:ahLst/>
              <a:cxnLst/>
              <a:rect l="l" t="t" r="r" b="b"/>
              <a:pathLst>
                <a:path w="1475740" h="980439">
                  <a:moveTo>
                    <a:pt x="1106170" y="980440"/>
                  </a:moveTo>
                  <a:lnTo>
                    <a:pt x="1475740" y="0"/>
                  </a:lnTo>
                </a:path>
                <a:path w="1475740" h="980439">
                  <a:moveTo>
                    <a:pt x="0" y="0"/>
                  </a:moveTo>
                  <a:lnTo>
                    <a:pt x="245110" y="980440"/>
                  </a:lnTo>
                </a:path>
                <a:path w="1475740" h="980439">
                  <a:moveTo>
                    <a:pt x="1106170" y="980440"/>
                  </a:moveTo>
                  <a:lnTo>
                    <a:pt x="245110" y="980440"/>
                  </a:lnTo>
                </a:path>
                <a:path w="1475740" h="980439">
                  <a:moveTo>
                    <a:pt x="491490" y="0"/>
                  </a:moveTo>
                  <a:lnTo>
                    <a:pt x="0" y="0"/>
                  </a:lnTo>
                </a:path>
                <a:path w="1475740" h="980439">
                  <a:moveTo>
                    <a:pt x="1475740" y="0"/>
                  </a:moveTo>
                  <a:lnTo>
                    <a:pt x="982980" y="0"/>
                  </a:lnTo>
                </a:path>
                <a:path w="1475740" h="980439">
                  <a:moveTo>
                    <a:pt x="491490" y="0"/>
                  </a:moveTo>
                  <a:lnTo>
                    <a:pt x="737870" y="294640"/>
                  </a:lnTo>
                </a:path>
                <a:path w="1475740" h="980439">
                  <a:moveTo>
                    <a:pt x="982980" y="0"/>
                  </a:moveTo>
                  <a:lnTo>
                    <a:pt x="737870" y="294640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" name="object 20"/>
            <p:cNvSpPr/>
            <p:nvPr/>
          </p:nvSpPr>
          <p:spPr>
            <a:xfrm>
              <a:off x="8190229" y="5904230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622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" name="object 21"/>
            <p:cNvSpPr/>
            <p:nvPr/>
          </p:nvSpPr>
          <p:spPr>
            <a:xfrm>
              <a:off x="7705090" y="4810760"/>
              <a:ext cx="538480" cy="1484630"/>
            </a:xfrm>
            <a:custGeom>
              <a:avLst/>
              <a:gdLst/>
              <a:ahLst/>
              <a:cxnLst/>
              <a:rect l="l" t="t" r="r" b="b"/>
              <a:pathLst>
                <a:path w="538479" h="1484629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  <a:path w="538479" h="1484629">
                  <a:moveTo>
                    <a:pt x="538480" y="1323340"/>
                  </a:moveTo>
                  <a:lnTo>
                    <a:pt x="430530" y="1323340"/>
                  </a:lnTo>
                  <a:lnTo>
                    <a:pt x="485140" y="1484630"/>
                  </a:lnTo>
                  <a:lnTo>
                    <a:pt x="538480" y="13233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" name="object 22"/>
            <p:cNvSpPr/>
            <p:nvPr/>
          </p:nvSpPr>
          <p:spPr>
            <a:xfrm>
              <a:off x="8681719" y="4580890"/>
              <a:ext cx="0" cy="237490"/>
            </a:xfrm>
            <a:custGeom>
              <a:avLst/>
              <a:gdLst/>
              <a:ahLst/>
              <a:cxnLst/>
              <a:rect l="l" t="t" r="r" b="b"/>
              <a:pathLst>
                <a:path h="237489">
                  <a:moveTo>
                    <a:pt x="0" y="0"/>
                  </a:moveTo>
                  <a:lnTo>
                    <a:pt x="0" y="23749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" name="object 23"/>
            <p:cNvSpPr/>
            <p:nvPr/>
          </p:nvSpPr>
          <p:spPr>
            <a:xfrm>
              <a:off x="8628379" y="481076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3340" y="16255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525825" y="4441962"/>
            <a:ext cx="784060" cy="209463"/>
          </a:xfrm>
          <a:prstGeom prst="rect">
            <a:avLst/>
          </a:prstGeom>
          <a:ln w="35940">
            <a:solidFill>
              <a:srgbClr val="000000"/>
            </a:solidFill>
          </a:ln>
        </p:spPr>
        <p:txBody>
          <a:bodyPr vert="horz" wrap="square" lIns="0" tIns="20747" rIns="0" bIns="0" rtlCol="0">
            <a:spAutoFit/>
          </a:bodyPr>
          <a:lstStyle/>
          <a:p>
            <a:pPr marL="152150">
              <a:spcBef>
                <a:spcPts val="163"/>
              </a:spcBef>
            </a:pPr>
            <a:r>
              <a:rPr sz="1225" spc="-3" dirty="0">
                <a:latin typeface="Arial"/>
                <a:cs typeface="Arial"/>
              </a:rPr>
              <a:t>M[0]=1</a:t>
            </a:r>
            <a:endParaRPr sz="1225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27485" y="4951125"/>
            <a:ext cx="904219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7" dirty="0">
                <a:latin typeface="Arial"/>
                <a:cs typeface="Arial"/>
              </a:rPr>
              <a:t>Write</a:t>
            </a:r>
            <a:r>
              <a:rPr sz="1225" spc="-37" dirty="0">
                <a:latin typeface="Arial"/>
                <a:cs typeface="Arial"/>
              </a:rPr>
              <a:t> </a:t>
            </a:r>
            <a:r>
              <a:rPr sz="1225" spc="-7" dirty="0">
                <a:latin typeface="Arial"/>
                <a:cs typeface="Arial"/>
              </a:rPr>
              <a:t>Enable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303834" y="4557798"/>
            <a:ext cx="315526" cy="374308"/>
            <a:chOff x="6866890" y="6470650"/>
            <a:chExt cx="463550" cy="549910"/>
          </a:xfrm>
        </p:grpSpPr>
        <p:sp>
          <p:nvSpPr>
            <p:cNvPr id="27" name="object 27"/>
            <p:cNvSpPr/>
            <p:nvPr/>
          </p:nvSpPr>
          <p:spPr>
            <a:xfrm>
              <a:off x="6875780" y="6479539"/>
              <a:ext cx="396240" cy="369570"/>
            </a:xfrm>
            <a:custGeom>
              <a:avLst/>
              <a:gdLst/>
              <a:ahLst/>
              <a:cxnLst/>
              <a:rect l="l" t="t" r="r" b="b"/>
              <a:pathLst>
                <a:path w="396240" h="369570">
                  <a:moveTo>
                    <a:pt x="0" y="0"/>
                  </a:moveTo>
                  <a:lnTo>
                    <a:pt x="396240" y="0"/>
                  </a:lnTo>
                  <a:lnTo>
                    <a:pt x="396240" y="369570"/>
                  </a:lnTo>
                </a:path>
              </a:pathLst>
            </a:custGeom>
            <a:ln w="177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" name="object 28"/>
            <p:cNvSpPr/>
            <p:nvPr/>
          </p:nvSpPr>
          <p:spPr>
            <a:xfrm>
              <a:off x="7212330" y="6841490"/>
              <a:ext cx="118110" cy="179070"/>
            </a:xfrm>
            <a:custGeom>
              <a:avLst/>
              <a:gdLst/>
              <a:ahLst/>
              <a:cxnLst/>
              <a:rect l="l" t="t" r="r" b="b"/>
              <a:pathLst>
                <a:path w="118109" h="179070">
                  <a:moveTo>
                    <a:pt x="118110" y="0"/>
                  </a:moveTo>
                  <a:lnTo>
                    <a:pt x="0" y="0"/>
                  </a:lnTo>
                  <a:lnTo>
                    <a:pt x="59690" y="179069"/>
                  </a:lnTo>
                  <a:lnTo>
                    <a:pt x="1181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7125756" y="1758696"/>
            <a:ext cx="473721" cy="502248"/>
            <a:chOff x="6605269" y="2358389"/>
            <a:chExt cx="695960" cy="737870"/>
          </a:xfrm>
        </p:grpSpPr>
        <p:sp>
          <p:nvSpPr>
            <p:cNvPr id="30" name="object 30"/>
            <p:cNvSpPr/>
            <p:nvPr/>
          </p:nvSpPr>
          <p:spPr>
            <a:xfrm>
              <a:off x="6623049" y="2376169"/>
              <a:ext cx="541020" cy="287020"/>
            </a:xfrm>
            <a:custGeom>
              <a:avLst/>
              <a:gdLst/>
              <a:ahLst/>
              <a:cxnLst/>
              <a:rect l="l" t="t" r="r" b="b"/>
              <a:pathLst>
                <a:path w="541020" h="287019">
                  <a:moveTo>
                    <a:pt x="0" y="0"/>
                  </a:moveTo>
                  <a:lnTo>
                    <a:pt x="541020" y="287019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" name="object 31"/>
            <p:cNvSpPr/>
            <p:nvPr/>
          </p:nvSpPr>
          <p:spPr>
            <a:xfrm>
              <a:off x="7132319" y="2612389"/>
              <a:ext cx="168910" cy="123189"/>
            </a:xfrm>
            <a:custGeom>
              <a:avLst/>
              <a:gdLst/>
              <a:ahLst/>
              <a:cxnLst/>
              <a:rect l="l" t="t" r="r" b="b"/>
              <a:pathLst>
                <a:path w="168909" h="123189">
                  <a:moveTo>
                    <a:pt x="50800" y="0"/>
                  </a:moveTo>
                  <a:lnTo>
                    <a:pt x="0" y="95250"/>
                  </a:lnTo>
                  <a:lnTo>
                    <a:pt x="168909" y="123189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" name="object 32"/>
            <p:cNvSpPr/>
            <p:nvPr/>
          </p:nvSpPr>
          <p:spPr>
            <a:xfrm>
              <a:off x="6623049" y="2735579"/>
              <a:ext cx="541020" cy="288290"/>
            </a:xfrm>
            <a:custGeom>
              <a:avLst/>
              <a:gdLst/>
              <a:ahLst/>
              <a:cxnLst/>
              <a:rect l="l" t="t" r="r" b="b"/>
              <a:pathLst>
                <a:path w="541020" h="288289">
                  <a:moveTo>
                    <a:pt x="0" y="0"/>
                  </a:moveTo>
                  <a:lnTo>
                    <a:pt x="541020" y="28829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" name="object 33"/>
            <p:cNvSpPr/>
            <p:nvPr/>
          </p:nvSpPr>
          <p:spPr>
            <a:xfrm>
              <a:off x="7132319" y="2971799"/>
              <a:ext cx="168910" cy="124460"/>
            </a:xfrm>
            <a:custGeom>
              <a:avLst/>
              <a:gdLst/>
              <a:ahLst/>
              <a:cxnLst/>
              <a:rect l="l" t="t" r="r" b="b"/>
              <a:pathLst>
                <a:path w="168909" h="124460">
                  <a:moveTo>
                    <a:pt x="50800" y="0"/>
                  </a:moveTo>
                  <a:lnTo>
                    <a:pt x="0" y="95250"/>
                  </a:lnTo>
                  <a:lnTo>
                    <a:pt x="168909" y="12446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7113654" y="2445073"/>
            <a:ext cx="485823" cy="403700"/>
            <a:chOff x="6587490" y="3366770"/>
            <a:chExt cx="713740" cy="593090"/>
          </a:xfrm>
        </p:grpSpPr>
        <p:sp>
          <p:nvSpPr>
            <p:cNvPr id="35" name="object 35"/>
            <p:cNvSpPr/>
            <p:nvPr/>
          </p:nvSpPr>
          <p:spPr>
            <a:xfrm>
              <a:off x="6623050" y="3384550"/>
              <a:ext cx="527050" cy="111760"/>
            </a:xfrm>
            <a:custGeom>
              <a:avLst/>
              <a:gdLst/>
              <a:ahLst/>
              <a:cxnLst/>
              <a:rect l="l" t="t" r="r" b="b"/>
              <a:pathLst>
                <a:path w="527050" h="111760">
                  <a:moveTo>
                    <a:pt x="0" y="0"/>
                  </a:moveTo>
                  <a:lnTo>
                    <a:pt x="527050" y="11176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" name="object 36"/>
            <p:cNvSpPr/>
            <p:nvPr/>
          </p:nvSpPr>
          <p:spPr>
            <a:xfrm>
              <a:off x="7131050" y="3441700"/>
              <a:ext cx="170180" cy="105410"/>
            </a:xfrm>
            <a:custGeom>
              <a:avLst/>
              <a:gdLst/>
              <a:ahLst/>
              <a:cxnLst/>
              <a:rect l="l" t="t" r="r" b="b"/>
              <a:pathLst>
                <a:path w="170179" h="105410">
                  <a:moveTo>
                    <a:pt x="22859" y="0"/>
                  </a:moveTo>
                  <a:lnTo>
                    <a:pt x="0" y="105410"/>
                  </a:lnTo>
                  <a:lnTo>
                    <a:pt x="170179" y="86360"/>
                  </a:lnTo>
                  <a:lnTo>
                    <a:pt x="2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" name="object 37"/>
            <p:cNvSpPr/>
            <p:nvPr/>
          </p:nvSpPr>
          <p:spPr>
            <a:xfrm>
              <a:off x="6605270" y="3528060"/>
              <a:ext cx="563880" cy="350520"/>
            </a:xfrm>
            <a:custGeom>
              <a:avLst/>
              <a:gdLst/>
              <a:ahLst/>
              <a:cxnLst/>
              <a:rect l="l" t="t" r="r" b="b"/>
              <a:pathLst>
                <a:path w="563879" h="350520">
                  <a:moveTo>
                    <a:pt x="0" y="0"/>
                  </a:moveTo>
                  <a:lnTo>
                    <a:pt x="563879" y="350519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" name="object 38"/>
            <p:cNvSpPr/>
            <p:nvPr/>
          </p:nvSpPr>
          <p:spPr>
            <a:xfrm>
              <a:off x="7134860" y="3829050"/>
              <a:ext cx="166370" cy="130810"/>
            </a:xfrm>
            <a:custGeom>
              <a:avLst/>
              <a:gdLst/>
              <a:ahLst/>
              <a:cxnLst/>
              <a:rect l="l" t="t" r="r" b="b"/>
              <a:pathLst>
                <a:path w="166370" h="130810">
                  <a:moveTo>
                    <a:pt x="57150" y="0"/>
                  </a:moveTo>
                  <a:lnTo>
                    <a:pt x="0" y="91439"/>
                  </a:lnTo>
                  <a:lnTo>
                    <a:pt x="166370" y="13081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39" name="object 39"/>
          <p:cNvSpPr/>
          <p:nvPr/>
        </p:nvSpPr>
        <p:spPr>
          <a:xfrm>
            <a:off x="7488827" y="3057105"/>
            <a:ext cx="110650" cy="73479"/>
          </a:xfrm>
          <a:custGeom>
            <a:avLst/>
            <a:gdLst/>
            <a:ahLst/>
            <a:cxnLst/>
            <a:rect l="l" t="t" r="r" b="b"/>
            <a:pathLst>
              <a:path w="162559" h="107950">
                <a:moveTo>
                  <a:pt x="0" y="0"/>
                </a:moveTo>
                <a:lnTo>
                  <a:pt x="0" y="107950"/>
                </a:lnTo>
                <a:lnTo>
                  <a:pt x="162559" y="546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25"/>
          </a:p>
        </p:txBody>
      </p:sp>
      <p:graphicFrame>
        <p:nvGraphicFramePr>
          <p:cNvPr id="40" name="object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644412"/>
              </p:ext>
            </p:extLst>
          </p:nvPr>
        </p:nvGraphicFramePr>
        <p:xfrm>
          <a:off x="7599477" y="1819208"/>
          <a:ext cx="591287" cy="16135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068"/>
                <a:gridCol w="279219"/>
              </a:tblGrid>
              <a:tr h="290456"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A[15]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0456"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A[14]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0456">
                <a:tc gridSpan="2"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A[9]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0024">
                <a:tc gridSpan="2"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A[4]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0888">
                <a:tc gridSpan="2"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A[2]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12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41" name="object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081146"/>
              </p:ext>
            </p:extLst>
          </p:nvPr>
        </p:nvGraphicFramePr>
        <p:xfrm>
          <a:off x="6304526" y="1620383"/>
          <a:ext cx="1189056" cy="19368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3333"/>
                <a:gridCol w="355723"/>
              </a:tblGrid>
              <a:tr h="2887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M[15]=1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87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M[14]=1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59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200" b="1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99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3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b="1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87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M[3]=0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972">
                <a:tc rowSpan="2"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M[2]=1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7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95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M[1]=0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05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42" name="object 42"/>
          <p:cNvGrpSpPr/>
          <p:nvPr/>
        </p:nvGrpSpPr>
        <p:grpSpPr>
          <a:xfrm>
            <a:off x="4185375" y="3428821"/>
            <a:ext cx="1029564" cy="1010546"/>
            <a:chOff x="2285450" y="4812029"/>
            <a:chExt cx="1512570" cy="1484630"/>
          </a:xfrm>
        </p:grpSpPr>
        <p:sp>
          <p:nvSpPr>
            <p:cNvPr id="43" name="object 43"/>
            <p:cNvSpPr/>
            <p:nvPr/>
          </p:nvSpPr>
          <p:spPr>
            <a:xfrm>
              <a:off x="2303779" y="4925059"/>
              <a:ext cx="1475740" cy="979169"/>
            </a:xfrm>
            <a:custGeom>
              <a:avLst/>
              <a:gdLst/>
              <a:ahLst/>
              <a:cxnLst/>
              <a:rect l="l" t="t" r="r" b="b"/>
              <a:pathLst>
                <a:path w="1475739" h="979170">
                  <a:moveTo>
                    <a:pt x="1107440" y="979169"/>
                  </a:moveTo>
                  <a:lnTo>
                    <a:pt x="1475740" y="0"/>
                  </a:lnTo>
                </a:path>
                <a:path w="1475739" h="979170">
                  <a:moveTo>
                    <a:pt x="0" y="0"/>
                  </a:moveTo>
                  <a:lnTo>
                    <a:pt x="246380" y="979169"/>
                  </a:lnTo>
                </a:path>
                <a:path w="1475739" h="979170">
                  <a:moveTo>
                    <a:pt x="1107440" y="979169"/>
                  </a:moveTo>
                  <a:lnTo>
                    <a:pt x="246380" y="979169"/>
                  </a:lnTo>
                </a:path>
                <a:path w="1475739" h="979170">
                  <a:moveTo>
                    <a:pt x="492759" y="0"/>
                  </a:moveTo>
                  <a:lnTo>
                    <a:pt x="0" y="0"/>
                  </a:lnTo>
                </a:path>
                <a:path w="1475739" h="979170">
                  <a:moveTo>
                    <a:pt x="1475740" y="0"/>
                  </a:moveTo>
                  <a:lnTo>
                    <a:pt x="984249" y="0"/>
                  </a:lnTo>
                </a:path>
                <a:path w="1475739" h="979170">
                  <a:moveTo>
                    <a:pt x="492759" y="0"/>
                  </a:moveTo>
                  <a:lnTo>
                    <a:pt x="737869" y="293369"/>
                  </a:lnTo>
                </a:path>
                <a:path w="1475739" h="979170">
                  <a:moveTo>
                    <a:pt x="984249" y="0"/>
                  </a:moveTo>
                  <a:lnTo>
                    <a:pt x="737869" y="293369"/>
                  </a:lnTo>
                </a:path>
              </a:pathLst>
            </a:custGeom>
            <a:ln w="36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4" name="object 44"/>
            <p:cNvSpPr/>
            <p:nvPr/>
          </p:nvSpPr>
          <p:spPr>
            <a:xfrm>
              <a:off x="3041649" y="5904229"/>
              <a:ext cx="0" cy="237490"/>
            </a:xfrm>
            <a:custGeom>
              <a:avLst/>
              <a:gdLst/>
              <a:ahLst/>
              <a:cxnLst/>
              <a:rect l="l" t="t" r="r" b="b"/>
              <a:pathLst>
                <a:path h="237489">
                  <a:moveTo>
                    <a:pt x="0" y="0"/>
                  </a:moveTo>
                  <a:lnTo>
                    <a:pt x="0" y="237490"/>
                  </a:lnTo>
                </a:path>
              </a:pathLst>
            </a:custGeom>
            <a:ln w="36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5" name="object 45"/>
            <p:cNvSpPr/>
            <p:nvPr/>
          </p:nvSpPr>
          <p:spPr>
            <a:xfrm>
              <a:off x="2557780" y="4812029"/>
              <a:ext cx="1029969" cy="1484630"/>
            </a:xfrm>
            <a:custGeom>
              <a:avLst/>
              <a:gdLst/>
              <a:ahLst/>
              <a:cxnLst/>
              <a:rect l="l" t="t" r="r" b="b"/>
              <a:pathLst>
                <a:path w="1029970" h="1484629">
                  <a:moveTo>
                    <a:pt x="107950" y="0"/>
                  </a:moveTo>
                  <a:lnTo>
                    <a:pt x="0" y="0"/>
                  </a:lnTo>
                  <a:lnTo>
                    <a:pt x="53340" y="161290"/>
                  </a:lnTo>
                  <a:lnTo>
                    <a:pt x="107950" y="0"/>
                  </a:lnTo>
                  <a:close/>
                </a:path>
                <a:path w="1029970" h="1484629">
                  <a:moveTo>
                    <a:pt x="538480" y="1322070"/>
                  </a:moveTo>
                  <a:lnTo>
                    <a:pt x="430530" y="1322070"/>
                  </a:lnTo>
                  <a:lnTo>
                    <a:pt x="483870" y="1484630"/>
                  </a:lnTo>
                  <a:lnTo>
                    <a:pt x="538480" y="1322070"/>
                  </a:lnTo>
                  <a:close/>
                </a:path>
                <a:path w="1029970" h="1484629">
                  <a:moveTo>
                    <a:pt x="1029970" y="0"/>
                  </a:moveTo>
                  <a:lnTo>
                    <a:pt x="922020" y="0"/>
                  </a:lnTo>
                  <a:lnTo>
                    <a:pt x="976630" y="161290"/>
                  </a:lnTo>
                  <a:lnTo>
                    <a:pt x="10299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aphicFrame>
        <p:nvGraphicFramePr>
          <p:cNvPr id="46" name="object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938964"/>
              </p:ext>
            </p:extLst>
          </p:nvPr>
        </p:nvGraphicFramePr>
        <p:xfrm>
          <a:off x="4094982" y="1303130"/>
          <a:ext cx="591286" cy="2130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635"/>
                <a:gridCol w="279651"/>
              </a:tblGrid>
              <a:tr h="293481"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A[15]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3481"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A[14]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0692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b="1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025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b="1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3481">
                <a:tc gridSpan="2"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A[3]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3481">
                <a:tc gridSpan="2"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A[2]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3914">
                <a:tc gridSpan="2"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A[1]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12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47" name="object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440582"/>
              </p:ext>
            </p:extLst>
          </p:nvPr>
        </p:nvGraphicFramePr>
        <p:xfrm>
          <a:off x="4780926" y="1302265"/>
          <a:ext cx="591718" cy="21308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149"/>
                <a:gridCol w="337569"/>
              </a:tblGrid>
              <a:tr h="298669">
                <a:tc gridSpan="2"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B[15]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9101">
                <a:tc gridSpan="2"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B[14]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4581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2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99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5014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...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37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8669">
                <a:tc gridSpan="2"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B[3]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05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8669">
                <a:tc gridSpan="2"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B[2]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48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0829">
                <a:tc gridSpan="2"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B[1]</a:t>
                      </a:r>
                      <a:endParaRPr sz="15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69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25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8" name="object 48"/>
          <p:cNvSpPr txBox="1"/>
          <p:nvPr/>
        </p:nvSpPr>
        <p:spPr>
          <a:xfrm>
            <a:off x="4466697" y="4439368"/>
            <a:ext cx="440871" cy="223382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3831" rIns="0" bIns="0" rtlCol="0">
            <a:spAutoFit/>
          </a:bodyPr>
          <a:lstStyle/>
          <a:p>
            <a:pPr marL="60946">
              <a:spcBef>
                <a:spcPts val="109"/>
              </a:spcBef>
            </a:pPr>
            <a:r>
              <a:rPr sz="1361" spc="-3" dirty="0">
                <a:latin typeface="Arial"/>
                <a:cs typeface="Arial"/>
              </a:rPr>
              <a:t>C[0]</a:t>
            </a:r>
            <a:endParaRPr sz="136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356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220288"/>
            <a:ext cx="5373893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  <a:tabLst>
                <a:tab pos="2143500" algn="l"/>
              </a:tabLst>
            </a:pPr>
            <a:r>
              <a:rPr spc="-31" dirty="0"/>
              <a:t>Vector</a:t>
            </a:r>
            <a:r>
              <a:rPr spc="-7" dirty="0"/>
              <a:t> </a:t>
            </a:r>
            <a:r>
              <a:rPr spc="-3" dirty="0" smtClean="0"/>
              <a:t>Load</a:t>
            </a:r>
            <a:r>
              <a:rPr lang="en-IN" spc="-3" dirty="0" smtClean="0"/>
              <a:t> </a:t>
            </a:r>
            <a:r>
              <a:rPr spc="-3" dirty="0" smtClean="0"/>
              <a:t>Store</a:t>
            </a:r>
            <a:r>
              <a:rPr spc="-54" dirty="0" smtClean="0"/>
              <a:t> </a:t>
            </a:r>
            <a:r>
              <a:rPr spc="-3" dirty="0"/>
              <a:t>Units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45331" y="1179160"/>
            <a:ext cx="114540" cy="156245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953" spc="3" dirty="0">
                <a:latin typeface="OpenSymbol"/>
                <a:cs typeface="OpenSymbol"/>
              </a:rPr>
              <a:t>●</a:t>
            </a:r>
            <a:endParaRPr sz="953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800" y="971550"/>
            <a:ext cx="5739541" cy="4044639"/>
          </a:xfrm>
          <a:prstGeom prst="rect">
            <a:avLst/>
          </a:prstGeom>
        </p:spPr>
        <p:txBody>
          <a:bodyPr vert="horz" wrap="square" lIns="0" tIns="122752" rIns="0" bIns="0" rtlCol="0">
            <a:spAutoFit/>
          </a:bodyPr>
          <a:lstStyle/>
          <a:p>
            <a:pPr marL="17290">
              <a:spcBef>
                <a:spcPts val="967"/>
              </a:spcBef>
            </a:pPr>
            <a:r>
              <a:rPr sz="2144" spc="-10" dirty="0">
                <a:latin typeface="Arial"/>
                <a:cs typeface="Arial"/>
              </a:rPr>
              <a:t>Startup</a:t>
            </a:r>
            <a:r>
              <a:rPr sz="2144" spc="-54" dirty="0">
                <a:latin typeface="Arial"/>
                <a:cs typeface="Arial"/>
              </a:rPr>
              <a:t> </a:t>
            </a:r>
            <a:r>
              <a:rPr sz="2144" spc="-10" dirty="0">
                <a:latin typeface="Arial"/>
                <a:cs typeface="Arial"/>
              </a:rPr>
              <a:t>time</a:t>
            </a:r>
            <a:endParaRPr sz="2144" dirty="0">
              <a:latin typeface="Arial"/>
              <a:cs typeface="Arial"/>
            </a:endParaRPr>
          </a:p>
          <a:p>
            <a:pPr marL="305164" marR="122325" indent="-216122">
              <a:lnSpc>
                <a:spcPts val="2097"/>
              </a:lnSpc>
              <a:spcBef>
                <a:spcPts val="977"/>
              </a:spcBef>
              <a:buSzPct val="74545"/>
              <a:buFont typeface="OpenSymbol"/>
              <a:buChar char="–"/>
              <a:tabLst>
                <a:tab pos="305164" algn="l"/>
              </a:tabLst>
            </a:pPr>
            <a:r>
              <a:rPr sz="1872" spc="-20" dirty="0">
                <a:latin typeface="Arial"/>
                <a:cs typeface="Arial"/>
              </a:rPr>
              <a:t>Time </a:t>
            </a:r>
            <a:r>
              <a:rPr sz="1872" spc="-3" dirty="0">
                <a:latin typeface="Arial"/>
                <a:cs typeface="Arial"/>
              </a:rPr>
              <a:t>to </a:t>
            </a:r>
            <a:r>
              <a:rPr sz="1872" spc="-7" dirty="0">
                <a:latin typeface="Arial"/>
                <a:cs typeface="Arial"/>
              </a:rPr>
              <a:t>get </a:t>
            </a:r>
            <a:r>
              <a:rPr sz="1872" spc="-3" dirty="0">
                <a:latin typeface="Arial"/>
                <a:cs typeface="Arial"/>
              </a:rPr>
              <a:t>the first </a:t>
            </a:r>
            <a:r>
              <a:rPr sz="1872" spc="-7" dirty="0">
                <a:latin typeface="Arial"/>
                <a:cs typeface="Arial"/>
              </a:rPr>
              <a:t>word </a:t>
            </a:r>
            <a:r>
              <a:rPr sz="1872" spc="-3" dirty="0">
                <a:latin typeface="Arial"/>
                <a:cs typeface="Arial"/>
              </a:rPr>
              <a:t>from </a:t>
            </a:r>
            <a:r>
              <a:rPr sz="1872" spc="-7" dirty="0">
                <a:latin typeface="Arial"/>
                <a:cs typeface="Arial"/>
              </a:rPr>
              <a:t>the memory </a:t>
            </a:r>
            <a:r>
              <a:rPr sz="1872" spc="-3" dirty="0">
                <a:latin typeface="Arial"/>
                <a:cs typeface="Arial"/>
              </a:rPr>
              <a:t>into the  </a:t>
            </a:r>
            <a:r>
              <a:rPr sz="1872" spc="-7" dirty="0">
                <a:latin typeface="Arial"/>
                <a:cs typeface="Arial"/>
              </a:rPr>
              <a:t>register</a:t>
            </a:r>
            <a:endParaRPr sz="1872" dirty="0">
              <a:latin typeface="Arial"/>
              <a:cs typeface="Arial"/>
            </a:endParaRPr>
          </a:p>
          <a:p>
            <a:pPr marL="17290" marR="406742">
              <a:lnSpc>
                <a:spcPts val="3322"/>
              </a:lnSpc>
              <a:spcBef>
                <a:spcPts val="7"/>
              </a:spcBef>
            </a:pPr>
            <a:r>
              <a:rPr sz="2144" spc="-10" dirty="0">
                <a:latin typeface="Arial"/>
                <a:cs typeface="Arial"/>
              </a:rPr>
              <a:t>Multiple banks for higher </a:t>
            </a:r>
            <a:r>
              <a:rPr sz="2144" spc="-14" dirty="0">
                <a:latin typeface="Arial"/>
                <a:cs typeface="Arial"/>
              </a:rPr>
              <a:t>memory </a:t>
            </a:r>
            <a:r>
              <a:rPr sz="2144" spc="-10" dirty="0">
                <a:latin typeface="Arial"/>
                <a:cs typeface="Arial"/>
              </a:rPr>
              <a:t>bandwidth  Multiple loads and </a:t>
            </a:r>
            <a:r>
              <a:rPr sz="2144" spc="-7" dirty="0">
                <a:latin typeface="Arial"/>
                <a:cs typeface="Arial"/>
              </a:rPr>
              <a:t>stores </a:t>
            </a:r>
            <a:r>
              <a:rPr sz="2144" spc="-10" dirty="0">
                <a:latin typeface="Arial"/>
                <a:cs typeface="Arial"/>
              </a:rPr>
              <a:t>per </a:t>
            </a:r>
            <a:r>
              <a:rPr sz="2144" spc="-7" dirty="0">
                <a:latin typeface="Arial"/>
                <a:cs typeface="Arial"/>
              </a:rPr>
              <a:t>clock</a:t>
            </a:r>
            <a:r>
              <a:rPr sz="2144" spc="14" dirty="0">
                <a:latin typeface="Arial"/>
                <a:cs typeface="Arial"/>
              </a:rPr>
              <a:t> </a:t>
            </a:r>
            <a:r>
              <a:rPr sz="2144" spc="-3" dirty="0">
                <a:latin typeface="Arial"/>
                <a:cs typeface="Arial"/>
              </a:rPr>
              <a:t>cycle</a:t>
            </a:r>
            <a:endParaRPr sz="2144" dirty="0">
              <a:latin typeface="Arial"/>
              <a:cs typeface="Arial"/>
            </a:endParaRPr>
          </a:p>
          <a:p>
            <a:pPr marL="305164" marR="324615" indent="-216122">
              <a:lnSpc>
                <a:spcPts val="2097"/>
              </a:lnSpc>
              <a:spcBef>
                <a:spcPts val="742"/>
              </a:spcBef>
              <a:buSzPct val="74545"/>
              <a:buFont typeface="OpenSymbol"/>
              <a:buChar char="–"/>
              <a:tabLst>
                <a:tab pos="305164" algn="l"/>
              </a:tabLst>
            </a:pPr>
            <a:r>
              <a:rPr sz="1872" spc="-7" dirty="0">
                <a:latin typeface="Arial"/>
                <a:cs typeface="Arial"/>
              </a:rPr>
              <a:t>Memory bank </a:t>
            </a:r>
            <a:r>
              <a:rPr sz="1872" spc="-3" dirty="0">
                <a:latin typeface="Arial"/>
                <a:cs typeface="Arial"/>
              </a:rPr>
              <a:t>cycle time </a:t>
            </a:r>
            <a:r>
              <a:rPr sz="1872" spc="-7" dirty="0">
                <a:latin typeface="Arial"/>
                <a:cs typeface="Arial"/>
              </a:rPr>
              <a:t>is larger </a:t>
            </a:r>
            <a:r>
              <a:rPr sz="1872" spc="-3" dirty="0">
                <a:latin typeface="Arial"/>
                <a:cs typeface="Arial"/>
              </a:rPr>
              <a:t>than processor  cycle time</a:t>
            </a:r>
            <a:endParaRPr sz="1872" dirty="0">
              <a:latin typeface="Arial"/>
              <a:cs typeface="Arial"/>
            </a:endParaRPr>
          </a:p>
          <a:p>
            <a:pPr marL="17290" marR="1758803">
              <a:lnSpc>
                <a:spcPts val="2376"/>
              </a:lnSpc>
              <a:spcBef>
                <a:spcPts val="766"/>
              </a:spcBef>
            </a:pPr>
            <a:r>
              <a:rPr sz="2144" spc="-10" dirty="0">
                <a:latin typeface="Arial"/>
                <a:cs typeface="Arial"/>
              </a:rPr>
              <a:t>Independent bank addressing </a:t>
            </a:r>
            <a:r>
              <a:rPr sz="2144" spc="-7" dirty="0">
                <a:latin typeface="Arial"/>
                <a:cs typeface="Arial"/>
              </a:rPr>
              <a:t>for  </a:t>
            </a:r>
            <a:r>
              <a:rPr sz="2144" spc="-10" dirty="0">
                <a:latin typeface="Arial"/>
                <a:cs typeface="Arial"/>
              </a:rPr>
              <a:t>non-sequential </a:t>
            </a:r>
            <a:r>
              <a:rPr sz="2144" spc="-7" dirty="0">
                <a:latin typeface="Arial"/>
                <a:cs typeface="Arial"/>
              </a:rPr>
              <a:t>loads/stores</a:t>
            </a:r>
            <a:endParaRPr sz="2144" dirty="0">
              <a:latin typeface="Arial"/>
              <a:cs typeface="Arial"/>
            </a:endParaRPr>
          </a:p>
          <a:p>
            <a:pPr marL="17290" marR="12103">
              <a:lnSpc>
                <a:spcPts val="2382"/>
              </a:lnSpc>
              <a:spcBef>
                <a:spcPts val="939"/>
              </a:spcBef>
            </a:pPr>
            <a:r>
              <a:rPr sz="2144" spc="-10" dirty="0">
                <a:latin typeface="Arial"/>
                <a:cs typeface="Arial"/>
              </a:rPr>
              <a:t>Multiple </a:t>
            </a:r>
            <a:r>
              <a:rPr sz="2144" spc="-7" dirty="0">
                <a:latin typeface="Arial"/>
                <a:cs typeface="Arial"/>
              </a:rPr>
              <a:t>processes access </a:t>
            </a:r>
            <a:r>
              <a:rPr sz="2144" spc="-14" dirty="0">
                <a:latin typeface="Arial"/>
                <a:cs typeface="Arial"/>
              </a:rPr>
              <a:t>memory </a:t>
            </a:r>
            <a:r>
              <a:rPr sz="2144" spc="-7" dirty="0">
                <a:latin typeface="Arial"/>
                <a:cs typeface="Arial"/>
              </a:rPr>
              <a:t>at the </a:t>
            </a:r>
            <a:r>
              <a:rPr sz="2144" spc="-10" dirty="0">
                <a:latin typeface="Arial"/>
                <a:cs typeface="Arial"/>
              </a:rPr>
              <a:t>same  time.</a:t>
            </a:r>
            <a:endParaRPr sz="2144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5331" y="2227743"/>
            <a:ext cx="114540" cy="156245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953" spc="3" dirty="0">
                <a:latin typeface="OpenSymbol"/>
                <a:cs typeface="OpenSymbol"/>
              </a:rPr>
              <a:t>●</a:t>
            </a:r>
            <a:endParaRPr sz="953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45331" y="2650460"/>
            <a:ext cx="114540" cy="156245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953" spc="3" dirty="0">
                <a:latin typeface="OpenSymbol"/>
                <a:cs typeface="OpenSymbol"/>
              </a:rPr>
              <a:t>●</a:t>
            </a:r>
            <a:endParaRPr sz="953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45331" y="3699043"/>
            <a:ext cx="114540" cy="156245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953" spc="3" dirty="0">
                <a:latin typeface="OpenSymbol"/>
                <a:cs typeface="OpenSymbol"/>
              </a:rPr>
              <a:t>●</a:t>
            </a:r>
            <a:endParaRPr sz="953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45331" y="4423455"/>
            <a:ext cx="114540" cy="156245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953" spc="3" dirty="0">
                <a:latin typeface="OpenSymbol"/>
                <a:cs typeface="OpenSymbol"/>
              </a:rPr>
              <a:t>●</a:t>
            </a:r>
            <a:endParaRPr sz="953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57650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2689" y="213940"/>
            <a:ext cx="3890939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" dirty="0"/>
              <a:t>Gathe</a:t>
            </a:r>
            <a:r>
              <a:rPr spc="-7" dirty="0"/>
              <a:t>r</a:t>
            </a:r>
            <a:r>
              <a:rPr spc="-3" dirty="0"/>
              <a:t>–</a:t>
            </a:r>
            <a:r>
              <a:rPr dirty="0"/>
              <a:t>Sc</a:t>
            </a:r>
            <a:r>
              <a:rPr spc="-7" dirty="0"/>
              <a:t>a</a:t>
            </a:r>
            <a:r>
              <a:rPr spc="3" dirty="0"/>
              <a:t>t</a:t>
            </a:r>
            <a:r>
              <a:rPr spc="-3" dirty="0"/>
              <a:t>ter</a:t>
            </a:r>
          </a:p>
        </p:txBody>
      </p:sp>
      <p:sp>
        <p:nvSpPr>
          <p:cNvPr id="3" name="object 3"/>
          <p:cNvSpPr/>
          <p:nvPr/>
        </p:nvSpPr>
        <p:spPr>
          <a:xfrm>
            <a:off x="4531049" y="2347910"/>
            <a:ext cx="3327046" cy="541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4" name="object 4"/>
          <p:cNvSpPr/>
          <p:nvPr/>
        </p:nvSpPr>
        <p:spPr>
          <a:xfrm>
            <a:off x="3998452" y="3166548"/>
            <a:ext cx="4885571" cy="18833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5" name="object 5"/>
          <p:cNvSpPr txBox="1"/>
          <p:nvPr/>
        </p:nvSpPr>
        <p:spPr>
          <a:xfrm>
            <a:off x="3598210" y="1014058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0" y="819555"/>
            <a:ext cx="5079098" cy="1282231"/>
          </a:xfrm>
          <a:prstGeom prst="rect">
            <a:avLst/>
          </a:prstGeom>
        </p:spPr>
        <p:txBody>
          <a:bodyPr vert="horz" wrap="square" lIns="0" tIns="8212" rIns="0" bIns="0" rtlCol="0">
            <a:spAutoFit/>
          </a:bodyPr>
          <a:lstStyle/>
          <a:p>
            <a:pPr marL="17290" marR="908146">
              <a:lnSpc>
                <a:spcPct val="130500"/>
              </a:lnSpc>
              <a:spcBef>
                <a:spcPts val="65"/>
              </a:spcBef>
            </a:pPr>
            <a:r>
              <a:rPr sz="2178" dirty="0">
                <a:latin typeface="Arial"/>
                <a:cs typeface="Arial"/>
              </a:rPr>
              <a:t>Used </a:t>
            </a:r>
            <a:r>
              <a:rPr sz="2178" spc="-3" dirty="0">
                <a:latin typeface="Arial"/>
                <a:cs typeface="Arial"/>
              </a:rPr>
              <a:t>for </a:t>
            </a:r>
            <a:r>
              <a:rPr sz="2178" dirty="0">
                <a:latin typeface="Arial"/>
                <a:cs typeface="Arial"/>
              </a:rPr>
              <a:t>sparse </a:t>
            </a:r>
            <a:r>
              <a:rPr sz="2178" spc="-3" dirty="0">
                <a:latin typeface="Arial"/>
                <a:cs typeface="Arial"/>
              </a:rPr>
              <a:t>matrices  Load/Store </a:t>
            </a:r>
            <a:r>
              <a:rPr sz="2178" spc="-24" dirty="0">
                <a:latin typeface="Arial"/>
                <a:cs typeface="Arial"/>
              </a:rPr>
              <a:t>Vector </a:t>
            </a:r>
            <a:r>
              <a:rPr sz="2178" spc="-3" dirty="0">
                <a:latin typeface="Arial"/>
                <a:cs typeface="Arial"/>
              </a:rPr>
              <a:t>Index</a:t>
            </a:r>
            <a:r>
              <a:rPr sz="2178" spc="17" dirty="0">
                <a:latin typeface="Arial"/>
                <a:cs typeface="Arial"/>
              </a:rPr>
              <a:t> </a:t>
            </a:r>
            <a:r>
              <a:rPr sz="2178" spc="-20" dirty="0">
                <a:latin typeface="Arial"/>
                <a:cs typeface="Arial"/>
              </a:rPr>
              <a:t>(LVI/SVI)</a:t>
            </a:r>
            <a:endParaRPr sz="2178" dirty="0">
              <a:latin typeface="Arial"/>
              <a:cs typeface="Arial"/>
            </a:endParaRPr>
          </a:p>
          <a:p>
            <a:pPr marL="90771">
              <a:spcBef>
                <a:spcPts val="810"/>
              </a:spcBef>
            </a:pPr>
            <a:r>
              <a:rPr sz="2144" baseline="9259" dirty="0">
                <a:latin typeface="OpenSymbol"/>
                <a:cs typeface="OpenSymbol"/>
              </a:rPr>
              <a:t>– </a:t>
            </a:r>
            <a:r>
              <a:rPr sz="1906" spc="-7" dirty="0">
                <a:latin typeface="Arial"/>
                <a:cs typeface="Arial"/>
              </a:rPr>
              <a:t>Slower </a:t>
            </a:r>
            <a:r>
              <a:rPr sz="1906" spc="-3" dirty="0">
                <a:latin typeface="Arial"/>
                <a:cs typeface="Arial"/>
              </a:rPr>
              <a:t>than non-indexed memory</a:t>
            </a:r>
            <a:r>
              <a:rPr sz="1906" spc="248" dirty="0">
                <a:latin typeface="Arial"/>
                <a:cs typeface="Arial"/>
              </a:rPr>
              <a:t> </a:t>
            </a:r>
            <a:r>
              <a:rPr sz="1906" spc="-3" dirty="0">
                <a:latin typeface="Arial"/>
                <a:cs typeface="Arial"/>
              </a:rPr>
              <a:t>load/store</a:t>
            </a:r>
            <a:endParaRPr sz="1906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8210" y="1447150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43411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1600" y="285750"/>
            <a:ext cx="3459064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  <a:tabLst>
                <a:tab pos="916791" algn="l"/>
              </a:tabLst>
            </a:pPr>
            <a:r>
              <a:rPr spc="-3" dirty="0"/>
              <a:t>Cray	</a:t>
            </a:r>
            <a:r>
              <a:rPr dirty="0"/>
              <a:t>1</a:t>
            </a:r>
            <a:r>
              <a:rPr spc="-58" dirty="0"/>
              <a:t> </a:t>
            </a:r>
            <a:r>
              <a:rPr spc="-3" dirty="0"/>
              <a:t>(1976)</a:t>
            </a:r>
          </a:p>
        </p:txBody>
      </p:sp>
      <p:sp>
        <p:nvSpPr>
          <p:cNvPr id="3" name="object 3"/>
          <p:cNvSpPr/>
          <p:nvPr/>
        </p:nvSpPr>
        <p:spPr>
          <a:xfrm>
            <a:off x="3505200" y="1428750"/>
            <a:ext cx="5489281" cy="35079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189480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6401" y="2027"/>
            <a:ext cx="3886200" cy="1239836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  <a:tabLst>
                <a:tab pos="3010583" algn="l"/>
              </a:tabLst>
            </a:pPr>
            <a:r>
              <a:rPr spc="-31" dirty="0"/>
              <a:t>Vector</a:t>
            </a:r>
            <a:r>
              <a:rPr spc="7" dirty="0"/>
              <a:t> </a:t>
            </a:r>
            <a:r>
              <a:rPr spc="-3" dirty="0" smtClean="0"/>
              <a:t>Processor</a:t>
            </a:r>
            <a:r>
              <a:rPr lang="en-IN" spc="-3" dirty="0" smtClean="0"/>
              <a:t> </a:t>
            </a:r>
            <a:r>
              <a:rPr spc="-3" dirty="0" smtClean="0"/>
              <a:t>Limitations</a:t>
            </a:r>
            <a:endParaRPr spc="-3" dirty="0"/>
          </a:p>
        </p:txBody>
      </p:sp>
      <p:sp>
        <p:nvSpPr>
          <p:cNvPr id="3" name="object 3"/>
          <p:cNvSpPr txBox="1"/>
          <p:nvPr/>
        </p:nvSpPr>
        <p:spPr>
          <a:xfrm>
            <a:off x="3019729" y="1300615"/>
            <a:ext cx="96387" cy="1292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783" dirty="0">
                <a:latin typeface="OpenSymbol"/>
                <a:cs typeface="OpenSymbol"/>
              </a:rPr>
              <a:t>●</a:t>
            </a:r>
            <a:endParaRPr sz="783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0400" y="1222813"/>
            <a:ext cx="5799188" cy="3513848"/>
          </a:xfrm>
          <a:prstGeom prst="rect">
            <a:avLst/>
          </a:prstGeom>
        </p:spPr>
        <p:txBody>
          <a:bodyPr vert="horz" wrap="square" lIns="0" tIns="26798" rIns="0" bIns="0" rtlCol="0">
            <a:spAutoFit/>
          </a:bodyPr>
          <a:lstStyle/>
          <a:p>
            <a:pPr marL="8645" marR="3458">
              <a:lnSpc>
                <a:spcPct val="93800"/>
              </a:lnSpc>
              <a:spcBef>
                <a:spcPts val="211"/>
              </a:spcBef>
            </a:pPr>
            <a:r>
              <a:rPr sz="1770" spc="3" dirty="0">
                <a:latin typeface="Arial"/>
                <a:cs typeface="Arial"/>
              </a:rPr>
              <a:t>Complex </a:t>
            </a:r>
            <a:r>
              <a:rPr sz="1770" spc="7" dirty="0">
                <a:latin typeface="Arial"/>
                <a:cs typeface="Arial"/>
              </a:rPr>
              <a:t>central vector register </a:t>
            </a:r>
            <a:r>
              <a:rPr sz="1770" spc="3" dirty="0">
                <a:latin typeface="Arial"/>
                <a:cs typeface="Arial"/>
              </a:rPr>
              <a:t>files(VRF) - </a:t>
            </a:r>
            <a:r>
              <a:rPr sz="1770" spc="7" dirty="0">
                <a:latin typeface="Arial"/>
                <a:cs typeface="Arial"/>
              </a:rPr>
              <a:t>With N </a:t>
            </a:r>
            <a:r>
              <a:rPr sz="1770" spc="3" dirty="0">
                <a:latin typeface="Arial"/>
                <a:cs typeface="Arial"/>
              </a:rPr>
              <a:t>vector  functional units, the register file needs </a:t>
            </a:r>
            <a:r>
              <a:rPr sz="1770" spc="7" dirty="0">
                <a:latin typeface="Arial"/>
                <a:cs typeface="Arial"/>
              </a:rPr>
              <a:t>approximately </a:t>
            </a:r>
            <a:r>
              <a:rPr sz="1770" spc="3" dirty="0">
                <a:latin typeface="Arial"/>
                <a:cs typeface="Arial"/>
              </a:rPr>
              <a:t>3N  </a:t>
            </a:r>
            <a:r>
              <a:rPr sz="1770" spc="7" dirty="0">
                <a:latin typeface="Arial"/>
                <a:cs typeface="Arial"/>
              </a:rPr>
              <a:t>access</a:t>
            </a:r>
            <a:r>
              <a:rPr sz="1770" spc="3" dirty="0">
                <a:latin typeface="Arial"/>
                <a:cs typeface="Arial"/>
              </a:rPr>
              <a:t> </a:t>
            </a:r>
            <a:r>
              <a:rPr sz="1770" spc="7" dirty="0">
                <a:latin typeface="Arial"/>
                <a:cs typeface="Arial"/>
              </a:rPr>
              <a:t>ports.</a:t>
            </a:r>
            <a:endParaRPr sz="1770" dirty="0">
              <a:latin typeface="Arial"/>
              <a:cs typeface="Arial"/>
            </a:endParaRPr>
          </a:p>
          <a:p>
            <a:pPr marL="8645" marR="1101791">
              <a:lnSpc>
                <a:spcPts val="1994"/>
              </a:lnSpc>
              <a:spcBef>
                <a:spcPts val="837"/>
              </a:spcBef>
            </a:pPr>
            <a:r>
              <a:rPr sz="1770" spc="7" dirty="0">
                <a:latin typeface="Arial"/>
                <a:cs typeface="Arial"/>
              </a:rPr>
              <a:t>VRF </a:t>
            </a:r>
            <a:r>
              <a:rPr sz="1770" spc="3" dirty="0">
                <a:latin typeface="Arial"/>
                <a:cs typeface="Arial"/>
              </a:rPr>
              <a:t>area, </a:t>
            </a:r>
            <a:r>
              <a:rPr sz="1770" spc="7" dirty="0">
                <a:latin typeface="Arial"/>
                <a:cs typeface="Arial"/>
              </a:rPr>
              <a:t>power consumption </a:t>
            </a:r>
            <a:r>
              <a:rPr sz="1770" spc="3" dirty="0">
                <a:latin typeface="Arial"/>
                <a:cs typeface="Arial"/>
              </a:rPr>
              <a:t>and latency are  proportional to O(N*N), </a:t>
            </a:r>
            <a:r>
              <a:rPr sz="1770" spc="7" dirty="0">
                <a:latin typeface="Arial"/>
                <a:cs typeface="Arial"/>
              </a:rPr>
              <a:t>O(log N) </a:t>
            </a:r>
            <a:r>
              <a:rPr sz="1770" spc="3" dirty="0">
                <a:latin typeface="Arial"/>
                <a:cs typeface="Arial"/>
              </a:rPr>
              <a:t>and</a:t>
            </a:r>
            <a:r>
              <a:rPr sz="1770" spc="20" dirty="0">
                <a:latin typeface="Arial"/>
                <a:cs typeface="Arial"/>
              </a:rPr>
              <a:t> </a:t>
            </a:r>
            <a:r>
              <a:rPr sz="1770" spc="3" dirty="0">
                <a:latin typeface="Arial"/>
                <a:cs typeface="Arial"/>
              </a:rPr>
              <a:t>O(N).</a:t>
            </a:r>
            <a:endParaRPr sz="1770" dirty="0">
              <a:latin typeface="Arial"/>
              <a:cs typeface="Arial"/>
            </a:endParaRPr>
          </a:p>
          <a:p>
            <a:pPr marL="8645" marR="118435">
              <a:lnSpc>
                <a:spcPts val="1994"/>
              </a:lnSpc>
              <a:spcBef>
                <a:spcPts val="790"/>
              </a:spcBef>
            </a:pPr>
            <a:r>
              <a:rPr sz="1770" spc="7" dirty="0">
                <a:latin typeface="Arial"/>
                <a:cs typeface="Arial"/>
              </a:rPr>
              <a:t>For </a:t>
            </a:r>
            <a:r>
              <a:rPr sz="1770" spc="3" dirty="0">
                <a:latin typeface="Arial"/>
                <a:cs typeface="Arial"/>
              </a:rPr>
              <a:t>in-order </a:t>
            </a:r>
            <a:r>
              <a:rPr sz="1770" spc="7" dirty="0">
                <a:latin typeface="Arial"/>
                <a:cs typeface="Arial"/>
              </a:rPr>
              <a:t>commit, a </a:t>
            </a:r>
            <a:r>
              <a:rPr sz="1770" spc="3" dirty="0">
                <a:latin typeface="Arial"/>
                <a:cs typeface="Arial"/>
              </a:rPr>
              <a:t>large </a:t>
            </a:r>
            <a:r>
              <a:rPr sz="1770" spc="7" dirty="0">
                <a:latin typeface="Arial"/>
                <a:cs typeface="Arial"/>
              </a:rPr>
              <a:t>ROB </a:t>
            </a:r>
            <a:r>
              <a:rPr sz="1770" spc="3" dirty="0">
                <a:latin typeface="Arial"/>
                <a:cs typeface="Arial"/>
              </a:rPr>
              <a:t>is needed with </a:t>
            </a:r>
            <a:r>
              <a:rPr sz="1770" spc="7" dirty="0">
                <a:latin typeface="Arial"/>
                <a:cs typeface="Arial"/>
              </a:rPr>
              <a:t>at least  one vector register per</a:t>
            </a:r>
            <a:r>
              <a:rPr sz="1770" dirty="0">
                <a:latin typeface="Arial"/>
                <a:cs typeface="Arial"/>
              </a:rPr>
              <a:t> </a:t>
            </a:r>
            <a:r>
              <a:rPr sz="1770" spc="10" dirty="0">
                <a:latin typeface="Arial"/>
                <a:cs typeface="Arial"/>
              </a:rPr>
              <a:t>VFU</a:t>
            </a:r>
            <a:endParaRPr sz="1770" dirty="0">
              <a:latin typeface="Arial"/>
              <a:cs typeface="Arial"/>
            </a:endParaRPr>
          </a:p>
          <a:p>
            <a:pPr marL="8645" marR="239031">
              <a:lnSpc>
                <a:spcPts val="1994"/>
              </a:lnSpc>
              <a:spcBef>
                <a:spcPts val="790"/>
              </a:spcBef>
            </a:pPr>
            <a:r>
              <a:rPr sz="1770" spc="3" dirty="0">
                <a:latin typeface="Arial"/>
                <a:cs typeface="Arial"/>
              </a:rPr>
              <a:t>In order to </a:t>
            </a:r>
            <a:r>
              <a:rPr sz="1770" spc="7" dirty="0">
                <a:latin typeface="Arial"/>
                <a:cs typeface="Arial"/>
              </a:rPr>
              <a:t>support </a:t>
            </a:r>
            <a:r>
              <a:rPr sz="1770" spc="3" dirty="0">
                <a:latin typeface="Arial"/>
                <a:cs typeface="Arial"/>
              </a:rPr>
              <a:t>virtual </a:t>
            </a:r>
            <a:r>
              <a:rPr sz="1770" spc="-14" dirty="0">
                <a:latin typeface="Arial"/>
                <a:cs typeface="Arial"/>
              </a:rPr>
              <a:t>memory, </a:t>
            </a:r>
            <a:r>
              <a:rPr sz="1770" spc="3" dirty="0">
                <a:latin typeface="Arial"/>
                <a:cs typeface="Arial"/>
              </a:rPr>
              <a:t>large </a:t>
            </a:r>
            <a:r>
              <a:rPr sz="1770" spc="7" dirty="0">
                <a:latin typeface="Arial"/>
                <a:cs typeface="Arial"/>
              </a:rPr>
              <a:t>TLB </a:t>
            </a:r>
            <a:r>
              <a:rPr sz="1770" spc="3" dirty="0">
                <a:latin typeface="Arial"/>
                <a:cs typeface="Arial"/>
              </a:rPr>
              <a:t>is </a:t>
            </a:r>
            <a:r>
              <a:rPr sz="1770" spc="7" dirty="0">
                <a:latin typeface="Arial"/>
                <a:cs typeface="Arial"/>
              </a:rPr>
              <a:t>needed  so </a:t>
            </a:r>
            <a:r>
              <a:rPr sz="1770" spc="3" dirty="0">
                <a:latin typeface="Arial"/>
                <a:cs typeface="Arial"/>
              </a:rPr>
              <a:t>that </a:t>
            </a:r>
            <a:r>
              <a:rPr sz="1770" spc="10" dirty="0">
                <a:latin typeface="Arial"/>
                <a:cs typeface="Arial"/>
              </a:rPr>
              <a:t>TLB </a:t>
            </a:r>
            <a:r>
              <a:rPr sz="1770" spc="7" dirty="0">
                <a:latin typeface="Arial"/>
                <a:cs typeface="Arial"/>
              </a:rPr>
              <a:t>has enough </a:t>
            </a:r>
            <a:r>
              <a:rPr sz="1770" spc="3" dirty="0">
                <a:latin typeface="Arial"/>
                <a:cs typeface="Arial"/>
              </a:rPr>
              <a:t>entries to translate all virtual  </a:t>
            </a:r>
            <a:r>
              <a:rPr sz="1770" spc="7" dirty="0">
                <a:latin typeface="Arial"/>
                <a:cs typeface="Arial"/>
              </a:rPr>
              <a:t>addresses generated </a:t>
            </a:r>
            <a:r>
              <a:rPr sz="1770" spc="3" dirty="0">
                <a:latin typeface="Arial"/>
                <a:cs typeface="Arial"/>
              </a:rPr>
              <a:t>by </a:t>
            </a:r>
            <a:r>
              <a:rPr sz="1770" spc="7" dirty="0">
                <a:latin typeface="Arial"/>
                <a:cs typeface="Arial"/>
              </a:rPr>
              <a:t>a vector </a:t>
            </a:r>
            <a:r>
              <a:rPr sz="1770" spc="3" dirty="0">
                <a:latin typeface="Arial"/>
                <a:cs typeface="Arial"/>
              </a:rPr>
              <a:t>instruction</a:t>
            </a:r>
            <a:endParaRPr sz="1770" dirty="0">
              <a:latin typeface="Arial"/>
              <a:cs typeface="Arial"/>
            </a:endParaRPr>
          </a:p>
          <a:p>
            <a:pPr marL="8645" marR="291765">
              <a:lnSpc>
                <a:spcPts val="1994"/>
              </a:lnSpc>
              <a:spcBef>
                <a:spcPts val="790"/>
              </a:spcBef>
            </a:pPr>
            <a:r>
              <a:rPr sz="1770" spc="-10" dirty="0">
                <a:latin typeface="Arial"/>
                <a:cs typeface="Arial"/>
              </a:rPr>
              <a:t>Vector </a:t>
            </a:r>
            <a:r>
              <a:rPr sz="1770" spc="3" dirty="0">
                <a:latin typeface="Arial"/>
                <a:cs typeface="Arial"/>
              </a:rPr>
              <a:t>processors </a:t>
            </a:r>
            <a:r>
              <a:rPr sz="1770" spc="7" dirty="0">
                <a:latin typeface="Arial"/>
                <a:cs typeface="Arial"/>
              </a:rPr>
              <a:t>need expensive on-chip </a:t>
            </a:r>
            <a:r>
              <a:rPr sz="1770" spc="3" dirty="0">
                <a:latin typeface="Arial"/>
                <a:cs typeface="Arial"/>
              </a:rPr>
              <a:t>memory </a:t>
            </a:r>
            <a:r>
              <a:rPr sz="1770" spc="7" dirty="0">
                <a:latin typeface="Arial"/>
                <a:cs typeface="Arial"/>
              </a:rPr>
              <a:t>for  </a:t>
            </a:r>
            <a:r>
              <a:rPr sz="1770" spc="3" dirty="0">
                <a:latin typeface="Arial"/>
                <a:cs typeface="Arial"/>
              </a:rPr>
              <a:t>low </a:t>
            </a:r>
            <a:r>
              <a:rPr sz="1770" spc="-10" dirty="0">
                <a:latin typeface="Arial"/>
                <a:cs typeface="Arial"/>
              </a:rPr>
              <a:t>latency.</a:t>
            </a:r>
            <a:endParaRPr sz="177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9729" y="2159882"/>
            <a:ext cx="96387" cy="1292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783" dirty="0">
                <a:latin typeface="OpenSymbol"/>
                <a:cs typeface="OpenSymbol"/>
              </a:rPr>
              <a:t>●</a:t>
            </a:r>
            <a:endParaRPr sz="783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9729" y="2766728"/>
            <a:ext cx="96387" cy="1292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783" dirty="0">
                <a:latin typeface="OpenSymbol"/>
                <a:cs typeface="OpenSymbol"/>
              </a:rPr>
              <a:t>●</a:t>
            </a:r>
            <a:endParaRPr sz="783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19729" y="3373575"/>
            <a:ext cx="96387" cy="1292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783" dirty="0">
                <a:latin typeface="OpenSymbol"/>
                <a:cs typeface="OpenSymbol"/>
              </a:rPr>
              <a:t>●</a:t>
            </a:r>
            <a:endParaRPr sz="783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9729" y="4233706"/>
            <a:ext cx="96387" cy="12921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783" dirty="0">
                <a:latin typeface="OpenSymbol"/>
                <a:cs typeface="OpenSymbol"/>
              </a:rPr>
              <a:t>●</a:t>
            </a:r>
            <a:endParaRPr sz="783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60320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0" y="-58026"/>
            <a:ext cx="4665937" cy="1239836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" dirty="0"/>
              <a:t>Applications of </a:t>
            </a:r>
            <a:r>
              <a:rPr spc="-31" dirty="0"/>
              <a:t>Vector</a:t>
            </a:r>
            <a:r>
              <a:rPr spc="-14" dirty="0"/>
              <a:t> </a:t>
            </a:r>
            <a:r>
              <a:rPr spc="-3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9302" y="1478241"/>
            <a:ext cx="81259" cy="105669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613" spc="14" dirty="0">
                <a:latin typeface="OpenSymbol"/>
                <a:cs typeface="OpenSymbol"/>
              </a:rPr>
              <a:t>●</a:t>
            </a:r>
            <a:endParaRPr sz="613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800" y="1352550"/>
            <a:ext cx="5648341" cy="2549309"/>
          </a:xfrm>
          <a:prstGeom prst="rect">
            <a:avLst/>
          </a:prstGeom>
        </p:spPr>
        <p:txBody>
          <a:bodyPr vert="horz" wrap="square" lIns="0" tIns="8212" rIns="0" bIns="0" rtlCol="0">
            <a:spAutoFit/>
          </a:bodyPr>
          <a:lstStyle/>
          <a:p>
            <a:pPr marL="8645" marR="3458">
              <a:lnSpc>
                <a:spcPct val="132100"/>
              </a:lnSpc>
              <a:spcBef>
                <a:spcPts val="65"/>
              </a:spcBef>
            </a:pPr>
            <a:r>
              <a:rPr sz="1395" spc="3" dirty="0">
                <a:latin typeface="Arial"/>
                <a:cs typeface="Arial"/>
              </a:rPr>
              <a:t>Multimedia </a:t>
            </a:r>
            <a:r>
              <a:rPr sz="1395" spc="7" dirty="0">
                <a:latin typeface="Arial"/>
                <a:cs typeface="Arial"/>
              </a:rPr>
              <a:t>Processing (compress., </a:t>
            </a:r>
            <a:r>
              <a:rPr sz="1395" spc="3" dirty="0">
                <a:latin typeface="Arial"/>
                <a:cs typeface="Arial"/>
              </a:rPr>
              <a:t>graphics, audio </a:t>
            </a:r>
            <a:r>
              <a:rPr sz="1395" spc="7" dirty="0">
                <a:latin typeface="Arial"/>
                <a:cs typeface="Arial"/>
              </a:rPr>
              <a:t>synth, image proc.)  </a:t>
            </a:r>
            <a:r>
              <a:rPr sz="1395" spc="3" dirty="0">
                <a:latin typeface="Arial"/>
                <a:cs typeface="Arial"/>
              </a:rPr>
              <a:t>Standard </a:t>
            </a:r>
            <a:r>
              <a:rPr sz="1395" spc="7" dirty="0">
                <a:latin typeface="Arial"/>
                <a:cs typeface="Arial"/>
              </a:rPr>
              <a:t>benchmark </a:t>
            </a:r>
            <a:r>
              <a:rPr sz="1395" spc="3" dirty="0">
                <a:latin typeface="Arial"/>
                <a:cs typeface="Arial"/>
              </a:rPr>
              <a:t>kernels (Matrix </a:t>
            </a:r>
            <a:r>
              <a:rPr sz="1395" spc="-10" dirty="0">
                <a:latin typeface="Arial"/>
                <a:cs typeface="Arial"/>
              </a:rPr>
              <a:t>Multiply, </a:t>
            </a:r>
            <a:r>
              <a:rPr sz="1395" spc="-31" dirty="0">
                <a:latin typeface="Arial"/>
                <a:cs typeface="Arial"/>
              </a:rPr>
              <a:t>FFT, </a:t>
            </a:r>
            <a:r>
              <a:rPr sz="1395" spc="3" dirty="0">
                <a:latin typeface="Arial"/>
                <a:cs typeface="Arial"/>
              </a:rPr>
              <a:t>Convolution, Sort)  </a:t>
            </a:r>
            <a:r>
              <a:rPr sz="1395" spc="7" dirty="0">
                <a:latin typeface="Arial"/>
                <a:cs typeface="Arial"/>
              </a:rPr>
              <a:t>Lossy Compression (JPEG, </a:t>
            </a:r>
            <a:r>
              <a:rPr sz="1395" spc="10" dirty="0">
                <a:latin typeface="Arial"/>
                <a:cs typeface="Arial"/>
              </a:rPr>
              <a:t>MPEG </a:t>
            </a:r>
            <a:r>
              <a:rPr sz="1395" spc="7" dirty="0">
                <a:latin typeface="Arial"/>
                <a:cs typeface="Arial"/>
              </a:rPr>
              <a:t>video and</a:t>
            </a:r>
            <a:r>
              <a:rPr sz="1395" spc="-34" dirty="0">
                <a:latin typeface="Arial"/>
                <a:cs typeface="Arial"/>
              </a:rPr>
              <a:t> </a:t>
            </a:r>
            <a:r>
              <a:rPr sz="1395" spc="3" dirty="0">
                <a:latin typeface="Arial"/>
                <a:cs typeface="Arial"/>
              </a:rPr>
              <a:t>audio)</a:t>
            </a:r>
            <a:endParaRPr sz="1395" dirty="0">
              <a:latin typeface="Arial"/>
              <a:cs typeface="Arial"/>
            </a:endParaRPr>
          </a:p>
          <a:p>
            <a:pPr marL="8645" marR="624161">
              <a:lnSpc>
                <a:spcPct val="132100"/>
              </a:lnSpc>
            </a:pPr>
            <a:r>
              <a:rPr sz="1395" spc="7" dirty="0">
                <a:latin typeface="Arial"/>
                <a:cs typeface="Arial"/>
              </a:rPr>
              <a:t>Lossless Compression (Zero removal, RLE, </a:t>
            </a:r>
            <a:r>
              <a:rPr sz="1395" dirty="0">
                <a:latin typeface="Arial"/>
                <a:cs typeface="Arial"/>
              </a:rPr>
              <a:t>Differencing, </a:t>
            </a:r>
            <a:r>
              <a:rPr sz="1395" spc="7" dirty="0">
                <a:latin typeface="Arial"/>
                <a:cs typeface="Arial"/>
              </a:rPr>
              <a:t>LZW)  Cryptography (RSA, DES/IDEA,</a:t>
            </a:r>
            <a:r>
              <a:rPr sz="1395" spc="-17" dirty="0">
                <a:latin typeface="Arial"/>
                <a:cs typeface="Arial"/>
              </a:rPr>
              <a:t> </a:t>
            </a:r>
            <a:r>
              <a:rPr sz="1395" spc="7" dirty="0">
                <a:latin typeface="Arial"/>
                <a:cs typeface="Arial"/>
              </a:rPr>
              <a:t>SHA/MD5)</a:t>
            </a:r>
            <a:endParaRPr sz="1395" dirty="0">
              <a:latin typeface="Arial"/>
              <a:cs typeface="Arial"/>
            </a:endParaRPr>
          </a:p>
          <a:p>
            <a:pPr marL="8645">
              <a:spcBef>
                <a:spcPts val="545"/>
              </a:spcBef>
            </a:pPr>
            <a:r>
              <a:rPr sz="1395" spc="7" dirty="0">
                <a:latin typeface="Arial"/>
                <a:cs typeface="Arial"/>
              </a:rPr>
              <a:t>Speech and </a:t>
            </a:r>
            <a:r>
              <a:rPr sz="1395" spc="3" dirty="0">
                <a:latin typeface="Arial"/>
                <a:cs typeface="Arial"/>
              </a:rPr>
              <a:t>handwriting</a:t>
            </a:r>
            <a:r>
              <a:rPr sz="1395" spc="-24" dirty="0">
                <a:latin typeface="Arial"/>
                <a:cs typeface="Arial"/>
              </a:rPr>
              <a:t> </a:t>
            </a:r>
            <a:r>
              <a:rPr sz="1395" spc="3" dirty="0">
                <a:latin typeface="Arial"/>
                <a:cs typeface="Arial"/>
              </a:rPr>
              <a:t>recognition</a:t>
            </a:r>
            <a:endParaRPr sz="1395" dirty="0">
              <a:latin typeface="Arial"/>
              <a:cs typeface="Arial"/>
            </a:endParaRPr>
          </a:p>
          <a:p>
            <a:pPr marL="8645" marR="187162">
              <a:lnSpc>
                <a:spcPct val="132100"/>
              </a:lnSpc>
            </a:pPr>
            <a:r>
              <a:rPr sz="1395" spc="7" dirty="0">
                <a:latin typeface="Arial"/>
                <a:cs typeface="Arial"/>
              </a:rPr>
              <a:t>Operating systems/Networking </a:t>
            </a:r>
            <a:r>
              <a:rPr sz="1395" spc="-7" dirty="0">
                <a:latin typeface="Arial"/>
                <a:cs typeface="Arial"/>
              </a:rPr>
              <a:t>(memcpy, </a:t>
            </a:r>
            <a:r>
              <a:rPr sz="1395" spc="7" dirty="0">
                <a:latin typeface="Arial"/>
                <a:cs typeface="Arial"/>
              </a:rPr>
              <a:t>memset, </a:t>
            </a:r>
            <a:r>
              <a:rPr sz="1395" spc="-10" dirty="0">
                <a:latin typeface="Arial"/>
                <a:cs typeface="Arial"/>
              </a:rPr>
              <a:t>parity, </a:t>
            </a:r>
            <a:r>
              <a:rPr sz="1395" spc="7" dirty="0">
                <a:latin typeface="Arial"/>
                <a:cs typeface="Arial"/>
              </a:rPr>
              <a:t>checksum)  Databases </a:t>
            </a:r>
            <a:r>
              <a:rPr sz="1395" spc="3" dirty="0">
                <a:latin typeface="Arial"/>
                <a:cs typeface="Arial"/>
              </a:rPr>
              <a:t>(hash/join, data mining, image/video</a:t>
            </a:r>
            <a:r>
              <a:rPr sz="1395" spc="-10" dirty="0">
                <a:latin typeface="Arial"/>
                <a:cs typeface="Arial"/>
              </a:rPr>
              <a:t> </a:t>
            </a:r>
            <a:r>
              <a:rPr sz="1395" spc="3" dirty="0">
                <a:latin typeface="Arial"/>
                <a:cs typeface="Arial"/>
              </a:rPr>
              <a:t>serving)</a:t>
            </a:r>
            <a:endParaRPr sz="1395" dirty="0">
              <a:latin typeface="Arial"/>
              <a:cs typeface="Arial"/>
            </a:endParaRPr>
          </a:p>
          <a:p>
            <a:pPr marL="8645">
              <a:spcBef>
                <a:spcPts val="538"/>
              </a:spcBef>
            </a:pPr>
            <a:r>
              <a:rPr sz="1395" spc="7" dirty="0">
                <a:latin typeface="Arial"/>
                <a:cs typeface="Arial"/>
              </a:rPr>
              <a:t>Language run-time support </a:t>
            </a:r>
            <a:r>
              <a:rPr sz="1395" spc="3" dirty="0">
                <a:latin typeface="Arial"/>
                <a:cs typeface="Arial"/>
              </a:rPr>
              <a:t>(stdlib, </a:t>
            </a:r>
            <a:r>
              <a:rPr sz="1395" spc="7" dirty="0">
                <a:latin typeface="Arial"/>
                <a:cs typeface="Arial"/>
              </a:rPr>
              <a:t>garbage</a:t>
            </a:r>
            <a:r>
              <a:rPr sz="1395" spc="-37" dirty="0">
                <a:latin typeface="Arial"/>
                <a:cs typeface="Arial"/>
              </a:rPr>
              <a:t> </a:t>
            </a:r>
            <a:r>
              <a:rPr sz="1395" spc="3" dirty="0">
                <a:latin typeface="Arial"/>
                <a:cs typeface="Arial"/>
              </a:rPr>
              <a:t>collection)</a:t>
            </a:r>
            <a:endParaRPr sz="1395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9302" y="1760053"/>
            <a:ext cx="81259" cy="105669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613" spc="14" dirty="0">
                <a:latin typeface="OpenSymbol"/>
                <a:cs typeface="OpenSymbol"/>
              </a:rPr>
              <a:t>●</a:t>
            </a:r>
            <a:endParaRPr sz="613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9302" y="2041001"/>
            <a:ext cx="81259" cy="105669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613" spc="14" dirty="0">
                <a:latin typeface="OpenSymbol"/>
                <a:cs typeface="OpenSymbol"/>
              </a:rPr>
              <a:t>●</a:t>
            </a:r>
            <a:endParaRPr sz="613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9302" y="2321948"/>
            <a:ext cx="81259" cy="105669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613" spc="14" dirty="0">
                <a:latin typeface="OpenSymbol"/>
                <a:cs typeface="OpenSymbol"/>
              </a:rPr>
              <a:t>●</a:t>
            </a:r>
            <a:endParaRPr sz="613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9302" y="2602895"/>
            <a:ext cx="81259" cy="105669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613" spc="14" dirty="0">
                <a:latin typeface="OpenSymbol"/>
                <a:cs typeface="OpenSymbol"/>
              </a:rPr>
              <a:t>●</a:t>
            </a:r>
            <a:endParaRPr sz="613">
              <a:latin typeface="OpenSymbol"/>
              <a:cs typeface="Open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9302" y="2883844"/>
            <a:ext cx="81259" cy="105669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613" spc="14" dirty="0">
                <a:latin typeface="OpenSymbol"/>
                <a:cs typeface="OpenSymbol"/>
              </a:rPr>
              <a:t>●</a:t>
            </a:r>
            <a:endParaRPr sz="613">
              <a:latin typeface="OpenSymbol"/>
              <a:cs typeface="Open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9302" y="3164791"/>
            <a:ext cx="81259" cy="105669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613" spc="14" dirty="0">
                <a:latin typeface="OpenSymbol"/>
                <a:cs typeface="OpenSymbol"/>
              </a:rPr>
              <a:t>●</a:t>
            </a:r>
            <a:endParaRPr sz="613">
              <a:latin typeface="OpenSymbol"/>
              <a:cs typeface="Open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9302" y="3445739"/>
            <a:ext cx="81259" cy="105669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613" spc="14" dirty="0">
                <a:latin typeface="OpenSymbol"/>
                <a:cs typeface="OpenSymbol"/>
              </a:rPr>
              <a:t>●</a:t>
            </a:r>
            <a:endParaRPr sz="613">
              <a:latin typeface="OpenSymbol"/>
              <a:cs typeface="Open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9302" y="3726686"/>
            <a:ext cx="81259" cy="105669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613" spc="14" dirty="0">
                <a:latin typeface="OpenSymbol"/>
                <a:cs typeface="OpenSymbol"/>
              </a:rPr>
              <a:t>●</a:t>
            </a:r>
            <a:endParaRPr sz="613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72676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0633" y="-104218"/>
            <a:ext cx="5215506" cy="1239836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  <a:tabLst>
                <a:tab pos="2926728" algn="l"/>
              </a:tabLst>
            </a:pPr>
            <a:r>
              <a:rPr dirty="0"/>
              <a:t>SIMD</a:t>
            </a:r>
            <a:r>
              <a:rPr spc="7" dirty="0"/>
              <a:t> </a:t>
            </a:r>
            <a:r>
              <a:rPr spc="-3" dirty="0"/>
              <a:t>Instruction	Set for</a:t>
            </a:r>
            <a:r>
              <a:rPr spc="-31" dirty="0"/>
              <a:t> </a:t>
            </a:r>
            <a:r>
              <a:rPr spc="-3" dirty="0"/>
              <a:t>Multimedia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00327" y="1295779"/>
            <a:ext cx="107624" cy="145793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885" spc="3" dirty="0">
                <a:latin typeface="OpenSymbol"/>
                <a:cs typeface="OpenSymbol"/>
              </a:rPr>
              <a:t>●</a:t>
            </a:r>
            <a:endParaRPr sz="885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6185" y="1100355"/>
            <a:ext cx="5957815" cy="2143075"/>
          </a:xfrm>
          <a:prstGeom prst="rect">
            <a:avLst/>
          </a:prstGeom>
        </p:spPr>
        <p:txBody>
          <a:bodyPr vert="horz" wrap="square" lIns="0" tIns="116701" rIns="0" bIns="0" rtlCol="0">
            <a:spAutoFit/>
          </a:bodyPr>
          <a:lstStyle/>
          <a:p>
            <a:pPr marL="25935">
              <a:spcBef>
                <a:spcPts val="919"/>
              </a:spcBef>
            </a:pPr>
            <a:r>
              <a:rPr sz="2008" spc="-7" dirty="0">
                <a:latin typeface="Arial"/>
                <a:cs typeface="Arial"/>
              </a:rPr>
              <a:t>Lincoln </a:t>
            </a:r>
            <a:r>
              <a:rPr sz="2008" spc="-65" dirty="0">
                <a:latin typeface="Arial"/>
                <a:cs typeface="Arial"/>
              </a:rPr>
              <a:t>Tabs </a:t>
            </a:r>
            <a:r>
              <a:rPr sz="2008" spc="-7" dirty="0">
                <a:latin typeface="Arial"/>
                <a:cs typeface="Arial"/>
              </a:rPr>
              <a:t>TX-2</a:t>
            </a:r>
            <a:r>
              <a:rPr sz="2008" spc="-20" dirty="0">
                <a:latin typeface="Arial"/>
                <a:cs typeface="Arial"/>
              </a:rPr>
              <a:t> </a:t>
            </a:r>
            <a:r>
              <a:rPr sz="2008" spc="-7" dirty="0">
                <a:latin typeface="Arial"/>
                <a:cs typeface="Arial"/>
              </a:rPr>
              <a:t>(1957)</a:t>
            </a:r>
            <a:endParaRPr sz="2008" dirty="0">
              <a:latin typeface="Arial"/>
              <a:cs typeface="Arial"/>
            </a:endParaRPr>
          </a:p>
          <a:p>
            <a:pPr marL="92933">
              <a:spcBef>
                <a:spcPts val="762"/>
              </a:spcBef>
            </a:pPr>
            <a:r>
              <a:rPr sz="1940" spc="15" baseline="8771" dirty="0">
                <a:latin typeface="OpenSymbol"/>
                <a:cs typeface="OpenSymbol"/>
              </a:rPr>
              <a:t>– </a:t>
            </a:r>
            <a:r>
              <a:rPr sz="1736" spc="3" dirty="0">
                <a:latin typeface="Arial"/>
                <a:cs typeface="Arial"/>
              </a:rPr>
              <a:t>36b </a:t>
            </a:r>
            <a:r>
              <a:rPr sz="1736" dirty="0">
                <a:latin typeface="Arial"/>
                <a:cs typeface="Arial"/>
              </a:rPr>
              <a:t>datapath: </a:t>
            </a:r>
            <a:r>
              <a:rPr sz="1736" spc="7" dirty="0">
                <a:latin typeface="Arial"/>
                <a:cs typeface="Arial"/>
              </a:rPr>
              <a:t>2 x </a:t>
            </a:r>
            <a:r>
              <a:rPr sz="1736" spc="3" dirty="0">
                <a:latin typeface="Arial"/>
                <a:cs typeface="Arial"/>
              </a:rPr>
              <a:t>18b or </a:t>
            </a:r>
            <a:r>
              <a:rPr sz="1736" spc="7" dirty="0">
                <a:latin typeface="Arial"/>
                <a:cs typeface="Arial"/>
              </a:rPr>
              <a:t>4 x</a:t>
            </a:r>
            <a:r>
              <a:rPr sz="1736" spc="139" dirty="0">
                <a:latin typeface="Arial"/>
                <a:cs typeface="Arial"/>
              </a:rPr>
              <a:t> </a:t>
            </a:r>
            <a:r>
              <a:rPr sz="1736" spc="3" dirty="0">
                <a:latin typeface="Arial"/>
                <a:cs typeface="Arial"/>
              </a:rPr>
              <a:t>9b</a:t>
            </a:r>
            <a:endParaRPr sz="1736" dirty="0">
              <a:latin typeface="Arial"/>
              <a:cs typeface="Arial"/>
            </a:endParaRPr>
          </a:p>
          <a:p>
            <a:pPr marL="25935" marR="470714">
              <a:lnSpc>
                <a:spcPts val="2232"/>
              </a:lnSpc>
              <a:spcBef>
                <a:spcPts val="759"/>
              </a:spcBef>
            </a:pPr>
            <a:r>
              <a:rPr sz="2008" spc="-7" dirty="0">
                <a:latin typeface="Arial"/>
                <a:cs typeface="Arial"/>
              </a:rPr>
              <a:t>MMX (1996), </a:t>
            </a:r>
            <a:r>
              <a:rPr sz="2008" spc="-10" dirty="0">
                <a:latin typeface="Arial"/>
                <a:cs typeface="Arial"/>
              </a:rPr>
              <a:t>Streaming </a:t>
            </a:r>
            <a:r>
              <a:rPr sz="2008" spc="-7" dirty="0">
                <a:latin typeface="Arial"/>
                <a:cs typeface="Arial"/>
              </a:rPr>
              <a:t>SIMD Extensions </a:t>
            </a:r>
            <a:r>
              <a:rPr sz="2008" spc="-10" dirty="0">
                <a:latin typeface="Arial"/>
                <a:cs typeface="Arial"/>
              </a:rPr>
              <a:t>(SSE)  </a:t>
            </a:r>
            <a:r>
              <a:rPr sz="2008" spc="-7" dirty="0">
                <a:latin typeface="Arial"/>
                <a:cs typeface="Arial"/>
              </a:rPr>
              <a:t>(1999), Advanced </a:t>
            </a:r>
            <a:r>
              <a:rPr sz="2008" spc="-27" dirty="0">
                <a:latin typeface="Arial"/>
                <a:cs typeface="Arial"/>
              </a:rPr>
              <a:t>Vector </a:t>
            </a:r>
            <a:r>
              <a:rPr sz="2008" spc="-7" dirty="0">
                <a:latin typeface="Arial"/>
                <a:cs typeface="Arial"/>
              </a:rPr>
              <a:t>Extensions</a:t>
            </a:r>
            <a:r>
              <a:rPr sz="2008" spc="-109" dirty="0">
                <a:latin typeface="Arial"/>
                <a:cs typeface="Arial"/>
              </a:rPr>
              <a:t> </a:t>
            </a:r>
            <a:r>
              <a:rPr sz="2008" spc="-37" dirty="0">
                <a:latin typeface="Arial"/>
                <a:cs typeface="Arial"/>
              </a:rPr>
              <a:t>(AVX)</a:t>
            </a:r>
            <a:endParaRPr sz="2008" dirty="0">
              <a:latin typeface="Arial"/>
              <a:cs typeface="Arial"/>
            </a:endParaRPr>
          </a:p>
          <a:p>
            <a:pPr marL="25935" marR="20748">
              <a:lnSpc>
                <a:spcPts val="2232"/>
              </a:lnSpc>
              <a:spcBef>
                <a:spcPts val="899"/>
              </a:spcBef>
            </a:pPr>
            <a:r>
              <a:rPr sz="2008" spc="-10" dirty="0">
                <a:latin typeface="Arial"/>
                <a:cs typeface="Arial"/>
              </a:rPr>
              <a:t>Single </a:t>
            </a:r>
            <a:r>
              <a:rPr sz="2008" spc="-7" dirty="0">
                <a:latin typeface="Arial"/>
                <a:cs typeface="Arial"/>
              </a:rPr>
              <a:t>instruction operates </a:t>
            </a:r>
            <a:r>
              <a:rPr sz="2008" spc="-10" dirty="0">
                <a:latin typeface="Arial"/>
                <a:cs typeface="Arial"/>
              </a:rPr>
              <a:t>on all elements </a:t>
            </a:r>
            <a:r>
              <a:rPr sz="2008" spc="-7" dirty="0">
                <a:latin typeface="Arial"/>
                <a:cs typeface="Arial"/>
              </a:rPr>
              <a:t>within the  register</a:t>
            </a:r>
            <a:endParaRPr sz="2008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0327" y="2031429"/>
            <a:ext cx="107624" cy="145793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885" spc="3" dirty="0">
                <a:latin typeface="OpenSymbol"/>
                <a:cs typeface="OpenSymbol"/>
              </a:rPr>
              <a:t>●</a:t>
            </a:r>
            <a:endParaRPr sz="885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0327" y="2712618"/>
            <a:ext cx="107624" cy="145793"/>
          </a:xfrm>
          <a:prstGeom prst="rect">
            <a:avLst/>
          </a:prstGeom>
        </p:spPr>
        <p:txBody>
          <a:bodyPr vert="horz" wrap="square" lIns="0" tIns="9509" rIns="0" bIns="0" rtlCol="0">
            <a:spAutoFit/>
          </a:bodyPr>
          <a:lstStyle/>
          <a:p>
            <a:pPr marL="8645">
              <a:spcBef>
                <a:spcPts val="75"/>
              </a:spcBef>
            </a:pPr>
            <a:r>
              <a:rPr sz="885" spc="3" dirty="0">
                <a:latin typeface="OpenSymbol"/>
                <a:cs typeface="OpenSymbol"/>
              </a:rPr>
              <a:t>●</a:t>
            </a:r>
            <a:endParaRPr sz="885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82416" y="3517425"/>
            <a:ext cx="5293050" cy="234777"/>
          </a:xfrm>
          <a:prstGeom prst="rect">
            <a:avLst/>
          </a:prstGeom>
          <a:solidFill>
            <a:srgbClr val="CEE6F4"/>
          </a:solidFill>
          <a:ln w="3175">
            <a:solidFill>
              <a:srgbClr val="000000"/>
            </a:solidFill>
          </a:ln>
        </p:spPr>
        <p:txBody>
          <a:bodyPr vert="horz" wrap="square" lIns="0" tIns="45816" rIns="0" bIns="0" rtlCol="0">
            <a:spAutoFit/>
          </a:bodyPr>
          <a:lstStyle/>
          <a:p>
            <a:pPr marL="60946">
              <a:spcBef>
                <a:spcPts val="361"/>
              </a:spcBef>
            </a:pPr>
            <a:r>
              <a:rPr sz="1225" spc="-3" dirty="0">
                <a:latin typeface="Arial"/>
                <a:cs typeface="Arial"/>
              </a:rPr>
              <a:t>64b</a:t>
            </a:r>
            <a:endParaRPr sz="1225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2416" y="3860181"/>
            <a:ext cx="2646957" cy="234340"/>
          </a:xfrm>
          <a:prstGeom prst="rect">
            <a:avLst/>
          </a:prstGeom>
          <a:solidFill>
            <a:srgbClr val="CEE6F4"/>
          </a:solidFill>
          <a:ln w="3175">
            <a:solidFill>
              <a:srgbClr val="000000"/>
            </a:solidFill>
          </a:ln>
        </p:spPr>
        <p:txBody>
          <a:bodyPr vert="horz" wrap="square" lIns="0" tIns="45384" rIns="0" bIns="0" rtlCol="0">
            <a:spAutoFit/>
          </a:bodyPr>
          <a:lstStyle/>
          <a:p>
            <a:pPr marL="60946">
              <a:spcBef>
                <a:spcPts val="357"/>
              </a:spcBef>
            </a:pPr>
            <a:r>
              <a:rPr sz="1225" spc="-7" dirty="0">
                <a:latin typeface="Arial"/>
                <a:cs typeface="Arial"/>
              </a:rPr>
              <a:t>32b</a:t>
            </a:r>
            <a:endParaRPr sz="1225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29373" y="3860181"/>
            <a:ext cx="2646093" cy="234340"/>
          </a:xfrm>
          <a:prstGeom prst="rect">
            <a:avLst/>
          </a:prstGeom>
          <a:solidFill>
            <a:srgbClr val="CEE6F4"/>
          </a:solidFill>
          <a:ln w="3175">
            <a:solidFill>
              <a:srgbClr val="000000"/>
            </a:solidFill>
          </a:ln>
        </p:spPr>
        <p:txBody>
          <a:bodyPr vert="horz" wrap="square" lIns="0" tIns="45384" rIns="0" bIns="0" rtlCol="0">
            <a:spAutoFit/>
          </a:bodyPr>
          <a:lstStyle/>
          <a:p>
            <a:pPr marL="61379">
              <a:spcBef>
                <a:spcPts val="357"/>
              </a:spcBef>
            </a:pPr>
            <a:r>
              <a:rPr sz="1225" spc="-7" dirty="0">
                <a:latin typeface="Arial"/>
                <a:cs typeface="Arial"/>
              </a:rPr>
              <a:t>32b</a:t>
            </a:r>
            <a:endParaRPr sz="1225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692358"/>
              </p:ext>
            </p:extLst>
          </p:nvPr>
        </p:nvGraphicFramePr>
        <p:xfrm>
          <a:off x="3382416" y="4202936"/>
          <a:ext cx="5293916" cy="293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3047"/>
                <a:gridCol w="1323911"/>
                <a:gridCol w="1323047"/>
                <a:gridCol w="1323911"/>
              </a:tblGrid>
              <a:tr h="293914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spc="-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16b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58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spc="-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16b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58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spc="-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16b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581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00" spc="-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16b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952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395837"/>
              </p:ext>
            </p:extLst>
          </p:nvPr>
        </p:nvGraphicFramePr>
        <p:xfrm>
          <a:off x="3381552" y="4545693"/>
          <a:ext cx="5293914" cy="2943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7102"/>
                <a:gridCol w="686809"/>
                <a:gridCol w="636670"/>
                <a:gridCol w="686376"/>
                <a:gridCol w="636238"/>
                <a:gridCol w="686808"/>
                <a:gridCol w="636670"/>
                <a:gridCol w="687241"/>
              </a:tblGrid>
              <a:tr h="294346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8b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538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spc="-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8b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538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spc="-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8b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538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spc="-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8b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538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spc="-10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8b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538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8b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538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8b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538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spc="-5" dirty="0">
                          <a:solidFill>
                            <a:srgbClr val="3B3B3B"/>
                          </a:solidFill>
                          <a:latin typeface="Arial"/>
                          <a:cs typeface="Arial"/>
                        </a:rPr>
                        <a:t>8b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538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EE6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08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284979"/>
            <a:ext cx="4072473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dirty="0"/>
              <a:t>MMX</a:t>
            </a:r>
            <a:r>
              <a:rPr spc="-48" dirty="0"/>
              <a:t> </a:t>
            </a:r>
            <a:r>
              <a:rPr spc="-3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601" y="1300990"/>
            <a:ext cx="105463" cy="142281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851" spc="14" dirty="0">
                <a:latin typeface="OpenSymbol"/>
                <a:cs typeface="OpenSymbol"/>
              </a:rPr>
              <a:t>●</a:t>
            </a:r>
            <a:endParaRPr sz="851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10510" y="1123950"/>
            <a:ext cx="5733490" cy="3698727"/>
          </a:xfrm>
          <a:prstGeom prst="rect">
            <a:avLst/>
          </a:prstGeom>
        </p:spPr>
        <p:txBody>
          <a:bodyPr vert="horz" wrap="square" lIns="0" tIns="99844" rIns="0" bIns="0" rtlCol="0">
            <a:spAutoFit/>
          </a:bodyPr>
          <a:lstStyle/>
          <a:p>
            <a:pPr marL="17290">
              <a:spcBef>
                <a:spcPts val="786"/>
              </a:spcBef>
            </a:pPr>
            <a:r>
              <a:rPr sz="1974" spc="3" dirty="0">
                <a:latin typeface="Arial"/>
                <a:cs typeface="Arial"/>
              </a:rPr>
              <a:t>Move </a:t>
            </a:r>
            <a:r>
              <a:rPr sz="1974" dirty="0">
                <a:latin typeface="Arial"/>
                <a:cs typeface="Arial"/>
              </a:rPr>
              <a:t>32b,</a:t>
            </a:r>
            <a:r>
              <a:rPr sz="1974" spc="-3" dirty="0">
                <a:latin typeface="Arial"/>
                <a:cs typeface="Arial"/>
              </a:rPr>
              <a:t> </a:t>
            </a:r>
            <a:r>
              <a:rPr sz="1974" dirty="0">
                <a:latin typeface="Arial"/>
                <a:cs typeface="Arial"/>
              </a:rPr>
              <a:t>64b</a:t>
            </a:r>
          </a:p>
          <a:p>
            <a:pPr marL="17290">
              <a:spcBef>
                <a:spcPts val="722"/>
              </a:spcBef>
            </a:pPr>
            <a:r>
              <a:rPr sz="1974" dirty="0">
                <a:latin typeface="Arial"/>
                <a:cs typeface="Arial"/>
              </a:rPr>
              <a:t>Add, Subtract in parallel: </a:t>
            </a:r>
            <a:r>
              <a:rPr sz="1974" spc="3" dirty="0">
                <a:latin typeface="Arial"/>
                <a:cs typeface="Arial"/>
              </a:rPr>
              <a:t>8 </a:t>
            </a:r>
            <a:r>
              <a:rPr sz="1974" dirty="0">
                <a:latin typeface="Arial"/>
                <a:cs typeface="Arial"/>
              </a:rPr>
              <a:t>8b, </a:t>
            </a:r>
            <a:r>
              <a:rPr sz="1974" spc="3" dirty="0">
                <a:latin typeface="Arial"/>
                <a:cs typeface="Arial"/>
              </a:rPr>
              <a:t>4 </a:t>
            </a:r>
            <a:r>
              <a:rPr sz="1974" dirty="0">
                <a:latin typeface="Arial"/>
                <a:cs typeface="Arial"/>
              </a:rPr>
              <a:t>16b, </a:t>
            </a:r>
            <a:r>
              <a:rPr sz="1974" spc="3" dirty="0">
                <a:latin typeface="Arial"/>
                <a:cs typeface="Arial"/>
              </a:rPr>
              <a:t>2</a:t>
            </a:r>
            <a:r>
              <a:rPr sz="1974" spc="27" dirty="0">
                <a:latin typeface="Arial"/>
                <a:cs typeface="Arial"/>
              </a:rPr>
              <a:t> </a:t>
            </a:r>
            <a:r>
              <a:rPr sz="1974" dirty="0">
                <a:latin typeface="Arial"/>
                <a:cs typeface="Arial"/>
              </a:rPr>
              <a:t>32b</a:t>
            </a:r>
          </a:p>
          <a:p>
            <a:pPr marL="17290" marR="12103">
              <a:lnSpc>
                <a:spcPts val="2212"/>
              </a:lnSpc>
              <a:spcBef>
                <a:spcPts val="933"/>
              </a:spcBef>
            </a:pPr>
            <a:r>
              <a:rPr sz="1974" dirty="0">
                <a:latin typeface="Arial"/>
                <a:cs typeface="Arial"/>
              </a:rPr>
              <a:t>Shifts (sll,srl, sra), And, </a:t>
            </a:r>
            <a:r>
              <a:rPr sz="1974" spc="-3" dirty="0">
                <a:latin typeface="Arial"/>
                <a:cs typeface="Arial"/>
              </a:rPr>
              <a:t>And </a:t>
            </a:r>
            <a:r>
              <a:rPr sz="1974" dirty="0">
                <a:latin typeface="Arial"/>
                <a:cs typeface="Arial"/>
              </a:rPr>
              <a:t>Not, </a:t>
            </a:r>
            <a:r>
              <a:rPr sz="1974" spc="-37" dirty="0">
                <a:latin typeface="Arial"/>
                <a:cs typeface="Arial"/>
              </a:rPr>
              <a:t>Or, </a:t>
            </a:r>
            <a:r>
              <a:rPr sz="1974" spc="3" dirty="0">
                <a:latin typeface="Arial"/>
                <a:cs typeface="Arial"/>
              </a:rPr>
              <a:t>Xor </a:t>
            </a:r>
            <a:r>
              <a:rPr sz="1974" dirty="0">
                <a:latin typeface="Arial"/>
                <a:cs typeface="Arial"/>
              </a:rPr>
              <a:t>in </a:t>
            </a:r>
            <a:r>
              <a:rPr sz="1974" spc="-3" dirty="0">
                <a:latin typeface="Arial"/>
                <a:cs typeface="Arial"/>
              </a:rPr>
              <a:t>parallel:  </a:t>
            </a:r>
            <a:r>
              <a:rPr sz="1974" spc="3" dirty="0">
                <a:latin typeface="Arial"/>
                <a:cs typeface="Arial"/>
              </a:rPr>
              <a:t>8 </a:t>
            </a:r>
            <a:r>
              <a:rPr sz="1974" dirty="0">
                <a:latin typeface="Arial"/>
                <a:cs typeface="Arial"/>
              </a:rPr>
              <a:t>8b, </a:t>
            </a:r>
            <a:r>
              <a:rPr sz="1974" spc="3" dirty="0">
                <a:latin typeface="Arial"/>
                <a:cs typeface="Arial"/>
              </a:rPr>
              <a:t>4 </a:t>
            </a:r>
            <a:r>
              <a:rPr sz="1974" dirty="0">
                <a:latin typeface="Arial"/>
                <a:cs typeface="Arial"/>
              </a:rPr>
              <a:t>16b, </a:t>
            </a:r>
            <a:r>
              <a:rPr sz="1974" spc="3" dirty="0">
                <a:latin typeface="Arial"/>
                <a:cs typeface="Arial"/>
              </a:rPr>
              <a:t>2</a:t>
            </a:r>
            <a:r>
              <a:rPr sz="1974" spc="7" dirty="0">
                <a:latin typeface="Arial"/>
                <a:cs typeface="Arial"/>
              </a:rPr>
              <a:t> </a:t>
            </a:r>
            <a:r>
              <a:rPr sz="1974" dirty="0">
                <a:latin typeface="Arial"/>
                <a:cs typeface="Arial"/>
              </a:rPr>
              <a:t>32b</a:t>
            </a:r>
          </a:p>
          <a:p>
            <a:pPr marL="17290" marR="924571">
              <a:lnSpc>
                <a:spcPts val="3090"/>
              </a:lnSpc>
              <a:spcBef>
                <a:spcPts val="177"/>
              </a:spcBef>
            </a:pPr>
            <a:r>
              <a:rPr sz="1974" spc="-17" dirty="0">
                <a:latin typeface="Arial"/>
                <a:cs typeface="Arial"/>
              </a:rPr>
              <a:t>Multiply, </a:t>
            </a:r>
            <a:r>
              <a:rPr sz="1974" dirty="0">
                <a:latin typeface="Arial"/>
                <a:cs typeface="Arial"/>
              </a:rPr>
              <a:t>Multiply-Add in </a:t>
            </a:r>
            <a:r>
              <a:rPr sz="1974" spc="-3" dirty="0">
                <a:latin typeface="Arial"/>
                <a:cs typeface="Arial"/>
              </a:rPr>
              <a:t>parallel: </a:t>
            </a:r>
            <a:r>
              <a:rPr sz="1974" spc="3" dirty="0">
                <a:latin typeface="Arial"/>
                <a:cs typeface="Arial"/>
              </a:rPr>
              <a:t>4 </a:t>
            </a:r>
            <a:r>
              <a:rPr sz="1974" dirty="0">
                <a:latin typeface="Arial"/>
                <a:cs typeface="Arial"/>
              </a:rPr>
              <a:t>16b  Compare =,&gt; in parallel: </a:t>
            </a:r>
            <a:r>
              <a:rPr sz="1974" spc="3" dirty="0">
                <a:latin typeface="Arial"/>
                <a:cs typeface="Arial"/>
              </a:rPr>
              <a:t>8 </a:t>
            </a:r>
            <a:r>
              <a:rPr sz="1974" dirty="0">
                <a:latin typeface="Arial"/>
                <a:cs typeface="Arial"/>
              </a:rPr>
              <a:t>8b, </a:t>
            </a:r>
            <a:r>
              <a:rPr sz="1974" spc="3" dirty="0">
                <a:latin typeface="Arial"/>
                <a:cs typeface="Arial"/>
              </a:rPr>
              <a:t>4 </a:t>
            </a:r>
            <a:r>
              <a:rPr sz="1974" dirty="0">
                <a:latin typeface="Arial"/>
                <a:cs typeface="Arial"/>
              </a:rPr>
              <a:t>16b, </a:t>
            </a:r>
            <a:r>
              <a:rPr sz="1974" spc="3" dirty="0">
                <a:latin typeface="Arial"/>
                <a:cs typeface="Arial"/>
              </a:rPr>
              <a:t>2</a:t>
            </a:r>
            <a:r>
              <a:rPr sz="1974" spc="-10" dirty="0">
                <a:latin typeface="Arial"/>
                <a:cs typeface="Arial"/>
              </a:rPr>
              <a:t> </a:t>
            </a:r>
            <a:r>
              <a:rPr sz="1974" dirty="0">
                <a:latin typeface="Arial"/>
                <a:cs typeface="Arial"/>
              </a:rPr>
              <a:t>32b</a:t>
            </a:r>
          </a:p>
          <a:p>
            <a:pPr marL="284417" indent="-200561">
              <a:spcBef>
                <a:spcPts val="511"/>
              </a:spcBef>
              <a:buSzPct val="74509"/>
              <a:buFont typeface="OpenSymbol"/>
              <a:buChar char="–"/>
              <a:tabLst>
                <a:tab pos="284417" algn="l"/>
              </a:tabLst>
            </a:pPr>
            <a:r>
              <a:rPr sz="1736" spc="-3" dirty="0">
                <a:latin typeface="Arial"/>
                <a:cs typeface="Arial"/>
              </a:rPr>
              <a:t>sets </a:t>
            </a:r>
            <a:r>
              <a:rPr sz="1736" spc="-7" dirty="0">
                <a:latin typeface="Arial"/>
                <a:cs typeface="Arial"/>
              </a:rPr>
              <a:t>field </a:t>
            </a:r>
            <a:r>
              <a:rPr sz="1736" spc="-3" dirty="0">
                <a:latin typeface="Arial"/>
                <a:cs typeface="Arial"/>
              </a:rPr>
              <a:t>to 0s (false) or 1s </a:t>
            </a:r>
            <a:r>
              <a:rPr sz="1736" dirty="0">
                <a:latin typeface="Arial"/>
                <a:cs typeface="Arial"/>
              </a:rPr>
              <a:t>(true); </a:t>
            </a:r>
            <a:r>
              <a:rPr sz="1736" spc="-3" dirty="0">
                <a:latin typeface="Arial"/>
                <a:cs typeface="Arial"/>
              </a:rPr>
              <a:t>removes</a:t>
            </a:r>
            <a:r>
              <a:rPr sz="1736" spc="-34" dirty="0">
                <a:latin typeface="Arial"/>
                <a:cs typeface="Arial"/>
              </a:rPr>
              <a:t> </a:t>
            </a:r>
            <a:r>
              <a:rPr sz="1736" spc="-7" dirty="0">
                <a:latin typeface="Arial"/>
                <a:cs typeface="Arial"/>
              </a:rPr>
              <a:t>branches</a:t>
            </a:r>
            <a:endParaRPr sz="1736" dirty="0">
              <a:latin typeface="Arial"/>
              <a:cs typeface="Arial"/>
            </a:endParaRPr>
          </a:p>
          <a:p>
            <a:pPr marL="17290">
              <a:spcBef>
                <a:spcPts val="545"/>
              </a:spcBef>
            </a:pPr>
            <a:r>
              <a:rPr sz="1974" dirty="0">
                <a:latin typeface="Arial"/>
                <a:cs typeface="Arial"/>
              </a:rPr>
              <a:t>Pack/Unpack</a:t>
            </a:r>
          </a:p>
          <a:p>
            <a:pPr marL="83855">
              <a:spcBef>
                <a:spcPts val="728"/>
              </a:spcBef>
            </a:pPr>
            <a:r>
              <a:rPr sz="1940" baseline="8771" dirty="0">
                <a:latin typeface="OpenSymbol"/>
                <a:cs typeface="OpenSymbol"/>
              </a:rPr>
              <a:t>– </a:t>
            </a:r>
            <a:r>
              <a:rPr sz="1736" spc="-7" dirty="0">
                <a:latin typeface="Arial"/>
                <a:cs typeface="Arial"/>
              </a:rPr>
              <a:t>Convert 32b&lt;–&gt; 16b, </a:t>
            </a:r>
            <a:r>
              <a:rPr sz="1736" spc="-3" dirty="0">
                <a:latin typeface="Arial"/>
                <a:cs typeface="Arial"/>
              </a:rPr>
              <a:t>16b &lt;–&gt;</a:t>
            </a:r>
            <a:r>
              <a:rPr sz="1736" spc="204" dirty="0">
                <a:latin typeface="Arial"/>
                <a:cs typeface="Arial"/>
              </a:rPr>
              <a:t> </a:t>
            </a:r>
            <a:r>
              <a:rPr sz="1736" spc="-3" dirty="0">
                <a:latin typeface="Arial"/>
                <a:cs typeface="Arial"/>
              </a:rPr>
              <a:t>8b</a:t>
            </a:r>
            <a:endParaRPr sz="1736" dirty="0">
              <a:latin typeface="Arial"/>
              <a:cs typeface="Arial"/>
            </a:endParaRPr>
          </a:p>
          <a:p>
            <a:pPr marL="284417" indent="-200561">
              <a:spcBef>
                <a:spcPts val="557"/>
              </a:spcBef>
              <a:buSzPct val="74509"/>
              <a:buFont typeface="OpenSymbol"/>
              <a:buChar char="–"/>
              <a:tabLst>
                <a:tab pos="284417" algn="l"/>
              </a:tabLst>
            </a:pPr>
            <a:r>
              <a:rPr sz="1736" spc="-7" dirty="0">
                <a:latin typeface="Arial"/>
                <a:cs typeface="Arial"/>
              </a:rPr>
              <a:t>Pack </a:t>
            </a:r>
            <a:r>
              <a:rPr sz="1736" spc="-3" dirty="0">
                <a:latin typeface="Arial"/>
                <a:cs typeface="Arial"/>
              </a:rPr>
              <a:t>saturates (set to max) if </a:t>
            </a:r>
            <a:r>
              <a:rPr sz="1736" spc="-7" dirty="0">
                <a:latin typeface="Arial"/>
                <a:cs typeface="Arial"/>
              </a:rPr>
              <a:t>number </a:t>
            </a:r>
            <a:r>
              <a:rPr sz="1736" spc="-3" dirty="0">
                <a:latin typeface="Arial"/>
                <a:cs typeface="Arial"/>
              </a:rPr>
              <a:t>is too</a:t>
            </a:r>
            <a:r>
              <a:rPr sz="1736" spc="-20" dirty="0">
                <a:latin typeface="Arial"/>
                <a:cs typeface="Arial"/>
              </a:rPr>
              <a:t> </a:t>
            </a:r>
            <a:r>
              <a:rPr sz="1736" spc="-7" dirty="0">
                <a:latin typeface="Arial"/>
                <a:cs typeface="Arial"/>
              </a:rPr>
              <a:t>large</a:t>
            </a:r>
            <a:endParaRPr sz="1736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8601" y="1694316"/>
            <a:ext cx="105463" cy="142281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851" spc="14" dirty="0">
                <a:latin typeface="OpenSymbol"/>
                <a:cs typeface="OpenSymbol"/>
              </a:rPr>
              <a:t>●</a:t>
            </a:r>
            <a:endParaRPr sz="851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8601" y="2086778"/>
            <a:ext cx="105463" cy="142281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851" spc="14" dirty="0">
                <a:latin typeface="OpenSymbol"/>
                <a:cs typeface="OpenSymbol"/>
              </a:rPr>
              <a:t>●</a:t>
            </a:r>
            <a:endParaRPr sz="851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18601" y="2760188"/>
            <a:ext cx="105463" cy="142281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851" spc="14" dirty="0">
                <a:latin typeface="OpenSymbol"/>
                <a:cs typeface="OpenSymbol"/>
              </a:rPr>
              <a:t>●</a:t>
            </a:r>
            <a:endParaRPr sz="851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18601" y="3152650"/>
            <a:ext cx="105463" cy="142281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851" spc="14" dirty="0">
                <a:latin typeface="OpenSymbol"/>
                <a:cs typeface="OpenSymbol"/>
              </a:rPr>
              <a:t>●</a:t>
            </a:r>
            <a:endParaRPr sz="851">
              <a:latin typeface="OpenSymbol"/>
              <a:cs typeface="Open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8601" y="3880521"/>
            <a:ext cx="105463" cy="142281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851" spc="14" dirty="0">
                <a:latin typeface="OpenSymbol"/>
                <a:cs typeface="OpenSymbol"/>
              </a:rPr>
              <a:t>●</a:t>
            </a:r>
            <a:endParaRPr sz="851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88520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5200" y="115644"/>
            <a:ext cx="5029200" cy="1116725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  <a:tabLst>
                <a:tab pos="1952881" algn="l"/>
              </a:tabLst>
            </a:pPr>
            <a:r>
              <a:rPr sz="3600" spc="-3" dirty="0" smtClean="0"/>
              <a:t>Multimedia</a:t>
            </a:r>
            <a:r>
              <a:rPr lang="en-IN" sz="3600" spc="-3" dirty="0" smtClean="0"/>
              <a:t> </a:t>
            </a:r>
            <a:r>
              <a:rPr sz="3600" spc="-3" dirty="0" smtClean="0"/>
              <a:t>Extensions </a:t>
            </a:r>
            <a:r>
              <a:rPr sz="3600" dirty="0"/>
              <a:t>vs.</a:t>
            </a:r>
            <a:r>
              <a:rPr sz="3600" spc="-34" dirty="0"/>
              <a:t> </a:t>
            </a:r>
            <a:r>
              <a:rPr sz="3600" spc="-27" dirty="0"/>
              <a:t>Vectors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6765" y="1394651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7200" y="1200150"/>
            <a:ext cx="4760115" cy="2055071"/>
          </a:xfrm>
          <a:prstGeom prst="rect">
            <a:avLst/>
          </a:prstGeom>
        </p:spPr>
        <p:txBody>
          <a:bodyPr vert="horz" wrap="square" lIns="0" tIns="8212" rIns="0" bIns="0" rtlCol="0">
            <a:spAutoFit/>
          </a:bodyPr>
          <a:lstStyle/>
          <a:p>
            <a:pPr marL="8645" marR="1498159">
              <a:lnSpc>
                <a:spcPct val="130500"/>
              </a:lnSpc>
              <a:spcBef>
                <a:spcPts val="65"/>
              </a:spcBef>
            </a:pPr>
            <a:r>
              <a:rPr sz="2178" spc="-3" dirty="0">
                <a:latin typeface="Arial"/>
                <a:cs typeface="Arial"/>
              </a:rPr>
              <a:t>Fixed </a:t>
            </a:r>
            <a:r>
              <a:rPr sz="2178" dirty="0">
                <a:latin typeface="Arial"/>
                <a:cs typeface="Arial"/>
              </a:rPr>
              <a:t>number of operands  No </a:t>
            </a:r>
            <a:r>
              <a:rPr sz="2178" spc="-24" dirty="0">
                <a:latin typeface="Arial"/>
                <a:cs typeface="Arial"/>
              </a:rPr>
              <a:t>Vector </a:t>
            </a:r>
            <a:r>
              <a:rPr sz="2178" dirty="0">
                <a:latin typeface="Arial"/>
                <a:cs typeface="Arial"/>
              </a:rPr>
              <a:t>Length </a:t>
            </a:r>
            <a:r>
              <a:rPr sz="2178" spc="-3" dirty="0">
                <a:latin typeface="Arial"/>
                <a:cs typeface="Arial"/>
              </a:rPr>
              <a:t>Register</a:t>
            </a:r>
            <a:endParaRPr sz="2178" dirty="0">
              <a:latin typeface="Arial"/>
              <a:cs typeface="Arial"/>
            </a:endParaRPr>
          </a:p>
          <a:p>
            <a:pPr marL="8645" marR="3458">
              <a:lnSpc>
                <a:spcPts val="2436"/>
              </a:lnSpc>
              <a:spcBef>
                <a:spcPts val="1028"/>
              </a:spcBef>
            </a:pPr>
            <a:r>
              <a:rPr sz="2178" dirty="0">
                <a:latin typeface="Arial"/>
                <a:cs typeface="Arial"/>
              </a:rPr>
              <a:t>No strided accesses, no</a:t>
            </a:r>
            <a:r>
              <a:rPr sz="2178" spc="-48" dirty="0">
                <a:latin typeface="Arial"/>
                <a:cs typeface="Arial"/>
              </a:rPr>
              <a:t> </a:t>
            </a:r>
            <a:r>
              <a:rPr sz="2178" dirty="0">
                <a:latin typeface="Arial"/>
                <a:cs typeface="Arial"/>
              </a:rPr>
              <a:t>gather-scatter  accesses</a:t>
            </a:r>
          </a:p>
          <a:p>
            <a:pPr marL="8645">
              <a:spcBef>
                <a:spcPts val="742"/>
              </a:spcBef>
            </a:pPr>
            <a:r>
              <a:rPr sz="2178" dirty="0">
                <a:latin typeface="Arial"/>
                <a:cs typeface="Arial"/>
              </a:rPr>
              <a:t>No mask</a:t>
            </a:r>
            <a:r>
              <a:rPr sz="2178" spc="-7" dirty="0">
                <a:latin typeface="Arial"/>
                <a:cs typeface="Arial"/>
              </a:rPr>
              <a:t> </a:t>
            </a:r>
            <a:r>
              <a:rPr sz="2178" spc="-3" dirty="0">
                <a:latin typeface="Arial"/>
                <a:cs typeface="Arial"/>
              </a:rPr>
              <a:t>register</a:t>
            </a:r>
            <a:endParaRPr sz="2178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6765" y="1827743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6765" y="2260834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46765" y="3003400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09474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8427" y="438150"/>
            <a:ext cx="841978" cy="469625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2995" spc="3" dirty="0">
                <a:solidFill>
                  <a:schemeClr val="tx2"/>
                </a:solidFill>
                <a:latin typeface="Arial"/>
                <a:cs typeface="Arial"/>
              </a:rPr>
              <a:t>G</a:t>
            </a:r>
            <a:r>
              <a:rPr sz="2995" dirty="0">
                <a:solidFill>
                  <a:schemeClr val="tx2"/>
                </a:solidFill>
                <a:latin typeface="Arial"/>
                <a:cs typeface="Arial"/>
              </a:rPr>
              <a:t>PU</a:t>
            </a:r>
          </a:p>
        </p:txBody>
      </p:sp>
      <p:sp>
        <p:nvSpPr>
          <p:cNvPr id="3" name="object 3"/>
          <p:cNvSpPr/>
          <p:nvPr/>
        </p:nvSpPr>
        <p:spPr>
          <a:xfrm>
            <a:off x="2977843" y="1123950"/>
            <a:ext cx="6132110" cy="30061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281176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7919" y="438150"/>
            <a:ext cx="5122337" cy="562727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z="3600" spc="-3" dirty="0"/>
              <a:t>Graphics Processing</a:t>
            </a:r>
            <a:r>
              <a:rPr sz="3600" spc="-41" dirty="0"/>
              <a:t> </a:t>
            </a:r>
            <a:r>
              <a:rPr sz="3600" spc="-3" dirty="0"/>
              <a:t>Units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6163" y="1727372"/>
            <a:ext cx="91632" cy="121378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715" spc="14" dirty="0">
                <a:latin typeface="OpenSymbol"/>
                <a:cs typeface="OpenSymbol"/>
              </a:rPr>
              <a:t>●</a:t>
            </a:r>
            <a:endParaRPr sz="715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6600" y="1657350"/>
            <a:ext cx="5491874" cy="2026534"/>
          </a:xfrm>
          <a:prstGeom prst="rect">
            <a:avLst/>
          </a:prstGeom>
        </p:spPr>
        <p:txBody>
          <a:bodyPr vert="horz" wrap="square" lIns="0" tIns="30688" rIns="0" bIns="0" rtlCol="0">
            <a:spAutoFit/>
          </a:bodyPr>
          <a:lstStyle/>
          <a:p>
            <a:pPr marL="8645" marR="28960">
              <a:lnSpc>
                <a:spcPts val="1824"/>
              </a:lnSpc>
              <a:spcBef>
                <a:spcPts val="242"/>
              </a:spcBef>
            </a:pPr>
            <a:r>
              <a:rPr sz="1634" spc="-3" dirty="0">
                <a:latin typeface="Arial"/>
                <a:cs typeface="Arial"/>
              </a:rPr>
              <a:t>Optimized for 2D/3D graphics, video, visual computing, and  </a:t>
            </a:r>
            <a:r>
              <a:rPr sz="1634" spc="-20" dirty="0">
                <a:latin typeface="Arial"/>
                <a:cs typeface="Arial"/>
              </a:rPr>
              <a:t>display.</a:t>
            </a:r>
            <a:endParaRPr sz="1634">
              <a:latin typeface="Arial"/>
              <a:cs typeface="Arial"/>
            </a:endParaRPr>
          </a:p>
          <a:p>
            <a:pPr marL="8645" marR="457747">
              <a:lnSpc>
                <a:spcPts val="1824"/>
              </a:lnSpc>
              <a:spcBef>
                <a:spcPts val="960"/>
              </a:spcBef>
            </a:pPr>
            <a:r>
              <a:rPr sz="1634" spc="3" dirty="0">
                <a:latin typeface="Arial"/>
                <a:cs typeface="Arial"/>
              </a:rPr>
              <a:t>It </a:t>
            </a:r>
            <a:r>
              <a:rPr sz="1634" spc="-3" dirty="0">
                <a:latin typeface="Arial"/>
                <a:cs typeface="Arial"/>
              </a:rPr>
              <a:t>is </a:t>
            </a:r>
            <a:r>
              <a:rPr sz="1634" spc="-7" dirty="0">
                <a:latin typeface="Arial"/>
                <a:cs typeface="Arial"/>
              </a:rPr>
              <a:t>highly </a:t>
            </a:r>
            <a:r>
              <a:rPr sz="1634" spc="-3" dirty="0">
                <a:latin typeface="Arial"/>
                <a:cs typeface="Arial"/>
              </a:rPr>
              <a:t>parallel, highly multithreaded multiprocessor  optimized for visual</a:t>
            </a:r>
            <a:r>
              <a:rPr sz="1634" dirty="0">
                <a:latin typeface="Arial"/>
                <a:cs typeface="Arial"/>
              </a:rPr>
              <a:t> computing.</a:t>
            </a:r>
            <a:endParaRPr sz="1634">
              <a:latin typeface="Arial"/>
              <a:cs typeface="Arial"/>
            </a:endParaRPr>
          </a:p>
          <a:p>
            <a:pPr marL="8645" marR="3458">
              <a:lnSpc>
                <a:spcPts val="1824"/>
              </a:lnSpc>
              <a:spcBef>
                <a:spcPts val="960"/>
              </a:spcBef>
            </a:pPr>
            <a:r>
              <a:rPr sz="1634" spc="3" dirty="0">
                <a:latin typeface="Arial"/>
                <a:cs typeface="Arial"/>
              </a:rPr>
              <a:t>It </a:t>
            </a:r>
            <a:r>
              <a:rPr sz="1634" spc="-3" dirty="0">
                <a:latin typeface="Arial"/>
                <a:cs typeface="Arial"/>
              </a:rPr>
              <a:t>serves as both </a:t>
            </a:r>
            <a:r>
              <a:rPr sz="1634" dirty="0">
                <a:latin typeface="Arial"/>
                <a:cs typeface="Arial"/>
              </a:rPr>
              <a:t>a </a:t>
            </a:r>
            <a:r>
              <a:rPr sz="1634" spc="-3" dirty="0">
                <a:latin typeface="Arial"/>
                <a:cs typeface="Arial"/>
              </a:rPr>
              <a:t>programmable graphics processor </a:t>
            </a:r>
            <a:r>
              <a:rPr sz="1634" spc="-7" dirty="0">
                <a:latin typeface="Arial"/>
                <a:cs typeface="Arial"/>
              </a:rPr>
              <a:t>and </a:t>
            </a:r>
            <a:r>
              <a:rPr sz="1634" dirty="0">
                <a:latin typeface="Arial"/>
                <a:cs typeface="Arial"/>
              </a:rPr>
              <a:t>a  </a:t>
            </a:r>
            <a:r>
              <a:rPr sz="1634" spc="-3" dirty="0">
                <a:latin typeface="Arial"/>
                <a:cs typeface="Arial"/>
              </a:rPr>
              <a:t>scalable </a:t>
            </a:r>
            <a:r>
              <a:rPr sz="1634" spc="-7" dirty="0">
                <a:latin typeface="Arial"/>
                <a:cs typeface="Arial"/>
              </a:rPr>
              <a:t>parallel </a:t>
            </a:r>
            <a:r>
              <a:rPr sz="1634" spc="-3" dirty="0">
                <a:latin typeface="Arial"/>
                <a:cs typeface="Arial"/>
              </a:rPr>
              <a:t>computing platform.</a:t>
            </a:r>
            <a:endParaRPr sz="1634">
              <a:latin typeface="Arial"/>
              <a:cs typeface="Arial"/>
            </a:endParaRPr>
          </a:p>
          <a:p>
            <a:pPr marL="8645">
              <a:spcBef>
                <a:spcPts val="786"/>
              </a:spcBef>
            </a:pPr>
            <a:r>
              <a:rPr sz="1634" spc="-7" dirty="0">
                <a:latin typeface="Arial"/>
                <a:cs typeface="Arial"/>
              </a:rPr>
              <a:t>Heterogeneous </a:t>
            </a:r>
            <a:r>
              <a:rPr sz="1634" spc="-3" dirty="0">
                <a:latin typeface="Arial"/>
                <a:cs typeface="Arial"/>
              </a:rPr>
              <a:t>Systems: combine </a:t>
            </a:r>
            <a:r>
              <a:rPr sz="1634" dirty="0">
                <a:latin typeface="Arial"/>
                <a:cs typeface="Arial"/>
              </a:rPr>
              <a:t>a </a:t>
            </a:r>
            <a:r>
              <a:rPr sz="1634" spc="-3" dirty="0">
                <a:latin typeface="Arial"/>
                <a:cs typeface="Arial"/>
              </a:rPr>
              <a:t>GPU with </a:t>
            </a:r>
            <a:r>
              <a:rPr sz="1634" dirty="0">
                <a:latin typeface="Arial"/>
                <a:cs typeface="Arial"/>
              </a:rPr>
              <a:t>a</a:t>
            </a:r>
            <a:r>
              <a:rPr sz="1634" spc="24" dirty="0">
                <a:latin typeface="Arial"/>
                <a:cs typeface="Arial"/>
              </a:rPr>
              <a:t> </a:t>
            </a:r>
            <a:r>
              <a:rPr sz="1634" spc="-7" dirty="0">
                <a:latin typeface="Arial"/>
                <a:cs typeface="Arial"/>
              </a:rPr>
              <a:t>CPU</a:t>
            </a:r>
            <a:endParaRPr sz="1634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6163" y="2312606"/>
            <a:ext cx="91632" cy="121378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715" spc="14" dirty="0">
                <a:latin typeface="OpenSymbol"/>
                <a:cs typeface="OpenSymbol"/>
              </a:rPr>
              <a:t>●</a:t>
            </a:r>
            <a:endParaRPr sz="715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6163" y="2897842"/>
            <a:ext cx="91632" cy="121378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715" spc="14" dirty="0">
                <a:latin typeface="OpenSymbol"/>
                <a:cs typeface="OpenSymbol"/>
              </a:rPr>
              <a:t>●</a:t>
            </a:r>
            <a:endParaRPr sz="715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56163" y="3483077"/>
            <a:ext cx="91632" cy="121378"/>
          </a:xfrm>
          <a:prstGeom prst="rect">
            <a:avLst/>
          </a:prstGeom>
        </p:spPr>
        <p:txBody>
          <a:bodyPr vert="horz" wrap="square" lIns="0" tIns="11238" rIns="0" bIns="0" rtlCol="0">
            <a:spAutoFit/>
          </a:bodyPr>
          <a:lstStyle/>
          <a:p>
            <a:pPr marL="8645">
              <a:spcBef>
                <a:spcPts val="88"/>
              </a:spcBef>
            </a:pPr>
            <a:r>
              <a:rPr sz="715" spc="14" dirty="0">
                <a:latin typeface="OpenSymbol"/>
                <a:cs typeface="OpenSymbol"/>
              </a:rPr>
              <a:t>●</a:t>
            </a:r>
            <a:endParaRPr sz="715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10514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610" y="297604"/>
            <a:ext cx="5410200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" dirty="0"/>
              <a:t>Graphics Processing</a:t>
            </a:r>
            <a:r>
              <a:rPr spc="-41" dirty="0"/>
              <a:t> </a:t>
            </a:r>
            <a:r>
              <a:rPr spc="-3" dirty="0"/>
              <a:t>Units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610" y="1242251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0400" y="1047750"/>
            <a:ext cx="5767636" cy="2763892"/>
          </a:xfrm>
          <a:prstGeom prst="rect">
            <a:avLst/>
          </a:prstGeom>
        </p:spPr>
        <p:txBody>
          <a:bodyPr vert="horz" wrap="square" lIns="0" tIns="109786" rIns="0" bIns="0" rtlCol="0">
            <a:spAutoFit/>
          </a:bodyPr>
          <a:lstStyle/>
          <a:p>
            <a:pPr marL="17290">
              <a:spcBef>
                <a:spcPts val="864"/>
              </a:spcBef>
            </a:pPr>
            <a:r>
              <a:rPr sz="2178" dirty="0">
                <a:latin typeface="Arial"/>
                <a:cs typeface="Arial"/>
              </a:rPr>
              <a:t>Do </a:t>
            </a:r>
            <a:r>
              <a:rPr sz="2178" spc="-3" dirty="0">
                <a:latin typeface="Arial"/>
                <a:cs typeface="Arial"/>
              </a:rPr>
              <a:t>graphics well.</a:t>
            </a:r>
            <a:endParaRPr sz="2178" dirty="0">
              <a:latin typeface="Arial"/>
              <a:cs typeface="Arial"/>
            </a:endParaRPr>
          </a:p>
          <a:p>
            <a:pPr marL="17290">
              <a:spcBef>
                <a:spcPts val="796"/>
              </a:spcBef>
            </a:pPr>
            <a:r>
              <a:rPr sz="2178" dirty="0">
                <a:latin typeface="Arial"/>
                <a:cs typeface="Arial"/>
              </a:rPr>
              <a:t>GPUs exploit Multithreading, </a:t>
            </a:r>
            <a:r>
              <a:rPr sz="2178" spc="-3" dirty="0">
                <a:latin typeface="Arial"/>
                <a:cs typeface="Arial"/>
              </a:rPr>
              <a:t>MIMD, SIMD,</a:t>
            </a:r>
            <a:r>
              <a:rPr sz="2178" spc="-71" dirty="0">
                <a:latin typeface="Arial"/>
                <a:cs typeface="Arial"/>
              </a:rPr>
              <a:t> </a:t>
            </a:r>
            <a:r>
              <a:rPr sz="2178" spc="-3" dirty="0">
                <a:latin typeface="Arial"/>
                <a:cs typeface="Arial"/>
              </a:rPr>
              <a:t>ILP</a:t>
            </a:r>
            <a:endParaRPr sz="2178" dirty="0">
              <a:latin typeface="Arial"/>
              <a:cs typeface="Arial"/>
            </a:endParaRPr>
          </a:p>
          <a:p>
            <a:pPr marL="312081" indent="-221309">
              <a:spcBef>
                <a:spcPts val="810"/>
              </a:spcBef>
              <a:buSzPct val="75000"/>
              <a:buFont typeface="OpenSymbol"/>
              <a:buChar char="–"/>
              <a:tabLst>
                <a:tab pos="312081" algn="l"/>
              </a:tabLst>
            </a:pPr>
            <a:r>
              <a:rPr sz="1906" spc="-7" dirty="0">
                <a:latin typeface="Arial"/>
                <a:cs typeface="Arial"/>
              </a:rPr>
              <a:t>SIMT</a:t>
            </a:r>
            <a:endParaRPr sz="1906" dirty="0">
              <a:latin typeface="Arial"/>
              <a:cs typeface="Arial"/>
            </a:endParaRPr>
          </a:p>
          <a:p>
            <a:pPr marL="17290" marR="113680">
              <a:lnSpc>
                <a:spcPts val="2444"/>
              </a:lnSpc>
              <a:spcBef>
                <a:spcPts val="813"/>
              </a:spcBef>
            </a:pPr>
            <a:r>
              <a:rPr sz="2178" spc="-3" dirty="0">
                <a:latin typeface="Arial"/>
                <a:cs typeface="Arial"/>
              </a:rPr>
              <a:t>Programming </a:t>
            </a:r>
            <a:r>
              <a:rPr sz="2178" dirty="0">
                <a:latin typeface="Arial"/>
                <a:cs typeface="Arial"/>
              </a:rPr>
              <a:t>environment </a:t>
            </a:r>
            <a:r>
              <a:rPr sz="2178" spc="-3" dirty="0">
                <a:latin typeface="Arial"/>
                <a:cs typeface="Arial"/>
              </a:rPr>
              <a:t>for </a:t>
            </a:r>
            <a:r>
              <a:rPr sz="2178" dirty="0">
                <a:latin typeface="Arial"/>
                <a:cs typeface="Arial"/>
              </a:rPr>
              <a:t>development </a:t>
            </a:r>
            <a:r>
              <a:rPr sz="2178" spc="-3" dirty="0">
                <a:latin typeface="Arial"/>
                <a:cs typeface="Arial"/>
              </a:rPr>
              <a:t>of  applications </a:t>
            </a:r>
            <a:r>
              <a:rPr sz="2178" dirty="0">
                <a:latin typeface="Arial"/>
                <a:cs typeface="Arial"/>
              </a:rPr>
              <a:t>on</a:t>
            </a:r>
            <a:r>
              <a:rPr sz="2178" spc="-3" dirty="0">
                <a:latin typeface="Arial"/>
                <a:cs typeface="Arial"/>
              </a:rPr>
              <a:t> </a:t>
            </a:r>
            <a:r>
              <a:rPr sz="2178" dirty="0">
                <a:latin typeface="Arial"/>
                <a:cs typeface="Arial"/>
              </a:rPr>
              <a:t>GPUs</a:t>
            </a:r>
          </a:p>
          <a:p>
            <a:pPr marL="312081" indent="-221309">
              <a:spcBef>
                <a:spcPts val="759"/>
              </a:spcBef>
              <a:buSzPct val="75000"/>
              <a:buFont typeface="OpenSymbol"/>
              <a:buChar char="–"/>
              <a:tabLst>
                <a:tab pos="312081" algn="l"/>
              </a:tabLst>
            </a:pPr>
            <a:r>
              <a:rPr sz="1906" spc="-7" dirty="0">
                <a:latin typeface="Arial"/>
                <a:cs typeface="Arial"/>
              </a:rPr>
              <a:t>NVIDIA's </a:t>
            </a:r>
            <a:r>
              <a:rPr sz="1906" spc="-3" dirty="0">
                <a:latin typeface="Arial"/>
                <a:cs typeface="Arial"/>
              </a:rPr>
              <a:t>“Compute Unified Device</a:t>
            </a:r>
            <a:r>
              <a:rPr sz="1906" spc="-92" dirty="0">
                <a:latin typeface="Arial"/>
                <a:cs typeface="Arial"/>
              </a:rPr>
              <a:t> </a:t>
            </a:r>
            <a:r>
              <a:rPr sz="1906" spc="-3" dirty="0">
                <a:latin typeface="Arial"/>
                <a:cs typeface="Arial"/>
              </a:rPr>
              <a:t>Architecture”</a:t>
            </a:r>
            <a:endParaRPr sz="1906" dirty="0">
              <a:latin typeface="Arial"/>
              <a:cs typeface="Arial"/>
            </a:endParaRPr>
          </a:p>
          <a:p>
            <a:pPr marL="312081" indent="-221309">
              <a:spcBef>
                <a:spcPts val="613"/>
              </a:spcBef>
              <a:buSzPct val="75000"/>
              <a:buFont typeface="OpenSymbol"/>
              <a:buChar char="–"/>
              <a:tabLst>
                <a:tab pos="312081" algn="l"/>
              </a:tabLst>
            </a:pPr>
            <a:r>
              <a:rPr sz="1906" spc="-7" dirty="0">
                <a:latin typeface="Arial"/>
                <a:cs typeface="Arial"/>
              </a:rPr>
              <a:t>OpenCL</a:t>
            </a:r>
            <a:endParaRPr sz="1906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8610" y="1675343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8610" y="2475827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98426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281991"/>
            <a:ext cx="4419600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" dirty="0"/>
              <a:t>Introduction to</a:t>
            </a:r>
            <a:r>
              <a:rPr spc="-51" dirty="0"/>
              <a:t> </a:t>
            </a:r>
            <a:r>
              <a:rPr spc="-7" dirty="0"/>
              <a:t>CUDA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48410" y="1167199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68845" y="972697"/>
            <a:ext cx="5583507" cy="1189808"/>
          </a:xfrm>
          <a:prstGeom prst="rect">
            <a:avLst/>
          </a:prstGeom>
        </p:spPr>
        <p:txBody>
          <a:bodyPr vert="horz" wrap="square" lIns="0" tIns="109786" rIns="0" bIns="0" rtlCol="0">
            <a:spAutoFit/>
          </a:bodyPr>
          <a:lstStyle/>
          <a:p>
            <a:pPr marL="8645">
              <a:spcBef>
                <a:spcPts val="864"/>
              </a:spcBef>
            </a:pPr>
            <a:r>
              <a:rPr sz="2178" i="1" dirty="0">
                <a:latin typeface="Arial"/>
                <a:cs typeface="Arial"/>
              </a:rPr>
              <a:t>_device_ </a:t>
            </a:r>
            <a:r>
              <a:rPr sz="2178" dirty="0">
                <a:latin typeface="Arial"/>
                <a:cs typeface="Arial"/>
              </a:rPr>
              <a:t>and</a:t>
            </a:r>
            <a:r>
              <a:rPr sz="2178" spc="27" dirty="0">
                <a:latin typeface="Arial"/>
                <a:cs typeface="Arial"/>
              </a:rPr>
              <a:t> </a:t>
            </a:r>
            <a:r>
              <a:rPr sz="2178" i="1" dirty="0">
                <a:latin typeface="Arial"/>
                <a:cs typeface="Arial"/>
              </a:rPr>
              <a:t>_host_</a:t>
            </a:r>
            <a:endParaRPr sz="2178" dirty="0">
              <a:latin typeface="Arial"/>
              <a:cs typeface="Arial"/>
            </a:endParaRPr>
          </a:p>
          <a:p>
            <a:pPr marL="8645" marR="3458">
              <a:lnSpc>
                <a:spcPts val="2444"/>
              </a:lnSpc>
              <a:spcBef>
                <a:spcPts val="1018"/>
              </a:spcBef>
            </a:pPr>
            <a:r>
              <a:rPr sz="2178" i="1" spc="-3" dirty="0">
                <a:latin typeface="Arial"/>
                <a:cs typeface="Arial"/>
              </a:rPr>
              <a:t>name&lt;&lt;&lt;dimGrid, dimBlock&gt;&gt;&gt;(... parameter  list</a:t>
            </a:r>
            <a:r>
              <a:rPr sz="2178" i="1" spc="-14" dirty="0">
                <a:latin typeface="Arial"/>
                <a:cs typeface="Arial"/>
              </a:rPr>
              <a:t> </a:t>
            </a:r>
            <a:r>
              <a:rPr sz="2178" i="1" spc="-3" dirty="0">
                <a:latin typeface="Arial"/>
                <a:cs typeface="Arial"/>
              </a:rPr>
              <a:t>...)</a:t>
            </a:r>
            <a:endParaRPr sz="2178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8410" y="1600291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>
              <a:latin typeface="OpenSymbol"/>
              <a:cs typeface="OpenSymbo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08389" y="2571750"/>
            <a:ext cx="4673611" cy="19765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271707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0" y="133350"/>
            <a:ext cx="5410200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" dirty="0"/>
              <a:t>Introduction to</a:t>
            </a:r>
            <a:r>
              <a:rPr spc="-51" dirty="0"/>
              <a:t> </a:t>
            </a:r>
            <a:r>
              <a:rPr spc="-7" dirty="0"/>
              <a:t>CUDA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52108" y="971550"/>
            <a:ext cx="6591892" cy="3517030"/>
            <a:chOff x="197929" y="1619250"/>
            <a:chExt cx="9684385" cy="5166995"/>
          </a:xfrm>
        </p:grpSpPr>
        <p:sp>
          <p:nvSpPr>
            <p:cNvPr id="4" name="object 4"/>
            <p:cNvSpPr/>
            <p:nvPr/>
          </p:nvSpPr>
          <p:spPr>
            <a:xfrm>
              <a:off x="468630" y="1619250"/>
              <a:ext cx="8982945" cy="5122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" name="object 5"/>
            <p:cNvSpPr/>
            <p:nvPr/>
          </p:nvSpPr>
          <p:spPr>
            <a:xfrm>
              <a:off x="215900" y="3959860"/>
              <a:ext cx="9648190" cy="2807970"/>
            </a:xfrm>
            <a:custGeom>
              <a:avLst/>
              <a:gdLst/>
              <a:ahLst/>
              <a:cxnLst/>
              <a:rect l="l" t="t" r="r" b="b"/>
              <a:pathLst>
                <a:path w="9648190" h="2807970">
                  <a:moveTo>
                    <a:pt x="4824730" y="2807970"/>
                  </a:moveTo>
                  <a:lnTo>
                    <a:pt x="0" y="2807970"/>
                  </a:lnTo>
                  <a:lnTo>
                    <a:pt x="0" y="0"/>
                  </a:lnTo>
                  <a:lnTo>
                    <a:pt x="9648190" y="0"/>
                  </a:lnTo>
                  <a:lnTo>
                    <a:pt x="9648190" y="2807970"/>
                  </a:lnTo>
                  <a:lnTo>
                    <a:pt x="4824730" y="2807970"/>
                  </a:lnTo>
                  <a:close/>
                </a:path>
              </a:pathLst>
            </a:custGeom>
            <a:ln w="35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955073" y="4476045"/>
            <a:ext cx="833333" cy="275047"/>
          </a:xfrm>
          <a:prstGeom prst="rect">
            <a:avLst/>
          </a:prstGeom>
          <a:ln w="35940">
            <a:solidFill>
              <a:srgbClr val="000000"/>
            </a:solidFill>
          </a:ln>
        </p:spPr>
        <p:txBody>
          <a:bodyPr vert="horz" wrap="square" lIns="0" tIns="23340" rIns="0" bIns="0" rtlCol="0">
            <a:spAutoFit/>
          </a:bodyPr>
          <a:lstStyle/>
          <a:p>
            <a:pPr marL="156904">
              <a:spcBef>
                <a:spcPts val="184"/>
              </a:spcBef>
            </a:pPr>
            <a:r>
              <a:rPr sz="1634" b="1" spc="-3" dirty="0">
                <a:latin typeface="Arial"/>
                <a:cs typeface="Arial"/>
              </a:rPr>
              <a:t>GRID</a:t>
            </a:r>
            <a:endParaRPr sz="1634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834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195884"/>
            <a:ext cx="6695675" cy="501172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z="3200" spc="-3" dirty="0"/>
              <a:t>NVIDIA GPU Computational</a:t>
            </a:r>
            <a:r>
              <a:rPr sz="3200" spc="-184" dirty="0"/>
              <a:t> </a:t>
            </a:r>
            <a:r>
              <a:rPr sz="3200" spc="-3" dirty="0"/>
              <a:t>Structures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2909" y="1216415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solidFill>
                  <a:schemeClr val="bg1"/>
                </a:solidFill>
                <a:latin typeface="OpenSymbol"/>
                <a:cs typeface="OpenSymbol"/>
              </a:rPr>
              <a:t>●</a:t>
            </a:r>
            <a:endParaRPr sz="987">
              <a:solidFill>
                <a:schemeClr val="bg1"/>
              </a:solidFill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92909" y="590550"/>
            <a:ext cx="4219399" cy="882889"/>
          </a:xfrm>
          <a:prstGeom prst="rect">
            <a:avLst/>
          </a:prstGeom>
        </p:spPr>
        <p:txBody>
          <a:bodyPr vert="horz" wrap="square" lIns="0" tIns="108921" rIns="0" bIns="0" rtlCol="0">
            <a:spAutoFit/>
          </a:bodyPr>
          <a:lstStyle/>
          <a:p>
            <a:pPr marL="229090" indent="-220445">
              <a:spcBef>
                <a:spcPts val="858"/>
              </a:spcBef>
              <a:buSzPct val="45312"/>
              <a:buFont typeface="OpenSymbol"/>
              <a:buChar char="●"/>
              <a:tabLst>
                <a:tab pos="228657" algn="l"/>
                <a:tab pos="229090" algn="l"/>
              </a:tabLst>
            </a:pPr>
            <a:r>
              <a:rPr sz="2178" dirty="0">
                <a:latin typeface="Arial"/>
                <a:cs typeface="Arial"/>
              </a:rPr>
              <a:t>Grid, Thread</a:t>
            </a:r>
            <a:r>
              <a:rPr sz="2178" spc="-58" dirty="0">
                <a:latin typeface="Arial"/>
                <a:cs typeface="Arial"/>
              </a:rPr>
              <a:t> </a:t>
            </a:r>
            <a:r>
              <a:rPr sz="2178" dirty="0">
                <a:latin typeface="Arial"/>
                <a:cs typeface="Arial"/>
              </a:rPr>
              <a:t>blocks</a:t>
            </a:r>
          </a:p>
          <a:p>
            <a:pPr marL="229090">
              <a:spcBef>
                <a:spcPts val="790"/>
              </a:spcBef>
            </a:pPr>
            <a:r>
              <a:rPr sz="2178" spc="-3" dirty="0">
                <a:latin typeface="Arial"/>
                <a:cs typeface="Arial"/>
              </a:rPr>
              <a:t>Entire Grid </a:t>
            </a:r>
            <a:r>
              <a:rPr sz="2178" dirty="0">
                <a:latin typeface="Arial"/>
                <a:cs typeface="Arial"/>
              </a:rPr>
              <a:t>sent over </a:t>
            </a:r>
            <a:r>
              <a:rPr sz="2178" spc="-3" dirty="0">
                <a:latin typeface="Arial"/>
                <a:cs typeface="Arial"/>
              </a:rPr>
              <a:t>to the</a:t>
            </a:r>
            <a:r>
              <a:rPr sz="2178" spc="-37" dirty="0">
                <a:latin typeface="Arial"/>
                <a:cs typeface="Arial"/>
              </a:rPr>
              <a:t> </a:t>
            </a:r>
            <a:r>
              <a:rPr sz="2178" spc="-3" dirty="0">
                <a:latin typeface="Arial"/>
                <a:cs typeface="Arial"/>
              </a:rPr>
              <a:t>GPU</a:t>
            </a:r>
            <a:endParaRPr sz="2178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62861" y="1530211"/>
            <a:ext cx="3295730" cy="572701"/>
            <a:chOff x="5184140" y="2376170"/>
            <a:chExt cx="4841875" cy="841375"/>
          </a:xfrm>
        </p:grpSpPr>
        <p:sp>
          <p:nvSpPr>
            <p:cNvPr id="6" name="object 6"/>
            <p:cNvSpPr/>
            <p:nvPr/>
          </p:nvSpPr>
          <p:spPr>
            <a:xfrm>
              <a:off x="5256530" y="2448559"/>
              <a:ext cx="4751070" cy="750570"/>
            </a:xfrm>
            <a:custGeom>
              <a:avLst/>
              <a:gdLst/>
              <a:ahLst/>
              <a:cxnLst/>
              <a:rect l="l" t="t" r="r" b="b"/>
              <a:pathLst>
                <a:path w="4751070" h="750569">
                  <a:moveTo>
                    <a:pt x="4751070" y="0"/>
                  </a:moveTo>
                  <a:lnTo>
                    <a:pt x="0" y="0"/>
                  </a:lnTo>
                  <a:lnTo>
                    <a:pt x="0" y="678180"/>
                  </a:lnTo>
                  <a:lnTo>
                    <a:pt x="0" y="750570"/>
                  </a:lnTo>
                  <a:lnTo>
                    <a:pt x="4751070" y="750570"/>
                  </a:lnTo>
                  <a:lnTo>
                    <a:pt x="4751070" y="678180"/>
                  </a:lnTo>
                  <a:lnTo>
                    <a:pt x="475107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256530" y="2448560"/>
              <a:ext cx="4751070" cy="750570"/>
            </a:xfrm>
            <a:custGeom>
              <a:avLst/>
              <a:gdLst/>
              <a:ahLst/>
              <a:cxnLst/>
              <a:rect l="l" t="t" r="r" b="b"/>
              <a:pathLst>
                <a:path w="4751070" h="750569">
                  <a:moveTo>
                    <a:pt x="2374900" y="750569"/>
                  </a:moveTo>
                  <a:lnTo>
                    <a:pt x="0" y="750569"/>
                  </a:lnTo>
                  <a:lnTo>
                    <a:pt x="0" y="0"/>
                  </a:lnTo>
                  <a:lnTo>
                    <a:pt x="4751070" y="0"/>
                  </a:lnTo>
                  <a:lnTo>
                    <a:pt x="4751070" y="750569"/>
                  </a:lnTo>
                  <a:lnTo>
                    <a:pt x="2374900" y="750569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184140" y="2376170"/>
              <a:ext cx="4752340" cy="750570"/>
            </a:xfrm>
            <a:custGeom>
              <a:avLst/>
              <a:gdLst/>
              <a:ahLst/>
              <a:cxnLst/>
              <a:rect l="l" t="t" r="r" b="b"/>
              <a:pathLst>
                <a:path w="4752340" h="750569">
                  <a:moveTo>
                    <a:pt x="4752340" y="0"/>
                  </a:moveTo>
                  <a:lnTo>
                    <a:pt x="0" y="0"/>
                  </a:lnTo>
                  <a:lnTo>
                    <a:pt x="0" y="750569"/>
                  </a:lnTo>
                  <a:lnTo>
                    <a:pt x="4752340" y="7505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862861" y="1530211"/>
            <a:ext cx="3234786" cy="481408"/>
          </a:xfrm>
          <a:prstGeom prst="rect">
            <a:avLst/>
          </a:prstGeom>
          <a:ln w="35940">
            <a:solidFill>
              <a:srgbClr val="000000"/>
            </a:solidFill>
          </a:ln>
        </p:spPr>
        <p:txBody>
          <a:bodyPr vert="horz" wrap="square" lIns="0" tIns="44952" rIns="0" bIns="0" rtlCol="0">
            <a:spAutoFit/>
          </a:bodyPr>
          <a:lstStyle/>
          <a:p>
            <a:pPr marL="321158" marR="318131" indent="-31122">
              <a:lnSpc>
                <a:spcPts val="1675"/>
              </a:lnSpc>
              <a:spcBef>
                <a:spcPts val="354"/>
              </a:spcBef>
            </a:pP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Elementwise multiplication of </a:t>
            </a:r>
            <a:r>
              <a:rPr sz="1498" dirty="0">
                <a:solidFill>
                  <a:schemeClr val="bg1"/>
                </a:solidFill>
                <a:latin typeface="Arial"/>
                <a:cs typeface="Arial"/>
              </a:rPr>
              <a:t>2  </a:t>
            </a: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vectors </a:t>
            </a:r>
            <a:r>
              <a:rPr sz="1498" dirty="0">
                <a:solidFill>
                  <a:schemeClr val="bg1"/>
                </a:solidFill>
                <a:latin typeface="Arial"/>
                <a:cs typeface="Arial"/>
              </a:rPr>
              <a:t>of </a:t>
            </a: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8192 elements</a:t>
            </a:r>
            <a:r>
              <a:rPr sz="1498" spc="-3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each</a:t>
            </a:r>
            <a:endParaRPr sz="1498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26623" y="2264997"/>
            <a:ext cx="3295730" cy="360045"/>
            <a:chOff x="576580" y="3455670"/>
            <a:chExt cx="4841875" cy="528955"/>
          </a:xfrm>
        </p:grpSpPr>
        <p:sp>
          <p:nvSpPr>
            <p:cNvPr id="11" name="object 11"/>
            <p:cNvSpPr/>
            <p:nvPr/>
          </p:nvSpPr>
          <p:spPr>
            <a:xfrm>
              <a:off x="647700" y="3528059"/>
              <a:ext cx="4752340" cy="438150"/>
            </a:xfrm>
            <a:custGeom>
              <a:avLst/>
              <a:gdLst/>
              <a:ahLst/>
              <a:cxnLst/>
              <a:rect l="l" t="t" r="r" b="b"/>
              <a:pathLst>
                <a:path w="4752340" h="438150">
                  <a:moveTo>
                    <a:pt x="4752340" y="0"/>
                  </a:moveTo>
                  <a:lnTo>
                    <a:pt x="0" y="0"/>
                  </a:lnTo>
                  <a:lnTo>
                    <a:pt x="0" y="367030"/>
                  </a:lnTo>
                  <a:lnTo>
                    <a:pt x="0" y="438150"/>
                  </a:lnTo>
                  <a:lnTo>
                    <a:pt x="4752340" y="438150"/>
                  </a:lnTo>
                  <a:lnTo>
                    <a:pt x="4752340" y="367030"/>
                  </a:lnTo>
                  <a:lnTo>
                    <a:pt x="475234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47700" y="3528060"/>
              <a:ext cx="4752340" cy="438150"/>
            </a:xfrm>
            <a:custGeom>
              <a:avLst/>
              <a:gdLst/>
              <a:ahLst/>
              <a:cxnLst/>
              <a:rect l="l" t="t" r="r" b="b"/>
              <a:pathLst>
                <a:path w="4752340" h="438150">
                  <a:moveTo>
                    <a:pt x="2376170" y="438150"/>
                  </a:moveTo>
                  <a:lnTo>
                    <a:pt x="0" y="438150"/>
                  </a:lnTo>
                  <a:lnTo>
                    <a:pt x="0" y="0"/>
                  </a:lnTo>
                  <a:lnTo>
                    <a:pt x="4752340" y="0"/>
                  </a:lnTo>
                  <a:lnTo>
                    <a:pt x="4752340" y="438150"/>
                  </a:lnTo>
                  <a:lnTo>
                    <a:pt x="2376170" y="438150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76580" y="3455670"/>
              <a:ext cx="4751070" cy="439420"/>
            </a:xfrm>
            <a:custGeom>
              <a:avLst/>
              <a:gdLst/>
              <a:ahLst/>
              <a:cxnLst/>
              <a:rect l="l" t="t" r="r" b="b"/>
              <a:pathLst>
                <a:path w="4751070" h="439420">
                  <a:moveTo>
                    <a:pt x="4751070" y="0"/>
                  </a:moveTo>
                  <a:lnTo>
                    <a:pt x="0" y="0"/>
                  </a:lnTo>
                  <a:lnTo>
                    <a:pt x="0" y="439419"/>
                  </a:lnTo>
                  <a:lnTo>
                    <a:pt x="4751070" y="4394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26622" y="2264997"/>
            <a:ext cx="3233922" cy="255826"/>
          </a:xfrm>
          <a:prstGeom prst="rect">
            <a:avLst/>
          </a:prstGeom>
          <a:ln w="35941">
            <a:solidFill>
              <a:srgbClr val="000000"/>
            </a:solidFill>
          </a:ln>
        </p:spPr>
        <p:txBody>
          <a:bodyPr vert="horz" wrap="square" lIns="0" tIns="25069" rIns="0" bIns="0" rtlCol="0">
            <a:spAutoFit/>
          </a:bodyPr>
          <a:lstStyle/>
          <a:p>
            <a:pPr marL="364382">
              <a:spcBef>
                <a:spcPts val="197"/>
              </a:spcBef>
            </a:pP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512 threads per Thread</a:t>
            </a:r>
            <a:r>
              <a:rPr sz="1498" spc="-31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Block</a:t>
            </a:r>
            <a:endParaRPr sz="1498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07502" y="2264997"/>
            <a:ext cx="2855723" cy="360045"/>
            <a:chOff x="5543550" y="3455670"/>
            <a:chExt cx="4195445" cy="528955"/>
          </a:xfrm>
        </p:grpSpPr>
        <p:sp>
          <p:nvSpPr>
            <p:cNvPr id="16" name="object 16"/>
            <p:cNvSpPr/>
            <p:nvPr/>
          </p:nvSpPr>
          <p:spPr>
            <a:xfrm>
              <a:off x="5615940" y="3528059"/>
              <a:ext cx="4104640" cy="438150"/>
            </a:xfrm>
            <a:custGeom>
              <a:avLst/>
              <a:gdLst/>
              <a:ahLst/>
              <a:cxnLst/>
              <a:rect l="l" t="t" r="r" b="b"/>
              <a:pathLst>
                <a:path w="4104640" h="438150">
                  <a:moveTo>
                    <a:pt x="4104640" y="0"/>
                  </a:moveTo>
                  <a:lnTo>
                    <a:pt x="0" y="0"/>
                  </a:lnTo>
                  <a:lnTo>
                    <a:pt x="0" y="367030"/>
                  </a:lnTo>
                  <a:lnTo>
                    <a:pt x="0" y="438150"/>
                  </a:lnTo>
                  <a:lnTo>
                    <a:pt x="4104640" y="438150"/>
                  </a:lnTo>
                  <a:lnTo>
                    <a:pt x="4104640" y="367030"/>
                  </a:lnTo>
                  <a:lnTo>
                    <a:pt x="410464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615939" y="3528060"/>
              <a:ext cx="4104640" cy="438150"/>
            </a:xfrm>
            <a:custGeom>
              <a:avLst/>
              <a:gdLst/>
              <a:ahLst/>
              <a:cxnLst/>
              <a:rect l="l" t="t" r="r" b="b"/>
              <a:pathLst>
                <a:path w="4104640" h="438150">
                  <a:moveTo>
                    <a:pt x="2052319" y="438150"/>
                  </a:moveTo>
                  <a:lnTo>
                    <a:pt x="0" y="438150"/>
                  </a:lnTo>
                  <a:lnTo>
                    <a:pt x="0" y="0"/>
                  </a:lnTo>
                  <a:lnTo>
                    <a:pt x="4104640" y="0"/>
                  </a:lnTo>
                  <a:lnTo>
                    <a:pt x="4104640" y="438150"/>
                  </a:lnTo>
                  <a:lnTo>
                    <a:pt x="2052319" y="438150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543550" y="3455670"/>
              <a:ext cx="4104640" cy="439420"/>
            </a:xfrm>
            <a:custGeom>
              <a:avLst/>
              <a:gdLst/>
              <a:ahLst/>
              <a:cxnLst/>
              <a:rect l="l" t="t" r="r" b="b"/>
              <a:pathLst>
                <a:path w="4104640" h="439420">
                  <a:moveTo>
                    <a:pt x="4104640" y="0"/>
                  </a:moveTo>
                  <a:lnTo>
                    <a:pt x="0" y="0"/>
                  </a:lnTo>
                  <a:lnTo>
                    <a:pt x="0" y="439419"/>
                  </a:lnTo>
                  <a:lnTo>
                    <a:pt x="4104640" y="4394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107501" y="2264997"/>
            <a:ext cx="2793915" cy="255826"/>
          </a:xfrm>
          <a:prstGeom prst="rect">
            <a:avLst/>
          </a:prstGeom>
          <a:ln w="35940">
            <a:solidFill>
              <a:srgbClr val="000000"/>
            </a:solidFill>
          </a:ln>
        </p:spPr>
        <p:txBody>
          <a:bodyPr vert="horz" wrap="square" lIns="0" tIns="25069" rIns="0" bIns="0" rtlCol="0">
            <a:spAutoFit/>
          </a:bodyPr>
          <a:lstStyle/>
          <a:p>
            <a:pPr marL="110655">
              <a:spcBef>
                <a:spcPts val="197"/>
              </a:spcBef>
            </a:pP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8192 </a:t>
            </a:r>
            <a:r>
              <a:rPr sz="1498" dirty="0">
                <a:solidFill>
                  <a:schemeClr val="bg1"/>
                </a:solidFill>
                <a:latin typeface="Arial"/>
                <a:cs typeface="Arial"/>
              </a:rPr>
              <a:t>∕ </a:t>
            </a: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512 </a:t>
            </a:r>
            <a:r>
              <a:rPr sz="1498" dirty="0">
                <a:solidFill>
                  <a:schemeClr val="bg1"/>
                </a:solidFill>
                <a:latin typeface="Arial"/>
                <a:cs typeface="Arial"/>
              </a:rPr>
              <a:t>= </a:t>
            </a: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16 Thread</a:t>
            </a:r>
            <a:r>
              <a:rPr sz="1498" spc="-41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Blocks</a:t>
            </a:r>
            <a:endParaRPr sz="1498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35466" y="2792097"/>
            <a:ext cx="2866961" cy="2180585"/>
            <a:chOff x="2646362" y="4230052"/>
            <a:chExt cx="4211955" cy="3203575"/>
          </a:xfrm>
        </p:grpSpPr>
        <p:sp>
          <p:nvSpPr>
            <p:cNvPr id="21" name="object 21"/>
            <p:cNvSpPr/>
            <p:nvPr/>
          </p:nvSpPr>
          <p:spPr>
            <a:xfrm>
              <a:off x="2735580" y="4320540"/>
              <a:ext cx="4104640" cy="3094990"/>
            </a:xfrm>
            <a:custGeom>
              <a:avLst/>
              <a:gdLst/>
              <a:ahLst/>
              <a:cxnLst/>
              <a:rect l="l" t="t" r="r" b="b"/>
              <a:pathLst>
                <a:path w="4104640" h="3094990">
                  <a:moveTo>
                    <a:pt x="4104640" y="0"/>
                  </a:moveTo>
                  <a:lnTo>
                    <a:pt x="0" y="0"/>
                  </a:lnTo>
                  <a:lnTo>
                    <a:pt x="0" y="3023870"/>
                  </a:lnTo>
                  <a:lnTo>
                    <a:pt x="0" y="3094990"/>
                  </a:lnTo>
                  <a:lnTo>
                    <a:pt x="4104640" y="3094990"/>
                  </a:lnTo>
                  <a:lnTo>
                    <a:pt x="4104640" y="3023870"/>
                  </a:lnTo>
                  <a:lnTo>
                    <a:pt x="410464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735580" y="4320540"/>
              <a:ext cx="4104640" cy="3094990"/>
            </a:xfrm>
            <a:custGeom>
              <a:avLst/>
              <a:gdLst/>
              <a:ahLst/>
              <a:cxnLst/>
              <a:rect l="l" t="t" r="r" b="b"/>
              <a:pathLst>
                <a:path w="4104640" h="3094990">
                  <a:moveTo>
                    <a:pt x="2052320" y="3094990"/>
                  </a:moveTo>
                  <a:lnTo>
                    <a:pt x="0" y="3094990"/>
                  </a:lnTo>
                  <a:lnTo>
                    <a:pt x="0" y="0"/>
                  </a:lnTo>
                  <a:lnTo>
                    <a:pt x="4104640" y="0"/>
                  </a:lnTo>
                  <a:lnTo>
                    <a:pt x="4104640" y="3094990"/>
                  </a:lnTo>
                  <a:lnTo>
                    <a:pt x="2052320" y="3094990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664459" y="4248150"/>
              <a:ext cx="4103370" cy="3096260"/>
            </a:xfrm>
            <a:custGeom>
              <a:avLst/>
              <a:gdLst/>
              <a:ahLst/>
              <a:cxnLst/>
              <a:rect l="l" t="t" r="r" b="b"/>
              <a:pathLst>
                <a:path w="4103370" h="3096259">
                  <a:moveTo>
                    <a:pt x="4103369" y="0"/>
                  </a:moveTo>
                  <a:lnTo>
                    <a:pt x="0" y="0"/>
                  </a:lnTo>
                  <a:lnTo>
                    <a:pt x="0" y="3096260"/>
                  </a:lnTo>
                  <a:lnTo>
                    <a:pt x="4103369" y="309626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664459" y="4248150"/>
              <a:ext cx="4103370" cy="3096260"/>
            </a:xfrm>
            <a:custGeom>
              <a:avLst/>
              <a:gdLst/>
              <a:ahLst/>
              <a:cxnLst/>
              <a:rect l="l" t="t" r="r" b="b"/>
              <a:pathLst>
                <a:path w="4103370" h="3096259">
                  <a:moveTo>
                    <a:pt x="2051050" y="3096260"/>
                  </a:moveTo>
                  <a:lnTo>
                    <a:pt x="0" y="3096260"/>
                  </a:lnTo>
                  <a:lnTo>
                    <a:pt x="0" y="0"/>
                  </a:lnTo>
                  <a:lnTo>
                    <a:pt x="4103369" y="0"/>
                  </a:lnTo>
                  <a:lnTo>
                    <a:pt x="4103369" y="3096260"/>
                  </a:lnTo>
                  <a:lnTo>
                    <a:pt x="2051050" y="3096260"/>
                  </a:lnTo>
                  <a:close/>
                </a:path>
              </a:pathLst>
            </a:custGeom>
            <a:ln w="35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221264" y="3713821"/>
            <a:ext cx="400674" cy="260209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634" dirty="0">
                <a:solidFill>
                  <a:schemeClr val="bg1"/>
                </a:solidFill>
                <a:latin typeface="Arial"/>
                <a:cs typeface="Arial"/>
              </a:rPr>
              <a:t>Gr</a:t>
            </a:r>
            <a:r>
              <a:rPr sz="1634" spc="-3" dirty="0">
                <a:solidFill>
                  <a:schemeClr val="bg1"/>
                </a:solidFill>
                <a:latin typeface="Arial"/>
                <a:cs typeface="Arial"/>
              </a:rPr>
              <a:t>i</a:t>
            </a:r>
            <a:r>
              <a:rPr sz="1634" dirty="0">
                <a:solidFill>
                  <a:schemeClr val="bg1"/>
                </a:solidFill>
                <a:latin typeface="Arial"/>
                <a:cs typeface="Arial"/>
              </a:rPr>
              <a:t>d</a:t>
            </a:r>
            <a:endParaRPr sz="1634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70252" y="2939054"/>
            <a:ext cx="1960149" cy="392030"/>
            <a:chOff x="3725862" y="4445952"/>
            <a:chExt cx="2879725" cy="575945"/>
          </a:xfrm>
        </p:grpSpPr>
        <p:sp>
          <p:nvSpPr>
            <p:cNvPr id="27" name="object 27"/>
            <p:cNvSpPr/>
            <p:nvPr/>
          </p:nvSpPr>
          <p:spPr>
            <a:xfrm>
              <a:off x="3743960" y="4464050"/>
              <a:ext cx="2843530" cy="539750"/>
            </a:xfrm>
            <a:custGeom>
              <a:avLst/>
              <a:gdLst/>
              <a:ahLst/>
              <a:cxnLst/>
              <a:rect l="l" t="t" r="r" b="b"/>
              <a:pathLst>
                <a:path w="2843529" h="539750">
                  <a:moveTo>
                    <a:pt x="2843530" y="0"/>
                  </a:moveTo>
                  <a:lnTo>
                    <a:pt x="0" y="0"/>
                  </a:lnTo>
                  <a:lnTo>
                    <a:pt x="0" y="467360"/>
                  </a:lnTo>
                  <a:lnTo>
                    <a:pt x="0" y="539750"/>
                  </a:lnTo>
                  <a:lnTo>
                    <a:pt x="2843530" y="539750"/>
                  </a:lnTo>
                  <a:lnTo>
                    <a:pt x="2843530" y="467360"/>
                  </a:lnTo>
                  <a:lnTo>
                    <a:pt x="284353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743959" y="4464050"/>
              <a:ext cx="2843530" cy="539750"/>
            </a:xfrm>
            <a:custGeom>
              <a:avLst/>
              <a:gdLst/>
              <a:ahLst/>
              <a:cxnLst/>
              <a:rect l="l" t="t" r="r" b="b"/>
              <a:pathLst>
                <a:path w="2843529" h="539750">
                  <a:moveTo>
                    <a:pt x="1422400" y="539750"/>
                  </a:moveTo>
                  <a:lnTo>
                    <a:pt x="0" y="539750"/>
                  </a:lnTo>
                  <a:lnTo>
                    <a:pt x="0" y="0"/>
                  </a:lnTo>
                  <a:lnTo>
                    <a:pt x="2843530" y="0"/>
                  </a:lnTo>
                  <a:lnTo>
                    <a:pt x="2843530" y="539750"/>
                  </a:lnTo>
                  <a:lnTo>
                    <a:pt x="1422400" y="539750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833297" y="2902099"/>
            <a:ext cx="1936376" cy="290742"/>
          </a:xfrm>
          <a:prstGeom prst="rect">
            <a:avLst/>
          </a:prstGeom>
          <a:solidFill>
            <a:srgbClr val="FFFFFF"/>
          </a:solidFill>
          <a:ln w="35940">
            <a:solidFill>
              <a:srgbClr val="000000"/>
            </a:solidFill>
          </a:ln>
        </p:spPr>
        <p:txBody>
          <a:bodyPr vert="horz" wrap="square" lIns="0" tIns="59647" rIns="0" bIns="0" rtlCol="0">
            <a:spAutoFit/>
          </a:bodyPr>
          <a:lstStyle/>
          <a:p>
            <a:pPr marL="328506">
              <a:spcBef>
                <a:spcPts val="470"/>
              </a:spcBef>
            </a:pP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Thread Block</a:t>
            </a:r>
            <a:r>
              <a:rPr sz="1498" spc="-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98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endParaRPr sz="1498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870252" y="3392893"/>
            <a:ext cx="1973116" cy="404132"/>
            <a:chOff x="3725862" y="5112702"/>
            <a:chExt cx="2898775" cy="593725"/>
          </a:xfrm>
        </p:grpSpPr>
        <p:sp>
          <p:nvSpPr>
            <p:cNvPr id="31" name="object 31"/>
            <p:cNvSpPr/>
            <p:nvPr/>
          </p:nvSpPr>
          <p:spPr>
            <a:xfrm>
              <a:off x="3743960" y="5130800"/>
              <a:ext cx="2862580" cy="557530"/>
            </a:xfrm>
            <a:custGeom>
              <a:avLst/>
              <a:gdLst/>
              <a:ahLst/>
              <a:cxnLst/>
              <a:rect l="l" t="t" r="r" b="b"/>
              <a:pathLst>
                <a:path w="2862579" h="557529">
                  <a:moveTo>
                    <a:pt x="2862580" y="0"/>
                  </a:moveTo>
                  <a:lnTo>
                    <a:pt x="0" y="0"/>
                  </a:lnTo>
                  <a:lnTo>
                    <a:pt x="0" y="485140"/>
                  </a:lnTo>
                  <a:lnTo>
                    <a:pt x="0" y="557530"/>
                  </a:lnTo>
                  <a:lnTo>
                    <a:pt x="2862580" y="557530"/>
                  </a:lnTo>
                  <a:lnTo>
                    <a:pt x="2862580" y="485140"/>
                  </a:lnTo>
                  <a:lnTo>
                    <a:pt x="28625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3743959" y="5130800"/>
              <a:ext cx="2862580" cy="557530"/>
            </a:xfrm>
            <a:custGeom>
              <a:avLst/>
              <a:gdLst/>
              <a:ahLst/>
              <a:cxnLst/>
              <a:rect l="l" t="t" r="r" b="b"/>
              <a:pathLst>
                <a:path w="2862579" h="557529">
                  <a:moveTo>
                    <a:pt x="1431289" y="557530"/>
                  </a:moveTo>
                  <a:lnTo>
                    <a:pt x="0" y="557530"/>
                  </a:lnTo>
                  <a:lnTo>
                    <a:pt x="0" y="0"/>
                  </a:lnTo>
                  <a:lnTo>
                    <a:pt x="2862580" y="0"/>
                  </a:lnTo>
                  <a:lnTo>
                    <a:pt x="2862580" y="557530"/>
                  </a:lnTo>
                  <a:lnTo>
                    <a:pt x="1431289" y="557530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833296" y="3355937"/>
            <a:ext cx="1948479" cy="296852"/>
          </a:xfrm>
          <a:prstGeom prst="rect">
            <a:avLst/>
          </a:prstGeom>
          <a:solidFill>
            <a:srgbClr val="FFFFFF"/>
          </a:solidFill>
          <a:ln w="35940">
            <a:solidFill>
              <a:srgbClr val="000000"/>
            </a:solidFill>
          </a:ln>
        </p:spPr>
        <p:txBody>
          <a:bodyPr vert="horz" wrap="square" lIns="0" tIns="65698" rIns="0" bIns="0" rtlCol="0">
            <a:spAutoFit/>
          </a:bodyPr>
          <a:lstStyle/>
          <a:p>
            <a:pPr marL="334125">
              <a:spcBef>
                <a:spcPts val="517"/>
              </a:spcBef>
            </a:pP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Thread Block</a:t>
            </a:r>
            <a:r>
              <a:rPr sz="1498" spc="-1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98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endParaRPr sz="1498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70338" y="4507260"/>
            <a:ext cx="1985218" cy="373012"/>
            <a:chOff x="3725989" y="6749859"/>
            <a:chExt cx="2916555" cy="548005"/>
          </a:xfrm>
        </p:grpSpPr>
        <p:sp>
          <p:nvSpPr>
            <p:cNvPr id="35" name="object 35"/>
            <p:cNvSpPr/>
            <p:nvPr/>
          </p:nvSpPr>
          <p:spPr>
            <a:xfrm>
              <a:off x="3743960" y="6767829"/>
              <a:ext cx="2880360" cy="511809"/>
            </a:xfrm>
            <a:custGeom>
              <a:avLst/>
              <a:gdLst/>
              <a:ahLst/>
              <a:cxnLst/>
              <a:rect l="l" t="t" r="r" b="b"/>
              <a:pathLst>
                <a:path w="2880359" h="511809">
                  <a:moveTo>
                    <a:pt x="2880360" y="0"/>
                  </a:moveTo>
                  <a:lnTo>
                    <a:pt x="0" y="0"/>
                  </a:lnTo>
                  <a:lnTo>
                    <a:pt x="0" y="439420"/>
                  </a:lnTo>
                  <a:lnTo>
                    <a:pt x="0" y="511810"/>
                  </a:lnTo>
                  <a:lnTo>
                    <a:pt x="2880360" y="511810"/>
                  </a:lnTo>
                  <a:lnTo>
                    <a:pt x="2880360" y="439420"/>
                  </a:lnTo>
                  <a:lnTo>
                    <a:pt x="288036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3743960" y="6767829"/>
              <a:ext cx="2880360" cy="511809"/>
            </a:xfrm>
            <a:custGeom>
              <a:avLst/>
              <a:gdLst/>
              <a:ahLst/>
              <a:cxnLst/>
              <a:rect l="l" t="t" r="r" b="b"/>
              <a:pathLst>
                <a:path w="2880359" h="511809">
                  <a:moveTo>
                    <a:pt x="1440179" y="511810"/>
                  </a:moveTo>
                  <a:lnTo>
                    <a:pt x="0" y="511810"/>
                  </a:lnTo>
                  <a:lnTo>
                    <a:pt x="0" y="0"/>
                  </a:lnTo>
                  <a:lnTo>
                    <a:pt x="2880360" y="0"/>
                  </a:lnTo>
                  <a:lnTo>
                    <a:pt x="2880360" y="511810"/>
                  </a:lnTo>
                  <a:lnTo>
                    <a:pt x="1440179" y="511810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>
                <a:solidFill>
                  <a:schemeClr val="bg1"/>
                </a:solidFill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833296" y="4470218"/>
            <a:ext cx="1960581" cy="281140"/>
          </a:xfrm>
          <a:prstGeom prst="rect">
            <a:avLst/>
          </a:prstGeom>
          <a:solidFill>
            <a:srgbClr val="FFFFFF"/>
          </a:solidFill>
          <a:ln w="35940">
            <a:solidFill>
              <a:srgbClr val="000000"/>
            </a:solidFill>
          </a:ln>
        </p:spPr>
        <p:txBody>
          <a:bodyPr vert="horz" wrap="square" lIns="0" tIns="50138" rIns="0" bIns="0" rtlCol="0">
            <a:spAutoFit/>
          </a:bodyPr>
          <a:lstStyle/>
          <a:p>
            <a:pPr marL="287443">
              <a:spcBef>
                <a:spcPts val="395"/>
              </a:spcBef>
            </a:pP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Thread Block</a:t>
            </a:r>
            <a:r>
              <a:rPr sz="1498" spc="-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98" spc="-3" dirty="0">
                <a:solidFill>
                  <a:schemeClr val="bg1"/>
                </a:solidFill>
                <a:latin typeface="Arial"/>
                <a:cs typeface="Arial"/>
              </a:rPr>
              <a:t>15</a:t>
            </a:r>
            <a:endParaRPr sz="1498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685648" y="3924748"/>
            <a:ext cx="312932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>
              <a:spcBef>
                <a:spcPts val="68"/>
              </a:spcBef>
            </a:pPr>
            <a:r>
              <a:rPr sz="1225" spc="3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r>
              <a:rPr sz="1225" spc="-3" dirty="0">
                <a:solidFill>
                  <a:schemeClr val="bg1"/>
                </a:solidFill>
                <a:latin typeface="Arial"/>
                <a:cs typeface="Arial"/>
              </a:rPr>
              <a:t>..</a:t>
            </a:r>
            <a:r>
              <a:rPr sz="1225" spc="3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r>
              <a:rPr sz="1225" spc="-3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r>
              <a:rPr sz="1225" spc="3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r>
              <a:rPr sz="1225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endParaRPr sz="1225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101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1920" y="36213"/>
            <a:ext cx="6771875" cy="1116725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z="3600" spc="-3" dirty="0"/>
              <a:t>NVIDIA GPU Computational</a:t>
            </a:r>
            <a:r>
              <a:rPr sz="3600" spc="-184" dirty="0"/>
              <a:t> </a:t>
            </a:r>
            <a:r>
              <a:rPr sz="3600" spc="-3" dirty="0"/>
              <a:t>Structures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52604" y="2964766"/>
            <a:ext cx="2867825" cy="2205654"/>
            <a:chOff x="125412" y="4265612"/>
            <a:chExt cx="4213225" cy="3240405"/>
          </a:xfrm>
        </p:grpSpPr>
        <p:sp>
          <p:nvSpPr>
            <p:cNvPr id="4" name="object 4"/>
            <p:cNvSpPr/>
            <p:nvPr/>
          </p:nvSpPr>
          <p:spPr>
            <a:xfrm>
              <a:off x="215900" y="4356099"/>
              <a:ext cx="4104640" cy="3131820"/>
            </a:xfrm>
            <a:custGeom>
              <a:avLst/>
              <a:gdLst/>
              <a:ahLst/>
              <a:cxnLst/>
              <a:rect l="l" t="t" r="r" b="b"/>
              <a:pathLst>
                <a:path w="4104640" h="3131820">
                  <a:moveTo>
                    <a:pt x="4104640" y="0"/>
                  </a:moveTo>
                  <a:lnTo>
                    <a:pt x="0" y="0"/>
                  </a:lnTo>
                  <a:lnTo>
                    <a:pt x="0" y="3059430"/>
                  </a:lnTo>
                  <a:lnTo>
                    <a:pt x="0" y="3131820"/>
                  </a:lnTo>
                  <a:lnTo>
                    <a:pt x="4104640" y="3131820"/>
                  </a:lnTo>
                  <a:lnTo>
                    <a:pt x="4104640" y="3059430"/>
                  </a:lnTo>
                  <a:lnTo>
                    <a:pt x="410464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" name="object 5"/>
            <p:cNvSpPr/>
            <p:nvPr/>
          </p:nvSpPr>
          <p:spPr>
            <a:xfrm>
              <a:off x="215900" y="4356100"/>
              <a:ext cx="4104640" cy="3131820"/>
            </a:xfrm>
            <a:custGeom>
              <a:avLst/>
              <a:gdLst/>
              <a:ahLst/>
              <a:cxnLst/>
              <a:rect l="l" t="t" r="r" b="b"/>
              <a:pathLst>
                <a:path w="4104640" h="3131820">
                  <a:moveTo>
                    <a:pt x="2052320" y="3131820"/>
                  </a:moveTo>
                  <a:lnTo>
                    <a:pt x="0" y="3131820"/>
                  </a:lnTo>
                  <a:lnTo>
                    <a:pt x="0" y="0"/>
                  </a:lnTo>
                  <a:lnTo>
                    <a:pt x="4104640" y="0"/>
                  </a:lnTo>
                  <a:lnTo>
                    <a:pt x="4104640" y="3131820"/>
                  </a:lnTo>
                  <a:lnTo>
                    <a:pt x="2052320" y="3131820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143509" y="4283709"/>
              <a:ext cx="4104640" cy="3131820"/>
            </a:xfrm>
            <a:custGeom>
              <a:avLst/>
              <a:gdLst/>
              <a:ahLst/>
              <a:cxnLst/>
              <a:rect l="l" t="t" r="r" b="b"/>
              <a:pathLst>
                <a:path w="4104640" h="3131820">
                  <a:moveTo>
                    <a:pt x="4104640" y="0"/>
                  </a:moveTo>
                  <a:lnTo>
                    <a:pt x="0" y="0"/>
                  </a:lnTo>
                  <a:lnTo>
                    <a:pt x="0" y="3131820"/>
                  </a:lnTo>
                  <a:lnTo>
                    <a:pt x="4104640" y="313182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" name="object 7"/>
            <p:cNvSpPr/>
            <p:nvPr/>
          </p:nvSpPr>
          <p:spPr>
            <a:xfrm>
              <a:off x="143509" y="4283709"/>
              <a:ext cx="4104640" cy="3131820"/>
            </a:xfrm>
            <a:custGeom>
              <a:avLst/>
              <a:gdLst/>
              <a:ahLst/>
              <a:cxnLst/>
              <a:rect l="l" t="t" r="r" b="b"/>
              <a:pathLst>
                <a:path w="4104640" h="3131820">
                  <a:moveTo>
                    <a:pt x="2052320" y="3131820"/>
                  </a:moveTo>
                  <a:lnTo>
                    <a:pt x="0" y="3131820"/>
                  </a:lnTo>
                  <a:lnTo>
                    <a:pt x="0" y="0"/>
                  </a:lnTo>
                  <a:lnTo>
                    <a:pt x="4104640" y="0"/>
                  </a:lnTo>
                  <a:lnTo>
                    <a:pt x="4104640" y="3131820"/>
                  </a:lnTo>
                  <a:lnTo>
                    <a:pt x="2052320" y="3131820"/>
                  </a:lnTo>
                  <a:close/>
                </a:path>
              </a:pathLst>
            </a:custGeom>
            <a:ln w="35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29756" y="3899457"/>
            <a:ext cx="410183" cy="260209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634" spc="7" dirty="0">
                <a:solidFill>
                  <a:srgbClr val="3B3B3B"/>
                </a:solidFill>
                <a:latin typeface="Arial"/>
                <a:cs typeface="Arial"/>
              </a:rPr>
              <a:t>G</a:t>
            </a:r>
            <a:r>
              <a:rPr sz="1634" dirty="0">
                <a:solidFill>
                  <a:srgbClr val="3B3B3B"/>
                </a:solidFill>
                <a:latin typeface="Arial"/>
                <a:cs typeface="Arial"/>
              </a:rPr>
              <a:t>r</a:t>
            </a:r>
            <a:r>
              <a:rPr sz="1634" spc="-3" dirty="0">
                <a:solidFill>
                  <a:srgbClr val="3B3B3B"/>
                </a:solidFill>
                <a:latin typeface="Arial"/>
                <a:cs typeface="Arial"/>
              </a:rPr>
              <a:t>i</a:t>
            </a:r>
            <a:r>
              <a:rPr sz="1634" dirty="0">
                <a:solidFill>
                  <a:srgbClr val="3B3B3B"/>
                </a:solidFill>
                <a:latin typeface="Arial"/>
                <a:cs typeface="Arial"/>
              </a:rPr>
              <a:t>d</a:t>
            </a:r>
            <a:endParaRPr sz="1634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88253" y="3099621"/>
            <a:ext cx="1960149" cy="379927"/>
            <a:chOff x="1206182" y="4463732"/>
            <a:chExt cx="2879725" cy="558165"/>
          </a:xfrm>
        </p:grpSpPr>
        <p:sp>
          <p:nvSpPr>
            <p:cNvPr id="10" name="object 10"/>
            <p:cNvSpPr/>
            <p:nvPr/>
          </p:nvSpPr>
          <p:spPr>
            <a:xfrm>
              <a:off x="1224280" y="4481829"/>
              <a:ext cx="2843530" cy="521970"/>
            </a:xfrm>
            <a:custGeom>
              <a:avLst/>
              <a:gdLst/>
              <a:ahLst/>
              <a:cxnLst/>
              <a:rect l="l" t="t" r="r" b="b"/>
              <a:pathLst>
                <a:path w="2843529" h="521970">
                  <a:moveTo>
                    <a:pt x="2843530" y="0"/>
                  </a:moveTo>
                  <a:lnTo>
                    <a:pt x="0" y="0"/>
                  </a:lnTo>
                  <a:lnTo>
                    <a:pt x="0" y="449580"/>
                  </a:lnTo>
                  <a:lnTo>
                    <a:pt x="0" y="521970"/>
                  </a:lnTo>
                  <a:lnTo>
                    <a:pt x="2843530" y="521970"/>
                  </a:lnTo>
                  <a:lnTo>
                    <a:pt x="2843530" y="449580"/>
                  </a:lnTo>
                  <a:lnTo>
                    <a:pt x="284353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" name="object 11"/>
            <p:cNvSpPr/>
            <p:nvPr/>
          </p:nvSpPr>
          <p:spPr>
            <a:xfrm>
              <a:off x="1224279" y="4481830"/>
              <a:ext cx="2843530" cy="521970"/>
            </a:xfrm>
            <a:custGeom>
              <a:avLst/>
              <a:gdLst/>
              <a:ahLst/>
              <a:cxnLst/>
              <a:rect l="l" t="t" r="r" b="b"/>
              <a:pathLst>
                <a:path w="2843529" h="521970">
                  <a:moveTo>
                    <a:pt x="1421130" y="521970"/>
                  </a:moveTo>
                  <a:lnTo>
                    <a:pt x="0" y="521970"/>
                  </a:lnTo>
                  <a:lnTo>
                    <a:pt x="0" y="0"/>
                  </a:lnTo>
                  <a:lnTo>
                    <a:pt x="2843530" y="0"/>
                  </a:lnTo>
                  <a:lnTo>
                    <a:pt x="2843530" y="521970"/>
                  </a:lnTo>
                  <a:lnTo>
                    <a:pt x="1421130" y="521970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051297" y="3062666"/>
            <a:ext cx="1935512" cy="284632"/>
          </a:xfrm>
          <a:prstGeom prst="rect">
            <a:avLst/>
          </a:prstGeom>
          <a:solidFill>
            <a:srgbClr val="FFFFFF"/>
          </a:solidFill>
          <a:ln w="35941">
            <a:solidFill>
              <a:srgbClr val="000000"/>
            </a:solidFill>
          </a:ln>
        </p:spPr>
        <p:txBody>
          <a:bodyPr vert="horz" wrap="square" lIns="0" tIns="53596" rIns="0" bIns="0" rtlCol="0">
            <a:spAutoFit/>
          </a:bodyPr>
          <a:lstStyle/>
          <a:p>
            <a:pPr marL="327209">
              <a:spcBef>
                <a:spcPts val="422"/>
              </a:spcBef>
            </a:pP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Thread Block</a:t>
            </a:r>
            <a:r>
              <a:rPr sz="1498" spc="-7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0</a:t>
            </a:r>
            <a:endParaRPr sz="1498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51298" y="3480197"/>
            <a:ext cx="2009423" cy="440439"/>
            <a:chOff x="1151889" y="5022850"/>
            <a:chExt cx="2952115" cy="647065"/>
          </a:xfrm>
        </p:grpSpPr>
        <p:sp>
          <p:nvSpPr>
            <p:cNvPr id="14" name="object 14"/>
            <p:cNvSpPr/>
            <p:nvPr/>
          </p:nvSpPr>
          <p:spPr>
            <a:xfrm>
              <a:off x="1224280" y="5093969"/>
              <a:ext cx="2861310" cy="557530"/>
            </a:xfrm>
            <a:custGeom>
              <a:avLst/>
              <a:gdLst/>
              <a:ahLst/>
              <a:cxnLst/>
              <a:rect l="l" t="t" r="r" b="b"/>
              <a:pathLst>
                <a:path w="2861310" h="557529">
                  <a:moveTo>
                    <a:pt x="2861310" y="0"/>
                  </a:moveTo>
                  <a:lnTo>
                    <a:pt x="0" y="0"/>
                  </a:lnTo>
                  <a:lnTo>
                    <a:pt x="0" y="486410"/>
                  </a:lnTo>
                  <a:lnTo>
                    <a:pt x="0" y="557530"/>
                  </a:lnTo>
                  <a:lnTo>
                    <a:pt x="2861310" y="557530"/>
                  </a:lnTo>
                  <a:lnTo>
                    <a:pt x="2861310" y="486410"/>
                  </a:lnTo>
                  <a:lnTo>
                    <a:pt x="286131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4279" y="5093969"/>
              <a:ext cx="2861310" cy="557530"/>
            </a:xfrm>
            <a:custGeom>
              <a:avLst/>
              <a:gdLst/>
              <a:ahLst/>
              <a:cxnLst/>
              <a:rect l="l" t="t" r="r" b="b"/>
              <a:pathLst>
                <a:path w="2861310" h="557529">
                  <a:moveTo>
                    <a:pt x="1431289" y="557529"/>
                  </a:moveTo>
                  <a:lnTo>
                    <a:pt x="0" y="557529"/>
                  </a:lnTo>
                  <a:lnTo>
                    <a:pt x="0" y="0"/>
                  </a:lnTo>
                  <a:lnTo>
                    <a:pt x="2861310" y="0"/>
                  </a:lnTo>
                  <a:lnTo>
                    <a:pt x="2861310" y="557529"/>
                  </a:lnTo>
                  <a:lnTo>
                    <a:pt x="1431289" y="557529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" name="object 16"/>
            <p:cNvSpPr/>
            <p:nvPr/>
          </p:nvSpPr>
          <p:spPr>
            <a:xfrm>
              <a:off x="1151889" y="5022850"/>
              <a:ext cx="2862580" cy="557530"/>
            </a:xfrm>
            <a:custGeom>
              <a:avLst/>
              <a:gdLst/>
              <a:ahLst/>
              <a:cxnLst/>
              <a:rect l="l" t="t" r="r" b="b"/>
              <a:pathLst>
                <a:path w="2862579" h="557529">
                  <a:moveTo>
                    <a:pt x="2862580" y="0"/>
                  </a:moveTo>
                  <a:lnTo>
                    <a:pt x="0" y="0"/>
                  </a:lnTo>
                  <a:lnTo>
                    <a:pt x="0" y="557530"/>
                  </a:lnTo>
                  <a:lnTo>
                    <a:pt x="2862580" y="5575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51297" y="3480197"/>
            <a:ext cx="1948479" cy="296852"/>
          </a:xfrm>
          <a:prstGeom prst="rect">
            <a:avLst/>
          </a:prstGeom>
          <a:ln w="35941">
            <a:solidFill>
              <a:srgbClr val="000000"/>
            </a:solidFill>
          </a:ln>
        </p:spPr>
        <p:txBody>
          <a:bodyPr vert="horz" wrap="square" lIns="0" tIns="65698" rIns="0" bIns="0" rtlCol="0">
            <a:spAutoFit/>
          </a:bodyPr>
          <a:lstStyle/>
          <a:p>
            <a:pPr marL="333693">
              <a:spcBef>
                <a:spcPts val="517"/>
              </a:spcBef>
            </a:pP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Thread Block</a:t>
            </a:r>
            <a:r>
              <a:rPr sz="1498" spc="-7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498" dirty="0">
                <a:solidFill>
                  <a:srgbClr val="3B3B3B"/>
                </a:solidFill>
                <a:latin typeface="Arial"/>
                <a:cs typeface="Arial"/>
              </a:rPr>
              <a:t>1</a:t>
            </a:r>
            <a:endParaRPr sz="1498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88253" y="4631433"/>
            <a:ext cx="1984354" cy="373012"/>
            <a:chOff x="1206182" y="6714172"/>
            <a:chExt cx="2915285" cy="548005"/>
          </a:xfrm>
        </p:grpSpPr>
        <p:sp>
          <p:nvSpPr>
            <p:cNvPr id="19" name="object 19"/>
            <p:cNvSpPr/>
            <p:nvPr/>
          </p:nvSpPr>
          <p:spPr>
            <a:xfrm>
              <a:off x="1224280" y="6732269"/>
              <a:ext cx="2879090" cy="511809"/>
            </a:xfrm>
            <a:custGeom>
              <a:avLst/>
              <a:gdLst/>
              <a:ahLst/>
              <a:cxnLst/>
              <a:rect l="l" t="t" r="r" b="b"/>
              <a:pathLst>
                <a:path w="2879090" h="511809">
                  <a:moveTo>
                    <a:pt x="2879090" y="0"/>
                  </a:moveTo>
                  <a:lnTo>
                    <a:pt x="0" y="0"/>
                  </a:lnTo>
                  <a:lnTo>
                    <a:pt x="0" y="439420"/>
                  </a:lnTo>
                  <a:lnTo>
                    <a:pt x="0" y="511810"/>
                  </a:lnTo>
                  <a:lnTo>
                    <a:pt x="2879090" y="511810"/>
                  </a:lnTo>
                  <a:lnTo>
                    <a:pt x="2879090" y="439420"/>
                  </a:lnTo>
                  <a:lnTo>
                    <a:pt x="287909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" name="object 20"/>
            <p:cNvSpPr/>
            <p:nvPr/>
          </p:nvSpPr>
          <p:spPr>
            <a:xfrm>
              <a:off x="1224279" y="6732269"/>
              <a:ext cx="2879090" cy="511809"/>
            </a:xfrm>
            <a:custGeom>
              <a:avLst/>
              <a:gdLst/>
              <a:ahLst/>
              <a:cxnLst/>
              <a:rect l="l" t="t" r="r" b="b"/>
              <a:pathLst>
                <a:path w="2879090" h="511809">
                  <a:moveTo>
                    <a:pt x="1440180" y="511809"/>
                  </a:moveTo>
                  <a:lnTo>
                    <a:pt x="0" y="511809"/>
                  </a:lnTo>
                  <a:lnTo>
                    <a:pt x="0" y="0"/>
                  </a:lnTo>
                  <a:lnTo>
                    <a:pt x="2879090" y="0"/>
                  </a:lnTo>
                  <a:lnTo>
                    <a:pt x="2879090" y="511809"/>
                  </a:lnTo>
                  <a:lnTo>
                    <a:pt x="1440180" y="511809"/>
                  </a:lnTo>
                  <a:close/>
                </a:path>
              </a:pathLst>
            </a:custGeom>
            <a:ln w="3594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051297" y="4594477"/>
            <a:ext cx="1960581" cy="281140"/>
          </a:xfrm>
          <a:prstGeom prst="rect">
            <a:avLst/>
          </a:prstGeom>
          <a:solidFill>
            <a:srgbClr val="FFFFFF"/>
          </a:solidFill>
          <a:ln w="35941">
            <a:solidFill>
              <a:srgbClr val="000000"/>
            </a:solidFill>
          </a:ln>
        </p:spPr>
        <p:txBody>
          <a:bodyPr vert="horz" wrap="square" lIns="0" tIns="50138" rIns="0" bIns="0" rtlCol="0">
            <a:spAutoFit/>
          </a:bodyPr>
          <a:lstStyle/>
          <a:p>
            <a:pPr marL="287010">
              <a:spcBef>
                <a:spcPts val="395"/>
              </a:spcBef>
            </a:pP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Thread Block</a:t>
            </a:r>
            <a:r>
              <a:rPr sz="1498" spc="-7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15</a:t>
            </a:r>
            <a:endParaRPr sz="1498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95005" y="4049007"/>
            <a:ext cx="320712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spc="-3" dirty="0">
                <a:solidFill>
                  <a:srgbClr val="3B3B3B"/>
                </a:solidFill>
                <a:latin typeface="Arial"/>
                <a:cs typeface="Arial"/>
              </a:rPr>
              <a:t>.......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38400" y="895350"/>
            <a:ext cx="6604859" cy="2889437"/>
            <a:chOff x="251459" y="1225359"/>
            <a:chExt cx="9703435" cy="4244975"/>
          </a:xfrm>
        </p:grpSpPr>
        <p:sp>
          <p:nvSpPr>
            <p:cNvPr id="24" name="object 24"/>
            <p:cNvSpPr/>
            <p:nvPr/>
          </p:nvSpPr>
          <p:spPr>
            <a:xfrm>
              <a:off x="4536439" y="1243330"/>
              <a:ext cx="5400040" cy="4208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" name="object 25"/>
            <p:cNvSpPr/>
            <p:nvPr/>
          </p:nvSpPr>
          <p:spPr>
            <a:xfrm>
              <a:off x="3995419" y="1243330"/>
              <a:ext cx="5941060" cy="4208780"/>
            </a:xfrm>
            <a:custGeom>
              <a:avLst/>
              <a:gdLst/>
              <a:ahLst/>
              <a:cxnLst/>
              <a:rect l="l" t="t" r="r" b="b"/>
              <a:pathLst>
                <a:path w="5941059" h="4208780">
                  <a:moveTo>
                    <a:pt x="0" y="3166110"/>
                  </a:moveTo>
                  <a:lnTo>
                    <a:pt x="541019" y="0"/>
                  </a:lnTo>
                </a:path>
                <a:path w="5941059" h="4208780">
                  <a:moveTo>
                    <a:pt x="0" y="3688080"/>
                  </a:moveTo>
                  <a:lnTo>
                    <a:pt x="541019" y="4208780"/>
                  </a:lnTo>
                </a:path>
                <a:path w="5941059" h="4208780">
                  <a:moveTo>
                    <a:pt x="3241039" y="4208780"/>
                  </a:moveTo>
                  <a:lnTo>
                    <a:pt x="541019" y="4208780"/>
                  </a:lnTo>
                  <a:lnTo>
                    <a:pt x="541019" y="0"/>
                  </a:lnTo>
                  <a:lnTo>
                    <a:pt x="5941059" y="0"/>
                  </a:lnTo>
                  <a:lnTo>
                    <a:pt x="5941059" y="4208780"/>
                  </a:lnTo>
                  <a:lnTo>
                    <a:pt x="3241039" y="4208780"/>
                  </a:lnTo>
                  <a:close/>
                </a:path>
              </a:pathLst>
            </a:custGeom>
            <a:ln w="35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" name="object 26"/>
            <p:cNvSpPr/>
            <p:nvPr/>
          </p:nvSpPr>
          <p:spPr>
            <a:xfrm>
              <a:off x="323850" y="1767839"/>
              <a:ext cx="3600450" cy="1687830"/>
            </a:xfrm>
            <a:custGeom>
              <a:avLst/>
              <a:gdLst/>
              <a:ahLst/>
              <a:cxnLst/>
              <a:rect l="l" t="t" r="r" b="b"/>
              <a:pathLst>
                <a:path w="3600450" h="1687829">
                  <a:moveTo>
                    <a:pt x="3600450" y="0"/>
                  </a:moveTo>
                  <a:lnTo>
                    <a:pt x="0" y="0"/>
                  </a:lnTo>
                  <a:lnTo>
                    <a:pt x="0" y="1616710"/>
                  </a:lnTo>
                  <a:lnTo>
                    <a:pt x="0" y="1687830"/>
                  </a:lnTo>
                  <a:lnTo>
                    <a:pt x="3600450" y="1687830"/>
                  </a:lnTo>
                  <a:lnTo>
                    <a:pt x="3600450" y="1616710"/>
                  </a:lnTo>
                  <a:lnTo>
                    <a:pt x="360045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" name="object 27"/>
            <p:cNvSpPr/>
            <p:nvPr/>
          </p:nvSpPr>
          <p:spPr>
            <a:xfrm>
              <a:off x="323849" y="1767840"/>
              <a:ext cx="3600450" cy="1687830"/>
            </a:xfrm>
            <a:custGeom>
              <a:avLst/>
              <a:gdLst/>
              <a:ahLst/>
              <a:cxnLst/>
              <a:rect l="l" t="t" r="r" b="b"/>
              <a:pathLst>
                <a:path w="3600450" h="1687829">
                  <a:moveTo>
                    <a:pt x="1799589" y="1687830"/>
                  </a:moveTo>
                  <a:lnTo>
                    <a:pt x="0" y="1687830"/>
                  </a:lnTo>
                  <a:lnTo>
                    <a:pt x="0" y="0"/>
                  </a:lnTo>
                  <a:lnTo>
                    <a:pt x="3600450" y="0"/>
                  </a:lnTo>
                  <a:lnTo>
                    <a:pt x="3600450" y="1687830"/>
                  </a:lnTo>
                  <a:lnTo>
                    <a:pt x="1799589" y="1687830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" name="object 28"/>
            <p:cNvSpPr/>
            <p:nvPr/>
          </p:nvSpPr>
          <p:spPr>
            <a:xfrm>
              <a:off x="251459" y="1695450"/>
              <a:ext cx="3600450" cy="1689100"/>
            </a:xfrm>
            <a:custGeom>
              <a:avLst/>
              <a:gdLst/>
              <a:ahLst/>
              <a:cxnLst/>
              <a:rect l="l" t="t" r="r" b="b"/>
              <a:pathLst>
                <a:path w="3600450" h="1689100">
                  <a:moveTo>
                    <a:pt x="3600450" y="0"/>
                  </a:moveTo>
                  <a:lnTo>
                    <a:pt x="0" y="0"/>
                  </a:lnTo>
                  <a:lnTo>
                    <a:pt x="0" y="1689100"/>
                  </a:lnTo>
                  <a:lnTo>
                    <a:pt x="3600450" y="168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438400" y="1215328"/>
            <a:ext cx="2450726" cy="1135433"/>
          </a:xfrm>
          <a:prstGeom prst="rect">
            <a:avLst/>
          </a:prstGeom>
          <a:ln w="35941">
            <a:solidFill>
              <a:srgbClr val="000000"/>
            </a:solidFill>
          </a:ln>
        </p:spPr>
        <p:txBody>
          <a:bodyPr vert="horz" wrap="square" lIns="0" tIns="44952" rIns="0" bIns="0" rtlCol="0">
            <a:spAutoFit/>
          </a:bodyPr>
          <a:lstStyle/>
          <a:p>
            <a:pPr marL="137022" marR="132699" indent="-53166" algn="ctr">
              <a:lnSpc>
                <a:spcPts val="1675"/>
              </a:lnSpc>
              <a:spcBef>
                <a:spcPts val="354"/>
              </a:spcBef>
            </a:pP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One Thread Block is  scheduled per  </a:t>
            </a:r>
            <a:r>
              <a:rPr sz="1498" b="1" i="1" spc="-3" dirty="0">
                <a:solidFill>
                  <a:srgbClr val="3B3B3B"/>
                </a:solidFill>
                <a:latin typeface="Arial"/>
                <a:cs typeface="Arial"/>
              </a:rPr>
              <a:t>multithreaded SIMD  processor </a:t>
            </a:r>
            <a:r>
              <a:rPr sz="1498" spc="-3" dirty="0">
                <a:solidFill>
                  <a:srgbClr val="3B3B3B"/>
                </a:solidFill>
                <a:latin typeface="Arial"/>
                <a:cs typeface="Arial"/>
              </a:rPr>
              <a:t>by the  </a:t>
            </a:r>
            <a:r>
              <a:rPr sz="1498" b="1" i="1" spc="-3" dirty="0">
                <a:latin typeface="Arial"/>
                <a:cs typeface="Arial"/>
              </a:rPr>
              <a:t>Thread Block</a:t>
            </a:r>
            <a:r>
              <a:rPr sz="1498" b="1" i="1" spc="-48" dirty="0">
                <a:latin typeface="Arial"/>
                <a:cs typeface="Arial"/>
              </a:rPr>
              <a:t> </a:t>
            </a:r>
            <a:r>
              <a:rPr sz="1498" b="1" i="1" spc="-3" dirty="0">
                <a:latin typeface="Arial"/>
                <a:cs typeface="Arial"/>
              </a:rPr>
              <a:t>Scheduler</a:t>
            </a:r>
            <a:endParaRPr sz="1498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340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2455" y="127459"/>
            <a:ext cx="6119806" cy="562727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z="3600" spc="-3" dirty="0"/>
              <a:t>Multithreaded </a:t>
            </a:r>
            <a:r>
              <a:rPr sz="3600" dirty="0"/>
              <a:t>SIMD</a:t>
            </a:r>
            <a:r>
              <a:rPr sz="3600" spc="-17" dirty="0"/>
              <a:t> </a:t>
            </a:r>
            <a:r>
              <a:rPr sz="3600" spc="-3" dirty="0"/>
              <a:t>Processor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81378" y="971550"/>
            <a:ext cx="6762622" cy="4126038"/>
            <a:chOff x="72389" y="1332230"/>
            <a:chExt cx="9935210" cy="6061710"/>
          </a:xfrm>
        </p:grpSpPr>
        <p:sp>
          <p:nvSpPr>
            <p:cNvPr id="4" name="object 4"/>
            <p:cNvSpPr/>
            <p:nvPr/>
          </p:nvSpPr>
          <p:spPr>
            <a:xfrm>
              <a:off x="72389" y="1907540"/>
              <a:ext cx="9934704" cy="54864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" name="object 5"/>
            <p:cNvSpPr/>
            <p:nvPr/>
          </p:nvSpPr>
          <p:spPr>
            <a:xfrm>
              <a:off x="323850" y="1404619"/>
              <a:ext cx="2700020" cy="394970"/>
            </a:xfrm>
            <a:custGeom>
              <a:avLst/>
              <a:gdLst/>
              <a:ahLst/>
              <a:cxnLst/>
              <a:rect l="l" t="t" r="r" b="b"/>
              <a:pathLst>
                <a:path w="2700020" h="394969">
                  <a:moveTo>
                    <a:pt x="2700020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0" y="394970"/>
                  </a:lnTo>
                  <a:lnTo>
                    <a:pt x="2700020" y="394970"/>
                  </a:lnTo>
                  <a:lnTo>
                    <a:pt x="2700020" y="323850"/>
                  </a:lnTo>
                  <a:lnTo>
                    <a:pt x="270002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323849" y="1404620"/>
              <a:ext cx="2700020" cy="394970"/>
            </a:xfrm>
            <a:custGeom>
              <a:avLst/>
              <a:gdLst/>
              <a:ahLst/>
              <a:cxnLst/>
              <a:rect l="l" t="t" r="r" b="b"/>
              <a:pathLst>
                <a:path w="2700020" h="394969">
                  <a:moveTo>
                    <a:pt x="1350010" y="394969"/>
                  </a:moveTo>
                  <a:lnTo>
                    <a:pt x="0" y="394969"/>
                  </a:lnTo>
                  <a:lnTo>
                    <a:pt x="0" y="0"/>
                  </a:lnTo>
                  <a:lnTo>
                    <a:pt x="2700020" y="0"/>
                  </a:lnTo>
                  <a:lnTo>
                    <a:pt x="2700020" y="394969"/>
                  </a:lnTo>
                  <a:lnTo>
                    <a:pt x="1350010" y="394969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" name="object 7"/>
            <p:cNvSpPr/>
            <p:nvPr/>
          </p:nvSpPr>
          <p:spPr>
            <a:xfrm>
              <a:off x="251460" y="1332230"/>
              <a:ext cx="2700020" cy="396240"/>
            </a:xfrm>
            <a:custGeom>
              <a:avLst/>
              <a:gdLst/>
              <a:ahLst/>
              <a:cxnLst/>
              <a:rect l="l" t="t" r="r" b="b"/>
              <a:pathLst>
                <a:path w="2700020" h="396239">
                  <a:moveTo>
                    <a:pt x="2700020" y="0"/>
                  </a:moveTo>
                  <a:lnTo>
                    <a:pt x="0" y="0"/>
                  </a:lnTo>
                  <a:lnTo>
                    <a:pt x="0" y="396240"/>
                  </a:lnTo>
                  <a:lnTo>
                    <a:pt x="2700020" y="3962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503266" y="971550"/>
            <a:ext cx="1837829" cy="221683"/>
          </a:xfrm>
          <a:prstGeom prst="rect">
            <a:avLst/>
          </a:prstGeom>
          <a:ln w="35940">
            <a:solidFill>
              <a:srgbClr val="000000"/>
            </a:solidFill>
          </a:ln>
        </p:spPr>
        <p:txBody>
          <a:bodyPr vert="horz" wrap="square" lIns="0" tIns="32849" rIns="0" bIns="0" rtlCol="0">
            <a:spAutoFit/>
          </a:bodyPr>
          <a:lstStyle/>
          <a:p>
            <a:pPr marL="314674">
              <a:spcBef>
                <a:spcPts val="259"/>
              </a:spcBef>
            </a:pPr>
            <a:r>
              <a:rPr sz="1225" spc="-3" dirty="0">
                <a:solidFill>
                  <a:srgbClr val="3B3B3B"/>
                </a:solidFill>
                <a:latin typeface="Arial"/>
                <a:cs typeface="Arial"/>
              </a:rPr>
              <a:t>Instruction</a:t>
            </a:r>
            <a:r>
              <a:rPr sz="1225" spc="-10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225" spc="-3" dirty="0">
                <a:solidFill>
                  <a:srgbClr val="3B3B3B"/>
                </a:solidFill>
                <a:latin typeface="Arial"/>
                <a:cs typeface="Arial"/>
              </a:rPr>
              <a:t>Cache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19139" y="740741"/>
            <a:ext cx="1997320" cy="495764"/>
            <a:chOff x="3653790" y="993139"/>
            <a:chExt cx="2934335" cy="728345"/>
          </a:xfrm>
        </p:grpSpPr>
        <p:sp>
          <p:nvSpPr>
            <p:cNvPr id="10" name="object 10"/>
            <p:cNvSpPr/>
            <p:nvPr/>
          </p:nvSpPr>
          <p:spPr>
            <a:xfrm>
              <a:off x="3726180" y="1064259"/>
              <a:ext cx="2843530" cy="638810"/>
            </a:xfrm>
            <a:custGeom>
              <a:avLst/>
              <a:gdLst/>
              <a:ahLst/>
              <a:cxnLst/>
              <a:rect l="l" t="t" r="r" b="b"/>
              <a:pathLst>
                <a:path w="2843529" h="638810">
                  <a:moveTo>
                    <a:pt x="2843517" y="0"/>
                  </a:moveTo>
                  <a:lnTo>
                    <a:pt x="0" y="0"/>
                  </a:lnTo>
                  <a:lnTo>
                    <a:pt x="0" y="566420"/>
                  </a:lnTo>
                  <a:lnTo>
                    <a:pt x="0" y="638810"/>
                  </a:lnTo>
                  <a:lnTo>
                    <a:pt x="2843517" y="638810"/>
                  </a:lnTo>
                  <a:lnTo>
                    <a:pt x="2843517" y="566420"/>
                  </a:lnTo>
                  <a:lnTo>
                    <a:pt x="2843517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" name="object 11"/>
            <p:cNvSpPr/>
            <p:nvPr/>
          </p:nvSpPr>
          <p:spPr>
            <a:xfrm>
              <a:off x="3726180" y="1064259"/>
              <a:ext cx="2843530" cy="638810"/>
            </a:xfrm>
            <a:custGeom>
              <a:avLst/>
              <a:gdLst/>
              <a:ahLst/>
              <a:cxnLst/>
              <a:rect l="l" t="t" r="r" b="b"/>
              <a:pathLst>
                <a:path w="2843529" h="638810">
                  <a:moveTo>
                    <a:pt x="1422400" y="638810"/>
                  </a:moveTo>
                  <a:lnTo>
                    <a:pt x="0" y="638810"/>
                  </a:lnTo>
                  <a:lnTo>
                    <a:pt x="0" y="0"/>
                  </a:lnTo>
                  <a:lnTo>
                    <a:pt x="2843529" y="0"/>
                  </a:lnTo>
                  <a:lnTo>
                    <a:pt x="2843529" y="638810"/>
                  </a:lnTo>
                  <a:lnTo>
                    <a:pt x="1422400" y="638810"/>
                  </a:lnTo>
                  <a:close/>
                </a:path>
              </a:pathLst>
            </a:custGeom>
            <a:ln w="3594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" name="object 12"/>
            <p:cNvSpPr/>
            <p:nvPr/>
          </p:nvSpPr>
          <p:spPr>
            <a:xfrm>
              <a:off x="3653790" y="993139"/>
              <a:ext cx="2844800" cy="637540"/>
            </a:xfrm>
            <a:custGeom>
              <a:avLst/>
              <a:gdLst/>
              <a:ahLst/>
              <a:cxnLst/>
              <a:rect l="l" t="t" r="r" b="b"/>
              <a:pathLst>
                <a:path w="2844800" h="637539">
                  <a:moveTo>
                    <a:pt x="2844800" y="0"/>
                  </a:moveTo>
                  <a:lnTo>
                    <a:pt x="0" y="0"/>
                  </a:lnTo>
                  <a:lnTo>
                    <a:pt x="0" y="637539"/>
                  </a:lnTo>
                  <a:lnTo>
                    <a:pt x="2844800" y="637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19138" y="740740"/>
            <a:ext cx="1936376" cy="403589"/>
          </a:xfrm>
          <a:prstGeom prst="rect">
            <a:avLst/>
          </a:prstGeom>
          <a:ln w="35941">
            <a:solidFill>
              <a:srgbClr val="000000"/>
            </a:solidFill>
          </a:ln>
        </p:spPr>
        <p:txBody>
          <a:bodyPr vert="horz" wrap="square" lIns="0" tIns="44086" rIns="0" bIns="0" rtlCol="0">
            <a:spAutoFit/>
          </a:bodyPr>
          <a:lstStyle/>
          <a:p>
            <a:pPr marL="312513" marR="307758" indent="102010">
              <a:lnSpc>
                <a:spcPts val="1375"/>
              </a:lnSpc>
              <a:spcBef>
                <a:spcPts val="346"/>
              </a:spcBef>
            </a:pPr>
            <a:r>
              <a:rPr sz="1225" spc="-14" dirty="0">
                <a:solidFill>
                  <a:srgbClr val="3B3B3B"/>
                </a:solidFill>
                <a:latin typeface="Arial"/>
                <a:cs typeface="Arial"/>
              </a:rPr>
              <a:t>Warp </a:t>
            </a:r>
            <a:r>
              <a:rPr sz="1225" spc="-7" dirty="0">
                <a:solidFill>
                  <a:srgbClr val="3B3B3B"/>
                </a:solidFill>
                <a:latin typeface="Arial"/>
                <a:cs typeface="Arial"/>
              </a:rPr>
              <a:t>Scheduler  </a:t>
            </a:r>
            <a:r>
              <a:rPr sz="1225" spc="-3" dirty="0">
                <a:solidFill>
                  <a:srgbClr val="3B3B3B"/>
                </a:solidFill>
                <a:latin typeface="Arial"/>
                <a:cs typeface="Arial"/>
              </a:rPr>
              <a:t>(Thread</a:t>
            </a:r>
            <a:r>
              <a:rPr sz="1225" spc="-34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225" spc="-7" dirty="0">
                <a:solidFill>
                  <a:srgbClr val="3B3B3B"/>
                </a:solidFill>
                <a:latin typeface="Arial"/>
                <a:cs typeface="Arial"/>
              </a:rPr>
              <a:t>scheduler)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28993" y="920547"/>
            <a:ext cx="1496369" cy="442600"/>
            <a:chOff x="2933700" y="1257300"/>
            <a:chExt cx="2198370" cy="650240"/>
          </a:xfrm>
        </p:grpSpPr>
        <p:sp>
          <p:nvSpPr>
            <p:cNvPr id="15" name="object 15"/>
            <p:cNvSpPr/>
            <p:nvPr/>
          </p:nvSpPr>
          <p:spPr>
            <a:xfrm>
              <a:off x="2951479" y="1311910"/>
              <a:ext cx="547370" cy="218440"/>
            </a:xfrm>
            <a:custGeom>
              <a:avLst/>
              <a:gdLst/>
              <a:ahLst/>
              <a:cxnLst/>
              <a:rect l="l" t="t" r="r" b="b"/>
              <a:pathLst>
                <a:path w="547370" h="218440">
                  <a:moveTo>
                    <a:pt x="0" y="218439"/>
                  </a:moveTo>
                  <a:lnTo>
                    <a:pt x="387349" y="218439"/>
                  </a:lnTo>
                  <a:lnTo>
                    <a:pt x="387349" y="0"/>
                  </a:lnTo>
                  <a:lnTo>
                    <a:pt x="547369" y="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" name="object 16"/>
            <p:cNvSpPr/>
            <p:nvPr/>
          </p:nvSpPr>
          <p:spPr>
            <a:xfrm>
              <a:off x="3492500" y="1257300"/>
              <a:ext cx="161290" cy="107950"/>
            </a:xfrm>
            <a:custGeom>
              <a:avLst/>
              <a:gdLst/>
              <a:ahLst/>
              <a:cxnLst/>
              <a:rect l="l" t="t" r="r" b="b"/>
              <a:pathLst>
                <a:path w="161289" h="107950">
                  <a:moveTo>
                    <a:pt x="0" y="0"/>
                  </a:moveTo>
                  <a:lnTo>
                    <a:pt x="0" y="107950"/>
                  </a:lnTo>
                  <a:lnTo>
                    <a:pt x="161289" y="546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" name="object 17"/>
            <p:cNvSpPr/>
            <p:nvPr/>
          </p:nvSpPr>
          <p:spPr>
            <a:xfrm>
              <a:off x="5076189" y="1630679"/>
              <a:ext cx="0" cy="142240"/>
            </a:xfrm>
            <a:custGeom>
              <a:avLst/>
              <a:gdLst/>
              <a:ahLst/>
              <a:cxnLst/>
              <a:rect l="l" t="t" r="r" b="b"/>
              <a:pathLst>
                <a:path h="142239">
                  <a:moveTo>
                    <a:pt x="0" y="0"/>
                  </a:moveTo>
                  <a:lnTo>
                    <a:pt x="0" y="142240"/>
                  </a:lnTo>
                </a:path>
              </a:pathLst>
            </a:custGeom>
            <a:ln w="35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" name="object 18"/>
            <p:cNvSpPr/>
            <p:nvPr/>
          </p:nvSpPr>
          <p:spPr>
            <a:xfrm>
              <a:off x="5025389" y="1739900"/>
              <a:ext cx="106680" cy="167640"/>
            </a:xfrm>
            <a:custGeom>
              <a:avLst/>
              <a:gdLst/>
              <a:ahLst/>
              <a:cxnLst/>
              <a:rect l="l" t="t" r="r" b="b"/>
              <a:pathLst>
                <a:path w="106679" h="167639">
                  <a:moveTo>
                    <a:pt x="0" y="0"/>
                  </a:moveTo>
                  <a:lnTo>
                    <a:pt x="30480" y="167639"/>
                  </a:lnTo>
                  <a:lnTo>
                    <a:pt x="106680" y="15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</p:spTree>
    <p:extLst>
      <p:ext uri="{BB962C8B-B14F-4D97-AF65-F5344CB8AC3E}">
        <p14:creationId xmlns:p14="http://schemas.microsoft.com/office/powerpoint/2010/main" val="47649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133350"/>
            <a:ext cx="3581400" cy="895267"/>
          </a:xfrm>
          <a:prstGeom prst="rect">
            <a:avLst/>
          </a:prstGeom>
        </p:spPr>
        <p:txBody>
          <a:bodyPr vert="horz" wrap="square" lIns="0" tIns="48409" rIns="0" bIns="0" rtlCol="0" anchor="b">
            <a:spAutoFit/>
          </a:bodyPr>
          <a:lstStyle/>
          <a:p>
            <a:pPr marL="8645" marR="3458">
              <a:lnSpc>
                <a:spcPts val="3349"/>
              </a:lnSpc>
              <a:spcBef>
                <a:spcPts val="381"/>
              </a:spcBef>
            </a:pPr>
            <a:r>
              <a:rPr sz="3600" spc="-3" dirty="0"/>
              <a:t>Fermi</a:t>
            </a:r>
            <a:r>
              <a:rPr sz="3600" spc="-65" dirty="0"/>
              <a:t> </a:t>
            </a:r>
            <a:r>
              <a:rPr sz="3600" spc="-3" dirty="0"/>
              <a:t>“Streaming  Processor”</a:t>
            </a:r>
            <a:r>
              <a:rPr sz="3600" spc="-27" dirty="0"/>
              <a:t> </a:t>
            </a:r>
            <a:r>
              <a:rPr sz="3600" spc="-3" dirty="0"/>
              <a:t>Core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78439" y="19455"/>
            <a:ext cx="6265561" cy="5040630"/>
            <a:chOff x="180339" y="76200"/>
            <a:chExt cx="9204960" cy="7405370"/>
          </a:xfrm>
        </p:grpSpPr>
        <p:sp>
          <p:nvSpPr>
            <p:cNvPr id="4" name="object 4"/>
            <p:cNvSpPr/>
            <p:nvPr/>
          </p:nvSpPr>
          <p:spPr>
            <a:xfrm>
              <a:off x="4705349" y="76200"/>
              <a:ext cx="4679950" cy="740537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" name="object 5"/>
            <p:cNvSpPr/>
            <p:nvPr/>
          </p:nvSpPr>
          <p:spPr>
            <a:xfrm>
              <a:off x="180339" y="2843529"/>
              <a:ext cx="6176010" cy="4057650"/>
            </a:xfrm>
            <a:custGeom>
              <a:avLst/>
              <a:gdLst/>
              <a:ahLst/>
              <a:cxnLst/>
              <a:rect l="l" t="t" r="r" b="b"/>
              <a:pathLst>
                <a:path w="6176010" h="4057650">
                  <a:moveTo>
                    <a:pt x="6176010" y="0"/>
                  </a:moveTo>
                  <a:lnTo>
                    <a:pt x="0" y="0"/>
                  </a:lnTo>
                  <a:lnTo>
                    <a:pt x="0" y="4057650"/>
                  </a:lnTo>
                  <a:lnTo>
                    <a:pt x="6176010" y="4057650"/>
                  </a:lnTo>
                  <a:close/>
                </a:path>
              </a:pathLst>
            </a:custGeom>
            <a:solidFill>
              <a:srgbClr val="CEE6F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180339" y="2843529"/>
              <a:ext cx="6176010" cy="4057650"/>
            </a:xfrm>
            <a:custGeom>
              <a:avLst/>
              <a:gdLst/>
              <a:ahLst/>
              <a:cxnLst/>
              <a:rect l="l" t="t" r="r" b="b"/>
              <a:pathLst>
                <a:path w="6176010" h="4057650">
                  <a:moveTo>
                    <a:pt x="3088640" y="4057650"/>
                  </a:moveTo>
                  <a:lnTo>
                    <a:pt x="0" y="4057650"/>
                  </a:lnTo>
                  <a:lnTo>
                    <a:pt x="0" y="0"/>
                  </a:lnTo>
                  <a:lnTo>
                    <a:pt x="6176010" y="0"/>
                  </a:lnTo>
                  <a:lnTo>
                    <a:pt x="6176010" y="4057650"/>
                  </a:lnTo>
                  <a:lnTo>
                    <a:pt x="3088640" y="4057650"/>
                  </a:lnTo>
                  <a:close/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918204" y="1909152"/>
            <a:ext cx="4004150" cy="3113918"/>
          </a:xfrm>
          <a:prstGeom prst="rect">
            <a:avLst/>
          </a:prstGeom>
        </p:spPr>
        <p:txBody>
          <a:bodyPr vert="horz" wrap="square" lIns="0" tIns="27230" rIns="0" bIns="0" rtlCol="0">
            <a:spAutoFit/>
          </a:bodyPr>
          <a:lstStyle/>
          <a:p>
            <a:pPr marL="21612" marR="51869">
              <a:lnSpc>
                <a:spcPts val="1518"/>
              </a:lnSpc>
              <a:spcBef>
                <a:spcPts val="214"/>
              </a:spcBef>
            </a:pPr>
            <a:r>
              <a:rPr sz="1361" b="1" spc="-3" dirty="0">
                <a:solidFill>
                  <a:srgbClr val="3B3B3B"/>
                </a:solidFill>
                <a:latin typeface="Arial"/>
                <a:cs typeface="Arial"/>
              </a:rPr>
              <a:t>Streaming Multiprocessor </a:t>
            </a:r>
            <a:r>
              <a:rPr sz="1361" b="1" spc="3" dirty="0">
                <a:solidFill>
                  <a:srgbClr val="3B3B3B"/>
                </a:solidFill>
                <a:latin typeface="Arial"/>
                <a:cs typeface="Arial"/>
              </a:rPr>
              <a:t>(SM)</a:t>
            </a:r>
            <a:r>
              <a:rPr sz="1361" spc="3" dirty="0">
                <a:solidFill>
                  <a:srgbClr val="3B3B3B"/>
                </a:solidFill>
                <a:latin typeface="Arial"/>
                <a:cs typeface="Arial"/>
              </a:rPr>
              <a:t>: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composed by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32 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CUDA</a:t>
            </a:r>
            <a:r>
              <a:rPr sz="1361" spc="-78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cores.</a:t>
            </a:r>
            <a:endParaRPr sz="1361">
              <a:latin typeface="Arial"/>
              <a:cs typeface="Arial"/>
            </a:endParaRPr>
          </a:p>
          <a:p>
            <a:pPr marL="21612" marR="3458">
              <a:lnSpc>
                <a:spcPts val="1518"/>
              </a:lnSpc>
            </a:pPr>
            <a:r>
              <a:rPr sz="1361" b="1" spc="-3" dirty="0">
                <a:solidFill>
                  <a:srgbClr val="3B3B3B"/>
                </a:solidFill>
                <a:latin typeface="Arial"/>
                <a:cs typeface="Arial"/>
              </a:rPr>
              <a:t>GigaThread globlal scheduler: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Distributes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thread  blocks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to SM thread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schedulers and manages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the  context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switches between threads during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execution  </a:t>
            </a:r>
            <a:r>
              <a:rPr sz="1361" b="1" spc="-3" dirty="0">
                <a:solidFill>
                  <a:srgbClr val="3B3B3B"/>
                </a:solidFill>
                <a:latin typeface="Arial"/>
                <a:cs typeface="Arial"/>
              </a:rPr>
              <a:t>Host </a:t>
            </a:r>
            <a:r>
              <a:rPr sz="1361" b="1" dirty="0">
                <a:solidFill>
                  <a:srgbClr val="3B3B3B"/>
                </a:solidFill>
                <a:latin typeface="Arial"/>
                <a:cs typeface="Arial"/>
              </a:rPr>
              <a:t>interface: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connects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the GPU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to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the CPU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via a  PCI-Express v2 bus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(peak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transfer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rate of</a:t>
            </a:r>
            <a:r>
              <a:rPr sz="1361" spc="-10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8GB/s).</a:t>
            </a:r>
            <a:endParaRPr sz="1361">
              <a:latin typeface="Arial"/>
              <a:cs typeface="Arial"/>
            </a:endParaRPr>
          </a:p>
          <a:p>
            <a:pPr marL="21612" marR="332396">
              <a:lnSpc>
                <a:spcPts val="1518"/>
              </a:lnSpc>
              <a:spcBef>
                <a:spcPts val="7"/>
              </a:spcBef>
            </a:pPr>
            <a:r>
              <a:rPr sz="1361" b="1" dirty="0">
                <a:solidFill>
                  <a:srgbClr val="3B3B3B"/>
                </a:solidFill>
                <a:latin typeface="Arial"/>
                <a:cs typeface="Arial"/>
              </a:rPr>
              <a:t>DRAM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: Supported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up to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6GB of GDDR5</a:t>
            </a:r>
            <a:r>
              <a:rPr sz="1361" spc="-54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DRAM 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memory</a:t>
            </a:r>
            <a:endParaRPr sz="1361">
              <a:latin typeface="Arial"/>
              <a:cs typeface="Arial"/>
            </a:endParaRPr>
          </a:p>
          <a:p>
            <a:pPr marL="21612" marR="1517178">
              <a:lnSpc>
                <a:spcPts val="1518"/>
              </a:lnSpc>
            </a:pPr>
            <a:r>
              <a:rPr sz="1361" b="1" spc="-3" dirty="0">
                <a:solidFill>
                  <a:srgbClr val="3B3B3B"/>
                </a:solidFill>
                <a:latin typeface="Arial"/>
                <a:cs typeface="Arial"/>
              </a:rPr>
              <a:t>Clock frequency: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1.5GHz  </a:t>
            </a:r>
            <a:r>
              <a:rPr sz="1361" b="1" spc="-3" dirty="0">
                <a:solidFill>
                  <a:srgbClr val="3B3B3B"/>
                </a:solidFill>
                <a:latin typeface="Arial"/>
                <a:cs typeface="Arial"/>
              </a:rPr>
              <a:t>Peak performance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: 1.5 TFlops.  </a:t>
            </a:r>
            <a:r>
              <a:rPr sz="1361" b="1" spc="-3" dirty="0">
                <a:solidFill>
                  <a:srgbClr val="3B3B3B"/>
                </a:solidFill>
                <a:latin typeface="Arial"/>
                <a:cs typeface="Arial"/>
              </a:rPr>
              <a:t>Global memory </a:t>
            </a:r>
            <a:r>
              <a:rPr sz="1361" b="1" dirty="0">
                <a:solidFill>
                  <a:srgbClr val="3B3B3B"/>
                </a:solidFill>
                <a:latin typeface="Arial"/>
                <a:cs typeface="Arial"/>
              </a:rPr>
              <a:t>clock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:</a:t>
            </a:r>
            <a:r>
              <a:rPr sz="1361" spc="-31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361" dirty="0">
                <a:solidFill>
                  <a:srgbClr val="3B3B3B"/>
                </a:solidFill>
                <a:latin typeface="Arial"/>
                <a:cs typeface="Arial"/>
              </a:rPr>
              <a:t>2GHz.</a:t>
            </a:r>
            <a:endParaRPr sz="1361">
              <a:latin typeface="Arial"/>
              <a:cs typeface="Arial"/>
            </a:endParaRPr>
          </a:p>
          <a:p>
            <a:pPr marL="21612">
              <a:lnSpc>
                <a:spcPts val="1487"/>
              </a:lnSpc>
            </a:pPr>
            <a:r>
              <a:rPr sz="1361" b="1" dirty="0">
                <a:solidFill>
                  <a:srgbClr val="3B3B3B"/>
                </a:solidFill>
                <a:latin typeface="Arial"/>
                <a:cs typeface="Arial"/>
              </a:rPr>
              <a:t>DRAM </a:t>
            </a:r>
            <a:r>
              <a:rPr sz="1361" b="1" spc="-3" dirty="0">
                <a:solidFill>
                  <a:srgbClr val="3B3B3B"/>
                </a:solidFill>
                <a:latin typeface="Arial"/>
                <a:cs typeface="Arial"/>
              </a:rPr>
              <a:t>bandwidth:</a:t>
            </a:r>
            <a:r>
              <a:rPr sz="1361" b="1" spc="7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361" spc="-3" dirty="0">
                <a:solidFill>
                  <a:srgbClr val="3B3B3B"/>
                </a:solidFill>
                <a:latin typeface="Arial"/>
                <a:cs typeface="Arial"/>
              </a:rPr>
              <a:t>192GB/s.</a:t>
            </a:r>
            <a:endParaRPr sz="1361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98">
              <a:latin typeface="Arial"/>
              <a:cs typeface="Arial"/>
            </a:endParaRPr>
          </a:p>
          <a:p>
            <a:pPr marL="8645">
              <a:spcBef>
                <a:spcPts val="1300"/>
              </a:spcBef>
            </a:pPr>
            <a:r>
              <a:rPr sz="1225" spc="-3" dirty="0">
                <a:solidFill>
                  <a:srgbClr val="3B3B3B"/>
                </a:solidFill>
                <a:latin typeface="Arial"/>
                <a:cs typeface="Arial"/>
              </a:rPr>
              <a:t>Image Credit: NVIDIA</a:t>
            </a:r>
            <a:endParaRPr sz="1225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358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228450"/>
            <a:ext cx="5708896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  <a:tabLst>
                <a:tab pos="3539218" algn="l"/>
              </a:tabLst>
            </a:pPr>
            <a:r>
              <a:rPr spc="-3" dirty="0"/>
              <a:t>Har</a:t>
            </a:r>
            <a:r>
              <a:rPr spc="-7" dirty="0"/>
              <a:t>d</a:t>
            </a:r>
            <a:r>
              <a:rPr spc="-3" dirty="0"/>
              <a:t>wa</a:t>
            </a:r>
            <a:r>
              <a:rPr spc="-7" dirty="0"/>
              <a:t>r</a:t>
            </a:r>
            <a:r>
              <a:rPr dirty="0"/>
              <a:t>e </a:t>
            </a:r>
            <a:r>
              <a:rPr dirty="0" smtClean="0"/>
              <a:t>Ex</a:t>
            </a:r>
            <a:r>
              <a:rPr spc="-7" dirty="0" smtClean="0"/>
              <a:t>e</a:t>
            </a:r>
            <a:r>
              <a:rPr dirty="0" smtClean="0"/>
              <a:t>c</a:t>
            </a:r>
            <a:r>
              <a:rPr spc="-3" dirty="0" smtClean="0"/>
              <a:t>ut</a:t>
            </a:r>
            <a:r>
              <a:rPr spc="3" dirty="0" smtClean="0"/>
              <a:t>i</a:t>
            </a:r>
            <a:r>
              <a:rPr spc="-3" dirty="0" smtClean="0"/>
              <a:t>o</a:t>
            </a:r>
            <a:r>
              <a:rPr dirty="0" smtClean="0"/>
              <a:t>n</a:t>
            </a:r>
            <a:r>
              <a:rPr lang="en-IN" dirty="0" smtClean="0"/>
              <a:t> </a:t>
            </a:r>
            <a:r>
              <a:rPr dirty="0" smtClean="0"/>
              <a:t>Mod</a:t>
            </a:r>
            <a:r>
              <a:rPr spc="-3" dirty="0" smtClean="0"/>
              <a:t>e</a:t>
            </a:r>
            <a:r>
              <a:rPr dirty="0" smtClean="0"/>
              <a:t>l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835613" y="3756853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 dirty="0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6049" y="3562350"/>
            <a:ext cx="5781899" cy="840187"/>
          </a:xfrm>
          <a:prstGeom prst="rect">
            <a:avLst/>
          </a:prstGeom>
        </p:spPr>
        <p:txBody>
          <a:bodyPr vert="horz" wrap="square" lIns="0" tIns="8212" rIns="0" bIns="0" rtlCol="0">
            <a:spAutoFit/>
          </a:bodyPr>
          <a:lstStyle/>
          <a:p>
            <a:pPr marL="8645" marR="3458">
              <a:lnSpc>
                <a:spcPct val="130500"/>
              </a:lnSpc>
              <a:spcBef>
                <a:spcPts val="65"/>
              </a:spcBef>
            </a:pPr>
            <a:r>
              <a:rPr sz="2178" spc="-3" dirty="0">
                <a:latin typeface="Arial"/>
                <a:cs typeface="Arial"/>
              </a:rPr>
              <a:t>Multiple </a:t>
            </a:r>
            <a:r>
              <a:rPr sz="2178" dirty="0">
                <a:latin typeface="Arial"/>
                <a:cs typeface="Arial"/>
              </a:rPr>
              <a:t>multithreaded </a:t>
            </a:r>
            <a:r>
              <a:rPr sz="2178" spc="-3" dirty="0">
                <a:latin typeface="Arial"/>
                <a:cs typeface="Arial"/>
              </a:rPr>
              <a:t>SIMD </a:t>
            </a:r>
            <a:r>
              <a:rPr sz="2178" dirty="0">
                <a:latin typeface="Arial"/>
                <a:cs typeface="Arial"/>
              </a:rPr>
              <a:t>cores </a:t>
            </a:r>
            <a:r>
              <a:rPr sz="2178" spc="-7" dirty="0">
                <a:latin typeface="Arial"/>
                <a:cs typeface="Arial"/>
              </a:rPr>
              <a:t>form </a:t>
            </a:r>
            <a:r>
              <a:rPr sz="2178" dirty="0">
                <a:latin typeface="Arial"/>
                <a:cs typeface="Arial"/>
              </a:rPr>
              <a:t>a </a:t>
            </a:r>
            <a:r>
              <a:rPr sz="2178" spc="-3" dirty="0">
                <a:latin typeface="Arial"/>
                <a:cs typeface="Arial"/>
              </a:rPr>
              <a:t>GPU  </a:t>
            </a:r>
            <a:r>
              <a:rPr sz="2178" dirty="0">
                <a:latin typeface="Arial"/>
                <a:cs typeface="Arial"/>
              </a:rPr>
              <a:t>No scalar</a:t>
            </a:r>
            <a:r>
              <a:rPr sz="2178" spc="-14" dirty="0">
                <a:latin typeface="Arial"/>
                <a:cs typeface="Arial"/>
              </a:rPr>
              <a:t> </a:t>
            </a:r>
            <a:r>
              <a:rPr sz="2178" dirty="0">
                <a:latin typeface="Arial"/>
                <a:cs typeface="Arial"/>
              </a:rPr>
              <a:t>processor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35613" y="4189944"/>
            <a:ext cx="116269" cy="159757"/>
          </a:xfrm>
          <a:prstGeom prst="rect">
            <a:avLst/>
          </a:prstGeom>
        </p:spPr>
        <p:txBody>
          <a:bodyPr vert="horz" wrap="square" lIns="0" tIns="7780" rIns="0" bIns="0" rtlCol="0">
            <a:spAutoFit/>
          </a:bodyPr>
          <a:lstStyle/>
          <a:p>
            <a:pPr marL="8645">
              <a:spcBef>
                <a:spcPts val="61"/>
              </a:spcBef>
            </a:pPr>
            <a:r>
              <a:rPr sz="987" spc="-7" dirty="0">
                <a:latin typeface="OpenSymbol"/>
                <a:cs typeface="OpenSymbol"/>
              </a:rPr>
              <a:t>●</a:t>
            </a:r>
            <a:endParaRPr sz="987" dirty="0">
              <a:latin typeface="OpenSymbol"/>
              <a:cs typeface="OpenSymbo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89171" y="1084549"/>
            <a:ext cx="6065286" cy="21819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75373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1600" y="109054"/>
            <a:ext cx="3078928" cy="624283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</a:pPr>
            <a:r>
              <a:rPr spc="-3" dirty="0"/>
              <a:t>NVIDIA</a:t>
            </a:r>
            <a:r>
              <a:rPr spc="-208" dirty="0"/>
              <a:t> </a:t>
            </a:r>
            <a:r>
              <a:rPr spc="-3" dirty="0"/>
              <a:t>Fermi</a:t>
            </a:r>
          </a:p>
        </p:txBody>
      </p:sp>
      <p:sp>
        <p:nvSpPr>
          <p:cNvPr id="3" name="object 3"/>
          <p:cNvSpPr/>
          <p:nvPr/>
        </p:nvSpPr>
        <p:spPr>
          <a:xfrm>
            <a:off x="4114800" y="895350"/>
            <a:ext cx="4876800" cy="40482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</p:spTree>
    <p:extLst>
      <p:ext uri="{BB962C8B-B14F-4D97-AF65-F5344CB8AC3E}">
        <p14:creationId xmlns:p14="http://schemas.microsoft.com/office/powerpoint/2010/main" val="385595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3420" y="-34661"/>
            <a:ext cx="6188192" cy="1116725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  <a:tabLst>
                <a:tab pos="3707361" algn="l"/>
              </a:tabLst>
            </a:pPr>
            <a:r>
              <a:rPr sz="3600" spc="-3" dirty="0"/>
              <a:t>Comparison</a:t>
            </a:r>
            <a:r>
              <a:rPr sz="3600" dirty="0"/>
              <a:t> </a:t>
            </a:r>
            <a:r>
              <a:rPr sz="3600" spc="-3" dirty="0" smtClean="0"/>
              <a:t>between</a:t>
            </a:r>
            <a:r>
              <a:rPr lang="en-IN" sz="3600" spc="-3" dirty="0" smtClean="0"/>
              <a:t> </a:t>
            </a:r>
            <a:r>
              <a:rPr sz="3600" spc="-3" dirty="0" smtClean="0"/>
              <a:t>CPU </a:t>
            </a:r>
            <a:r>
              <a:rPr sz="3600" spc="-3" dirty="0"/>
              <a:t>and</a:t>
            </a:r>
            <a:r>
              <a:rPr sz="3600" spc="-54" dirty="0"/>
              <a:t> </a:t>
            </a:r>
            <a:r>
              <a:rPr sz="3600" spc="-3" dirty="0"/>
              <a:t>GPU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3014" y="976244"/>
            <a:ext cx="5994555" cy="1372180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 marR="519558">
              <a:lnSpc>
                <a:spcPct val="113900"/>
              </a:lnSpc>
              <a:spcBef>
                <a:spcPts val="68"/>
              </a:spcBef>
            </a:pPr>
            <a:r>
              <a:rPr sz="1634" i="1" spc="-3" dirty="0">
                <a:latin typeface="Arial"/>
                <a:cs typeface="Arial"/>
              </a:rPr>
              <a:t>Nemo-3D, w</a:t>
            </a:r>
            <a:r>
              <a:rPr sz="1634" spc="-3" dirty="0">
                <a:latin typeface="Arial"/>
                <a:cs typeface="Arial"/>
              </a:rPr>
              <a:t>ritten by the </a:t>
            </a:r>
            <a:r>
              <a:rPr sz="1634" spc="-31" dirty="0">
                <a:latin typeface="Arial"/>
                <a:cs typeface="Arial"/>
              </a:rPr>
              <a:t>CalTech </a:t>
            </a:r>
            <a:r>
              <a:rPr sz="1634" spc="-3" dirty="0">
                <a:latin typeface="Arial"/>
                <a:cs typeface="Arial"/>
              </a:rPr>
              <a:t>Jet </a:t>
            </a:r>
            <a:r>
              <a:rPr sz="1634" spc="-7" dirty="0">
                <a:latin typeface="Arial"/>
                <a:cs typeface="Arial"/>
              </a:rPr>
              <a:t>Propulsion </a:t>
            </a:r>
            <a:r>
              <a:rPr sz="1634" spc="-3" dirty="0">
                <a:latin typeface="Arial"/>
                <a:cs typeface="Arial"/>
              </a:rPr>
              <a:t>Laboratory  NEMO-3D simulates </a:t>
            </a:r>
            <a:r>
              <a:rPr sz="1634" spc="-7" dirty="0">
                <a:latin typeface="Arial"/>
                <a:cs typeface="Arial"/>
              </a:rPr>
              <a:t>quantum</a:t>
            </a:r>
            <a:r>
              <a:rPr sz="1634" spc="10" dirty="0">
                <a:latin typeface="Arial"/>
                <a:cs typeface="Arial"/>
              </a:rPr>
              <a:t> </a:t>
            </a:r>
            <a:r>
              <a:rPr sz="1634" spc="-7" dirty="0">
                <a:latin typeface="Arial"/>
                <a:cs typeface="Arial"/>
              </a:rPr>
              <a:t>phenomena.</a:t>
            </a:r>
            <a:endParaRPr sz="1634" dirty="0">
              <a:latin typeface="Arial"/>
              <a:cs typeface="Arial"/>
            </a:endParaRPr>
          </a:p>
          <a:p>
            <a:pPr marL="8645" marR="392478">
              <a:lnSpc>
                <a:spcPts val="1824"/>
              </a:lnSpc>
              <a:spcBef>
                <a:spcPts val="439"/>
              </a:spcBef>
            </a:pPr>
            <a:r>
              <a:rPr sz="1634" spc="-3" dirty="0">
                <a:latin typeface="Arial"/>
                <a:cs typeface="Arial"/>
              </a:rPr>
              <a:t>These models require </a:t>
            </a:r>
            <a:r>
              <a:rPr sz="1634" dirty="0">
                <a:latin typeface="Arial"/>
                <a:cs typeface="Arial"/>
              </a:rPr>
              <a:t>a </a:t>
            </a:r>
            <a:r>
              <a:rPr sz="1634" spc="-3" dirty="0">
                <a:latin typeface="Arial"/>
                <a:cs typeface="Arial"/>
              </a:rPr>
              <a:t>lot of matrix </a:t>
            </a:r>
            <a:r>
              <a:rPr sz="1634" spc="-7" dirty="0">
                <a:latin typeface="Arial"/>
                <a:cs typeface="Arial"/>
              </a:rPr>
              <a:t>operations </a:t>
            </a:r>
            <a:r>
              <a:rPr sz="1634" dirty="0">
                <a:latin typeface="Arial"/>
                <a:cs typeface="Arial"/>
              </a:rPr>
              <a:t>on very </a:t>
            </a:r>
            <a:r>
              <a:rPr sz="1634" spc="-3" dirty="0">
                <a:latin typeface="Arial"/>
                <a:cs typeface="Arial"/>
              </a:rPr>
              <a:t>large  matrices.</a:t>
            </a:r>
            <a:endParaRPr sz="1634" dirty="0">
              <a:latin typeface="Arial"/>
              <a:cs typeface="Arial"/>
            </a:endParaRPr>
          </a:p>
          <a:p>
            <a:pPr marL="8645">
              <a:spcBef>
                <a:spcPts val="227"/>
              </a:spcBef>
            </a:pPr>
            <a:r>
              <a:rPr sz="1634" spc="-3" dirty="0">
                <a:latin typeface="Arial"/>
                <a:cs typeface="Arial"/>
              </a:rPr>
              <a:t>Modified matrix operation functions </a:t>
            </a:r>
            <a:r>
              <a:rPr sz="1634" dirty="0">
                <a:latin typeface="Arial"/>
                <a:cs typeface="Arial"/>
              </a:rPr>
              <a:t>to </a:t>
            </a:r>
            <a:r>
              <a:rPr sz="1634" spc="-3" dirty="0">
                <a:latin typeface="Arial"/>
                <a:cs typeface="Arial"/>
              </a:rPr>
              <a:t>use </a:t>
            </a:r>
            <a:r>
              <a:rPr sz="1634" spc="-7" dirty="0">
                <a:latin typeface="Arial"/>
                <a:cs typeface="Arial"/>
              </a:rPr>
              <a:t>CUDA </a:t>
            </a:r>
            <a:r>
              <a:rPr sz="1634" spc="-3" dirty="0">
                <a:latin typeface="Arial"/>
                <a:cs typeface="Arial"/>
              </a:rPr>
              <a:t>instead of</a:t>
            </a:r>
            <a:r>
              <a:rPr sz="1634" spc="-82" dirty="0">
                <a:latin typeface="Arial"/>
                <a:cs typeface="Arial"/>
              </a:rPr>
              <a:t> </a:t>
            </a:r>
            <a:r>
              <a:rPr sz="1634" spc="-7" dirty="0">
                <a:latin typeface="Arial"/>
                <a:cs typeface="Arial"/>
              </a:rPr>
              <a:t>CPU.</a:t>
            </a:r>
            <a:endParaRPr sz="1634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75345" y="2659336"/>
            <a:ext cx="1530083" cy="441736"/>
            <a:chOff x="1676400" y="3752850"/>
            <a:chExt cx="2247900" cy="648970"/>
          </a:xfrm>
        </p:grpSpPr>
        <p:sp>
          <p:nvSpPr>
            <p:cNvPr id="5" name="object 5"/>
            <p:cNvSpPr/>
            <p:nvPr/>
          </p:nvSpPr>
          <p:spPr>
            <a:xfrm>
              <a:off x="1676400" y="3898900"/>
              <a:ext cx="240030" cy="2400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" name="object 6"/>
            <p:cNvSpPr/>
            <p:nvPr/>
          </p:nvSpPr>
          <p:spPr>
            <a:xfrm>
              <a:off x="1676400" y="3898900"/>
              <a:ext cx="264160" cy="264160"/>
            </a:xfrm>
            <a:custGeom>
              <a:avLst/>
              <a:gdLst/>
              <a:ahLst/>
              <a:cxnLst/>
              <a:rect l="l" t="t" r="r" b="b"/>
              <a:pathLst>
                <a:path w="264160" h="264160">
                  <a:moveTo>
                    <a:pt x="264160" y="0"/>
                  </a:moveTo>
                  <a:lnTo>
                    <a:pt x="237489" y="0"/>
                  </a:lnTo>
                  <a:lnTo>
                    <a:pt x="0" y="237489"/>
                  </a:lnTo>
                  <a:lnTo>
                    <a:pt x="0" y="264160"/>
                  </a:lnTo>
                  <a:lnTo>
                    <a:pt x="264160" y="0"/>
                  </a:lnTo>
                  <a:close/>
                </a:path>
              </a:pathLst>
            </a:custGeom>
            <a:solidFill>
              <a:srgbClr val="7BCFC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" name="object 7"/>
            <p:cNvSpPr/>
            <p:nvPr/>
          </p:nvSpPr>
          <p:spPr>
            <a:xfrm>
              <a:off x="1676400" y="389890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289" y="0"/>
                  </a:moveTo>
                  <a:lnTo>
                    <a:pt x="262889" y="0"/>
                  </a:lnTo>
                  <a:lnTo>
                    <a:pt x="0" y="262889"/>
                  </a:lnTo>
                  <a:lnTo>
                    <a:pt x="0" y="288289"/>
                  </a:lnTo>
                  <a:lnTo>
                    <a:pt x="288289" y="0"/>
                  </a:lnTo>
                  <a:close/>
                </a:path>
              </a:pathLst>
            </a:custGeom>
            <a:solidFill>
              <a:srgbClr val="7BCEC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" name="object 8"/>
            <p:cNvSpPr/>
            <p:nvPr/>
          </p:nvSpPr>
          <p:spPr>
            <a:xfrm>
              <a:off x="1676400" y="3898900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19" h="312420">
                  <a:moveTo>
                    <a:pt x="312419" y="0"/>
                  </a:moveTo>
                  <a:lnTo>
                    <a:pt x="285750" y="0"/>
                  </a:lnTo>
                  <a:lnTo>
                    <a:pt x="0" y="285750"/>
                  </a:lnTo>
                  <a:lnTo>
                    <a:pt x="0" y="312420"/>
                  </a:lnTo>
                  <a:lnTo>
                    <a:pt x="312419" y="0"/>
                  </a:lnTo>
                  <a:close/>
                </a:path>
              </a:pathLst>
            </a:custGeom>
            <a:solidFill>
              <a:srgbClr val="7ACDB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" name="object 9"/>
            <p:cNvSpPr/>
            <p:nvPr/>
          </p:nvSpPr>
          <p:spPr>
            <a:xfrm>
              <a:off x="1676400" y="3898900"/>
              <a:ext cx="336550" cy="336550"/>
            </a:xfrm>
            <a:custGeom>
              <a:avLst/>
              <a:gdLst/>
              <a:ahLst/>
              <a:cxnLst/>
              <a:rect l="l" t="t" r="r" b="b"/>
              <a:pathLst>
                <a:path w="336550" h="336550">
                  <a:moveTo>
                    <a:pt x="336550" y="0"/>
                  </a:moveTo>
                  <a:lnTo>
                    <a:pt x="311150" y="0"/>
                  </a:lnTo>
                  <a:lnTo>
                    <a:pt x="0" y="311150"/>
                  </a:lnTo>
                  <a:lnTo>
                    <a:pt x="0" y="336550"/>
                  </a:lnTo>
                  <a:lnTo>
                    <a:pt x="336550" y="0"/>
                  </a:lnTo>
                  <a:close/>
                </a:path>
              </a:pathLst>
            </a:custGeom>
            <a:solidFill>
              <a:srgbClr val="79CCB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6400" y="3898900"/>
              <a:ext cx="360680" cy="355600"/>
            </a:xfrm>
            <a:custGeom>
              <a:avLst/>
              <a:gdLst/>
              <a:ahLst/>
              <a:cxnLst/>
              <a:rect l="l" t="t" r="r" b="b"/>
              <a:pathLst>
                <a:path w="360680" h="355600">
                  <a:moveTo>
                    <a:pt x="360679" y="0"/>
                  </a:moveTo>
                  <a:lnTo>
                    <a:pt x="334010" y="0"/>
                  </a:lnTo>
                  <a:lnTo>
                    <a:pt x="0" y="334010"/>
                  </a:lnTo>
                  <a:lnTo>
                    <a:pt x="0" y="355600"/>
                  </a:lnTo>
                  <a:lnTo>
                    <a:pt x="5079" y="355600"/>
                  </a:lnTo>
                  <a:lnTo>
                    <a:pt x="360679" y="0"/>
                  </a:lnTo>
                  <a:close/>
                </a:path>
              </a:pathLst>
            </a:custGeom>
            <a:solidFill>
              <a:srgbClr val="79CCB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" name="object 11"/>
            <p:cNvSpPr/>
            <p:nvPr/>
          </p:nvSpPr>
          <p:spPr>
            <a:xfrm>
              <a:off x="168021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099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0999" y="0"/>
                  </a:lnTo>
                  <a:close/>
                </a:path>
              </a:pathLst>
            </a:custGeom>
            <a:solidFill>
              <a:srgbClr val="78CAB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" name="object 12"/>
            <p:cNvSpPr/>
            <p:nvPr/>
          </p:nvSpPr>
          <p:spPr>
            <a:xfrm>
              <a:off x="1703069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26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69" y="0"/>
                  </a:lnTo>
                  <a:close/>
                </a:path>
              </a:pathLst>
            </a:custGeom>
            <a:solidFill>
              <a:srgbClr val="78C9B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" name="object 13"/>
            <p:cNvSpPr/>
            <p:nvPr/>
          </p:nvSpPr>
          <p:spPr>
            <a:xfrm>
              <a:off x="1728469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77C8B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" name="object 14"/>
            <p:cNvSpPr/>
            <p:nvPr/>
          </p:nvSpPr>
          <p:spPr>
            <a:xfrm>
              <a:off x="175133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26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69" y="0"/>
                  </a:lnTo>
                  <a:close/>
                </a:path>
              </a:pathLst>
            </a:custGeom>
            <a:solidFill>
              <a:srgbClr val="76C7B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" name="object 15"/>
            <p:cNvSpPr/>
            <p:nvPr/>
          </p:nvSpPr>
          <p:spPr>
            <a:xfrm>
              <a:off x="177673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399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76C6B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" name="object 16"/>
            <p:cNvSpPr/>
            <p:nvPr/>
          </p:nvSpPr>
          <p:spPr>
            <a:xfrm>
              <a:off x="1799589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75C5B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" name="object 17"/>
            <p:cNvSpPr/>
            <p:nvPr/>
          </p:nvSpPr>
          <p:spPr>
            <a:xfrm>
              <a:off x="1824989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75C4B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" name="object 18"/>
            <p:cNvSpPr/>
            <p:nvPr/>
          </p:nvSpPr>
          <p:spPr>
            <a:xfrm>
              <a:off x="1847850" y="3898900"/>
              <a:ext cx="382905" cy="355600"/>
            </a:xfrm>
            <a:custGeom>
              <a:avLst/>
              <a:gdLst/>
              <a:ahLst/>
              <a:cxnLst/>
              <a:rect l="l" t="t" r="r" b="b"/>
              <a:pathLst>
                <a:path w="382905" h="355600">
                  <a:moveTo>
                    <a:pt x="382733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822" y="355600"/>
                  </a:lnTo>
                  <a:lnTo>
                    <a:pt x="382733" y="0"/>
                  </a:lnTo>
                  <a:close/>
                </a:path>
              </a:pathLst>
            </a:custGeom>
            <a:solidFill>
              <a:srgbClr val="74C3B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" name="object 19"/>
            <p:cNvSpPr/>
            <p:nvPr/>
          </p:nvSpPr>
          <p:spPr>
            <a:xfrm>
              <a:off x="187325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73C2B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" name="object 20"/>
            <p:cNvSpPr/>
            <p:nvPr/>
          </p:nvSpPr>
          <p:spPr>
            <a:xfrm>
              <a:off x="1897542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107" y="0"/>
                  </a:moveTo>
                  <a:lnTo>
                    <a:pt x="355911" y="0"/>
                  </a:lnTo>
                  <a:lnTo>
                    <a:pt x="0" y="355600"/>
                  </a:lnTo>
                  <a:lnTo>
                    <a:pt x="26507" y="355600"/>
                  </a:lnTo>
                  <a:lnTo>
                    <a:pt x="382107" y="0"/>
                  </a:lnTo>
                  <a:close/>
                </a:path>
              </a:pathLst>
            </a:custGeom>
            <a:solidFill>
              <a:srgbClr val="73C1B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" name="object 21"/>
            <p:cNvSpPr/>
            <p:nvPr/>
          </p:nvSpPr>
          <p:spPr>
            <a:xfrm>
              <a:off x="1921509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1774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485" y="355600"/>
                  </a:lnTo>
                  <a:lnTo>
                    <a:pt x="381774" y="0"/>
                  </a:lnTo>
                  <a:close/>
                </a:path>
              </a:pathLst>
            </a:custGeom>
            <a:solidFill>
              <a:srgbClr val="72C0B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" name="object 22"/>
            <p:cNvSpPr/>
            <p:nvPr/>
          </p:nvSpPr>
          <p:spPr>
            <a:xfrm>
              <a:off x="1945823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086" y="0"/>
                  </a:moveTo>
                  <a:lnTo>
                    <a:pt x="355911" y="0"/>
                  </a:lnTo>
                  <a:lnTo>
                    <a:pt x="0" y="355600"/>
                  </a:lnTo>
                  <a:lnTo>
                    <a:pt x="26486" y="355600"/>
                  </a:lnTo>
                  <a:lnTo>
                    <a:pt x="382086" y="0"/>
                  </a:lnTo>
                  <a:close/>
                </a:path>
              </a:pathLst>
            </a:custGeom>
            <a:solidFill>
              <a:srgbClr val="72BFB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" name="object 23"/>
            <p:cNvSpPr/>
            <p:nvPr/>
          </p:nvSpPr>
          <p:spPr>
            <a:xfrm>
              <a:off x="196977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1753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464" y="355600"/>
                  </a:lnTo>
                  <a:lnTo>
                    <a:pt x="381753" y="0"/>
                  </a:lnTo>
                  <a:close/>
                </a:path>
              </a:pathLst>
            </a:custGeom>
            <a:solidFill>
              <a:srgbClr val="71BEB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" name="object 24"/>
            <p:cNvSpPr/>
            <p:nvPr/>
          </p:nvSpPr>
          <p:spPr>
            <a:xfrm>
              <a:off x="1994104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065" y="0"/>
                  </a:moveTo>
                  <a:lnTo>
                    <a:pt x="355911" y="0"/>
                  </a:lnTo>
                  <a:lnTo>
                    <a:pt x="0" y="355600"/>
                  </a:lnTo>
                  <a:lnTo>
                    <a:pt x="26465" y="355600"/>
                  </a:lnTo>
                  <a:lnTo>
                    <a:pt x="382065" y="0"/>
                  </a:lnTo>
                  <a:close/>
                </a:path>
              </a:pathLst>
            </a:custGeom>
            <a:solidFill>
              <a:srgbClr val="71BDB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" name="object 25"/>
            <p:cNvSpPr/>
            <p:nvPr/>
          </p:nvSpPr>
          <p:spPr>
            <a:xfrm>
              <a:off x="2018029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1732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443" y="355600"/>
                  </a:lnTo>
                  <a:lnTo>
                    <a:pt x="381732" y="0"/>
                  </a:lnTo>
                  <a:close/>
                </a:path>
              </a:pathLst>
            </a:custGeom>
            <a:solidFill>
              <a:srgbClr val="70BCA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" name="object 26"/>
            <p:cNvSpPr/>
            <p:nvPr/>
          </p:nvSpPr>
          <p:spPr>
            <a:xfrm>
              <a:off x="2042159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26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69" y="0"/>
                  </a:lnTo>
                  <a:close/>
                </a:path>
              </a:pathLst>
            </a:custGeom>
            <a:solidFill>
              <a:srgbClr val="6FBBA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" name="object 27"/>
            <p:cNvSpPr/>
            <p:nvPr/>
          </p:nvSpPr>
          <p:spPr>
            <a:xfrm>
              <a:off x="206629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1711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422" y="355600"/>
                  </a:lnTo>
                  <a:lnTo>
                    <a:pt x="381711" y="0"/>
                  </a:lnTo>
                  <a:close/>
                </a:path>
              </a:pathLst>
            </a:custGeom>
            <a:solidFill>
              <a:srgbClr val="6FBAA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" name="object 28"/>
            <p:cNvSpPr/>
            <p:nvPr/>
          </p:nvSpPr>
          <p:spPr>
            <a:xfrm>
              <a:off x="2090419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26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69" y="0"/>
                  </a:lnTo>
                  <a:close/>
                </a:path>
              </a:pathLst>
            </a:custGeom>
            <a:solidFill>
              <a:srgbClr val="6EB9A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" name="object 29"/>
            <p:cNvSpPr/>
            <p:nvPr/>
          </p:nvSpPr>
          <p:spPr>
            <a:xfrm>
              <a:off x="211455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EB8A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" name="object 30"/>
            <p:cNvSpPr/>
            <p:nvPr/>
          </p:nvSpPr>
          <p:spPr>
            <a:xfrm>
              <a:off x="2138948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001" y="0"/>
                  </a:moveTo>
                  <a:lnTo>
                    <a:pt x="355911" y="0"/>
                  </a:lnTo>
                  <a:lnTo>
                    <a:pt x="0" y="355600"/>
                  </a:lnTo>
                  <a:lnTo>
                    <a:pt x="26401" y="355600"/>
                  </a:lnTo>
                  <a:lnTo>
                    <a:pt x="382001" y="0"/>
                  </a:lnTo>
                  <a:close/>
                </a:path>
              </a:pathLst>
            </a:custGeom>
            <a:solidFill>
              <a:srgbClr val="6DB7A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" name="object 31"/>
            <p:cNvSpPr/>
            <p:nvPr/>
          </p:nvSpPr>
          <p:spPr>
            <a:xfrm>
              <a:off x="2162809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CB6A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" name="object 32"/>
            <p:cNvSpPr/>
            <p:nvPr/>
          </p:nvSpPr>
          <p:spPr>
            <a:xfrm>
              <a:off x="218694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6CB5A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" name="object 33"/>
            <p:cNvSpPr/>
            <p:nvPr/>
          </p:nvSpPr>
          <p:spPr>
            <a:xfrm>
              <a:off x="2211069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BB4A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" name="object 34"/>
            <p:cNvSpPr/>
            <p:nvPr/>
          </p:nvSpPr>
          <p:spPr>
            <a:xfrm>
              <a:off x="223520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26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69" y="0"/>
                  </a:lnTo>
                  <a:close/>
                </a:path>
              </a:pathLst>
            </a:custGeom>
            <a:solidFill>
              <a:srgbClr val="6BB3A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" name="object 35"/>
            <p:cNvSpPr/>
            <p:nvPr/>
          </p:nvSpPr>
          <p:spPr>
            <a:xfrm>
              <a:off x="225933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AB2A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" name="object 36"/>
            <p:cNvSpPr/>
            <p:nvPr/>
          </p:nvSpPr>
          <p:spPr>
            <a:xfrm>
              <a:off x="2283459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26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69" y="0"/>
                  </a:lnTo>
                  <a:close/>
                </a:path>
              </a:pathLst>
            </a:custGeom>
            <a:solidFill>
              <a:srgbClr val="6AB1A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" name="object 37"/>
            <p:cNvSpPr/>
            <p:nvPr/>
          </p:nvSpPr>
          <p:spPr>
            <a:xfrm>
              <a:off x="230759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9B0A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" name="object 38"/>
            <p:cNvSpPr/>
            <p:nvPr/>
          </p:nvSpPr>
          <p:spPr>
            <a:xfrm>
              <a:off x="2331719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26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69" y="0"/>
                  </a:lnTo>
                  <a:close/>
                </a:path>
              </a:pathLst>
            </a:custGeom>
            <a:solidFill>
              <a:srgbClr val="68AFA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" name="object 39"/>
            <p:cNvSpPr/>
            <p:nvPr/>
          </p:nvSpPr>
          <p:spPr>
            <a:xfrm>
              <a:off x="235585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8AEA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" name="object 40"/>
            <p:cNvSpPr/>
            <p:nvPr/>
          </p:nvSpPr>
          <p:spPr>
            <a:xfrm>
              <a:off x="238125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7ADA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1" name="object 41"/>
            <p:cNvSpPr/>
            <p:nvPr/>
          </p:nvSpPr>
          <p:spPr>
            <a:xfrm>
              <a:off x="2404995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091" y="0"/>
                  </a:moveTo>
                  <a:lnTo>
                    <a:pt x="355288" y="0"/>
                  </a:lnTo>
                  <a:lnTo>
                    <a:pt x="0" y="355600"/>
                  </a:lnTo>
                  <a:lnTo>
                    <a:pt x="26180" y="355600"/>
                  </a:lnTo>
                  <a:lnTo>
                    <a:pt x="382091" y="0"/>
                  </a:lnTo>
                  <a:close/>
                </a:path>
              </a:pathLst>
            </a:custGeom>
            <a:solidFill>
              <a:srgbClr val="67ACA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2" name="object 42"/>
            <p:cNvSpPr/>
            <p:nvPr/>
          </p:nvSpPr>
          <p:spPr>
            <a:xfrm>
              <a:off x="2429509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6AB9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3" name="object 43"/>
            <p:cNvSpPr/>
            <p:nvPr/>
          </p:nvSpPr>
          <p:spPr>
            <a:xfrm>
              <a:off x="2453234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133" y="0"/>
                  </a:moveTo>
                  <a:lnTo>
                    <a:pt x="355288" y="0"/>
                  </a:lnTo>
                  <a:lnTo>
                    <a:pt x="0" y="355600"/>
                  </a:lnTo>
                  <a:lnTo>
                    <a:pt x="26222" y="355600"/>
                  </a:lnTo>
                  <a:lnTo>
                    <a:pt x="382133" y="0"/>
                  </a:lnTo>
                  <a:close/>
                </a:path>
              </a:pathLst>
            </a:custGeom>
            <a:solidFill>
              <a:srgbClr val="66AA9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4" name="object 44"/>
            <p:cNvSpPr/>
            <p:nvPr/>
          </p:nvSpPr>
          <p:spPr>
            <a:xfrm>
              <a:off x="2477769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0999" y="0"/>
                  </a:moveTo>
                  <a:lnTo>
                    <a:pt x="355599" y="0"/>
                  </a:lnTo>
                  <a:lnTo>
                    <a:pt x="0" y="355600"/>
                  </a:lnTo>
                  <a:lnTo>
                    <a:pt x="25399" y="355600"/>
                  </a:lnTo>
                  <a:lnTo>
                    <a:pt x="380999" y="0"/>
                  </a:lnTo>
                  <a:close/>
                </a:path>
              </a:pathLst>
            </a:custGeom>
            <a:solidFill>
              <a:srgbClr val="66A99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5" name="object 45"/>
            <p:cNvSpPr/>
            <p:nvPr/>
          </p:nvSpPr>
          <p:spPr>
            <a:xfrm>
              <a:off x="2501473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176" y="0"/>
                  </a:moveTo>
                  <a:lnTo>
                    <a:pt x="355288" y="0"/>
                  </a:lnTo>
                  <a:lnTo>
                    <a:pt x="0" y="355600"/>
                  </a:lnTo>
                  <a:lnTo>
                    <a:pt x="26264" y="355600"/>
                  </a:lnTo>
                  <a:lnTo>
                    <a:pt x="382176" y="0"/>
                  </a:lnTo>
                  <a:close/>
                </a:path>
              </a:pathLst>
            </a:custGeom>
            <a:solidFill>
              <a:srgbClr val="64A89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6" name="object 46"/>
            <p:cNvSpPr/>
            <p:nvPr/>
          </p:nvSpPr>
          <p:spPr>
            <a:xfrm>
              <a:off x="252603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399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4A79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7" name="object 47"/>
            <p:cNvSpPr/>
            <p:nvPr/>
          </p:nvSpPr>
          <p:spPr>
            <a:xfrm>
              <a:off x="2549712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69" h="355600">
                  <a:moveTo>
                    <a:pt x="382218" y="0"/>
                  </a:moveTo>
                  <a:lnTo>
                    <a:pt x="355288" y="0"/>
                  </a:lnTo>
                  <a:lnTo>
                    <a:pt x="0" y="355600"/>
                  </a:lnTo>
                  <a:lnTo>
                    <a:pt x="26307" y="355600"/>
                  </a:lnTo>
                  <a:lnTo>
                    <a:pt x="382218" y="0"/>
                  </a:lnTo>
                  <a:close/>
                </a:path>
              </a:pathLst>
            </a:custGeom>
            <a:solidFill>
              <a:srgbClr val="63A69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8" name="object 48"/>
            <p:cNvSpPr/>
            <p:nvPr/>
          </p:nvSpPr>
          <p:spPr>
            <a:xfrm>
              <a:off x="2574289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2A59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9" name="object 49"/>
            <p:cNvSpPr/>
            <p:nvPr/>
          </p:nvSpPr>
          <p:spPr>
            <a:xfrm>
              <a:off x="259715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39" h="355600">
                  <a:moveTo>
                    <a:pt x="383061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150" y="355600"/>
                  </a:lnTo>
                  <a:lnTo>
                    <a:pt x="383061" y="0"/>
                  </a:lnTo>
                  <a:close/>
                </a:path>
              </a:pathLst>
            </a:custGeom>
            <a:solidFill>
              <a:srgbClr val="62A4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0" name="object 50"/>
            <p:cNvSpPr/>
            <p:nvPr/>
          </p:nvSpPr>
          <p:spPr>
            <a:xfrm>
              <a:off x="262255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1A3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1" name="object 51"/>
            <p:cNvSpPr/>
            <p:nvPr/>
          </p:nvSpPr>
          <p:spPr>
            <a:xfrm>
              <a:off x="264541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39" h="355600">
                  <a:moveTo>
                    <a:pt x="383082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171" y="355600"/>
                  </a:lnTo>
                  <a:lnTo>
                    <a:pt x="383082" y="0"/>
                  </a:lnTo>
                  <a:close/>
                </a:path>
              </a:pathLst>
            </a:custGeom>
            <a:solidFill>
              <a:srgbClr val="61A29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2" name="object 52"/>
            <p:cNvSpPr/>
            <p:nvPr/>
          </p:nvSpPr>
          <p:spPr>
            <a:xfrm>
              <a:off x="267081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60A19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3" name="object 53"/>
            <p:cNvSpPr/>
            <p:nvPr/>
          </p:nvSpPr>
          <p:spPr>
            <a:xfrm>
              <a:off x="2693669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39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60A09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4" name="object 54"/>
            <p:cNvSpPr/>
            <p:nvPr/>
          </p:nvSpPr>
          <p:spPr>
            <a:xfrm>
              <a:off x="2719069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5F9F9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5" name="object 55"/>
            <p:cNvSpPr/>
            <p:nvPr/>
          </p:nvSpPr>
          <p:spPr>
            <a:xfrm>
              <a:off x="274193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39" h="355600">
                  <a:moveTo>
                    <a:pt x="38353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39" y="0"/>
                  </a:lnTo>
                  <a:close/>
                </a:path>
              </a:pathLst>
            </a:custGeom>
            <a:solidFill>
              <a:srgbClr val="5E9E9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6" name="object 56"/>
            <p:cNvSpPr/>
            <p:nvPr/>
          </p:nvSpPr>
          <p:spPr>
            <a:xfrm>
              <a:off x="276733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399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5E9D9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7" name="object 57"/>
            <p:cNvSpPr/>
            <p:nvPr/>
          </p:nvSpPr>
          <p:spPr>
            <a:xfrm>
              <a:off x="2790189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39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5D9C9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8" name="object 58"/>
            <p:cNvSpPr/>
            <p:nvPr/>
          </p:nvSpPr>
          <p:spPr>
            <a:xfrm>
              <a:off x="2815589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5D9B9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59" name="object 59"/>
            <p:cNvSpPr/>
            <p:nvPr/>
          </p:nvSpPr>
          <p:spPr>
            <a:xfrm>
              <a:off x="283845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39" h="355600">
                  <a:moveTo>
                    <a:pt x="38353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39" y="0"/>
                  </a:lnTo>
                  <a:close/>
                </a:path>
              </a:pathLst>
            </a:custGeom>
            <a:solidFill>
              <a:srgbClr val="5C9A9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0" name="object 60"/>
            <p:cNvSpPr/>
            <p:nvPr/>
          </p:nvSpPr>
          <p:spPr>
            <a:xfrm>
              <a:off x="286385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5B998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1" name="object 61"/>
            <p:cNvSpPr/>
            <p:nvPr/>
          </p:nvSpPr>
          <p:spPr>
            <a:xfrm>
              <a:off x="2888576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1673" y="0"/>
                  </a:moveTo>
                  <a:lnTo>
                    <a:pt x="355911" y="0"/>
                  </a:lnTo>
                  <a:lnTo>
                    <a:pt x="0" y="355600"/>
                  </a:lnTo>
                  <a:lnTo>
                    <a:pt x="26073" y="355600"/>
                  </a:lnTo>
                  <a:lnTo>
                    <a:pt x="381673" y="0"/>
                  </a:lnTo>
                  <a:close/>
                </a:path>
              </a:pathLst>
            </a:custGeom>
            <a:solidFill>
              <a:srgbClr val="5B998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2" name="object 62"/>
            <p:cNvSpPr/>
            <p:nvPr/>
          </p:nvSpPr>
          <p:spPr>
            <a:xfrm>
              <a:off x="2912110" y="3898900"/>
              <a:ext cx="381635" cy="355600"/>
            </a:xfrm>
            <a:custGeom>
              <a:avLst/>
              <a:gdLst/>
              <a:ahLst/>
              <a:cxnLst/>
              <a:rect l="l" t="t" r="r" b="b"/>
              <a:pathLst>
                <a:path w="381635" h="355600">
                  <a:moveTo>
                    <a:pt x="381341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052" y="355600"/>
                  </a:lnTo>
                  <a:lnTo>
                    <a:pt x="381341" y="0"/>
                  </a:lnTo>
                  <a:close/>
                </a:path>
              </a:pathLst>
            </a:custGeom>
            <a:solidFill>
              <a:srgbClr val="5A978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3" name="object 63"/>
            <p:cNvSpPr/>
            <p:nvPr/>
          </p:nvSpPr>
          <p:spPr>
            <a:xfrm>
              <a:off x="2936857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1652" y="0"/>
                  </a:moveTo>
                  <a:lnTo>
                    <a:pt x="355911" y="0"/>
                  </a:lnTo>
                  <a:lnTo>
                    <a:pt x="0" y="355600"/>
                  </a:lnTo>
                  <a:lnTo>
                    <a:pt x="26052" y="355600"/>
                  </a:lnTo>
                  <a:lnTo>
                    <a:pt x="381652" y="0"/>
                  </a:lnTo>
                  <a:close/>
                </a:path>
              </a:pathLst>
            </a:custGeom>
            <a:solidFill>
              <a:srgbClr val="5A968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4" name="object 64"/>
            <p:cNvSpPr/>
            <p:nvPr/>
          </p:nvSpPr>
          <p:spPr>
            <a:xfrm>
              <a:off x="2960369" y="3898900"/>
              <a:ext cx="381635" cy="355600"/>
            </a:xfrm>
            <a:custGeom>
              <a:avLst/>
              <a:gdLst/>
              <a:ahLst/>
              <a:cxnLst/>
              <a:rect l="l" t="t" r="r" b="b"/>
              <a:pathLst>
                <a:path w="381635" h="355600">
                  <a:moveTo>
                    <a:pt x="381319" y="0"/>
                  </a:moveTo>
                  <a:lnTo>
                    <a:pt x="355599" y="0"/>
                  </a:lnTo>
                  <a:lnTo>
                    <a:pt x="0" y="355600"/>
                  </a:lnTo>
                  <a:lnTo>
                    <a:pt x="26031" y="355600"/>
                  </a:lnTo>
                  <a:lnTo>
                    <a:pt x="381319" y="0"/>
                  </a:lnTo>
                  <a:close/>
                </a:path>
              </a:pathLst>
            </a:custGeom>
            <a:solidFill>
              <a:srgbClr val="59958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5" name="object 65"/>
            <p:cNvSpPr/>
            <p:nvPr/>
          </p:nvSpPr>
          <p:spPr>
            <a:xfrm>
              <a:off x="2985138" y="3898900"/>
              <a:ext cx="381635" cy="355600"/>
            </a:xfrm>
            <a:custGeom>
              <a:avLst/>
              <a:gdLst/>
              <a:ahLst/>
              <a:cxnLst/>
              <a:rect l="l" t="t" r="r" b="b"/>
              <a:pathLst>
                <a:path w="381635" h="355600">
                  <a:moveTo>
                    <a:pt x="381631" y="0"/>
                  </a:moveTo>
                  <a:lnTo>
                    <a:pt x="355911" y="0"/>
                  </a:lnTo>
                  <a:lnTo>
                    <a:pt x="0" y="355600"/>
                  </a:lnTo>
                  <a:lnTo>
                    <a:pt x="26031" y="355600"/>
                  </a:lnTo>
                  <a:lnTo>
                    <a:pt x="381631" y="0"/>
                  </a:lnTo>
                  <a:close/>
                </a:path>
              </a:pathLst>
            </a:custGeom>
            <a:solidFill>
              <a:srgbClr val="58948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6" name="object 66"/>
            <p:cNvSpPr/>
            <p:nvPr/>
          </p:nvSpPr>
          <p:spPr>
            <a:xfrm>
              <a:off x="3008630" y="3898900"/>
              <a:ext cx="381635" cy="355600"/>
            </a:xfrm>
            <a:custGeom>
              <a:avLst/>
              <a:gdLst/>
              <a:ahLst/>
              <a:cxnLst/>
              <a:rect l="l" t="t" r="r" b="b"/>
              <a:pathLst>
                <a:path w="381635" h="355600">
                  <a:moveTo>
                    <a:pt x="381298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009" y="355600"/>
                  </a:lnTo>
                  <a:lnTo>
                    <a:pt x="381298" y="0"/>
                  </a:lnTo>
                  <a:close/>
                </a:path>
              </a:pathLst>
            </a:custGeom>
            <a:solidFill>
              <a:srgbClr val="58938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7" name="object 67"/>
            <p:cNvSpPr/>
            <p:nvPr/>
          </p:nvSpPr>
          <p:spPr>
            <a:xfrm>
              <a:off x="3033419" y="3898900"/>
              <a:ext cx="381635" cy="355600"/>
            </a:xfrm>
            <a:custGeom>
              <a:avLst/>
              <a:gdLst/>
              <a:ahLst/>
              <a:cxnLst/>
              <a:rect l="l" t="t" r="r" b="b"/>
              <a:pathLst>
                <a:path w="381635" h="355600">
                  <a:moveTo>
                    <a:pt x="381610" y="0"/>
                  </a:moveTo>
                  <a:lnTo>
                    <a:pt x="355911" y="0"/>
                  </a:lnTo>
                  <a:lnTo>
                    <a:pt x="0" y="355600"/>
                  </a:lnTo>
                  <a:lnTo>
                    <a:pt x="26010" y="355600"/>
                  </a:lnTo>
                  <a:lnTo>
                    <a:pt x="381610" y="0"/>
                  </a:lnTo>
                  <a:close/>
                </a:path>
              </a:pathLst>
            </a:custGeom>
            <a:solidFill>
              <a:srgbClr val="57928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8" name="object 68"/>
            <p:cNvSpPr/>
            <p:nvPr/>
          </p:nvSpPr>
          <p:spPr>
            <a:xfrm>
              <a:off x="3056889" y="3898900"/>
              <a:ext cx="381635" cy="355600"/>
            </a:xfrm>
            <a:custGeom>
              <a:avLst/>
              <a:gdLst/>
              <a:ahLst/>
              <a:cxnLst/>
              <a:rect l="l" t="t" r="r" b="b"/>
              <a:pathLst>
                <a:path w="381635" h="355600">
                  <a:moveTo>
                    <a:pt x="381277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988" y="355600"/>
                  </a:lnTo>
                  <a:lnTo>
                    <a:pt x="381277" y="0"/>
                  </a:lnTo>
                  <a:close/>
                </a:path>
              </a:pathLst>
            </a:custGeom>
            <a:solidFill>
              <a:srgbClr val="57918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69" name="object 69"/>
            <p:cNvSpPr/>
            <p:nvPr/>
          </p:nvSpPr>
          <p:spPr>
            <a:xfrm>
              <a:off x="3081700" y="3898900"/>
              <a:ext cx="381635" cy="355600"/>
            </a:xfrm>
            <a:custGeom>
              <a:avLst/>
              <a:gdLst/>
              <a:ahLst/>
              <a:cxnLst/>
              <a:rect l="l" t="t" r="r" b="b"/>
              <a:pathLst>
                <a:path w="381635" h="355600">
                  <a:moveTo>
                    <a:pt x="381589" y="0"/>
                  </a:moveTo>
                  <a:lnTo>
                    <a:pt x="355911" y="0"/>
                  </a:lnTo>
                  <a:lnTo>
                    <a:pt x="0" y="355600"/>
                  </a:lnTo>
                  <a:lnTo>
                    <a:pt x="25989" y="355600"/>
                  </a:lnTo>
                  <a:lnTo>
                    <a:pt x="381589" y="0"/>
                  </a:lnTo>
                  <a:close/>
                </a:path>
              </a:pathLst>
            </a:custGeom>
            <a:solidFill>
              <a:srgbClr val="56908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0" name="object 70"/>
            <p:cNvSpPr/>
            <p:nvPr/>
          </p:nvSpPr>
          <p:spPr>
            <a:xfrm>
              <a:off x="3105150" y="3898900"/>
              <a:ext cx="381635" cy="355600"/>
            </a:xfrm>
            <a:custGeom>
              <a:avLst/>
              <a:gdLst/>
              <a:ahLst/>
              <a:cxnLst/>
              <a:rect l="l" t="t" r="r" b="b"/>
              <a:pathLst>
                <a:path w="381635" h="355600">
                  <a:moveTo>
                    <a:pt x="381256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967" y="355600"/>
                  </a:lnTo>
                  <a:lnTo>
                    <a:pt x="381256" y="0"/>
                  </a:lnTo>
                  <a:close/>
                </a:path>
              </a:pathLst>
            </a:custGeom>
            <a:solidFill>
              <a:srgbClr val="568F8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1" name="object 71"/>
            <p:cNvSpPr/>
            <p:nvPr/>
          </p:nvSpPr>
          <p:spPr>
            <a:xfrm>
              <a:off x="3129981" y="3898900"/>
              <a:ext cx="381635" cy="355600"/>
            </a:xfrm>
            <a:custGeom>
              <a:avLst/>
              <a:gdLst/>
              <a:ahLst/>
              <a:cxnLst/>
              <a:rect l="l" t="t" r="r" b="b"/>
              <a:pathLst>
                <a:path w="381635" h="355600">
                  <a:moveTo>
                    <a:pt x="381568" y="0"/>
                  </a:moveTo>
                  <a:lnTo>
                    <a:pt x="355911" y="0"/>
                  </a:lnTo>
                  <a:lnTo>
                    <a:pt x="0" y="355600"/>
                  </a:lnTo>
                  <a:lnTo>
                    <a:pt x="25968" y="355600"/>
                  </a:lnTo>
                  <a:lnTo>
                    <a:pt x="381568" y="0"/>
                  </a:lnTo>
                  <a:close/>
                </a:path>
              </a:pathLst>
            </a:custGeom>
            <a:solidFill>
              <a:srgbClr val="558E8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2" name="object 72"/>
            <p:cNvSpPr/>
            <p:nvPr/>
          </p:nvSpPr>
          <p:spPr>
            <a:xfrm>
              <a:off x="315341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548D8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3" name="object 73"/>
            <p:cNvSpPr/>
            <p:nvPr/>
          </p:nvSpPr>
          <p:spPr>
            <a:xfrm>
              <a:off x="3178810" y="3898900"/>
              <a:ext cx="381000" cy="355600"/>
            </a:xfrm>
            <a:custGeom>
              <a:avLst/>
              <a:gdLst/>
              <a:ahLst/>
              <a:cxnLst/>
              <a:rect l="l" t="t" r="r" b="b"/>
              <a:pathLst>
                <a:path w="381000" h="355600">
                  <a:moveTo>
                    <a:pt x="38100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400" y="3556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548C8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4" name="object 74"/>
            <p:cNvSpPr/>
            <p:nvPr/>
          </p:nvSpPr>
          <p:spPr>
            <a:xfrm>
              <a:off x="3201669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39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538B8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5" name="object 75"/>
            <p:cNvSpPr/>
            <p:nvPr/>
          </p:nvSpPr>
          <p:spPr>
            <a:xfrm>
              <a:off x="3227069" y="3752850"/>
              <a:ext cx="518159" cy="501650"/>
            </a:xfrm>
            <a:custGeom>
              <a:avLst/>
              <a:gdLst/>
              <a:ahLst/>
              <a:cxnLst/>
              <a:rect l="l" t="t" r="r" b="b"/>
              <a:pathLst>
                <a:path w="518160" h="501650">
                  <a:moveTo>
                    <a:pt x="381000" y="146050"/>
                  </a:moveTo>
                  <a:lnTo>
                    <a:pt x="355600" y="146050"/>
                  </a:lnTo>
                  <a:lnTo>
                    <a:pt x="0" y="501650"/>
                  </a:lnTo>
                  <a:lnTo>
                    <a:pt x="25400" y="501650"/>
                  </a:lnTo>
                  <a:lnTo>
                    <a:pt x="381000" y="146050"/>
                  </a:lnTo>
                  <a:close/>
                </a:path>
                <a:path w="518160" h="501650">
                  <a:moveTo>
                    <a:pt x="513080" y="0"/>
                  </a:moveTo>
                  <a:lnTo>
                    <a:pt x="513080" y="13969"/>
                  </a:lnTo>
                  <a:lnTo>
                    <a:pt x="518144" y="8905"/>
                  </a:lnTo>
                  <a:lnTo>
                    <a:pt x="513080" y="0"/>
                  </a:lnTo>
                  <a:close/>
                </a:path>
              </a:pathLst>
            </a:custGeom>
            <a:solidFill>
              <a:srgbClr val="538A8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6" name="object 76"/>
            <p:cNvSpPr/>
            <p:nvPr/>
          </p:nvSpPr>
          <p:spPr>
            <a:xfrm>
              <a:off x="3249930" y="3760136"/>
              <a:ext cx="504825" cy="494665"/>
            </a:xfrm>
            <a:custGeom>
              <a:avLst/>
              <a:gdLst/>
              <a:ahLst/>
              <a:cxnLst/>
              <a:rect l="l" t="t" r="r" b="b"/>
              <a:pathLst>
                <a:path w="504825" h="494664">
                  <a:moveTo>
                    <a:pt x="383539" y="138763"/>
                  </a:moveTo>
                  <a:lnTo>
                    <a:pt x="355600" y="138763"/>
                  </a:lnTo>
                  <a:lnTo>
                    <a:pt x="0" y="494363"/>
                  </a:lnTo>
                  <a:lnTo>
                    <a:pt x="27939" y="494363"/>
                  </a:lnTo>
                  <a:lnTo>
                    <a:pt x="383539" y="138763"/>
                  </a:lnTo>
                  <a:close/>
                </a:path>
                <a:path w="504825" h="494664">
                  <a:moveTo>
                    <a:pt x="494363" y="0"/>
                  </a:moveTo>
                  <a:lnTo>
                    <a:pt x="490219" y="4143"/>
                  </a:lnTo>
                  <a:lnTo>
                    <a:pt x="490219" y="32083"/>
                  </a:lnTo>
                  <a:lnTo>
                    <a:pt x="504491" y="17811"/>
                  </a:lnTo>
                  <a:lnTo>
                    <a:pt x="494363" y="0"/>
                  </a:lnTo>
                  <a:close/>
                </a:path>
              </a:pathLst>
            </a:custGeom>
            <a:solidFill>
              <a:srgbClr val="52898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7" name="object 77"/>
            <p:cNvSpPr/>
            <p:nvPr/>
          </p:nvSpPr>
          <p:spPr>
            <a:xfrm>
              <a:off x="3275330" y="3776329"/>
              <a:ext cx="487680" cy="478790"/>
            </a:xfrm>
            <a:custGeom>
              <a:avLst/>
              <a:gdLst/>
              <a:ahLst/>
              <a:cxnLst/>
              <a:rect l="l" t="t" r="r" b="b"/>
              <a:pathLst>
                <a:path w="487679" h="478789">
                  <a:moveTo>
                    <a:pt x="381000" y="122570"/>
                  </a:moveTo>
                  <a:lnTo>
                    <a:pt x="355600" y="122570"/>
                  </a:lnTo>
                  <a:lnTo>
                    <a:pt x="0" y="478170"/>
                  </a:lnTo>
                  <a:lnTo>
                    <a:pt x="25400" y="478170"/>
                  </a:lnTo>
                  <a:lnTo>
                    <a:pt x="381000" y="122570"/>
                  </a:lnTo>
                  <a:close/>
                </a:path>
                <a:path w="487679" h="478789">
                  <a:moveTo>
                    <a:pt x="478170" y="0"/>
                  </a:moveTo>
                  <a:lnTo>
                    <a:pt x="464819" y="13350"/>
                  </a:lnTo>
                  <a:lnTo>
                    <a:pt x="464819" y="38750"/>
                  </a:lnTo>
                  <a:lnTo>
                    <a:pt x="487378" y="16192"/>
                  </a:lnTo>
                  <a:lnTo>
                    <a:pt x="478170" y="0"/>
                  </a:lnTo>
                  <a:close/>
                </a:path>
              </a:pathLst>
            </a:custGeom>
            <a:solidFill>
              <a:srgbClr val="5188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8" name="object 78"/>
            <p:cNvSpPr/>
            <p:nvPr/>
          </p:nvSpPr>
          <p:spPr>
            <a:xfrm>
              <a:off x="3298189" y="3790902"/>
              <a:ext cx="474345" cy="464184"/>
            </a:xfrm>
            <a:custGeom>
              <a:avLst/>
              <a:gdLst/>
              <a:ahLst/>
              <a:cxnLst/>
              <a:rect l="l" t="t" r="r" b="b"/>
              <a:pathLst>
                <a:path w="474345" h="464185">
                  <a:moveTo>
                    <a:pt x="383540" y="107997"/>
                  </a:moveTo>
                  <a:lnTo>
                    <a:pt x="355600" y="107997"/>
                  </a:lnTo>
                  <a:lnTo>
                    <a:pt x="0" y="463597"/>
                  </a:lnTo>
                  <a:lnTo>
                    <a:pt x="27940" y="463597"/>
                  </a:lnTo>
                  <a:lnTo>
                    <a:pt x="383540" y="107997"/>
                  </a:lnTo>
                  <a:close/>
                </a:path>
                <a:path w="474345" h="464185">
                  <a:moveTo>
                    <a:pt x="463597" y="0"/>
                  </a:moveTo>
                  <a:lnTo>
                    <a:pt x="441960" y="21637"/>
                  </a:lnTo>
                  <a:lnTo>
                    <a:pt x="441960" y="49577"/>
                  </a:lnTo>
                  <a:lnTo>
                    <a:pt x="473725" y="17811"/>
                  </a:lnTo>
                  <a:lnTo>
                    <a:pt x="463597" y="0"/>
                  </a:lnTo>
                  <a:close/>
                </a:path>
              </a:pathLst>
            </a:custGeom>
            <a:solidFill>
              <a:srgbClr val="51877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79" name="object 79"/>
            <p:cNvSpPr/>
            <p:nvPr/>
          </p:nvSpPr>
          <p:spPr>
            <a:xfrm>
              <a:off x="3323589" y="3807094"/>
              <a:ext cx="457200" cy="447675"/>
            </a:xfrm>
            <a:custGeom>
              <a:avLst/>
              <a:gdLst/>
              <a:ahLst/>
              <a:cxnLst/>
              <a:rect l="l" t="t" r="r" b="b"/>
              <a:pathLst>
                <a:path w="457200" h="447675">
                  <a:moveTo>
                    <a:pt x="381000" y="91805"/>
                  </a:moveTo>
                  <a:lnTo>
                    <a:pt x="355600" y="91805"/>
                  </a:lnTo>
                  <a:lnTo>
                    <a:pt x="0" y="447405"/>
                  </a:lnTo>
                  <a:lnTo>
                    <a:pt x="25400" y="447405"/>
                  </a:lnTo>
                  <a:lnTo>
                    <a:pt x="381000" y="91805"/>
                  </a:lnTo>
                  <a:close/>
                </a:path>
                <a:path w="457200" h="447675">
                  <a:moveTo>
                    <a:pt x="447405" y="0"/>
                  </a:moveTo>
                  <a:lnTo>
                    <a:pt x="416560" y="30845"/>
                  </a:lnTo>
                  <a:lnTo>
                    <a:pt x="416560" y="56245"/>
                  </a:lnTo>
                  <a:lnTo>
                    <a:pt x="456612" y="16192"/>
                  </a:lnTo>
                  <a:lnTo>
                    <a:pt x="447405" y="0"/>
                  </a:lnTo>
                  <a:close/>
                </a:path>
              </a:pathLst>
            </a:custGeom>
            <a:solidFill>
              <a:srgbClr val="50867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0" name="object 80"/>
            <p:cNvSpPr/>
            <p:nvPr/>
          </p:nvSpPr>
          <p:spPr>
            <a:xfrm>
              <a:off x="3346450" y="3821668"/>
              <a:ext cx="443230" cy="433070"/>
            </a:xfrm>
            <a:custGeom>
              <a:avLst/>
              <a:gdLst/>
              <a:ahLst/>
              <a:cxnLst/>
              <a:rect l="l" t="t" r="r" b="b"/>
              <a:pathLst>
                <a:path w="443229" h="433070">
                  <a:moveTo>
                    <a:pt x="383539" y="77231"/>
                  </a:moveTo>
                  <a:lnTo>
                    <a:pt x="355600" y="77231"/>
                  </a:lnTo>
                  <a:lnTo>
                    <a:pt x="0" y="432831"/>
                  </a:lnTo>
                  <a:lnTo>
                    <a:pt x="27939" y="432831"/>
                  </a:lnTo>
                  <a:lnTo>
                    <a:pt x="383539" y="77231"/>
                  </a:lnTo>
                  <a:close/>
                </a:path>
                <a:path w="443229" h="433070">
                  <a:moveTo>
                    <a:pt x="432831" y="0"/>
                  </a:moveTo>
                  <a:lnTo>
                    <a:pt x="393700" y="39131"/>
                  </a:lnTo>
                  <a:lnTo>
                    <a:pt x="393700" y="67071"/>
                  </a:lnTo>
                  <a:lnTo>
                    <a:pt x="442960" y="17811"/>
                  </a:lnTo>
                  <a:lnTo>
                    <a:pt x="432831" y="0"/>
                  </a:lnTo>
                  <a:close/>
                </a:path>
              </a:pathLst>
            </a:custGeom>
            <a:solidFill>
              <a:srgbClr val="50857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1" name="object 81"/>
            <p:cNvSpPr/>
            <p:nvPr/>
          </p:nvSpPr>
          <p:spPr>
            <a:xfrm>
              <a:off x="3371850" y="3837860"/>
              <a:ext cx="426084" cy="417195"/>
            </a:xfrm>
            <a:custGeom>
              <a:avLst/>
              <a:gdLst/>
              <a:ahLst/>
              <a:cxnLst/>
              <a:rect l="l" t="t" r="r" b="b"/>
              <a:pathLst>
                <a:path w="426085" h="417195">
                  <a:moveTo>
                    <a:pt x="416639" y="0"/>
                  </a:moveTo>
                  <a:lnTo>
                    <a:pt x="368300" y="48339"/>
                  </a:lnTo>
                  <a:lnTo>
                    <a:pt x="368300" y="61039"/>
                  </a:lnTo>
                  <a:lnTo>
                    <a:pt x="355600" y="61039"/>
                  </a:lnTo>
                  <a:lnTo>
                    <a:pt x="0" y="416639"/>
                  </a:lnTo>
                  <a:lnTo>
                    <a:pt x="25400" y="416639"/>
                  </a:lnTo>
                  <a:lnTo>
                    <a:pt x="425846" y="16192"/>
                  </a:lnTo>
                  <a:lnTo>
                    <a:pt x="416639" y="0"/>
                  </a:lnTo>
                  <a:close/>
                </a:path>
              </a:pathLst>
            </a:custGeom>
            <a:solidFill>
              <a:srgbClr val="4F847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2" name="object 82"/>
            <p:cNvSpPr/>
            <p:nvPr/>
          </p:nvSpPr>
          <p:spPr>
            <a:xfrm>
              <a:off x="3395162" y="3852497"/>
              <a:ext cx="412115" cy="402590"/>
            </a:xfrm>
            <a:custGeom>
              <a:avLst/>
              <a:gdLst/>
              <a:ahLst/>
              <a:cxnLst/>
              <a:rect l="l" t="t" r="r" b="b"/>
              <a:pathLst>
                <a:path w="412114" h="402589">
                  <a:moveTo>
                    <a:pt x="401650" y="0"/>
                  </a:moveTo>
                  <a:lnTo>
                    <a:pt x="0" y="402002"/>
                  </a:lnTo>
                  <a:lnTo>
                    <a:pt x="27487" y="402002"/>
                  </a:lnTo>
                  <a:lnTo>
                    <a:pt x="411742" y="17747"/>
                  </a:lnTo>
                  <a:lnTo>
                    <a:pt x="401650" y="0"/>
                  </a:lnTo>
                  <a:close/>
                </a:path>
              </a:pathLst>
            </a:custGeom>
            <a:solidFill>
              <a:srgbClr val="4F837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3" name="object 83"/>
            <p:cNvSpPr/>
            <p:nvPr/>
          </p:nvSpPr>
          <p:spPr>
            <a:xfrm>
              <a:off x="3420110" y="3868626"/>
              <a:ext cx="395605" cy="386080"/>
            </a:xfrm>
            <a:custGeom>
              <a:avLst/>
              <a:gdLst/>
              <a:ahLst/>
              <a:cxnLst/>
              <a:rect l="l" t="t" r="r" b="b"/>
              <a:pathLst>
                <a:path w="395604" h="386079">
                  <a:moveTo>
                    <a:pt x="385873" y="0"/>
                  </a:moveTo>
                  <a:lnTo>
                    <a:pt x="0" y="385873"/>
                  </a:lnTo>
                  <a:lnTo>
                    <a:pt x="25400" y="385873"/>
                  </a:lnTo>
                  <a:lnTo>
                    <a:pt x="395081" y="16192"/>
                  </a:lnTo>
                  <a:lnTo>
                    <a:pt x="385873" y="0"/>
                  </a:lnTo>
                  <a:close/>
                </a:path>
              </a:pathLst>
            </a:custGeom>
            <a:solidFill>
              <a:srgbClr val="4E827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4" name="object 84"/>
            <p:cNvSpPr/>
            <p:nvPr/>
          </p:nvSpPr>
          <p:spPr>
            <a:xfrm>
              <a:off x="3443401" y="388326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70907" y="0"/>
                  </a:moveTo>
                  <a:lnTo>
                    <a:pt x="0" y="371232"/>
                  </a:lnTo>
                  <a:lnTo>
                    <a:pt x="27508" y="371232"/>
                  </a:lnTo>
                  <a:lnTo>
                    <a:pt x="380997" y="17743"/>
                  </a:lnTo>
                  <a:lnTo>
                    <a:pt x="370907" y="0"/>
                  </a:lnTo>
                  <a:close/>
                </a:path>
              </a:pathLst>
            </a:custGeom>
            <a:solidFill>
              <a:srgbClr val="4D817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5" name="object 85"/>
            <p:cNvSpPr/>
            <p:nvPr/>
          </p:nvSpPr>
          <p:spPr>
            <a:xfrm>
              <a:off x="3468370" y="3899392"/>
              <a:ext cx="364490" cy="355600"/>
            </a:xfrm>
            <a:custGeom>
              <a:avLst/>
              <a:gdLst/>
              <a:ahLst/>
              <a:cxnLst/>
              <a:rect l="l" t="t" r="r" b="b"/>
              <a:pathLst>
                <a:path w="364489" h="355600">
                  <a:moveTo>
                    <a:pt x="355107" y="0"/>
                  </a:moveTo>
                  <a:lnTo>
                    <a:pt x="0" y="355107"/>
                  </a:lnTo>
                  <a:lnTo>
                    <a:pt x="25400" y="355107"/>
                  </a:lnTo>
                  <a:lnTo>
                    <a:pt x="364315" y="16192"/>
                  </a:lnTo>
                  <a:lnTo>
                    <a:pt x="355107" y="0"/>
                  </a:lnTo>
                  <a:close/>
                </a:path>
              </a:pathLst>
            </a:custGeom>
            <a:solidFill>
              <a:srgbClr val="4D807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6" name="object 86"/>
            <p:cNvSpPr/>
            <p:nvPr/>
          </p:nvSpPr>
          <p:spPr>
            <a:xfrm>
              <a:off x="3491639" y="3914036"/>
              <a:ext cx="350520" cy="340995"/>
            </a:xfrm>
            <a:custGeom>
              <a:avLst/>
              <a:gdLst/>
              <a:ahLst/>
              <a:cxnLst/>
              <a:rect l="l" t="t" r="r" b="b"/>
              <a:pathLst>
                <a:path w="350520" h="340995">
                  <a:moveTo>
                    <a:pt x="340165" y="0"/>
                  </a:moveTo>
                  <a:lnTo>
                    <a:pt x="0" y="340463"/>
                  </a:lnTo>
                  <a:lnTo>
                    <a:pt x="27529" y="340463"/>
                  </a:lnTo>
                  <a:lnTo>
                    <a:pt x="350252" y="17740"/>
                  </a:lnTo>
                  <a:lnTo>
                    <a:pt x="340165" y="0"/>
                  </a:lnTo>
                  <a:close/>
                </a:path>
              </a:pathLst>
            </a:custGeom>
            <a:solidFill>
              <a:srgbClr val="4C7F7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7" name="object 87"/>
            <p:cNvSpPr/>
            <p:nvPr/>
          </p:nvSpPr>
          <p:spPr>
            <a:xfrm>
              <a:off x="3516629" y="3930157"/>
              <a:ext cx="334010" cy="324485"/>
            </a:xfrm>
            <a:custGeom>
              <a:avLst/>
              <a:gdLst/>
              <a:ahLst/>
              <a:cxnLst/>
              <a:rect l="l" t="t" r="r" b="b"/>
              <a:pathLst>
                <a:path w="334010" h="324485">
                  <a:moveTo>
                    <a:pt x="324342" y="0"/>
                  </a:moveTo>
                  <a:lnTo>
                    <a:pt x="0" y="324342"/>
                  </a:lnTo>
                  <a:lnTo>
                    <a:pt x="25400" y="324342"/>
                  </a:lnTo>
                  <a:lnTo>
                    <a:pt x="333549" y="16192"/>
                  </a:lnTo>
                  <a:lnTo>
                    <a:pt x="324342" y="0"/>
                  </a:lnTo>
                  <a:close/>
                </a:path>
              </a:pathLst>
            </a:custGeom>
            <a:solidFill>
              <a:srgbClr val="4C7E7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8" name="object 88"/>
            <p:cNvSpPr/>
            <p:nvPr/>
          </p:nvSpPr>
          <p:spPr>
            <a:xfrm>
              <a:off x="3539878" y="3944806"/>
              <a:ext cx="320040" cy="309880"/>
            </a:xfrm>
            <a:custGeom>
              <a:avLst/>
              <a:gdLst/>
              <a:ahLst/>
              <a:cxnLst/>
              <a:rect l="l" t="t" r="r" b="b"/>
              <a:pathLst>
                <a:path w="320039" h="309879">
                  <a:moveTo>
                    <a:pt x="309422" y="0"/>
                  </a:moveTo>
                  <a:lnTo>
                    <a:pt x="0" y="309693"/>
                  </a:lnTo>
                  <a:lnTo>
                    <a:pt x="27551" y="309693"/>
                  </a:lnTo>
                  <a:lnTo>
                    <a:pt x="319508" y="17736"/>
                  </a:lnTo>
                  <a:lnTo>
                    <a:pt x="309422" y="0"/>
                  </a:lnTo>
                  <a:close/>
                </a:path>
              </a:pathLst>
            </a:custGeom>
            <a:solidFill>
              <a:srgbClr val="4B7D7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89" name="object 89"/>
            <p:cNvSpPr/>
            <p:nvPr/>
          </p:nvSpPr>
          <p:spPr>
            <a:xfrm>
              <a:off x="3564889" y="3960923"/>
              <a:ext cx="302895" cy="294005"/>
            </a:xfrm>
            <a:custGeom>
              <a:avLst/>
              <a:gdLst/>
              <a:ahLst/>
              <a:cxnLst/>
              <a:rect l="l" t="t" r="r" b="b"/>
              <a:pathLst>
                <a:path w="302895" h="294004">
                  <a:moveTo>
                    <a:pt x="293576" y="0"/>
                  </a:moveTo>
                  <a:lnTo>
                    <a:pt x="0" y="293576"/>
                  </a:lnTo>
                  <a:lnTo>
                    <a:pt x="25400" y="293576"/>
                  </a:lnTo>
                  <a:lnTo>
                    <a:pt x="302783" y="16192"/>
                  </a:lnTo>
                  <a:lnTo>
                    <a:pt x="293576" y="0"/>
                  </a:lnTo>
                  <a:close/>
                </a:path>
              </a:pathLst>
            </a:custGeom>
            <a:solidFill>
              <a:srgbClr val="4A7C7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0" name="object 90"/>
            <p:cNvSpPr/>
            <p:nvPr/>
          </p:nvSpPr>
          <p:spPr>
            <a:xfrm>
              <a:off x="3588117" y="3975575"/>
              <a:ext cx="288925" cy="279400"/>
            </a:xfrm>
            <a:custGeom>
              <a:avLst/>
              <a:gdLst/>
              <a:ahLst/>
              <a:cxnLst/>
              <a:rect l="l" t="t" r="r" b="b"/>
              <a:pathLst>
                <a:path w="288925" h="279400">
                  <a:moveTo>
                    <a:pt x="278680" y="0"/>
                  </a:moveTo>
                  <a:lnTo>
                    <a:pt x="0" y="278924"/>
                  </a:lnTo>
                  <a:lnTo>
                    <a:pt x="27572" y="278924"/>
                  </a:lnTo>
                  <a:lnTo>
                    <a:pt x="288763" y="17732"/>
                  </a:lnTo>
                  <a:lnTo>
                    <a:pt x="278680" y="0"/>
                  </a:lnTo>
                  <a:close/>
                </a:path>
              </a:pathLst>
            </a:custGeom>
            <a:solidFill>
              <a:srgbClr val="4A7B7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1" name="object 91"/>
            <p:cNvSpPr/>
            <p:nvPr/>
          </p:nvSpPr>
          <p:spPr>
            <a:xfrm>
              <a:off x="3613150" y="3991689"/>
              <a:ext cx="272415" cy="262890"/>
            </a:xfrm>
            <a:custGeom>
              <a:avLst/>
              <a:gdLst/>
              <a:ahLst/>
              <a:cxnLst/>
              <a:rect l="l" t="t" r="r" b="b"/>
              <a:pathLst>
                <a:path w="272414" h="262889">
                  <a:moveTo>
                    <a:pt x="262810" y="0"/>
                  </a:moveTo>
                  <a:lnTo>
                    <a:pt x="0" y="262810"/>
                  </a:lnTo>
                  <a:lnTo>
                    <a:pt x="25400" y="262810"/>
                  </a:lnTo>
                  <a:lnTo>
                    <a:pt x="272018" y="16192"/>
                  </a:lnTo>
                  <a:lnTo>
                    <a:pt x="262810" y="0"/>
                  </a:lnTo>
                  <a:close/>
                </a:path>
              </a:pathLst>
            </a:custGeom>
            <a:solidFill>
              <a:srgbClr val="497A7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2" name="object 92"/>
            <p:cNvSpPr/>
            <p:nvPr/>
          </p:nvSpPr>
          <p:spPr>
            <a:xfrm>
              <a:off x="3637279" y="4007072"/>
              <a:ext cx="257175" cy="247650"/>
            </a:xfrm>
            <a:custGeom>
              <a:avLst/>
              <a:gdLst/>
              <a:ahLst/>
              <a:cxnLst/>
              <a:rect l="l" t="t" r="r" b="b"/>
              <a:pathLst>
                <a:path w="257175" h="247650">
                  <a:moveTo>
                    <a:pt x="247427" y="0"/>
                  </a:moveTo>
                  <a:lnTo>
                    <a:pt x="0" y="247427"/>
                  </a:lnTo>
                  <a:lnTo>
                    <a:pt x="26335" y="247427"/>
                  </a:lnTo>
                  <a:lnTo>
                    <a:pt x="257047" y="16917"/>
                  </a:lnTo>
                  <a:lnTo>
                    <a:pt x="247427" y="0"/>
                  </a:lnTo>
                  <a:close/>
                </a:path>
              </a:pathLst>
            </a:custGeom>
            <a:solidFill>
              <a:srgbClr val="49797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3" name="object 93"/>
            <p:cNvSpPr/>
            <p:nvPr/>
          </p:nvSpPr>
          <p:spPr>
            <a:xfrm>
              <a:off x="3661410" y="4022455"/>
              <a:ext cx="262889" cy="3793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94" name="object 94"/>
          <p:cNvSpPr/>
          <p:nvPr/>
        </p:nvSpPr>
        <p:spPr>
          <a:xfrm>
            <a:off x="3504182" y="2758748"/>
            <a:ext cx="113243" cy="242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95" name="object 95"/>
          <p:cNvSpPr/>
          <p:nvPr/>
        </p:nvSpPr>
        <p:spPr>
          <a:xfrm>
            <a:off x="3390939" y="2758748"/>
            <a:ext cx="56189" cy="2420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96" name="object 96"/>
          <p:cNvSpPr txBox="1"/>
          <p:nvPr/>
        </p:nvSpPr>
        <p:spPr>
          <a:xfrm>
            <a:off x="4072993" y="2798513"/>
            <a:ext cx="664765" cy="15537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953" dirty="0">
                <a:latin typeface="DejaVu Sans"/>
                <a:cs typeface="DejaVu Sans"/>
              </a:rPr>
              <a:t>Si</a:t>
            </a:r>
            <a:r>
              <a:rPr sz="953" spc="3" dirty="0">
                <a:latin typeface="DejaVu Sans"/>
                <a:cs typeface="DejaVu Sans"/>
              </a:rPr>
              <a:t>m</a:t>
            </a:r>
            <a:r>
              <a:rPr sz="953" dirty="0">
                <a:latin typeface="DejaVu Sans"/>
                <a:cs typeface="DejaVu Sans"/>
              </a:rPr>
              <a:t>u</a:t>
            </a:r>
            <a:r>
              <a:rPr sz="953" spc="7" dirty="0">
                <a:latin typeface="DejaVu Sans"/>
                <a:cs typeface="DejaVu Sans"/>
              </a:rPr>
              <a:t>l</a:t>
            </a:r>
            <a:r>
              <a:rPr sz="953" dirty="0">
                <a:latin typeface="DejaVu Sans"/>
                <a:cs typeface="DejaVu Sans"/>
              </a:rPr>
              <a:t>a</a:t>
            </a:r>
            <a:r>
              <a:rPr sz="953" spc="-3" dirty="0">
                <a:latin typeface="DejaVu Sans"/>
                <a:cs typeface="DejaVu Sans"/>
              </a:rPr>
              <a:t>t</a:t>
            </a:r>
            <a:r>
              <a:rPr sz="953" spc="7" dirty="0">
                <a:latin typeface="DejaVu Sans"/>
                <a:cs typeface="DejaVu Sans"/>
              </a:rPr>
              <a:t>i</a:t>
            </a:r>
            <a:r>
              <a:rPr sz="953" dirty="0">
                <a:latin typeface="DejaVu Sans"/>
                <a:cs typeface="DejaVu Sans"/>
              </a:rPr>
              <a:t>on</a:t>
            </a:r>
            <a:endParaRPr sz="953">
              <a:latin typeface="DejaVu Sans"/>
              <a:cs typeface="DejaVu Sans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6581638" y="2659336"/>
            <a:ext cx="1613071" cy="441736"/>
            <a:chOff x="5946140" y="3752850"/>
            <a:chExt cx="2369820" cy="648970"/>
          </a:xfrm>
        </p:grpSpPr>
        <p:sp>
          <p:nvSpPr>
            <p:cNvPr id="98" name="object 98"/>
            <p:cNvSpPr/>
            <p:nvPr/>
          </p:nvSpPr>
          <p:spPr>
            <a:xfrm>
              <a:off x="5946140" y="3898900"/>
              <a:ext cx="232410" cy="23241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99" name="object 99"/>
            <p:cNvSpPr/>
            <p:nvPr/>
          </p:nvSpPr>
          <p:spPr>
            <a:xfrm>
              <a:off x="5946140" y="3898900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10">
                  <a:moveTo>
                    <a:pt x="257810" y="0"/>
                  </a:moveTo>
                  <a:lnTo>
                    <a:pt x="230177" y="0"/>
                  </a:lnTo>
                  <a:lnTo>
                    <a:pt x="0" y="229984"/>
                  </a:lnTo>
                  <a:lnTo>
                    <a:pt x="0" y="257810"/>
                  </a:lnTo>
                  <a:lnTo>
                    <a:pt x="257810" y="0"/>
                  </a:lnTo>
                  <a:close/>
                </a:path>
              </a:pathLst>
            </a:custGeom>
            <a:solidFill>
              <a:srgbClr val="7CD0C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946140" y="3898900"/>
              <a:ext cx="283210" cy="283210"/>
            </a:xfrm>
            <a:custGeom>
              <a:avLst/>
              <a:gdLst/>
              <a:ahLst/>
              <a:cxnLst/>
              <a:rect l="l" t="t" r="r" b="b"/>
              <a:pathLst>
                <a:path w="283210" h="283210">
                  <a:moveTo>
                    <a:pt x="282880" y="0"/>
                  </a:moveTo>
                  <a:lnTo>
                    <a:pt x="255270" y="0"/>
                  </a:lnTo>
                  <a:lnTo>
                    <a:pt x="0" y="255270"/>
                  </a:lnTo>
                  <a:lnTo>
                    <a:pt x="0" y="283118"/>
                  </a:lnTo>
                  <a:lnTo>
                    <a:pt x="282880" y="0"/>
                  </a:lnTo>
                  <a:close/>
                </a:path>
              </a:pathLst>
            </a:custGeom>
            <a:solidFill>
              <a:srgbClr val="7BCFC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946140" y="3898900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39" h="307339">
                  <a:moveTo>
                    <a:pt x="307339" y="0"/>
                  </a:moveTo>
                  <a:lnTo>
                    <a:pt x="280670" y="0"/>
                  </a:lnTo>
                  <a:lnTo>
                    <a:pt x="0" y="280670"/>
                  </a:lnTo>
                  <a:lnTo>
                    <a:pt x="0" y="307339"/>
                  </a:lnTo>
                  <a:lnTo>
                    <a:pt x="307339" y="0"/>
                  </a:lnTo>
                  <a:close/>
                </a:path>
              </a:pathLst>
            </a:custGeom>
            <a:solidFill>
              <a:srgbClr val="7BCEC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946140" y="3898900"/>
              <a:ext cx="332740" cy="332740"/>
            </a:xfrm>
            <a:custGeom>
              <a:avLst/>
              <a:gdLst/>
              <a:ahLst/>
              <a:cxnLst/>
              <a:rect l="l" t="t" r="r" b="b"/>
              <a:pathLst>
                <a:path w="332739" h="332739">
                  <a:moveTo>
                    <a:pt x="332739" y="0"/>
                  </a:moveTo>
                  <a:lnTo>
                    <a:pt x="306070" y="0"/>
                  </a:lnTo>
                  <a:lnTo>
                    <a:pt x="0" y="306070"/>
                  </a:lnTo>
                  <a:lnTo>
                    <a:pt x="0" y="332740"/>
                  </a:lnTo>
                  <a:lnTo>
                    <a:pt x="332739" y="0"/>
                  </a:lnTo>
                  <a:close/>
                </a:path>
              </a:pathLst>
            </a:custGeom>
            <a:solidFill>
              <a:srgbClr val="7ACDB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946140" y="3898900"/>
              <a:ext cx="358140" cy="355600"/>
            </a:xfrm>
            <a:custGeom>
              <a:avLst/>
              <a:gdLst/>
              <a:ahLst/>
              <a:cxnLst/>
              <a:rect l="l" t="t" r="r" b="b"/>
              <a:pathLst>
                <a:path w="358139" h="355600">
                  <a:moveTo>
                    <a:pt x="358139" y="0"/>
                  </a:moveTo>
                  <a:lnTo>
                    <a:pt x="331119" y="0"/>
                  </a:lnTo>
                  <a:lnTo>
                    <a:pt x="0" y="331398"/>
                  </a:lnTo>
                  <a:lnTo>
                    <a:pt x="0" y="355600"/>
                  </a:lnTo>
                  <a:lnTo>
                    <a:pt x="2539" y="355600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79CCB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946202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39" h="355600">
                  <a:moveTo>
                    <a:pt x="383478" y="0"/>
                  </a:moveTo>
                  <a:lnTo>
                    <a:pt x="355899" y="0"/>
                  </a:lnTo>
                  <a:lnTo>
                    <a:pt x="0" y="355600"/>
                  </a:lnTo>
                  <a:lnTo>
                    <a:pt x="27878" y="355600"/>
                  </a:lnTo>
                  <a:lnTo>
                    <a:pt x="383478" y="0"/>
                  </a:lnTo>
                  <a:close/>
                </a:path>
              </a:pathLst>
            </a:custGeom>
            <a:solidFill>
              <a:srgbClr val="79CCB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97154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39" h="355600">
                  <a:moveTo>
                    <a:pt x="38353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39" y="0"/>
                  </a:lnTo>
                  <a:close/>
                </a:path>
              </a:pathLst>
            </a:custGeom>
            <a:solidFill>
              <a:srgbClr val="78CAB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997023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39" h="355600">
                  <a:moveTo>
                    <a:pt x="383456" y="0"/>
                  </a:moveTo>
                  <a:lnTo>
                    <a:pt x="355899" y="0"/>
                  </a:lnTo>
                  <a:lnTo>
                    <a:pt x="0" y="355600"/>
                  </a:lnTo>
                  <a:lnTo>
                    <a:pt x="27856" y="355600"/>
                  </a:lnTo>
                  <a:lnTo>
                    <a:pt x="383456" y="0"/>
                  </a:lnTo>
                  <a:close/>
                </a:path>
              </a:pathLst>
            </a:custGeom>
            <a:solidFill>
              <a:srgbClr val="78C9B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02234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39" h="355600">
                  <a:moveTo>
                    <a:pt x="38353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39" y="0"/>
                  </a:lnTo>
                  <a:close/>
                </a:path>
              </a:pathLst>
            </a:custGeom>
            <a:solidFill>
              <a:srgbClr val="77C8B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04774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39" h="355600">
                  <a:moveTo>
                    <a:pt x="38353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39" y="0"/>
                  </a:lnTo>
                  <a:close/>
                </a:path>
              </a:pathLst>
            </a:custGeom>
            <a:solidFill>
              <a:srgbClr val="76C7B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07314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6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69" y="0"/>
                  </a:lnTo>
                  <a:close/>
                </a:path>
              </a:pathLst>
            </a:custGeom>
            <a:solidFill>
              <a:srgbClr val="76C6B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098414" y="3898900"/>
              <a:ext cx="382905" cy="355600"/>
            </a:xfrm>
            <a:custGeom>
              <a:avLst/>
              <a:gdLst/>
              <a:ahLst/>
              <a:cxnLst/>
              <a:rect l="l" t="t" r="r" b="b"/>
              <a:pathLst>
                <a:path w="382904" h="355600">
                  <a:moveTo>
                    <a:pt x="382395" y="0"/>
                  </a:moveTo>
                  <a:lnTo>
                    <a:pt x="355301" y="0"/>
                  </a:lnTo>
                  <a:lnTo>
                    <a:pt x="0" y="355600"/>
                  </a:lnTo>
                  <a:lnTo>
                    <a:pt x="26795" y="355600"/>
                  </a:lnTo>
                  <a:lnTo>
                    <a:pt x="382395" y="0"/>
                  </a:lnTo>
                  <a:close/>
                </a:path>
              </a:pathLst>
            </a:custGeom>
            <a:solidFill>
              <a:srgbClr val="75C5B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123940" y="3898900"/>
              <a:ext cx="381635" cy="355600"/>
            </a:xfrm>
            <a:custGeom>
              <a:avLst/>
              <a:gdLst/>
              <a:ahLst/>
              <a:cxnLst/>
              <a:rect l="l" t="t" r="r" b="b"/>
              <a:pathLst>
                <a:path w="381634" h="355600">
                  <a:moveTo>
                    <a:pt x="381446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547" y="355600"/>
                  </a:lnTo>
                  <a:lnTo>
                    <a:pt x="381446" y="0"/>
                  </a:lnTo>
                  <a:close/>
                </a:path>
              </a:pathLst>
            </a:custGeom>
            <a:solidFill>
              <a:srgbClr val="75C4B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14807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39" y="0"/>
                  </a:moveTo>
                  <a:lnTo>
                    <a:pt x="355599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39" y="0"/>
                  </a:lnTo>
                  <a:close/>
                </a:path>
              </a:pathLst>
            </a:custGeom>
            <a:solidFill>
              <a:srgbClr val="74C3B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17347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599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73C2B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19887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599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73C1B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22427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599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72C0B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24840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72BFB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27380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71BEB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29920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71BDB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32460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6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69" y="0"/>
                  </a:lnTo>
                  <a:close/>
                </a:path>
              </a:pathLst>
            </a:custGeom>
            <a:solidFill>
              <a:srgbClr val="70BCA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35000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6FBBA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374371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298" y="0"/>
                  </a:moveTo>
                  <a:lnTo>
                    <a:pt x="355899" y="0"/>
                  </a:lnTo>
                  <a:lnTo>
                    <a:pt x="0" y="355600"/>
                  </a:lnTo>
                  <a:lnTo>
                    <a:pt x="27698" y="355600"/>
                  </a:lnTo>
                  <a:lnTo>
                    <a:pt x="383298" y="0"/>
                  </a:lnTo>
                  <a:close/>
                </a:path>
              </a:pathLst>
            </a:custGeom>
            <a:solidFill>
              <a:srgbClr val="6FBAA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400547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1960" y="0"/>
                  </a:moveTo>
                  <a:lnTo>
                    <a:pt x="355301" y="0"/>
                  </a:lnTo>
                  <a:lnTo>
                    <a:pt x="0" y="355600"/>
                  </a:lnTo>
                  <a:lnTo>
                    <a:pt x="26659" y="355600"/>
                  </a:lnTo>
                  <a:lnTo>
                    <a:pt x="381960" y="0"/>
                  </a:lnTo>
                  <a:close/>
                </a:path>
              </a:pathLst>
            </a:custGeom>
            <a:solidFill>
              <a:srgbClr val="6EB9A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42493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39" y="0"/>
                  </a:moveTo>
                  <a:lnTo>
                    <a:pt x="355599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39" y="0"/>
                  </a:lnTo>
                  <a:close/>
                </a:path>
              </a:pathLst>
            </a:custGeom>
            <a:solidFill>
              <a:srgbClr val="6EB8A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451325" y="3898900"/>
              <a:ext cx="381635" cy="355600"/>
            </a:xfrm>
            <a:custGeom>
              <a:avLst/>
              <a:gdLst/>
              <a:ahLst/>
              <a:cxnLst/>
              <a:rect l="l" t="t" r="r" b="b"/>
              <a:pathLst>
                <a:path w="381634" h="355600">
                  <a:moveTo>
                    <a:pt x="381274" y="0"/>
                  </a:moveTo>
                  <a:lnTo>
                    <a:pt x="355301" y="0"/>
                  </a:lnTo>
                  <a:lnTo>
                    <a:pt x="0" y="355600"/>
                  </a:lnTo>
                  <a:lnTo>
                    <a:pt x="25674" y="355600"/>
                  </a:lnTo>
                  <a:lnTo>
                    <a:pt x="381274" y="0"/>
                  </a:lnTo>
                  <a:close/>
                </a:path>
              </a:pathLst>
            </a:custGeom>
            <a:solidFill>
              <a:srgbClr val="6DB7A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47573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39" y="0"/>
                  </a:moveTo>
                  <a:lnTo>
                    <a:pt x="355599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39" y="0"/>
                  </a:lnTo>
                  <a:close/>
                </a:path>
              </a:pathLst>
            </a:custGeom>
            <a:solidFill>
              <a:srgbClr val="6CB6A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50113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69" y="0"/>
                  </a:moveTo>
                  <a:lnTo>
                    <a:pt x="355599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69" y="0"/>
                  </a:lnTo>
                  <a:close/>
                </a:path>
              </a:pathLst>
            </a:custGeom>
            <a:solidFill>
              <a:srgbClr val="6CB5A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525565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234" y="0"/>
                  </a:moveTo>
                  <a:lnTo>
                    <a:pt x="355899" y="0"/>
                  </a:lnTo>
                  <a:lnTo>
                    <a:pt x="0" y="355600"/>
                  </a:lnTo>
                  <a:lnTo>
                    <a:pt x="27634" y="355600"/>
                  </a:lnTo>
                  <a:lnTo>
                    <a:pt x="383234" y="0"/>
                  </a:lnTo>
                  <a:close/>
                </a:path>
              </a:pathLst>
            </a:custGeom>
            <a:solidFill>
              <a:srgbClr val="6BB4A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55193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6BB3A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57606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6AB2A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60146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6AB1A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62686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2927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028" y="355600"/>
                  </a:lnTo>
                  <a:lnTo>
                    <a:pt x="382927" y="0"/>
                  </a:lnTo>
                  <a:close/>
                </a:path>
              </a:pathLst>
            </a:custGeom>
            <a:solidFill>
              <a:srgbClr val="69B0A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65226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68AFA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67766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68AEA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70179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3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39" y="0"/>
                  </a:lnTo>
                  <a:close/>
                </a:path>
              </a:pathLst>
            </a:custGeom>
            <a:solidFill>
              <a:srgbClr val="67ADA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72719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67ACA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75259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66AB9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77799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66AA9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80212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66A99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827952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107" y="0"/>
                  </a:moveTo>
                  <a:lnTo>
                    <a:pt x="355899" y="0"/>
                  </a:lnTo>
                  <a:lnTo>
                    <a:pt x="0" y="355600"/>
                  </a:lnTo>
                  <a:lnTo>
                    <a:pt x="27507" y="355600"/>
                  </a:lnTo>
                  <a:lnTo>
                    <a:pt x="383107" y="0"/>
                  </a:lnTo>
                  <a:close/>
                </a:path>
              </a:pathLst>
            </a:custGeom>
            <a:solidFill>
              <a:srgbClr val="64A89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85292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64A79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1" name="object 141"/>
            <p:cNvSpPr/>
            <p:nvPr/>
          </p:nvSpPr>
          <p:spPr>
            <a:xfrm>
              <a:off x="687832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63A69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90372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62A59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3" name="object 143"/>
            <p:cNvSpPr/>
            <p:nvPr/>
          </p:nvSpPr>
          <p:spPr>
            <a:xfrm>
              <a:off x="692912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62A4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95452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1795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896" y="355600"/>
                  </a:lnTo>
                  <a:lnTo>
                    <a:pt x="381795" y="0"/>
                  </a:lnTo>
                  <a:close/>
                </a:path>
              </a:pathLst>
            </a:custGeom>
            <a:solidFill>
              <a:srgbClr val="61A39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5" name="object 145"/>
            <p:cNvSpPr/>
            <p:nvPr/>
          </p:nvSpPr>
          <p:spPr>
            <a:xfrm>
              <a:off x="6979423" y="3898900"/>
              <a:ext cx="382905" cy="355600"/>
            </a:xfrm>
            <a:custGeom>
              <a:avLst/>
              <a:gdLst/>
              <a:ahLst/>
              <a:cxnLst/>
              <a:rect l="l" t="t" r="r" b="b"/>
              <a:pathLst>
                <a:path w="382904" h="355600">
                  <a:moveTo>
                    <a:pt x="382766" y="0"/>
                  </a:moveTo>
                  <a:lnTo>
                    <a:pt x="355301" y="0"/>
                  </a:lnTo>
                  <a:lnTo>
                    <a:pt x="0" y="355600"/>
                  </a:lnTo>
                  <a:lnTo>
                    <a:pt x="27166" y="355600"/>
                  </a:lnTo>
                  <a:lnTo>
                    <a:pt x="382766" y="0"/>
                  </a:lnTo>
                  <a:close/>
                </a:path>
              </a:pathLst>
            </a:custGeom>
            <a:solidFill>
              <a:srgbClr val="61A29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00532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1817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5918" y="355600"/>
                  </a:lnTo>
                  <a:lnTo>
                    <a:pt x="381817" y="0"/>
                  </a:lnTo>
                  <a:close/>
                </a:path>
              </a:pathLst>
            </a:custGeom>
            <a:solidFill>
              <a:srgbClr val="60A19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029450" y="3898900"/>
              <a:ext cx="382905" cy="355600"/>
            </a:xfrm>
            <a:custGeom>
              <a:avLst/>
              <a:gdLst/>
              <a:ahLst/>
              <a:cxnLst/>
              <a:rect l="l" t="t" r="r" b="b"/>
              <a:pathLst>
                <a:path w="382904" h="355600">
                  <a:moveTo>
                    <a:pt x="382712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411" y="355600"/>
                  </a:lnTo>
                  <a:lnTo>
                    <a:pt x="382712" y="0"/>
                  </a:lnTo>
                  <a:close/>
                </a:path>
              </a:pathLst>
            </a:custGeom>
            <a:solidFill>
              <a:srgbClr val="60A09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05485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5F9F9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08025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5E9E9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105101" y="3898900"/>
              <a:ext cx="382905" cy="355600"/>
            </a:xfrm>
            <a:custGeom>
              <a:avLst/>
              <a:gdLst/>
              <a:ahLst/>
              <a:cxnLst/>
              <a:rect l="l" t="t" r="r" b="b"/>
              <a:pathLst>
                <a:path w="382904" h="355600">
                  <a:moveTo>
                    <a:pt x="382818" y="0"/>
                  </a:moveTo>
                  <a:lnTo>
                    <a:pt x="355301" y="0"/>
                  </a:lnTo>
                  <a:lnTo>
                    <a:pt x="0" y="355600"/>
                  </a:lnTo>
                  <a:lnTo>
                    <a:pt x="27218" y="355600"/>
                  </a:lnTo>
                  <a:lnTo>
                    <a:pt x="382818" y="0"/>
                  </a:lnTo>
                  <a:close/>
                </a:path>
              </a:pathLst>
            </a:custGeom>
            <a:solidFill>
              <a:srgbClr val="5E9D9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12978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5D9C9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15518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5D9B9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18058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5C9A9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20598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5B998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23138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5B998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25678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5A978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281556" y="3898900"/>
              <a:ext cx="381635" cy="355600"/>
            </a:xfrm>
            <a:custGeom>
              <a:avLst/>
              <a:gdLst/>
              <a:ahLst/>
              <a:cxnLst/>
              <a:rect l="l" t="t" r="r" b="b"/>
              <a:pathLst>
                <a:path w="381634" h="355600">
                  <a:moveTo>
                    <a:pt x="381623" y="0"/>
                  </a:moveTo>
                  <a:lnTo>
                    <a:pt x="355301" y="0"/>
                  </a:lnTo>
                  <a:lnTo>
                    <a:pt x="0" y="355600"/>
                  </a:lnTo>
                  <a:lnTo>
                    <a:pt x="26023" y="355600"/>
                  </a:lnTo>
                  <a:lnTo>
                    <a:pt x="381623" y="0"/>
                  </a:lnTo>
                  <a:close/>
                </a:path>
              </a:pathLst>
            </a:custGeom>
            <a:solidFill>
              <a:srgbClr val="5A968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30631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4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40" y="355600"/>
                  </a:lnTo>
                  <a:lnTo>
                    <a:pt x="383540" y="0"/>
                  </a:lnTo>
                  <a:close/>
                </a:path>
              </a:pathLst>
            </a:custGeom>
            <a:solidFill>
              <a:srgbClr val="59958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33171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58948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356494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190" y="0"/>
                  </a:moveTo>
                  <a:lnTo>
                    <a:pt x="355899" y="0"/>
                  </a:lnTo>
                  <a:lnTo>
                    <a:pt x="0" y="355600"/>
                  </a:lnTo>
                  <a:lnTo>
                    <a:pt x="27889" y="355600"/>
                  </a:lnTo>
                  <a:lnTo>
                    <a:pt x="383190" y="0"/>
                  </a:lnTo>
                  <a:close/>
                </a:path>
              </a:pathLst>
            </a:custGeom>
            <a:solidFill>
              <a:srgbClr val="58938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38251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57928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407316" y="3898900"/>
              <a:ext cx="382905" cy="355600"/>
            </a:xfrm>
            <a:custGeom>
              <a:avLst/>
              <a:gdLst/>
              <a:ahLst/>
              <a:cxnLst/>
              <a:rect l="l" t="t" r="r" b="b"/>
              <a:pathLst>
                <a:path w="382904" h="355600">
                  <a:moveTo>
                    <a:pt x="382863" y="0"/>
                  </a:moveTo>
                  <a:lnTo>
                    <a:pt x="355899" y="0"/>
                  </a:lnTo>
                  <a:lnTo>
                    <a:pt x="0" y="355600"/>
                  </a:lnTo>
                  <a:lnTo>
                    <a:pt x="27263" y="355600"/>
                  </a:lnTo>
                  <a:lnTo>
                    <a:pt x="382863" y="0"/>
                  </a:lnTo>
                  <a:close/>
                </a:path>
              </a:pathLst>
            </a:custGeom>
            <a:solidFill>
              <a:srgbClr val="57918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432623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2956" y="0"/>
                  </a:moveTo>
                  <a:lnTo>
                    <a:pt x="355301" y="0"/>
                  </a:lnTo>
                  <a:lnTo>
                    <a:pt x="0" y="355600"/>
                  </a:lnTo>
                  <a:lnTo>
                    <a:pt x="27356" y="355600"/>
                  </a:lnTo>
                  <a:lnTo>
                    <a:pt x="382956" y="0"/>
                  </a:lnTo>
                  <a:close/>
                </a:path>
              </a:pathLst>
            </a:custGeom>
            <a:solidFill>
              <a:srgbClr val="56908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45744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53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939" y="355600"/>
                  </a:lnTo>
                  <a:lnTo>
                    <a:pt x="383539" y="0"/>
                  </a:lnTo>
                  <a:close/>
                </a:path>
              </a:pathLst>
            </a:custGeom>
            <a:solidFill>
              <a:srgbClr val="568F8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482840" y="3898900"/>
              <a:ext cx="383540" cy="355600"/>
            </a:xfrm>
            <a:custGeom>
              <a:avLst/>
              <a:gdLst/>
              <a:ahLst/>
              <a:cxnLst/>
              <a:rect l="l" t="t" r="r" b="b"/>
              <a:pathLst>
                <a:path w="383540" h="355600">
                  <a:moveTo>
                    <a:pt x="383287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388" y="355600"/>
                  </a:lnTo>
                  <a:lnTo>
                    <a:pt x="383287" y="0"/>
                  </a:lnTo>
                  <a:close/>
                </a:path>
              </a:pathLst>
            </a:custGeom>
            <a:solidFill>
              <a:srgbClr val="558E8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508240" y="3898900"/>
              <a:ext cx="382905" cy="355600"/>
            </a:xfrm>
            <a:custGeom>
              <a:avLst/>
              <a:gdLst/>
              <a:ahLst/>
              <a:cxnLst/>
              <a:rect l="l" t="t" r="r" b="b"/>
              <a:pathLst>
                <a:path w="382904" h="355600">
                  <a:moveTo>
                    <a:pt x="382511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210" y="355600"/>
                  </a:lnTo>
                  <a:lnTo>
                    <a:pt x="382511" y="0"/>
                  </a:lnTo>
                  <a:close/>
                </a:path>
              </a:pathLst>
            </a:custGeom>
            <a:solidFill>
              <a:srgbClr val="548D8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53364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69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69" y="355600"/>
                  </a:lnTo>
                  <a:lnTo>
                    <a:pt x="382269" y="0"/>
                  </a:lnTo>
                  <a:close/>
                </a:path>
              </a:pathLst>
            </a:custGeom>
            <a:solidFill>
              <a:srgbClr val="548C8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558509" y="3898900"/>
              <a:ext cx="382905" cy="355600"/>
            </a:xfrm>
            <a:custGeom>
              <a:avLst/>
              <a:gdLst/>
              <a:ahLst/>
              <a:cxnLst/>
              <a:rect l="l" t="t" r="r" b="b"/>
              <a:pathLst>
                <a:path w="382904" h="355600">
                  <a:moveTo>
                    <a:pt x="382800" y="0"/>
                  </a:moveTo>
                  <a:lnTo>
                    <a:pt x="355899" y="0"/>
                  </a:lnTo>
                  <a:lnTo>
                    <a:pt x="0" y="355600"/>
                  </a:lnTo>
                  <a:lnTo>
                    <a:pt x="27200" y="355600"/>
                  </a:lnTo>
                  <a:lnTo>
                    <a:pt x="382800" y="0"/>
                  </a:lnTo>
                  <a:close/>
                </a:path>
              </a:pathLst>
            </a:custGeom>
            <a:solidFill>
              <a:srgbClr val="538B8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583170" y="3898900"/>
              <a:ext cx="382905" cy="355600"/>
            </a:xfrm>
            <a:custGeom>
              <a:avLst/>
              <a:gdLst/>
              <a:ahLst/>
              <a:cxnLst/>
              <a:rect l="l" t="t" r="r" b="b"/>
              <a:pathLst>
                <a:path w="382904" h="355600">
                  <a:moveTo>
                    <a:pt x="38248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7179" y="355600"/>
                  </a:lnTo>
                  <a:lnTo>
                    <a:pt x="382480" y="0"/>
                  </a:lnTo>
                  <a:close/>
                </a:path>
              </a:pathLst>
            </a:custGeom>
            <a:solidFill>
              <a:srgbClr val="538A8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60857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52898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633970" y="3898900"/>
              <a:ext cx="382270" cy="355600"/>
            </a:xfrm>
            <a:custGeom>
              <a:avLst/>
              <a:gdLst/>
              <a:ahLst/>
              <a:cxnLst/>
              <a:rect l="l" t="t" r="r" b="b"/>
              <a:pathLst>
                <a:path w="382270" h="355600">
                  <a:moveTo>
                    <a:pt x="382270" y="0"/>
                  </a:moveTo>
                  <a:lnTo>
                    <a:pt x="355600" y="0"/>
                  </a:lnTo>
                  <a:lnTo>
                    <a:pt x="0" y="355600"/>
                  </a:lnTo>
                  <a:lnTo>
                    <a:pt x="26670" y="355600"/>
                  </a:lnTo>
                  <a:lnTo>
                    <a:pt x="382270" y="0"/>
                  </a:lnTo>
                  <a:close/>
                </a:path>
              </a:pathLst>
            </a:custGeom>
            <a:solidFill>
              <a:srgbClr val="51887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659370" y="3752850"/>
              <a:ext cx="514984" cy="501650"/>
            </a:xfrm>
            <a:custGeom>
              <a:avLst/>
              <a:gdLst/>
              <a:ahLst/>
              <a:cxnLst/>
              <a:rect l="l" t="t" r="r" b="b"/>
              <a:pathLst>
                <a:path w="514984" h="501650">
                  <a:moveTo>
                    <a:pt x="382270" y="146050"/>
                  </a:moveTo>
                  <a:lnTo>
                    <a:pt x="355600" y="146050"/>
                  </a:lnTo>
                  <a:lnTo>
                    <a:pt x="0" y="501650"/>
                  </a:lnTo>
                  <a:lnTo>
                    <a:pt x="26670" y="501650"/>
                  </a:lnTo>
                  <a:lnTo>
                    <a:pt x="382270" y="146050"/>
                  </a:lnTo>
                  <a:close/>
                </a:path>
                <a:path w="514984" h="501650">
                  <a:moveTo>
                    <a:pt x="508000" y="0"/>
                  </a:moveTo>
                  <a:lnTo>
                    <a:pt x="508000" y="20319"/>
                  </a:lnTo>
                  <a:lnTo>
                    <a:pt x="514390" y="13929"/>
                  </a:lnTo>
                  <a:lnTo>
                    <a:pt x="508000" y="0"/>
                  </a:lnTo>
                  <a:close/>
                </a:path>
              </a:pathLst>
            </a:custGeom>
            <a:solidFill>
              <a:srgbClr val="51877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683500" y="3765037"/>
              <a:ext cx="498475" cy="489584"/>
            </a:xfrm>
            <a:custGeom>
              <a:avLst/>
              <a:gdLst/>
              <a:ahLst/>
              <a:cxnLst/>
              <a:rect l="l" t="t" r="r" b="b"/>
              <a:pathLst>
                <a:path w="498475" h="489585">
                  <a:moveTo>
                    <a:pt x="383540" y="133862"/>
                  </a:moveTo>
                  <a:lnTo>
                    <a:pt x="355600" y="133862"/>
                  </a:lnTo>
                  <a:lnTo>
                    <a:pt x="0" y="489462"/>
                  </a:lnTo>
                  <a:lnTo>
                    <a:pt x="27940" y="489462"/>
                  </a:lnTo>
                  <a:lnTo>
                    <a:pt x="383540" y="133862"/>
                  </a:lnTo>
                  <a:close/>
                </a:path>
                <a:path w="498475" h="489585">
                  <a:moveTo>
                    <a:pt x="489462" y="0"/>
                  </a:moveTo>
                  <a:lnTo>
                    <a:pt x="483870" y="5592"/>
                  </a:lnTo>
                  <a:lnTo>
                    <a:pt x="483870" y="33532"/>
                  </a:lnTo>
                  <a:lnTo>
                    <a:pt x="498249" y="19152"/>
                  </a:lnTo>
                  <a:lnTo>
                    <a:pt x="489462" y="0"/>
                  </a:lnTo>
                  <a:close/>
                </a:path>
              </a:pathLst>
            </a:custGeom>
            <a:solidFill>
              <a:srgbClr val="50867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709703" y="3783271"/>
              <a:ext cx="480059" cy="471805"/>
            </a:xfrm>
            <a:custGeom>
              <a:avLst/>
              <a:gdLst/>
              <a:ahLst/>
              <a:cxnLst/>
              <a:rect l="l" t="t" r="r" b="b"/>
              <a:pathLst>
                <a:path w="480059" h="471804">
                  <a:moveTo>
                    <a:pt x="382736" y="115628"/>
                  </a:moveTo>
                  <a:lnTo>
                    <a:pt x="355899" y="115628"/>
                  </a:lnTo>
                  <a:lnTo>
                    <a:pt x="0" y="471228"/>
                  </a:lnTo>
                  <a:lnTo>
                    <a:pt x="27136" y="471228"/>
                  </a:lnTo>
                  <a:lnTo>
                    <a:pt x="382736" y="115628"/>
                  </a:lnTo>
                  <a:close/>
                </a:path>
                <a:path w="480059" h="471804">
                  <a:moveTo>
                    <a:pt x="471624" y="0"/>
                  </a:moveTo>
                  <a:lnTo>
                    <a:pt x="457666" y="13946"/>
                  </a:lnTo>
                  <a:lnTo>
                    <a:pt x="457666" y="40698"/>
                  </a:lnTo>
                  <a:lnTo>
                    <a:pt x="480035" y="18330"/>
                  </a:lnTo>
                  <a:lnTo>
                    <a:pt x="471624" y="0"/>
                  </a:lnTo>
                  <a:close/>
                </a:path>
              </a:pathLst>
            </a:custGeom>
            <a:solidFill>
              <a:srgbClr val="50857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734300" y="3799860"/>
              <a:ext cx="463550" cy="454659"/>
            </a:xfrm>
            <a:custGeom>
              <a:avLst/>
              <a:gdLst/>
              <a:ahLst/>
              <a:cxnLst/>
              <a:rect l="l" t="t" r="r" b="b"/>
              <a:pathLst>
                <a:path w="463550" h="454660">
                  <a:moveTo>
                    <a:pt x="383540" y="99039"/>
                  </a:moveTo>
                  <a:lnTo>
                    <a:pt x="355600" y="99039"/>
                  </a:lnTo>
                  <a:lnTo>
                    <a:pt x="0" y="454639"/>
                  </a:lnTo>
                  <a:lnTo>
                    <a:pt x="27940" y="454639"/>
                  </a:lnTo>
                  <a:lnTo>
                    <a:pt x="383540" y="99039"/>
                  </a:lnTo>
                  <a:close/>
                </a:path>
                <a:path w="463550" h="454660">
                  <a:moveTo>
                    <a:pt x="454639" y="0"/>
                  </a:moveTo>
                  <a:lnTo>
                    <a:pt x="433070" y="21569"/>
                  </a:lnTo>
                  <a:lnTo>
                    <a:pt x="433070" y="49509"/>
                  </a:lnTo>
                  <a:lnTo>
                    <a:pt x="463427" y="19152"/>
                  </a:lnTo>
                  <a:lnTo>
                    <a:pt x="454639" y="0"/>
                  </a:lnTo>
                  <a:close/>
                </a:path>
              </a:pathLst>
            </a:custGeom>
            <a:solidFill>
              <a:srgbClr val="4F847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759700" y="3817271"/>
              <a:ext cx="446405" cy="437515"/>
            </a:xfrm>
            <a:custGeom>
              <a:avLst/>
              <a:gdLst/>
              <a:ahLst/>
              <a:cxnLst/>
              <a:rect l="l" t="t" r="r" b="b"/>
              <a:pathLst>
                <a:path w="446404" h="437514">
                  <a:moveTo>
                    <a:pt x="383540" y="81628"/>
                  </a:moveTo>
                  <a:lnTo>
                    <a:pt x="355600" y="81628"/>
                  </a:lnTo>
                  <a:lnTo>
                    <a:pt x="0" y="437228"/>
                  </a:lnTo>
                  <a:lnTo>
                    <a:pt x="27940" y="437228"/>
                  </a:lnTo>
                  <a:lnTo>
                    <a:pt x="383540" y="81628"/>
                  </a:lnTo>
                  <a:close/>
                </a:path>
                <a:path w="446404" h="437514">
                  <a:moveTo>
                    <a:pt x="437228" y="0"/>
                  </a:moveTo>
                  <a:lnTo>
                    <a:pt x="407670" y="29558"/>
                  </a:lnTo>
                  <a:lnTo>
                    <a:pt x="407670" y="57498"/>
                  </a:lnTo>
                  <a:lnTo>
                    <a:pt x="446015" y="19152"/>
                  </a:lnTo>
                  <a:lnTo>
                    <a:pt x="437228" y="0"/>
                  </a:lnTo>
                  <a:close/>
                </a:path>
              </a:pathLst>
            </a:custGeom>
            <a:solidFill>
              <a:srgbClr val="4F837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785100" y="3834683"/>
              <a:ext cx="428625" cy="420370"/>
            </a:xfrm>
            <a:custGeom>
              <a:avLst/>
              <a:gdLst/>
              <a:ahLst/>
              <a:cxnLst/>
              <a:rect l="l" t="t" r="r" b="b"/>
              <a:pathLst>
                <a:path w="428625" h="420370">
                  <a:moveTo>
                    <a:pt x="419816" y="0"/>
                  </a:moveTo>
                  <a:lnTo>
                    <a:pt x="382270" y="37546"/>
                  </a:lnTo>
                  <a:lnTo>
                    <a:pt x="382270" y="64216"/>
                  </a:lnTo>
                  <a:lnTo>
                    <a:pt x="355600" y="64216"/>
                  </a:lnTo>
                  <a:lnTo>
                    <a:pt x="0" y="419816"/>
                  </a:lnTo>
                  <a:lnTo>
                    <a:pt x="27940" y="419816"/>
                  </a:lnTo>
                  <a:lnTo>
                    <a:pt x="428604" y="19152"/>
                  </a:lnTo>
                  <a:lnTo>
                    <a:pt x="419816" y="0"/>
                  </a:lnTo>
                  <a:close/>
                </a:path>
              </a:pathLst>
            </a:custGeom>
            <a:solidFill>
              <a:srgbClr val="4E827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810500" y="3852094"/>
              <a:ext cx="411480" cy="402590"/>
            </a:xfrm>
            <a:custGeom>
              <a:avLst/>
              <a:gdLst/>
              <a:ahLst/>
              <a:cxnLst/>
              <a:rect l="l" t="t" r="r" b="b"/>
              <a:pathLst>
                <a:path w="411479" h="402589">
                  <a:moveTo>
                    <a:pt x="402405" y="0"/>
                  </a:moveTo>
                  <a:lnTo>
                    <a:pt x="356870" y="45535"/>
                  </a:lnTo>
                  <a:lnTo>
                    <a:pt x="356870" y="46805"/>
                  </a:lnTo>
                  <a:lnTo>
                    <a:pt x="355600" y="46805"/>
                  </a:lnTo>
                  <a:lnTo>
                    <a:pt x="0" y="402405"/>
                  </a:lnTo>
                  <a:lnTo>
                    <a:pt x="27526" y="402405"/>
                  </a:lnTo>
                  <a:lnTo>
                    <a:pt x="411164" y="19090"/>
                  </a:lnTo>
                  <a:lnTo>
                    <a:pt x="402405" y="0"/>
                  </a:lnTo>
                  <a:close/>
                </a:path>
              </a:pathLst>
            </a:custGeom>
            <a:solidFill>
              <a:srgbClr val="4D817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835900" y="3869505"/>
              <a:ext cx="393700" cy="385445"/>
            </a:xfrm>
            <a:custGeom>
              <a:avLst/>
              <a:gdLst/>
              <a:ahLst/>
              <a:cxnLst/>
              <a:rect l="l" t="t" r="r" b="b"/>
              <a:pathLst>
                <a:path w="393700" h="385445">
                  <a:moveTo>
                    <a:pt x="384994" y="0"/>
                  </a:moveTo>
                  <a:lnTo>
                    <a:pt x="0" y="384994"/>
                  </a:lnTo>
                  <a:lnTo>
                    <a:pt x="26670" y="384994"/>
                  </a:lnTo>
                  <a:lnTo>
                    <a:pt x="393382" y="18281"/>
                  </a:lnTo>
                  <a:lnTo>
                    <a:pt x="384994" y="0"/>
                  </a:lnTo>
                  <a:close/>
                </a:path>
              </a:pathLst>
            </a:custGeom>
            <a:solidFill>
              <a:srgbClr val="4D807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861300" y="3886916"/>
              <a:ext cx="376555" cy="367665"/>
            </a:xfrm>
            <a:custGeom>
              <a:avLst/>
              <a:gdLst/>
              <a:ahLst/>
              <a:cxnLst/>
              <a:rect l="l" t="t" r="r" b="b"/>
              <a:pathLst>
                <a:path w="376554" h="367664">
                  <a:moveTo>
                    <a:pt x="367583" y="0"/>
                  </a:moveTo>
                  <a:lnTo>
                    <a:pt x="0" y="367583"/>
                  </a:lnTo>
                  <a:lnTo>
                    <a:pt x="26670" y="367583"/>
                  </a:lnTo>
                  <a:lnTo>
                    <a:pt x="375971" y="18281"/>
                  </a:lnTo>
                  <a:lnTo>
                    <a:pt x="367583" y="0"/>
                  </a:lnTo>
                  <a:close/>
                </a:path>
              </a:pathLst>
            </a:custGeom>
            <a:solidFill>
              <a:srgbClr val="4C7F7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886307" y="3904260"/>
              <a:ext cx="359410" cy="350520"/>
            </a:xfrm>
            <a:custGeom>
              <a:avLst/>
              <a:gdLst/>
              <a:ahLst/>
              <a:cxnLst/>
              <a:rect l="l" t="t" r="r" b="b"/>
              <a:pathLst>
                <a:path w="359409" h="350520">
                  <a:moveTo>
                    <a:pt x="350533" y="0"/>
                  </a:moveTo>
                  <a:lnTo>
                    <a:pt x="0" y="350239"/>
                  </a:lnTo>
                  <a:lnTo>
                    <a:pt x="26681" y="350239"/>
                  </a:lnTo>
                  <a:lnTo>
                    <a:pt x="358920" y="18279"/>
                  </a:lnTo>
                  <a:lnTo>
                    <a:pt x="350533" y="0"/>
                  </a:lnTo>
                  <a:close/>
                </a:path>
              </a:pathLst>
            </a:custGeom>
            <a:solidFill>
              <a:srgbClr val="4C7E7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910830" y="3920868"/>
              <a:ext cx="342265" cy="334010"/>
            </a:xfrm>
            <a:custGeom>
              <a:avLst/>
              <a:gdLst/>
              <a:ahLst/>
              <a:cxnLst/>
              <a:rect l="l" t="t" r="r" b="b"/>
              <a:pathLst>
                <a:path w="342265" h="334010">
                  <a:moveTo>
                    <a:pt x="333631" y="0"/>
                  </a:moveTo>
                  <a:lnTo>
                    <a:pt x="0" y="333631"/>
                  </a:lnTo>
                  <a:lnTo>
                    <a:pt x="27041" y="333631"/>
                  </a:lnTo>
                  <a:lnTo>
                    <a:pt x="342052" y="18354"/>
                  </a:lnTo>
                  <a:lnTo>
                    <a:pt x="333631" y="0"/>
                  </a:lnTo>
                  <a:close/>
                </a:path>
              </a:pathLst>
            </a:custGeom>
            <a:solidFill>
              <a:srgbClr val="4B7D7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936230" y="3938280"/>
              <a:ext cx="325120" cy="316230"/>
            </a:xfrm>
            <a:custGeom>
              <a:avLst/>
              <a:gdLst/>
              <a:ahLst/>
              <a:cxnLst/>
              <a:rect l="l" t="t" r="r" b="b"/>
              <a:pathLst>
                <a:path w="325120" h="316229">
                  <a:moveTo>
                    <a:pt x="316219" y="0"/>
                  </a:moveTo>
                  <a:lnTo>
                    <a:pt x="0" y="316219"/>
                  </a:lnTo>
                  <a:lnTo>
                    <a:pt x="26670" y="316219"/>
                  </a:lnTo>
                  <a:lnTo>
                    <a:pt x="324607" y="18281"/>
                  </a:lnTo>
                  <a:lnTo>
                    <a:pt x="316219" y="0"/>
                  </a:lnTo>
                  <a:close/>
                </a:path>
              </a:pathLst>
            </a:custGeom>
            <a:solidFill>
              <a:srgbClr val="4A7C7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4" name="object 184"/>
            <p:cNvSpPr/>
            <p:nvPr/>
          </p:nvSpPr>
          <p:spPr>
            <a:xfrm>
              <a:off x="7961630" y="3955691"/>
              <a:ext cx="307340" cy="299085"/>
            </a:xfrm>
            <a:custGeom>
              <a:avLst/>
              <a:gdLst/>
              <a:ahLst/>
              <a:cxnLst/>
              <a:rect l="l" t="t" r="r" b="b"/>
              <a:pathLst>
                <a:path w="307340" h="299085">
                  <a:moveTo>
                    <a:pt x="298808" y="0"/>
                  </a:moveTo>
                  <a:lnTo>
                    <a:pt x="0" y="298808"/>
                  </a:lnTo>
                  <a:lnTo>
                    <a:pt x="26670" y="298808"/>
                  </a:lnTo>
                  <a:lnTo>
                    <a:pt x="307196" y="18281"/>
                  </a:lnTo>
                  <a:lnTo>
                    <a:pt x="298808" y="0"/>
                  </a:lnTo>
                  <a:close/>
                </a:path>
              </a:pathLst>
            </a:custGeom>
            <a:solidFill>
              <a:srgbClr val="4A7B7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5" name="object 185"/>
            <p:cNvSpPr/>
            <p:nvPr/>
          </p:nvSpPr>
          <p:spPr>
            <a:xfrm>
              <a:off x="7985760" y="3972232"/>
              <a:ext cx="291465" cy="282575"/>
            </a:xfrm>
            <a:custGeom>
              <a:avLst/>
              <a:gdLst/>
              <a:ahLst/>
              <a:cxnLst/>
              <a:rect l="l" t="t" r="r" b="b"/>
              <a:pathLst>
                <a:path w="291465" h="282575">
                  <a:moveTo>
                    <a:pt x="282267" y="0"/>
                  </a:moveTo>
                  <a:lnTo>
                    <a:pt x="0" y="282267"/>
                  </a:lnTo>
                  <a:lnTo>
                    <a:pt x="27939" y="282267"/>
                  </a:lnTo>
                  <a:lnTo>
                    <a:pt x="291055" y="19152"/>
                  </a:lnTo>
                  <a:lnTo>
                    <a:pt x="282267" y="0"/>
                  </a:lnTo>
                  <a:close/>
                </a:path>
              </a:pathLst>
            </a:custGeom>
            <a:solidFill>
              <a:srgbClr val="497A7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6" name="object 186"/>
            <p:cNvSpPr/>
            <p:nvPr/>
          </p:nvSpPr>
          <p:spPr>
            <a:xfrm>
              <a:off x="8011160" y="3989643"/>
              <a:ext cx="273685" cy="265430"/>
            </a:xfrm>
            <a:custGeom>
              <a:avLst/>
              <a:gdLst/>
              <a:ahLst/>
              <a:cxnLst/>
              <a:rect l="l" t="t" r="r" b="b"/>
              <a:pathLst>
                <a:path w="273684" h="265429">
                  <a:moveTo>
                    <a:pt x="264856" y="0"/>
                  </a:moveTo>
                  <a:lnTo>
                    <a:pt x="0" y="264856"/>
                  </a:lnTo>
                  <a:lnTo>
                    <a:pt x="27939" y="264856"/>
                  </a:lnTo>
                  <a:lnTo>
                    <a:pt x="273644" y="19152"/>
                  </a:lnTo>
                  <a:lnTo>
                    <a:pt x="264856" y="0"/>
                  </a:lnTo>
                  <a:close/>
                </a:path>
              </a:pathLst>
            </a:custGeom>
            <a:solidFill>
              <a:srgbClr val="49797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7" name="object 187"/>
            <p:cNvSpPr/>
            <p:nvPr/>
          </p:nvSpPr>
          <p:spPr>
            <a:xfrm>
              <a:off x="8036560" y="4007054"/>
              <a:ext cx="256540" cy="247650"/>
            </a:xfrm>
            <a:custGeom>
              <a:avLst/>
              <a:gdLst/>
              <a:ahLst/>
              <a:cxnLst/>
              <a:rect l="l" t="t" r="r" b="b"/>
              <a:pathLst>
                <a:path w="256540" h="247650">
                  <a:moveTo>
                    <a:pt x="247445" y="0"/>
                  </a:moveTo>
                  <a:lnTo>
                    <a:pt x="0" y="247445"/>
                  </a:lnTo>
                  <a:lnTo>
                    <a:pt x="27621" y="247445"/>
                  </a:lnTo>
                  <a:lnTo>
                    <a:pt x="256193" y="19065"/>
                  </a:lnTo>
                  <a:lnTo>
                    <a:pt x="247445" y="0"/>
                  </a:lnTo>
                  <a:close/>
                </a:path>
              </a:pathLst>
            </a:custGeom>
            <a:solidFill>
              <a:srgbClr val="48787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88" name="object 188"/>
            <p:cNvSpPr/>
            <p:nvPr/>
          </p:nvSpPr>
          <p:spPr>
            <a:xfrm>
              <a:off x="8061960" y="4024466"/>
              <a:ext cx="253999" cy="37735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189" name="object 189"/>
          <p:cNvSpPr/>
          <p:nvPr/>
        </p:nvSpPr>
        <p:spPr>
          <a:xfrm>
            <a:off x="6402696" y="2758748"/>
            <a:ext cx="119295" cy="2420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90" name="object 190"/>
          <p:cNvSpPr/>
          <p:nvPr/>
        </p:nvSpPr>
        <p:spPr>
          <a:xfrm>
            <a:off x="6283401" y="2758748"/>
            <a:ext cx="58783" cy="2420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91" name="object 191"/>
          <p:cNvSpPr txBox="1"/>
          <p:nvPr/>
        </p:nvSpPr>
        <p:spPr>
          <a:xfrm>
            <a:off x="6968049" y="2798513"/>
            <a:ext cx="784492" cy="15537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953" spc="-3" dirty="0">
                <a:latin typeface="DejaVu Sans"/>
                <a:cs typeface="DejaVu Sans"/>
              </a:rPr>
              <a:t>Visualization</a:t>
            </a:r>
            <a:endParaRPr sz="953">
              <a:latin typeface="DejaVu Sans"/>
              <a:cs typeface="DejaVu Sans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3339288" y="3146239"/>
            <a:ext cx="1967929" cy="1624741"/>
            <a:chOff x="1182687" y="4468177"/>
            <a:chExt cx="2891155" cy="2386965"/>
          </a:xfrm>
        </p:grpSpPr>
        <p:sp>
          <p:nvSpPr>
            <p:cNvPr id="193" name="object 193"/>
            <p:cNvSpPr/>
            <p:nvPr/>
          </p:nvSpPr>
          <p:spPr>
            <a:xfrm>
              <a:off x="1187450" y="4474210"/>
              <a:ext cx="2880360" cy="2376170"/>
            </a:xfrm>
            <a:custGeom>
              <a:avLst/>
              <a:gdLst/>
              <a:ahLst/>
              <a:cxnLst/>
              <a:rect l="l" t="t" r="r" b="b"/>
              <a:pathLst>
                <a:path w="2880360" h="2376170">
                  <a:moveTo>
                    <a:pt x="45720" y="87896"/>
                  </a:moveTo>
                  <a:lnTo>
                    <a:pt x="38100" y="97790"/>
                  </a:lnTo>
                  <a:lnTo>
                    <a:pt x="26670" y="115570"/>
                  </a:lnTo>
                  <a:lnTo>
                    <a:pt x="22860" y="124472"/>
                  </a:lnTo>
                  <a:lnTo>
                    <a:pt x="19050" y="133350"/>
                  </a:lnTo>
                  <a:lnTo>
                    <a:pt x="10160" y="152400"/>
                  </a:lnTo>
                  <a:lnTo>
                    <a:pt x="3810" y="171450"/>
                  </a:lnTo>
                  <a:lnTo>
                    <a:pt x="0" y="191782"/>
                  </a:lnTo>
                  <a:lnTo>
                    <a:pt x="0" y="2184400"/>
                  </a:lnTo>
                  <a:lnTo>
                    <a:pt x="3810" y="2203450"/>
                  </a:lnTo>
                  <a:lnTo>
                    <a:pt x="10160" y="2223770"/>
                  </a:lnTo>
                  <a:lnTo>
                    <a:pt x="19050" y="2242820"/>
                  </a:lnTo>
                  <a:lnTo>
                    <a:pt x="22860" y="2251722"/>
                  </a:lnTo>
                  <a:lnTo>
                    <a:pt x="26670" y="2260600"/>
                  </a:lnTo>
                  <a:lnTo>
                    <a:pt x="38100" y="2278380"/>
                  </a:lnTo>
                  <a:lnTo>
                    <a:pt x="45720" y="2288286"/>
                  </a:lnTo>
                  <a:lnTo>
                    <a:pt x="45720" y="87896"/>
                  </a:lnTo>
                  <a:close/>
                </a:path>
                <a:path w="2880360" h="2376170">
                  <a:moveTo>
                    <a:pt x="2791460" y="45720"/>
                  </a:moveTo>
                  <a:lnTo>
                    <a:pt x="2782570" y="39370"/>
                  </a:lnTo>
                  <a:lnTo>
                    <a:pt x="2764790" y="27940"/>
                  </a:lnTo>
                  <a:lnTo>
                    <a:pt x="2752877" y="21590"/>
                  </a:lnTo>
                  <a:lnTo>
                    <a:pt x="2745740" y="17780"/>
                  </a:lnTo>
                  <a:lnTo>
                    <a:pt x="2727960" y="8890"/>
                  </a:lnTo>
                  <a:lnTo>
                    <a:pt x="2707640" y="5080"/>
                  </a:lnTo>
                  <a:lnTo>
                    <a:pt x="2688590" y="1270"/>
                  </a:lnTo>
                  <a:lnTo>
                    <a:pt x="2668270" y="0"/>
                  </a:lnTo>
                  <a:lnTo>
                    <a:pt x="210820" y="0"/>
                  </a:lnTo>
                  <a:lnTo>
                    <a:pt x="152400" y="8890"/>
                  </a:lnTo>
                  <a:lnTo>
                    <a:pt x="114300" y="27940"/>
                  </a:lnTo>
                  <a:lnTo>
                    <a:pt x="90170" y="45720"/>
                  </a:lnTo>
                  <a:lnTo>
                    <a:pt x="2791460" y="45720"/>
                  </a:lnTo>
                  <a:close/>
                </a:path>
                <a:path w="2880360" h="2376170">
                  <a:moveTo>
                    <a:pt x="2793238" y="2329180"/>
                  </a:moveTo>
                  <a:lnTo>
                    <a:pt x="88646" y="2329180"/>
                  </a:lnTo>
                  <a:lnTo>
                    <a:pt x="97790" y="2336800"/>
                  </a:lnTo>
                  <a:lnTo>
                    <a:pt x="114300" y="2348230"/>
                  </a:lnTo>
                  <a:lnTo>
                    <a:pt x="123812" y="2353310"/>
                  </a:lnTo>
                  <a:lnTo>
                    <a:pt x="133350" y="2358390"/>
                  </a:lnTo>
                  <a:lnTo>
                    <a:pt x="152400" y="2366010"/>
                  </a:lnTo>
                  <a:lnTo>
                    <a:pt x="171450" y="2371090"/>
                  </a:lnTo>
                  <a:lnTo>
                    <a:pt x="190500" y="2374900"/>
                  </a:lnTo>
                  <a:lnTo>
                    <a:pt x="210807" y="2376170"/>
                  </a:lnTo>
                  <a:lnTo>
                    <a:pt x="2668270" y="2376170"/>
                  </a:lnTo>
                  <a:lnTo>
                    <a:pt x="2707640" y="2371090"/>
                  </a:lnTo>
                  <a:lnTo>
                    <a:pt x="2745740" y="2358390"/>
                  </a:lnTo>
                  <a:lnTo>
                    <a:pt x="2755265" y="2353310"/>
                  </a:lnTo>
                  <a:lnTo>
                    <a:pt x="2764790" y="2348230"/>
                  </a:lnTo>
                  <a:lnTo>
                    <a:pt x="2782570" y="2336800"/>
                  </a:lnTo>
                  <a:lnTo>
                    <a:pt x="2793238" y="2329180"/>
                  </a:lnTo>
                  <a:close/>
                </a:path>
                <a:path w="2880360" h="2376170">
                  <a:moveTo>
                    <a:pt x="2880360" y="212090"/>
                  </a:moveTo>
                  <a:lnTo>
                    <a:pt x="2879090" y="191770"/>
                  </a:lnTo>
                  <a:lnTo>
                    <a:pt x="2876550" y="171450"/>
                  </a:lnTo>
                  <a:lnTo>
                    <a:pt x="2863850" y="133350"/>
                  </a:lnTo>
                  <a:lnTo>
                    <a:pt x="2858770" y="125450"/>
                  </a:lnTo>
                  <a:lnTo>
                    <a:pt x="2840990" y="97790"/>
                  </a:lnTo>
                  <a:lnTo>
                    <a:pt x="2834640" y="89535"/>
                  </a:lnTo>
                  <a:lnTo>
                    <a:pt x="2834640" y="2286635"/>
                  </a:lnTo>
                  <a:lnTo>
                    <a:pt x="2858770" y="2250732"/>
                  </a:lnTo>
                  <a:lnTo>
                    <a:pt x="2876550" y="2203450"/>
                  </a:lnTo>
                  <a:lnTo>
                    <a:pt x="2880360" y="2164080"/>
                  </a:lnTo>
                  <a:lnTo>
                    <a:pt x="2880360" y="21209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233169" y="4519930"/>
              <a:ext cx="2788920" cy="2283460"/>
            </a:xfrm>
            <a:custGeom>
              <a:avLst/>
              <a:gdLst/>
              <a:ahLst/>
              <a:cxnLst/>
              <a:rect l="l" t="t" r="r" b="b"/>
              <a:pathLst>
                <a:path w="2788920" h="2283459">
                  <a:moveTo>
                    <a:pt x="2745740" y="0"/>
                  </a:moveTo>
                  <a:lnTo>
                    <a:pt x="44450" y="0"/>
                  </a:lnTo>
                  <a:lnTo>
                    <a:pt x="36830" y="6350"/>
                  </a:lnTo>
                  <a:lnTo>
                    <a:pt x="20320" y="20320"/>
                  </a:lnTo>
                  <a:lnTo>
                    <a:pt x="5080" y="35560"/>
                  </a:lnTo>
                  <a:lnTo>
                    <a:pt x="0" y="42164"/>
                  </a:lnTo>
                  <a:lnTo>
                    <a:pt x="0" y="2242566"/>
                  </a:lnTo>
                  <a:lnTo>
                    <a:pt x="5080" y="2249170"/>
                  </a:lnTo>
                  <a:lnTo>
                    <a:pt x="20320" y="2264410"/>
                  </a:lnTo>
                  <a:lnTo>
                    <a:pt x="36830" y="2278380"/>
                  </a:lnTo>
                  <a:lnTo>
                    <a:pt x="42926" y="2283460"/>
                  </a:lnTo>
                  <a:lnTo>
                    <a:pt x="2747518" y="2283460"/>
                  </a:lnTo>
                  <a:lnTo>
                    <a:pt x="2754630" y="2278380"/>
                  </a:lnTo>
                  <a:lnTo>
                    <a:pt x="2768600" y="2264410"/>
                  </a:lnTo>
                  <a:lnTo>
                    <a:pt x="2772092" y="2260600"/>
                  </a:lnTo>
                  <a:lnTo>
                    <a:pt x="24130" y="2260600"/>
                  </a:lnTo>
                  <a:lnTo>
                    <a:pt x="24130" y="22860"/>
                  </a:lnTo>
                  <a:lnTo>
                    <a:pt x="2770928" y="22860"/>
                  </a:lnTo>
                  <a:lnTo>
                    <a:pt x="2768600" y="20320"/>
                  </a:lnTo>
                  <a:lnTo>
                    <a:pt x="2754630" y="6350"/>
                  </a:lnTo>
                  <a:lnTo>
                    <a:pt x="2745740" y="0"/>
                  </a:lnTo>
                  <a:close/>
                </a:path>
                <a:path w="2788920" h="2283459">
                  <a:moveTo>
                    <a:pt x="2770928" y="22860"/>
                  </a:moveTo>
                  <a:lnTo>
                    <a:pt x="2766060" y="22860"/>
                  </a:lnTo>
                  <a:lnTo>
                    <a:pt x="2766060" y="2260600"/>
                  </a:lnTo>
                  <a:lnTo>
                    <a:pt x="2772092" y="2260600"/>
                  </a:lnTo>
                  <a:lnTo>
                    <a:pt x="2782570" y="2249170"/>
                  </a:lnTo>
                  <a:lnTo>
                    <a:pt x="2788920" y="2240915"/>
                  </a:lnTo>
                  <a:lnTo>
                    <a:pt x="2788920" y="43815"/>
                  </a:lnTo>
                  <a:lnTo>
                    <a:pt x="2782570" y="35560"/>
                  </a:lnTo>
                  <a:lnTo>
                    <a:pt x="2770928" y="22860"/>
                  </a:lnTo>
                  <a:close/>
                </a:path>
              </a:pathLst>
            </a:custGeom>
            <a:solidFill>
              <a:srgbClr val="CD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257300" y="4542790"/>
              <a:ext cx="2741930" cy="2237740"/>
            </a:xfrm>
            <a:custGeom>
              <a:avLst/>
              <a:gdLst/>
              <a:ahLst/>
              <a:cxnLst/>
              <a:rect l="l" t="t" r="r" b="b"/>
              <a:pathLst>
                <a:path w="2741929" h="2237740">
                  <a:moveTo>
                    <a:pt x="2741930" y="0"/>
                  </a:moveTo>
                  <a:lnTo>
                    <a:pt x="2717800" y="0"/>
                  </a:lnTo>
                  <a:lnTo>
                    <a:pt x="2717800" y="22860"/>
                  </a:lnTo>
                  <a:lnTo>
                    <a:pt x="2717800" y="2213610"/>
                  </a:lnTo>
                  <a:lnTo>
                    <a:pt x="22860" y="2213610"/>
                  </a:lnTo>
                  <a:lnTo>
                    <a:pt x="22860" y="22860"/>
                  </a:lnTo>
                  <a:lnTo>
                    <a:pt x="2717800" y="22860"/>
                  </a:lnTo>
                  <a:lnTo>
                    <a:pt x="27178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2213610"/>
                  </a:lnTo>
                  <a:lnTo>
                    <a:pt x="0" y="2237740"/>
                  </a:lnTo>
                  <a:lnTo>
                    <a:pt x="2741930" y="2237740"/>
                  </a:lnTo>
                  <a:lnTo>
                    <a:pt x="2741930" y="2213610"/>
                  </a:lnTo>
                  <a:lnTo>
                    <a:pt x="2741930" y="22860"/>
                  </a:lnTo>
                  <a:lnTo>
                    <a:pt x="2741930" y="0"/>
                  </a:lnTo>
                  <a:close/>
                </a:path>
              </a:pathLst>
            </a:custGeom>
            <a:solidFill>
              <a:srgbClr val="CE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6" name="object 196"/>
            <p:cNvSpPr/>
            <p:nvPr/>
          </p:nvSpPr>
          <p:spPr>
            <a:xfrm>
              <a:off x="1280160" y="4565650"/>
              <a:ext cx="2694940" cy="2190750"/>
            </a:xfrm>
            <a:custGeom>
              <a:avLst/>
              <a:gdLst/>
              <a:ahLst/>
              <a:cxnLst/>
              <a:rect l="l" t="t" r="r" b="b"/>
              <a:pathLst>
                <a:path w="2694940" h="2190750">
                  <a:moveTo>
                    <a:pt x="2694940" y="0"/>
                  </a:moveTo>
                  <a:lnTo>
                    <a:pt x="2672080" y="0"/>
                  </a:lnTo>
                  <a:lnTo>
                    <a:pt x="2672080" y="24130"/>
                  </a:lnTo>
                  <a:lnTo>
                    <a:pt x="2672080" y="2167890"/>
                  </a:lnTo>
                  <a:lnTo>
                    <a:pt x="22860" y="2167890"/>
                  </a:lnTo>
                  <a:lnTo>
                    <a:pt x="22860" y="24130"/>
                  </a:lnTo>
                  <a:lnTo>
                    <a:pt x="2672080" y="24130"/>
                  </a:lnTo>
                  <a:lnTo>
                    <a:pt x="267208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2167890"/>
                  </a:lnTo>
                  <a:lnTo>
                    <a:pt x="0" y="2190750"/>
                  </a:lnTo>
                  <a:lnTo>
                    <a:pt x="2694940" y="2190750"/>
                  </a:lnTo>
                  <a:lnTo>
                    <a:pt x="2694940" y="2167890"/>
                  </a:lnTo>
                  <a:lnTo>
                    <a:pt x="2694940" y="24130"/>
                  </a:lnTo>
                  <a:lnTo>
                    <a:pt x="2694940" y="0"/>
                  </a:lnTo>
                  <a:close/>
                </a:path>
              </a:pathLst>
            </a:custGeom>
            <a:solidFill>
              <a:srgbClr val="C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303020" y="4589780"/>
              <a:ext cx="2649220" cy="2143760"/>
            </a:xfrm>
            <a:custGeom>
              <a:avLst/>
              <a:gdLst/>
              <a:ahLst/>
              <a:cxnLst/>
              <a:rect l="l" t="t" r="r" b="b"/>
              <a:pathLst>
                <a:path w="2649220" h="2143759">
                  <a:moveTo>
                    <a:pt x="2649220" y="0"/>
                  </a:moveTo>
                  <a:lnTo>
                    <a:pt x="2626360" y="0"/>
                  </a:lnTo>
                  <a:lnTo>
                    <a:pt x="2626360" y="22860"/>
                  </a:lnTo>
                  <a:lnTo>
                    <a:pt x="2626360" y="2120900"/>
                  </a:lnTo>
                  <a:lnTo>
                    <a:pt x="24130" y="2120900"/>
                  </a:lnTo>
                  <a:lnTo>
                    <a:pt x="24130" y="22860"/>
                  </a:lnTo>
                  <a:lnTo>
                    <a:pt x="2626360" y="22860"/>
                  </a:lnTo>
                  <a:lnTo>
                    <a:pt x="262636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2120900"/>
                  </a:lnTo>
                  <a:lnTo>
                    <a:pt x="0" y="2143760"/>
                  </a:lnTo>
                  <a:lnTo>
                    <a:pt x="2649220" y="2143760"/>
                  </a:lnTo>
                  <a:lnTo>
                    <a:pt x="2649220" y="2120900"/>
                  </a:lnTo>
                  <a:lnTo>
                    <a:pt x="2649220" y="22860"/>
                  </a:lnTo>
                  <a:lnTo>
                    <a:pt x="2649220" y="0"/>
                  </a:lnTo>
                  <a:close/>
                </a:path>
              </a:pathLst>
            </a:custGeom>
            <a:solidFill>
              <a:srgbClr val="D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327150" y="4612640"/>
              <a:ext cx="2602230" cy="2098040"/>
            </a:xfrm>
            <a:custGeom>
              <a:avLst/>
              <a:gdLst/>
              <a:ahLst/>
              <a:cxnLst/>
              <a:rect l="l" t="t" r="r" b="b"/>
              <a:pathLst>
                <a:path w="2602229" h="2098040">
                  <a:moveTo>
                    <a:pt x="2602230" y="0"/>
                  </a:moveTo>
                  <a:lnTo>
                    <a:pt x="2578100" y="0"/>
                  </a:lnTo>
                  <a:lnTo>
                    <a:pt x="2578100" y="22860"/>
                  </a:lnTo>
                  <a:lnTo>
                    <a:pt x="2578100" y="2073910"/>
                  </a:lnTo>
                  <a:lnTo>
                    <a:pt x="22860" y="2073910"/>
                  </a:lnTo>
                  <a:lnTo>
                    <a:pt x="22860" y="22860"/>
                  </a:lnTo>
                  <a:lnTo>
                    <a:pt x="2578100" y="22860"/>
                  </a:lnTo>
                  <a:lnTo>
                    <a:pt x="25781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2073910"/>
                  </a:lnTo>
                  <a:lnTo>
                    <a:pt x="0" y="2098040"/>
                  </a:lnTo>
                  <a:lnTo>
                    <a:pt x="2602230" y="2098040"/>
                  </a:lnTo>
                  <a:lnTo>
                    <a:pt x="2602230" y="2073910"/>
                  </a:lnTo>
                  <a:lnTo>
                    <a:pt x="2602230" y="22860"/>
                  </a:lnTo>
                  <a:lnTo>
                    <a:pt x="2602230" y="0"/>
                  </a:lnTo>
                  <a:close/>
                </a:path>
              </a:pathLst>
            </a:custGeom>
            <a:solidFill>
              <a:srgbClr val="D1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350010" y="4635500"/>
              <a:ext cx="2555240" cy="2051050"/>
            </a:xfrm>
            <a:custGeom>
              <a:avLst/>
              <a:gdLst/>
              <a:ahLst/>
              <a:cxnLst/>
              <a:rect l="l" t="t" r="r" b="b"/>
              <a:pathLst>
                <a:path w="2555240" h="2051050">
                  <a:moveTo>
                    <a:pt x="2555240" y="0"/>
                  </a:moveTo>
                  <a:lnTo>
                    <a:pt x="2532380" y="0"/>
                  </a:lnTo>
                  <a:lnTo>
                    <a:pt x="2532380" y="24130"/>
                  </a:lnTo>
                  <a:lnTo>
                    <a:pt x="2532380" y="2028190"/>
                  </a:lnTo>
                  <a:lnTo>
                    <a:pt x="22860" y="2028190"/>
                  </a:lnTo>
                  <a:lnTo>
                    <a:pt x="22860" y="24130"/>
                  </a:lnTo>
                  <a:lnTo>
                    <a:pt x="2532380" y="24130"/>
                  </a:lnTo>
                  <a:lnTo>
                    <a:pt x="253238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2028190"/>
                  </a:lnTo>
                  <a:lnTo>
                    <a:pt x="0" y="2051050"/>
                  </a:lnTo>
                  <a:lnTo>
                    <a:pt x="2555240" y="2051050"/>
                  </a:lnTo>
                  <a:lnTo>
                    <a:pt x="2555240" y="2028202"/>
                  </a:lnTo>
                  <a:lnTo>
                    <a:pt x="2555240" y="24130"/>
                  </a:lnTo>
                  <a:lnTo>
                    <a:pt x="2555240" y="0"/>
                  </a:lnTo>
                  <a:close/>
                </a:path>
              </a:pathLst>
            </a:custGeom>
            <a:solidFill>
              <a:srgbClr val="D2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0" name="object 200"/>
            <p:cNvSpPr/>
            <p:nvPr/>
          </p:nvSpPr>
          <p:spPr>
            <a:xfrm>
              <a:off x="1372870" y="4659630"/>
              <a:ext cx="2509520" cy="2004060"/>
            </a:xfrm>
            <a:custGeom>
              <a:avLst/>
              <a:gdLst/>
              <a:ahLst/>
              <a:cxnLst/>
              <a:rect l="l" t="t" r="r" b="b"/>
              <a:pathLst>
                <a:path w="2509520" h="2004059">
                  <a:moveTo>
                    <a:pt x="2509520" y="0"/>
                  </a:moveTo>
                  <a:lnTo>
                    <a:pt x="2486660" y="0"/>
                  </a:lnTo>
                  <a:lnTo>
                    <a:pt x="2486660" y="22860"/>
                  </a:lnTo>
                  <a:lnTo>
                    <a:pt x="2486660" y="1981200"/>
                  </a:lnTo>
                  <a:lnTo>
                    <a:pt x="24130" y="1981200"/>
                  </a:lnTo>
                  <a:lnTo>
                    <a:pt x="24130" y="22860"/>
                  </a:lnTo>
                  <a:lnTo>
                    <a:pt x="2486660" y="22860"/>
                  </a:lnTo>
                  <a:lnTo>
                    <a:pt x="248666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981200"/>
                  </a:lnTo>
                  <a:lnTo>
                    <a:pt x="0" y="2004060"/>
                  </a:lnTo>
                  <a:lnTo>
                    <a:pt x="2509520" y="2004060"/>
                  </a:lnTo>
                  <a:lnTo>
                    <a:pt x="2509520" y="1981200"/>
                  </a:lnTo>
                  <a:lnTo>
                    <a:pt x="2509520" y="22860"/>
                  </a:lnTo>
                  <a:lnTo>
                    <a:pt x="2509520" y="0"/>
                  </a:lnTo>
                  <a:close/>
                </a:path>
              </a:pathLst>
            </a:custGeom>
            <a:solidFill>
              <a:srgbClr val="D3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1" name="object 201"/>
            <p:cNvSpPr/>
            <p:nvPr/>
          </p:nvSpPr>
          <p:spPr>
            <a:xfrm>
              <a:off x="1397000" y="4682490"/>
              <a:ext cx="2462530" cy="1958339"/>
            </a:xfrm>
            <a:custGeom>
              <a:avLst/>
              <a:gdLst/>
              <a:ahLst/>
              <a:cxnLst/>
              <a:rect l="l" t="t" r="r" b="b"/>
              <a:pathLst>
                <a:path w="2462529" h="1958340">
                  <a:moveTo>
                    <a:pt x="2462530" y="0"/>
                  </a:moveTo>
                  <a:lnTo>
                    <a:pt x="2438400" y="0"/>
                  </a:lnTo>
                  <a:lnTo>
                    <a:pt x="2438400" y="22860"/>
                  </a:lnTo>
                  <a:lnTo>
                    <a:pt x="2438400" y="1934210"/>
                  </a:lnTo>
                  <a:lnTo>
                    <a:pt x="22860" y="1934210"/>
                  </a:lnTo>
                  <a:lnTo>
                    <a:pt x="22860" y="22860"/>
                  </a:lnTo>
                  <a:lnTo>
                    <a:pt x="2438400" y="22860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934210"/>
                  </a:lnTo>
                  <a:lnTo>
                    <a:pt x="0" y="1958340"/>
                  </a:lnTo>
                  <a:lnTo>
                    <a:pt x="2462530" y="1958340"/>
                  </a:lnTo>
                  <a:lnTo>
                    <a:pt x="2462530" y="1934210"/>
                  </a:lnTo>
                  <a:lnTo>
                    <a:pt x="2462530" y="22860"/>
                  </a:lnTo>
                  <a:lnTo>
                    <a:pt x="2462530" y="0"/>
                  </a:lnTo>
                  <a:close/>
                </a:path>
              </a:pathLst>
            </a:custGeom>
            <a:solidFill>
              <a:srgbClr val="D4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2" name="object 202"/>
            <p:cNvSpPr/>
            <p:nvPr/>
          </p:nvSpPr>
          <p:spPr>
            <a:xfrm>
              <a:off x="1419860" y="4705350"/>
              <a:ext cx="2415540" cy="1911350"/>
            </a:xfrm>
            <a:custGeom>
              <a:avLst/>
              <a:gdLst/>
              <a:ahLst/>
              <a:cxnLst/>
              <a:rect l="l" t="t" r="r" b="b"/>
              <a:pathLst>
                <a:path w="2415540" h="1911350">
                  <a:moveTo>
                    <a:pt x="2415540" y="0"/>
                  </a:moveTo>
                  <a:lnTo>
                    <a:pt x="2392680" y="0"/>
                  </a:lnTo>
                  <a:lnTo>
                    <a:pt x="2392680" y="24130"/>
                  </a:lnTo>
                  <a:lnTo>
                    <a:pt x="2392680" y="1888490"/>
                  </a:lnTo>
                  <a:lnTo>
                    <a:pt x="22860" y="1888490"/>
                  </a:lnTo>
                  <a:lnTo>
                    <a:pt x="22860" y="24130"/>
                  </a:lnTo>
                  <a:lnTo>
                    <a:pt x="2392680" y="24130"/>
                  </a:lnTo>
                  <a:lnTo>
                    <a:pt x="239268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888490"/>
                  </a:lnTo>
                  <a:lnTo>
                    <a:pt x="0" y="1911350"/>
                  </a:lnTo>
                  <a:lnTo>
                    <a:pt x="2415540" y="1911350"/>
                  </a:lnTo>
                  <a:lnTo>
                    <a:pt x="2415540" y="1888490"/>
                  </a:lnTo>
                  <a:lnTo>
                    <a:pt x="2415540" y="24130"/>
                  </a:lnTo>
                  <a:lnTo>
                    <a:pt x="2415540" y="0"/>
                  </a:lnTo>
                  <a:close/>
                </a:path>
              </a:pathLst>
            </a:custGeom>
            <a:solidFill>
              <a:srgbClr val="D5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3" name="object 203"/>
            <p:cNvSpPr/>
            <p:nvPr/>
          </p:nvSpPr>
          <p:spPr>
            <a:xfrm>
              <a:off x="1442720" y="4729480"/>
              <a:ext cx="2369820" cy="1864360"/>
            </a:xfrm>
            <a:custGeom>
              <a:avLst/>
              <a:gdLst/>
              <a:ahLst/>
              <a:cxnLst/>
              <a:rect l="l" t="t" r="r" b="b"/>
              <a:pathLst>
                <a:path w="2369820" h="1864359">
                  <a:moveTo>
                    <a:pt x="2369820" y="0"/>
                  </a:moveTo>
                  <a:lnTo>
                    <a:pt x="2345690" y="0"/>
                  </a:lnTo>
                  <a:lnTo>
                    <a:pt x="2345690" y="22860"/>
                  </a:lnTo>
                  <a:lnTo>
                    <a:pt x="2345690" y="1841500"/>
                  </a:lnTo>
                  <a:lnTo>
                    <a:pt x="24130" y="1841500"/>
                  </a:lnTo>
                  <a:lnTo>
                    <a:pt x="24130" y="22860"/>
                  </a:lnTo>
                  <a:lnTo>
                    <a:pt x="2345690" y="22860"/>
                  </a:lnTo>
                  <a:lnTo>
                    <a:pt x="234569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841500"/>
                  </a:lnTo>
                  <a:lnTo>
                    <a:pt x="0" y="1864360"/>
                  </a:lnTo>
                  <a:lnTo>
                    <a:pt x="2369820" y="1864360"/>
                  </a:lnTo>
                  <a:lnTo>
                    <a:pt x="2369820" y="1841500"/>
                  </a:lnTo>
                  <a:lnTo>
                    <a:pt x="2369820" y="22860"/>
                  </a:lnTo>
                  <a:lnTo>
                    <a:pt x="2369820" y="0"/>
                  </a:lnTo>
                  <a:close/>
                </a:path>
              </a:pathLst>
            </a:custGeom>
            <a:solidFill>
              <a:srgbClr val="D6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4" name="object 204"/>
            <p:cNvSpPr/>
            <p:nvPr/>
          </p:nvSpPr>
          <p:spPr>
            <a:xfrm>
              <a:off x="1466850" y="4752340"/>
              <a:ext cx="2321560" cy="1818639"/>
            </a:xfrm>
            <a:custGeom>
              <a:avLst/>
              <a:gdLst/>
              <a:ahLst/>
              <a:cxnLst/>
              <a:rect l="l" t="t" r="r" b="b"/>
              <a:pathLst>
                <a:path w="2321560" h="1818640">
                  <a:moveTo>
                    <a:pt x="2321560" y="0"/>
                  </a:moveTo>
                  <a:lnTo>
                    <a:pt x="2298700" y="0"/>
                  </a:lnTo>
                  <a:lnTo>
                    <a:pt x="2298700" y="22860"/>
                  </a:lnTo>
                  <a:lnTo>
                    <a:pt x="2298700" y="1794510"/>
                  </a:lnTo>
                  <a:lnTo>
                    <a:pt x="22860" y="1794510"/>
                  </a:lnTo>
                  <a:lnTo>
                    <a:pt x="22860" y="22860"/>
                  </a:lnTo>
                  <a:lnTo>
                    <a:pt x="2298700" y="22860"/>
                  </a:lnTo>
                  <a:lnTo>
                    <a:pt x="22987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794510"/>
                  </a:lnTo>
                  <a:lnTo>
                    <a:pt x="0" y="1818640"/>
                  </a:lnTo>
                  <a:lnTo>
                    <a:pt x="2321560" y="1818640"/>
                  </a:lnTo>
                  <a:lnTo>
                    <a:pt x="2321560" y="1794510"/>
                  </a:lnTo>
                  <a:lnTo>
                    <a:pt x="2321560" y="22860"/>
                  </a:lnTo>
                  <a:lnTo>
                    <a:pt x="2321560" y="0"/>
                  </a:lnTo>
                  <a:close/>
                </a:path>
              </a:pathLst>
            </a:custGeom>
            <a:solidFill>
              <a:srgbClr val="D7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5" name="object 205"/>
            <p:cNvSpPr/>
            <p:nvPr/>
          </p:nvSpPr>
          <p:spPr>
            <a:xfrm>
              <a:off x="1489710" y="4775200"/>
              <a:ext cx="2275840" cy="1771650"/>
            </a:xfrm>
            <a:custGeom>
              <a:avLst/>
              <a:gdLst/>
              <a:ahLst/>
              <a:cxnLst/>
              <a:rect l="l" t="t" r="r" b="b"/>
              <a:pathLst>
                <a:path w="2275840" h="1771650">
                  <a:moveTo>
                    <a:pt x="2275840" y="0"/>
                  </a:moveTo>
                  <a:lnTo>
                    <a:pt x="2252980" y="0"/>
                  </a:lnTo>
                  <a:lnTo>
                    <a:pt x="2252980" y="24130"/>
                  </a:lnTo>
                  <a:lnTo>
                    <a:pt x="2252980" y="1748790"/>
                  </a:lnTo>
                  <a:lnTo>
                    <a:pt x="22860" y="1748790"/>
                  </a:lnTo>
                  <a:lnTo>
                    <a:pt x="22860" y="24130"/>
                  </a:lnTo>
                  <a:lnTo>
                    <a:pt x="2252980" y="24130"/>
                  </a:lnTo>
                  <a:lnTo>
                    <a:pt x="225298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748790"/>
                  </a:lnTo>
                  <a:lnTo>
                    <a:pt x="0" y="1771650"/>
                  </a:lnTo>
                  <a:lnTo>
                    <a:pt x="2275840" y="1771650"/>
                  </a:lnTo>
                  <a:lnTo>
                    <a:pt x="2275840" y="1748790"/>
                  </a:lnTo>
                  <a:lnTo>
                    <a:pt x="2275840" y="2413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D8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6" name="object 206"/>
            <p:cNvSpPr/>
            <p:nvPr/>
          </p:nvSpPr>
          <p:spPr>
            <a:xfrm>
              <a:off x="1512570" y="4799330"/>
              <a:ext cx="2230120" cy="1724660"/>
            </a:xfrm>
            <a:custGeom>
              <a:avLst/>
              <a:gdLst/>
              <a:ahLst/>
              <a:cxnLst/>
              <a:rect l="l" t="t" r="r" b="b"/>
              <a:pathLst>
                <a:path w="2230120" h="1724659">
                  <a:moveTo>
                    <a:pt x="2230120" y="0"/>
                  </a:moveTo>
                  <a:lnTo>
                    <a:pt x="2205990" y="0"/>
                  </a:lnTo>
                  <a:lnTo>
                    <a:pt x="2205990" y="22860"/>
                  </a:lnTo>
                  <a:lnTo>
                    <a:pt x="2205990" y="1701800"/>
                  </a:lnTo>
                  <a:lnTo>
                    <a:pt x="24130" y="1701800"/>
                  </a:lnTo>
                  <a:lnTo>
                    <a:pt x="24130" y="22860"/>
                  </a:lnTo>
                  <a:lnTo>
                    <a:pt x="2205990" y="22860"/>
                  </a:lnTo>
                  <a:lnTo>
                    <a:pt x="220599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701800"/>
                  </a:lnTo>
                  <a:lnTo>
                    <a:pt x="0" y="1724660"/>
                  </a:lnTo>
                  <a:lnTo>
                    <a:pt x="2230120" y="1724660"/>
                  </a:lnTo>
                  <a:lnTo>
                    <a:pt x="2230120" y="1701800"/>
                  </a:lnTo>
                  <a:lnTo>
                    <a:pt x="2230120" y="22860"/>
                  </a:lnTo>
                  <a:lnTo>
                    <a:pt x="2230120" y="0"/>
                  </a:lnTo>
                  <a:close/>
                </a:path>
              </a:pathLst>
            </a:custGeom>
            <a:solidFill>
              <a:srgbClr val="D9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7" name="object 207"/>
            <p:cNvSpPr/>
            <p:nvPr/>
          </p:nvSpPr>
          <p:spPr>
            <a:xfrm>
              <a:off x="1536700" y="4822190"/>
              <a:ext cx="2181860" cy="1678939"/>
            </a:xfrm>
            <a:custGeom>
              <a:avLst/>
              <a:gdLst/>
              <a:ahLst/>
              <a:cxnLst/>
              <a:rect l="l" t="t" r="r" b="b"/>
              <a:pathLst>
                <a:path w="2181860" h="1678939">
                  <a:moveTo>
                    <a:pt x="2181860" y="0"/>
                  </a:moveTo>
                  <a:lnTo>
                    <a:pt x="2159000" y="0"/>
                  </a:lnTo>
                  <a:lnTo>
                    <a:pt x="2159000" y="24130"/>
                  </a:lnTo>
                  <a:lnTo>
                    <a:pt x="2159000" y="1654810"/>
                  </a:lnTo>
                  <a:lnTo>
                    <a:pt x="22860" y="1654810"/>
                  </a:lnTo>
                  <a:lnTo>
                    <a:pt x="22860" y="24130"/>
                  </a:lnTo>
                  <a:lnTo>
                    <a:pt x="2159000" y="24130"/>
                  </a:lnTo>
                  <a:lnTo>
                    <a:pt x="215900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654810"/>
                  </a:lnTo>
                  <a:lnTo>
                    <a:pt x="0" y="1678940"/>
                  </a:lnTo>
                  <a:lnTo>
                    <a:pt x="2181860" y="1678940"/>
                  </a:lnTo>
                  <a:lnTo>
                    <a:pt x="2181860" y="1654810"/>
                  </a:lnTo>
                  <a:lnTo>
                    <a:pt x="2181860" y="24130"/>
                  </a:lnTo>
                  <a:lnTo>
                    <a:pt x="2181860" y="0"/>
                  </a:lnTo>
                  <a:close/>
                </a:path>
              </a:pathLst>
            </a:custGeom>
            <a:solidFill>
              <a:srgbClr val="DA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8" name="object 208"/>
            <p:cNvSpPr/>
            <p:nvPr/>
          </p:nvSpPr>
          <p:spPr>
            <a:xfrm>
              <a:off x="1559560" y="4846320"/>
              <a:ext cx="2136140" cy="1630680"/>
            </a:xfrm>
            <a:custGeom>
              <a:avLst/>
              <a:gdLst/>
              <a:ahLst/>
              <a:cxnLst/>
              <a:rect l="l" t="t" r="r" b="b"/>
              <a:pathLst>
                <a:path w="2136140" h="1630679">
                  <a:moveTo>
                    <a:pt x="2136140" y="0"/>
                  </a:moveTo>
                  <a:lnTo>
                    <a:pt x="2113280" y="0"/>
                  </a:lnTo>
                  <a:lnTo>
                    <a:pt x="2113280" y="22860"/>
                  </a:lnTo>
                  <a:lnTo>
                    <a:pt x="2113280" y="1607820"/>
                  </a:lnTo>
                  <a:lnTo>
                    <a:pt x="22860" y="1607820"/>
                  </a:lnTo>
                  <a:lnTo>
                    <a:pt x="22860" y="22860"/>
                  </a:lnTo>
                  <a:lnTo>
                    <a:pt x="2113280" y="22860"/>
                  </a:lnTo>
                  <a:lnTo>
                    <a:pt x="211328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607820"/>
                  </a:lnTo>
                  <a:lnTo>
                    <a:pt x="0" y="1630680"/>
                  </a:lnTo>
                  <a:lnTo>
                    <a:pt x="2136140" y="1630680"/>
                  </a:lnTo>
                  <a:lnTo>
                    <a:pt x="2136140" y="1607820"/>
                  </a:lnTo>
                  <a:lnTo>
                    <a:pt x="2136140" y="22860"/>
                  </a:lnTo>
                  <a:lnTo>
                    <a:pt x="2136140" y="0"/>
                  </a:lnTo>
                  <a:close/>
                </a:path>
              </a:pathLst>
            </a:custGeom>
            <a:solidFill>
              <a:srgbClr val="DB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09" name="object 209"/>
            <p:cNvSpPr/>
            <p:nvPr/>
          </p:nvSpPr>
          <p:spPr>
            <a:xfrm>
              <a:off x="1582420" y="4869180"/>
              <a:ext cx="2090420" cy="1584960"/>
            </a:xfrm>
            <a:custGeom>
              <a:avLst/>
              <a:gdLst/>
              <a:ahLst/>
              <a:cxnLst/>
              <a:rect l="l" t="t" r="r" b="b"/>
              <a:pathLst>
                <a:path w="2090420" h="1584960">
                  <a:moveTo>
                    <a:pt x="2090420" y="0"/>
                  </a:moveTo>
                  <a:lnTo>
                    <a:pt x="2066290" y="0"/>
                  </a:lnTo>
                  <a:lnTo>
                    <a:pt x="2066290" y="22860"/>
                  </a:lnTo>
                  <a:lnTo>
                    <a:pt x="2066290" y="1562100"/>
                  </a:lnTo>
                  <a:lnTo>
                    <a:pt x="24130" y="1562100"/>
                  </a:lnTo>
                  <a:lnTo>
                    <a:pt x="24130" y="22860"/>
                  </a:lnTo>
                  <a:lnTo>
                    <a:pt x="2066290" y="22860"/>
                  </a:lnTo>
                  <a:lnTo>
                    <a:pt x="206629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562100"/>
                  </a:lnTo>
                  <a:lnTo>
                    <a:pt x="0" y="1584960"/>
                  </a:lnTo>
                  <a:lnTo>
                    <a:pt x="2090420" y="1584960"/>
                  </a:lnTo>
                  <a:lnTo>
                    <a:pt x="2090420" y="1562112"/>
                  </a:lnTo>
                  <a:lnTo>
                    <a:pt x="2090420" y="22860"/>
                  </a:lnTo>
                  <a:lnTo>
                    <a:pt x="2090420" y="0"/>
                  </a:lnTo>
                  <a:close/>
                </a:path>
              </a:pathLst>
            </a:custGeom>
            <a:solidFill>
              <a:srgbClr val="DC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0" name="object 210"/>
            <p:cNvSpPr/>
            <p:nvPr/>
          </p:nvSpPr>
          <p:spPr>
            <a:xfrm>
              <a:off x="1606550" y="4892040"/>
              <a:ext cx="2042160" cy="1539240"/>
            </a:xfrm>
            <a:custGeom>
              <a:avLst/>
              <a:gdLst/>
              <a:ahLst/>
              <a:cxnLst/>
              <a:rect l="l" t="t" r="r" b="b"/>
              <a:pathLst>
                <a:path w="2042160" h="1539239">
                  <a:moveTo>
                    <a:pt x="2042160" y="0"/>
                  </a:moveTo>
                  <a:lnTo>
                    <a:pt x="2019300" y="0"/>
                  </a:lnTo>
                  <a:lnTo>
                    <a:pt x="2019300" y="24130"/>
                  </a:lnTo>
                  <a:lnTo>
                    <a:pt x="2019300" y="1515110"/>
                  </a:lnTo>
                  <a:lnTo>
                    <a:pt x="22860" y="1515110"/>
                  </a:lnTo>
                  <a:lnTo>
                    <a:pt x="22860" y="24130"/>
                  </a:lnTo>
                  <a:lnTo>
                    <a:pt x="2019300" y="24130"/>
                  </a:lnTo>
                  <a:lnTo>
                    <a:pt x="201930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515110"/>
                  </a:lnTo>
                  <a:lnTo>
                    <a:pt x="0" y="1539240"/>
                  </a:lnTo>
                  <a:lnTo>
                    <a:pt x="2042160" y="1539240"/>
                  </a:lnTo>
                  <a:lnTo>
                    <a:pt x="2042160" y="1515122"/>
                  </a:lnTo>
                  <a:lnTo>
                    <a:pt x="2042160" y="24130"/>
                  </a:lnTo>
                  <a:lnTo>
                    <a:pt x="2042160" y="0"/>
                  </a:lnTo>
                  <a:close/>
                </a:path>
              </a:pathLst>
            </a:custGeom>
            <a:solidFill>
              <a:srgbClr val="DD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1" name="object 211"/>
            <p:cNvSpPr/>
            <p:nvPr/>
          </p:nvSpPr>
          <p:spPr>
            <a:xfrm>
              <a:off x="1629410" y="4916170"/>
              <a:ext cx="1996439" cy="1490980"/>
            </a:xfrm>
            <a:custGeom>
              <a:avLst/>
              <a:gdLst/>
              <a:ahLst/>
              <a:cxnLst/>
              <a:rect l="l" t="t" r="r" b="b"/>
              <a:pathLst>
                <a:path w="1996439" h="1490979">
                  <a:moveTo>
                    <a:pt x="1996440" y="0"/>
                  </a:moveTo>
                  <a:lnTo>
                    <a:pt x="1973580" y="0"/>
                  </a:lnTo>
                  <a:lnTo>
                    <a:pt x="1973580" y="22860"/>
                  </a:lnTo>
                  <a:lnTo>
                    <a:pt x="1973580" y="1468120"/>
                  </a:lnTo>
                  <a:lnTo>
                    <a:pt x="24117" y="1468120"/>
                  </a:lnTo>
                  <a:lnTo>
                    <a:pt x="24117" y="22860"/>
                  </a:lnTo>
                  <a:lnTo>
                    <a:pt x="1973580" y="22860"/>
                  </a:lnTo>
                  <a:lnTo>
                    <a:pt x="197358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468120"/>
                  </a:lnTo>
                  <a:lnTo>
                    <a:pt x="0" y="1490980"/>
                  </a:lnTo>
                  <a:lnTo>
                    <a:pt x="1996440" y="1490980"/>
                  </a:lnTo>
                  <a:lnTo>
                    <a:pt x="1996440" y="1468120"/>
                  </a:lnTo>
                  <a:lnTo>
                    <a:pt x="1996440" y="22860"/>
                  </a:lnTo>
                  <a:lnTo>
                    <a:pt x="1996440" y="0"/>
                  </a:lnTo>
                  <a:close/>
                </a:path>
              </a:pathLst>
            </a:custGeom>
            <a:solidFill>
              <a:srgbClr val="DE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2" name="object 212"/>
            <p:cNvSpPr/>
            <p:nvPr/>
          </p:nvSpPr>
          <p:spPr>
            <a:xfrm>
              <a:off x="1653527" y="4939030"/>
              <a:ext cx="1950085" cy="1445260"/>
            </a:xfrm>
            <a:custGeom>
              <a:avLst/>
              <a:gdLst/>
              <a:ahLst/>
              <a:cxnLst/>
              <a:rect l="l" t="t" r="r" b="b"/>
              <a:pathLst>
                <a:path w="1950085" h="1445260">
                  <a:moveTo>
                    <a:pt x="1949462" y="0"/>
                  </a:moveTo>
                  <a:lnTo>
                    <a:pt x="1925332" y="0"/>
                  </a:lnTo>
                  <a:lnTo>
                    <a:pt x="1925332" y="22860"/>
                  </a:lnTo>
                  <a:lnTo>
                    <a:pt x="1925332" y="1422400"/>
                  </a:lnTo>
                  <a:lnTo>
                    <a:pt x="22872" y="1422400"/>
                  </a:lnTo>
                  <a:lnTo>
                    <a:pt x="22872" y="22860"/>
                  </a:lnTo>
                  <a:lnTo>
                    <a:pt x="1925332" y="22860"/>
                  </a:lnTo>
                  <a:lnTo>
                    <a:pt x="1925332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422400"/>
                  </a:lnTo>
                  <a:lnTo>
                    <a:pt x="0" y="1445260"/>
                  </a:lnTo>
                  <a:lnTo>
                    <a:pt x="1949462" y="1445260"/>
                  </a:lnTo>
                  <a:lnTo>
                    <a:pt x="1949462" y="1422400"/>
                  </a:lnTo>
                  <a:lnTo>
                    <a:pt x="1949462" y="22860"/>
                  </a:lnTo>
                  <a:lnTo>
                    <a:pt x="1949462" y="0"/>
                  </a:lnTo>
                  <a:close/>
                </a:path>
              </a:pathLst>
            </a:custGeom>
            <a:solidFill>
              <a:srgbClr val="D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3" name="object 213"/>
            <p:cNvSpPr/>
            <p:nvPr/>
          </p:nvSpPr>
          <p:spPr>
            <a:xfrm>
              <a:off x="1676400" y="4961890"/>
              <a:ext cx="1902460" cy="1399540"/>
            </a:xfrm>
            <a:custGeom>
              <a:avLst/>
              <a:gdLst/>
              <a:ahLst/>
              <a:cxnLst/>
              <a:rect l="l" t="t" r="r" b="b"/>
              <a:pathLst>
                <a:path w="1902460" h="1399539">
                  <a:moveTo>
                    <a:pt x="1902460" y="0"/>
                  </a:moveTo>
                  <a:lnTo>
                    <a:pt x="1879600" y="0"/>
                  </a:lnTo>
                  <a:lnTo>
                    <a:pt x="1879600" y="24130"/>
                  </a:lnTo>
                  <a:lnTo>
                    <a:pt x="1879600" y="1375410"/>
                  </a:lnTo>
                  <a:lnTo>
                    <a:pt x="22860" y="1375410"/>
                  </a:lnTo>
                  <a:lnTo>
                    <a:pt x="22860" y="24130"/>
                  </a:lnTo>
                  <a:lnTo>
                    <a:pt x="1879600" y="24130"/>
                  </a:lnTo>
                  <a:lnTo>
                    <a:pt x="187960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375410"/>
                  </a:lnTo>
                  <a:lnTo>
                    <a:pt x="0" y="1399540"/>
                  </a:lnTo>
                  <a:lnTo>
                    <a:pt x="1902460" y="1399540"/>
                  </a:lnTo>
                  <a:lnTo>
                    <a:pt x="1902460" y="1375410"/>
                  </a:lnTo>
                  <a:lnTo>
                    <a:pt x="1902460" y="24130"/>
                  </a:lnTo>
                  <a:lnTo>
                    <a:pt x="1902460" y="0"/>
                  </a:lnTo>
                  <a:close/>
                </a:path>
              </a:pathLst>
            </a:custGeom>
            <a:solidFill>
              <a:srgbClr val="E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4" name="object 214"/>
            <p:cNvSpPr/>
            <p:nvPr/>
          </p:nvSpPr>
          <p:spPr>
            <a:xfrm>
              <a:off x="1699260" y="4986020"/>
              <a:ext cx="1856739" cy="1351280"/>
            </a:xfrm>
            <a:custGeom>
              <a:avLst/>
              <a:gdLst/>
              <a:ahLst/>
              <a:cxnLst/>
              <a:rect l="l" t="t" r="r" b="b"/>
              <a:pathLst>
                <a:path w="1856739" h="1351279">
                  <a:moveTo>
                    <a:pt x="1856740" y="0"/>
                  </a:moveTo>
                  <a:lnTo>
                    <a:pt x="1833880" y="0"/>
                  </a:lnTo>
                  <a:lnTo>
                    <a:pt x="1833880" y="22860"/>
                  </a:lnTo>
                  <a:lnTo>
                    <a:pt x="1833880" y="1328420"/>
                  </a:lnTo>
                  <a:lnTo>
                    <a:pt x="24130" y="1328420"/>
                  </a:lnTo>
                  <a:lnTo>
                    <a:pt x="24130" y="22860"/>
                  </a:lnTo>
                  <a:lnTo>
                    <a:pt x="1833880" y="22860"/>
                  </a:lnTo>
                  <a:lnTo>
                    <a:pt x="183388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328420"/>
                  </a:lnTo>
                  <a:lnTo>
                    <a:pt x="0" y="1351280"/>
                  </a:lnTo>
                  <a:lnTo>
                    <a:pt x="1856740" y="1351280"/>
                  </a:lnTo>
                  <a:lnTo>
                    <a:pt x="1856740" y="1328420"/>
                  </a:lnTo>
                  <a:lnTo>
                    <a:pt x="1856740" y="22860"/>
                  </a:lnTo>
                  <a:lnTo>
                    <a:pt x="1856740" y="0"/>
                  </a:lnTo>
                  <a:close/>
                </a:path>
              </a:pathLst>
            </a:custGeom>
            <a:solidFill>
              <a:srgbClr val="E1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5" name="object 215"/>
            <p:cNvSpPr/>
            <p:nvPr/>
          </p:nvSpPr>
          <p:spPr>
            <a:xfrm>
              <a:off x="1723390" y="5008880"/>
              <a:ext cx="1809750" cy="1305560"/>
            </a:xfrm>
            <a:custGeom>
              <a:avLst/>
              <a:gdLst/>
              <a:ahLst/>
              <a:cxnLst/>
              <a:rect l="l" t="t" r="r" b="b"/>
              <a:pathLst>
                <a:path w="1809750" h="1305560">
                  <a:moveTo>
                    <a:pt x="1809750" y="0"/>
                  </a:moveTo>
                  <a:lnTo>
                    <a:pt x="1785620" y="0"/>
                  </a:lnTo>
                  <a:lnTo>
                    <a:pt x="1785620" y="24130"/>
                  </a:lnTo>
                  <a:lnTo>
                    <a:pt x="1785620" y="1281430"/>
                  </a:lnTo>
                  <a:lnTo>
                    <a:pt x="22860" y="1281430"/>
                  </a:lnTo>
                  <a:lnTo>
                    <a:pt x="22860" y="24130"/>
                  </a:lnTo>
                  <a:lnTo>
                    <a:pt x="1785620" y="24130"/>
                  </a:lnTo>
                  <a:lnTo>
                    <a:pt x="178562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281430"/>
                  </a:lnTo>
                  <a:lnTo>
                    <a:pt x="0" y="1305560"/>
                  </a:lnTo>
                  <a:lnTo>
                    <a:pt x="1809750" y="1305560"/>
                  </a:lnTo>
                  <a:lnTo>
                    <a:pt x="1809750" y="1281430"/>
                  </a:lnTo>
                  <a:lnTo>
                    <a:pt x="1809750" y="24130"/>
                  </a:lnTo>
                  <a:lnTo>
                    <a:pt x="1809750" y="0"/>
                  </a:lnTo>
                  <a:close/>
                </a:path>
              </a:pathLst>
            </a:custGeom>
            <a:solidFill>
              <a:srgbClr val="E2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6" name="object 216"/>
            <p:cNvSpPr/>
            <p:nvPr/>
          </p:nvSpPr>
          <p:spPr>
            <a:xfrm>
              <a:off x="1746250" y="5033010"/>
              <a:ext cx="1762760" cy="1257300"/>
            </a:xfrm>
            <a:custGeom>
              <a:avLst/>
              <a:gdLst/>
              <a:ahLst/>
              <a:cxnLst/>
              <a:rect l="l" t="t" r="r" b="b"/>
              <a:pathLst>
                <a:path w="1762760" h="1257300">
                  <a:moveTo>
                    <a:pt x="1762760" y="0"/>
                  </a:moveTo>
                  <a:lnTo>
                    <a:pt x="1739900" y="0"/>
                  </a:lnTo>
                  <a:lnTo>
                    <a:pt x="1739900" y="22860"/>
                  </a:lnTo>
                  <a:lnTo>
                    <a:pt x="1739900" y="1234440"/>
                  </a:lnTo>
                  <a:lnTo>
                    <a:pt x="22860" y="1234440"/>
                  </a:lnTo>
                  <a:lnTo>
                    <a:pt x="22860" y="22860"/>
                  </a:lnTo>
                  <a:lnTo>
                    <a:pt x="1739900" y="22860"/>
                  </a:lnTo>
                  <a:lnTo>
                    <a:pt x="17399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234440"/>
                  </a:lnTo>
                  <a:lnTo>
                    <a:pt x="0" y="1257300"/>
                  </a:lnTo>
                  <a:lnTo>
                    <a:pt x="1762760" y="1257300"/>
                  </a:lnTo>
                  <a:lnTo>
                    <a:pt x="1762760" y="1234440"/>
                  </a:lnTo>
                  <a:lnTo>
                    <a:pt x="1762760" y="22860"/>
                  </a:lnTo>
                  <a:lnTo>
                    <a:pt x="1762760" y="0"/>
                  </a:lnTo>
                  <a:close/>
                </a:path>
              </a:pathLst>
            </a:custGeom>
            <a:solidFill>
              <a:srgbClr val="E3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7" name="object 217"/>
            <p:cNvSpPr/>
            <p:nvPr/>
          </p:nvSpPr>
          <p:spPr>
            <a:xfrm>
              <a:off x="1769110" y="5055870"/>
              <a:ext cx="1717039" cy="1211580"/>
            </a:xfrm>
            <a:custGeom>
              <a:avLst/>
              <a:gdLst/>
              <a:ahLst/>
              <a:cxnLst/>
              <a:rect l="l" t="t" r="r" b="b"/>
              <a:pathLst>
                <a:path w="1717039" h="1211579">
                  <a:moveTo>
                    <a:pt x="1717040" y="0"/>
                  </a:moveTo>
                  <a:lnTo>
                    <a:pt x="1694180" y="0"/>
                  </a:lnTo>
                  <a:lnTo>
                    <a:pt x="1694180" y="22860"/>
                  </a:lnTo>
                  <a:lnTo>
                    <a:pt x="1694180" y="1188720"/>
                  </a:lnTo>
                  <a:lnTo>
                    <a:pt x="24130" y="1188720"/>
                  </a:lnTo>
                  <a:lnTo>
                    <a:pt x="24130" y="22860"/>
                  </a:lnTo>
                  <a:lnTo>
                    <a:pt x="1694180" y="22860"/>
                  </a:lnTo>
                  <a:lnTo>
                    <a:pt x="169418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188720"/>
                  </a:lnTo>
                  <a:lnTo>
                    <a:pt x="0" y="1211580"/>
                  </a:lnTo>
                  <a:lnTo>
                    <a:pt x="1717040" y="1211580"/>
                  </a:lnTo>
                  <a:lnTo>
                    <a:pt x="1717040" y="1188720"/>
                  </a:lnTo>
                  <a:lnTo>
                    <a:pt x="1717040" y="22860"/>
                  </a:lnTo>
                  <a:lnTo>
                    <a:pt x="1717040" y="0"/>
                  </a:lnTo>
                  <a:close/>
                </a:path>
              </a:pathLst>
            </a:custGeom>
            <a:solidFill>
              <a:srgbClr val="E4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8" name="object 218"/>
            <p:cNvSpPr/>
            <p:nvPr/>
          </p:nvSpPr>
          <p:spPr>
            <a:xfrm>
              <a:off x="1793240" y="5078730"/>
              <a:ext cx="1670050" cy="1165860"/>
            </a:xfrm>
            <a:custGeom>
              <a:avLst/>
              <a:gdLst/>
              <a:ahLst/>
              <a:cxnLst/>
              <a:rect l="l" t="t" r="r" b="b"/>
              <a:pathLst>
                <a:path w="1670050" h="1165860">
                  <a:moveTo>
                    <a:pt x="1670050" y="0"/>
                  </a:moveTo>
                  <a:lnTo>
                    <a:pt x="1645920" y="0"/>
                  </a:lnTo>
                  <a:lnTo>
                    <a:pt x="1645920" y="24130"/>
                  </a:lnTo>
                  <a:lnTo>
                    <a:pt x="1645920" y="1141730"/>
                  </a:lnTo>
                  <a:lnTo>
                    <a:pt x="22860" y="1141730"/>
                  </a:lnTo>
                  <a:lnTo>
                    <a:pt x="22860" y="24130"/>
                  </a:lnTo>
                  <a:lnTo>
                    <a:pt x="1645920" y="24130"/>
                  </a:lnTo>
                  <a:lnTo>
                    <a:pt x="164592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141730"/>
                  </a:lnTo>
                  <a:lnTo>
                    <a:pt x="0" y="1165860"/>
                  </a:lnTo>
                  <a:lnTo>
                    <a:pt x="1670050" y="1165860"/>
                  </a:lnTo>
                  <a:lnTo>
                    <a:pt x="1670050" y="1141730"/>
                  </a:lnTo>
                  <a:lnTo>
                    <a:pt x="1670050" y="24130"/>
                  </a:lnTo>
                  <a:lnTo>
                    <a:pt x="1670050" y="0"/>
                  </a:lnTo>
                  <a:close/>
                </a:path>
              </a:pathLst>
            </a:custGeom>
            <a:solidFill>
              <a:srgbClr val="E5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19" name="object 219"/>
            <p:cNvSpPr/>
            <p:nvPr/>
          </p:nvSpPr>
          <p:spPr>
            <a:xfrm>
              <a:off x="1816100" y="5102860"/>
              <a:ext cx="1623060" cy="1117600"/>
            </a:xfrm>
            <a:custGeom>
              <a:avLst/>
              <a:gdLst/>
              <a:ahLst/>
              <a:cxnLst/>
              <a:rect l="l" t="t" r="r" b="b"/>
              <a:pathLst>
                <a:path w="1623060" h="1117600">
                  <a:moveTo>
                    <a:pt x="1623060" y="0"/>
                  </a:moveTo>
                  <a:lnTo>
                    <a:pt x="1600200" y="0"/>
                  </a:lnTo>
                  <a:lnTo>
                    <a:pt x="1600200" y="22860"/>
                  </a:lnTo>
                  <a:lnTo>
                    <a:pt x="1600200" y="1094740"/>
                  </a:lnTo>
                  <a:lnTo>
                    <a:pt x="24130" y="1094740"/>
                  </a:lnTo>
                  <a:lnTo>
                    <a:pt x="24130" y="22860"/>
                  </a:lnTo>
                  <a:lnTo>
                    <a:pt x="1600200" y="22860"/>
                  </a:lnTo>
                  <a:lnTo>
                    <a:pt x="16002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094740"/>
                  </a:lnTo>
                  <a:lnTo>
                    <a:pt x="0" y="1117600"/>
                  </a:lnTo>
                  <a:lnTo>
                    <a:pt x="1623060" y="1117600"/>
                  </a:lnTo>
                  <a:lnTo>
                    <a:pt x="1623060" y="1094740"/>
                  </a:lnTo>
                  <a:lnTo>
                    <a:pt x="1623060" y="22860"/>
                  </a:lnTo>
                  <a:lnTo>
                    <a:pt x="1623060" y="0"/>
                  </a:lnTo>
                  <a:close/>
                </a:path>
              </a:pathLst>
            </a:custGeom>
            <a:solidFill>
              <a:srgbClr val="E6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0" name="object 220"/>
            <p:cNvSpPr/>
            <p:nvPr/>
          </p:nvSpPr>
          <p:spPr>
            <a:xfrm>
              <a:off x="1840230" y="5125720"/>
              <a:ext cx="1576070" cy="1071880"/>
            </a:xfrm>
            <a:custGeom>
              <a:avLst/>
              <a:gdLst/>
              <a:ahLst/>
              <a:cxnLst/>
              <a:rect l="l" t="t" r="r" b="b"/>
              <a:pathLst>
                <a:path w="1576070" h="1071879">
                  <a:moveTo>
                    <a:pt x="1576070" y="0"/>
                  </a:moveTo>
                  <a:lnTo>
                    <a:pt x="1553210" y="0"/>
                  </a:lnTo>
                  <a:lnTo>
                    <a:pt x="1553210" y="22860"/>
                  </a:lnTo>
                  <a:lnTo>
                    <a:pt x="1553210" y="1049020"/>
                  </a:lnTo>
                  <a:lnTo>
                    <a:pt x="22860" y="1049020"/>
                  </a:lnTo>
                  <a:lnTo>
                    <a:pt x="22860" y="22860"/>
                  </a:lnTo>
                  <a:lnTo>
                    <a:pt x="1553210" y="22860"/>
                  </a:lnTo>
                  <a:lnTo>
                    <a:pt x="155321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049020"/>
                  </a:lnTo>
                  <a:lnTo>
                    <a:pt x="0" y="1071880"/>
                  </a:lnTo>
                  <a:lnTo>
                    <a:pt x="1576070" y="1071880"/>
                  </a:lnTo>
                  <a:lnTo>
                    <a:pt x="1576070" y="1049020"/>
                  </a:lnTo>
                  <a:lnTo>
                    <a:pt x="1576070" y="22860"/>
                  </a:lnTo>
                  <a:lnTo>
                    <a:pt x="1576070" y="0"/>
                  </a:lnTo>
                  <a:close/>
                </a:path>
              </a:pathLst>
            </a:custGeom>
            <a:solidFill>
              <a:srgbClr val="E7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1" name="object 221"/>
            <p:cNvSpPr/>
            <p:nvPr/>
          </p:nvSpPr>
          <p:spPr>
            <a:xfrm>
              <a:off x="1863090" y="5148580"/>
              <a:ext cx="1530350" cy="1026160"/>
            </a:xfrm>
            <a:custGeom>
              <a:avLst/>
              <a:gdLst/>
              <a:ahLst/>
              <a:cxnLst/>
              <a:rect l="l" t="t" r="r" b="b"/>
              <a:pathLst>
                <a:path w="1530350" h="1026160">
                  <a:moveTo>
                    <a:pt x="1530350" y="0"/>
                  </a:moveTo>
                  <a:lnTo>
                    <a:pt x="1506220" y="0"/>
                  </a:lnTo>
                  <a:lnTo>
                    <a:pt x="1506220" y="24130"/>
                  </a:lnTo>
                  <a:lnTo>
                    <a:pt x="1506220" y="1002030"/>
                  </a:lnTo>
                  <a:lnTo>
                    <a:pt x="22860" y="1002030"/>
                  </a:lnTo>
                  <a:lnTo>
                    <a:pt x="22860" y="24130"/>
                  </a:lnTo>
                  <a:lnTo>
                    <a:pt x="1506220" y="24130"/>
                  </a:lnTo>
                  <a:lnTo>
                    <a:pt x="150622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002030"/>
                  </a:lnTo>
                  <a:lnTo>
                    <a:pt x="0" y="1026160"/>
                  </a:lnTo>
                  <a:lnTo>
                    <a:pt x="1530350" y="1026160"/>
                  </a:lnTo>
                  <a:lnTo>
                    <a:pt x="1530350" y="1002030"/>
                  </a:lnTo>
                  <a:lnTo>
                    <a:pt x="1530350" y="24130"/>
                  </a:lnTo>
                  <a:lnTo>
                    <a:pt x="1530350" y="0"/>
                  </a:lnTo>
                  <a:close/>
                </a:path>
              </a:pathLst>
            </a:custGeom>
            <a:solidFill>
              <a:srgbClr val="E8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2" name="object 222"/>
            <p:cNvSpPr/>
            <p:nvPr/>
          </p:nvSpPr>
          <p:spPr>
            <a:xfrm>
              <a:off x="1885950" y="5172710"/>
              <a:ext cx="1483360" cy="977900"/>
            </a:xfrm>
            <a:custGeom>
              <a:avLst/>
              <a:gdLst/>
              <a:ahLst/>
              <a:cxnLst/>
              <a:rect l="l" t="t" r="r" b="b"/>
              <a:pathLst>
                <a:path w="1483360" h="977900">
                  <a:moveTo>
                    <a:pt x="1483360" y="0"/>
                  </a:moveTo>
                  <a:lnTo>
                    <a:pt x="1460500" y="0"/>
                  </a:lnTo>
                  <a:lnTo>
                    <a:pt x="1460500" y="22860"/>
                  </a:lnTo>
                  <a:lnTo>
                    <a:pt x="1460500" y="955040"/>
                  </a:lnTo>
                  <a:lnTo>
                    <a:pt x="22860" y="955040"/>
                  </a:lnTo>
                  <a:lnTo>
                    <a:pt x="22860" y="22860"/>
                  </a:lnTo>
                  <a:lnTo>
                    <a:pt x="1460500" y="22860"/>
                  </a:lnTo>
                  <a:lnTo>
                    <a:pt x="14605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955040"/>
                  </a:lnTo>
                  <a:lnTo>
                    <a:pt x="0" y="977900"/>
                  </a:lnTo>
                  <a:lnTo>
                    <a:pt x="1483360" y="977900"/>
                  </a:lnTo>
                  <a:lnTo>
                    <a:pt x="1483360" y="955040"/>
                  </a:lnTo>
                  <a:lnTo>
                    <a:pt x="1483360" y="22860"/>
                  </a:lnTo>
                  <a:lnTo>
                    <a:pt x="1483360" y="0"/>
                  </a:lnTo>
                  <a:close/>
                </a:path>
              </a:pathLst>
            </a:custGeom>
            <a:solidFill>
              <a:srgbClr val="E9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3" name="object 223"/>
            <p:cNvSpPr/>
            <p:nvPr/>
          </p:nvSpPr>
          <p:spPr>
            <a:xfrm>
              <a:off x="1908810" y="5195570"/>
              <a:ext cx="1437640" cy="932180"/>
            </a:xfrm>
            <a:custGeom>
              <a:avLst/>
              <a:gdLst/>
              <a:ahLst/>
              <a:cxnLst/>
              <a:rect l="l" t="t" r="r" b="b"/>
              <a:pathLst>
                <a:path w="1437639" h="932179">
                  <a:moveTo>
                    <a:pt x="1437640" y="0"/>
                  </a:moveTo>
                  <a:lnTo>
                    <a:pt x="1413510" y="0"/>
                  </a:lnTo>
                  <a:lnTo>
                    <a:pt x="1413510" y="22860"/>
                  </a:lnTo>
                  <a:lnTo>
                    <a:pt x="1413510" y="908050"/>
                  </a:lnTo>
                  <a:lnTo>
                    <a:pt x="24130" y="908050"/>
                  </a:lnTo>
                  <a:lnTo>
                    <a:pt x="24130" y="22860"/>
                  </a:lnTo>
                  <a:lnTo>
                    <a:pt x="1413510" y="22860"/>
                  </a:lnTo>
                  <a:lnTo>
                    <a:pt x="141351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908050"/>
                  </a:lnTo>
                  <a:lnTo>
                    <a:pt x="0" y="932180"/>
                  </a:lnTo>
                  <a:lnTo>
                    <a:pt x="1437640" y="932180"/>
                  </a:lnTo>
                  <a:lnTo>
                    <a:pt x="1437640" y="908062"/>
                  </a:lnTo>
                  <a:lnTo>
                    <a:pt x="1437640" y="22860"/>
                  </a:lnTo>
                  <a:lnTo>
                    <a:pt x="1437640" y="0"/>
                  </a:lnTo>
                  <a:close/>
                </a:path>
              </a:pathLst>
            </a:custGeom>
            <a:solidFill>
              <a:srgbClr val="EA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4" name="object 224"/>
            <p:cNvSpPr/>
            <p:nvPr/>
          </p:nvSpPr>
          <p:spPr>
            <a:xfrm>
              <a:off x="1932940" y="5218430"/>
              <a:ext cx="1389380" cy="885190"/>
            </a:xfrm>
            <a:custGeom>
              <a:avLst/>
              <a:gdLst/>
              <a:ahLst/>
              <a:cxnLst/>
              <a:rect l="l" t="t" r="r" b="b"/>
              <a:pathLst>
                <a:path w="1389379" h="885189">
                  <a:moveTo>
                    <a:pt x="1389380" y="0"/>
                  </a:moveTo>
                  <a:lnTo>
                    <a:pt x="1366520" y="0"/>
                  </a:lnTo>
                  <a:lnTo>
                    <a:pt x="1366520" y="24130"/>
                  </a:lnTo>
                  <a:lnTo>
                    <a:pt x="1366520" y="862330"/>
                  </a:lnTo>
                  <a:lnTo>
                    <a:pt x="22860" y="862330"/>
                  </a:lnTo>
                  <a:lnTo>
                    <a:pt x="22860" y="24130"/>
                  </a:lnTo>
                  <a:lnTo>
                    <a:pt x="1366520" y="24130"/>
                  </a:lnTo>
                  <a:lnTo>
                    <a:pt x="136652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862330"/>
                  </a:lnTo>
                  <a:lnTo>
                    <a:pt x="0" y="885190"/>
                  </a:lnTo>
                  <a:lnTo>
                    <a:pt x="1389380" y="885190"/>
                  </a:lnTo>
                  <a:lnTo>
                    <a:pt x="1389380" y="862330"/>
                  </a:lnTo>
                  <a:lnTo>
                    <a:pt x="1389380" y="24130"/>
                  </a:lnTo>
                  <a:lnTo>
                    <a:pt x="1389380" y="0"/>
                  </a:lnTo>
                  <a:close/>
                </a:path>
              </a:pathLst>
            </a:custGeom>
            <a:solidFill>
              <a:srgbClr val="EB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5" name="object 225"/>
            <p:cNvSpPr/>
            <p:nvPr/>
          </p:nvSpPr>
          <p:spPr>
            <a:xfrm>
              <a:off x="1955800" y="5242560"/>
              <a:ext cx="1343660" cy="838200"/>
            </a:xfrm>
            <a:custGeom>
              <a:avLst/>
              <a:gdLst/>
              <a:ahLst/>
              <a:cxnLst/>
              <a:rect l="l" t="t" r="r" b="b"/>
              <a:pathLst>
                <a:path w="1343660" h="838200">
                  <a:moveTo>
                    <a:pt x="1343660" y="0"/>
                  </a:moveTo>
                  <a:lnTo>
                    <a:pt x="1320800" y="0"/>
                  </a:lnTo>
                  <a:lnTo>
                    <a:pt x="1320800" y="22860"/>
                  </a:lnTo>
                  <a:lnTo>
                    <a:pt x="1320800" y="815340"/>
                  </a:lnTo>
                  <a:lnTo>
                    <a:pt x="22860" y="815340"/>
                  </a:lnTo>
                  <a:lnTo>
                    <a:pt x="22860" y="22860"/>
                  </a:lnTo>
                  <a:lnTo>
                    <a:pt x="1320800" y="22860"/>
                  </a:lnTo>
                  <a:lnTo>
                    <a:pt x="13208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815340"/>
                  </a:lnTo>
                  <a:lnTo>
                    <a:pt x="0" y="838200"/>
                  </a:lnTo>
                  <a:lnTo>
                    <a:pt x="1343660" y="838200"/>
                  </a:lnTo>
                  <a:lnTo>
                    <a:pt x="1343660" y="815340"/>
                  </a:lnTo>
                  <a:lnTo>
                    <a:pt x="1343660" y="22860"/>
                  </a:lnTo>
                  <a:lnTo>
                    <a:pt x="1343660" y="0"/>
                  </a:lnTo>
                  <a:close/>
                </a:path>
              </a:pathLst>
            </a:custGeom>
            <a:solidFill>
              <a:srgbClr val="EC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6" name="object 226"/>
            <p:cNvSpPr/>
            <p:nvPr/>
          </p:nvSpPr>
          <p:spPr>
            <a:xfrm>
              <a:off x="1978660" y="5265420"/>
              <a:ext cx="1297940" cy="792480"/>
            </a:xfrm>
            <a:custGeom>
              <a:avLst/>
              <a:gdLst/>
              <a:ahLst/>
              <a:cxnLst/>
              <a:rect l="l" t="t" r="r" b="b"/>
              <a:pathLst>
                <a:path w="1297939" h="792479">
                  <a:moveTo>
                    <a:pt x="1297940" y="0"/>
                  </a:moveTo>
                  <a:lnTo>
                    <a:pt x="1273810" y="0"/>
                  </a:lnTo>
                  <a:lnTo>
                    <a:pt x="1273810" y="22860"/>
                  </a:lnTo>
                  <a:lnTo>
                    <a:pt x="1273810" y="768350"/>
                  </a:lnTo>
                  <a:lnTo>
                    <a:pt x="24130" y="768350"/>
                  </a:lnTo>
                  <a:lnTo>
                    <a:pt x="24130" y="22860"/>
                  </a:lnTo>
                  <a:lnTo>
                    <a:pt x="1273810" y="22860"/>
                  </a:lnTo>
                  <a:lnTo>
                    <a:pt x="127381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768350"/>
                  </a:lnTo>
                  <a:lnTo>
                    <a:pt x="0" y="792480"/>
                  </a:lnTo>
                  <a:lnTo>
                    <a:pt x="1297940" y="792480"/>
                  </a:lnTo>
                  <a:lnTo>
                    <a:pt x="1297940" y="768350"/>
                  </a:lnTo>
                  <a:lnTo>
                    <a:pt x="1297940" y="22860"/>
                  </a:lnTo>
                  <a:lnTo>
                    <a:pt x="1297940" y="0"/>
                  </a:lnTo>
                  <a:close/>
                </a:path>
              </a:pathLst>
            </a:custGeom>
            <a:solidFill>
              <a:srgbClr val="ED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7" name="object 227"/>
            <p:cNvSpPr/>
            <p:nvPr/>
          </p:nvSpPr>
          <p:spPr>
            <a:xfrm>
              <a:off x="2002790" y="5288280"/>
              <a:ext cx="1249680" cy="745490"/>
            </a:xfrm>
            <a:custGeom>
              <a:avLst/>
              <a:gdLst/>
              <a:ahLst/>
              <a:cxnLst/>
              <a:rect l="l" t="t" r="r" b="b"/>
              <a:pathLst>
                <a:path w="1249679" h="745489">
                  <a:moveTo>
                    <a:pt x="1249680" y="0"/>
                  </a:moveTo>
                  <a:lnTo>
                    <a:pt x="1226820" y="0"/>
                  </a:lnTo>
                  <a:lnTo>
                    <a:pt x="1226820" y="24130"/>
                  </a:lnTo>
                  <a:lnTo>
                    <a:pt x="1226820" y="722630"/>
                  </a:lnTo>
                  <a:lnTo>
                    <a:pt x="22860" y="722630"/>
                  </a:lnTo>
                  <a:lnTo>
                    <a:pt x="22860" y="24130"/>
                  </a:lnTo>
                  <a:lnTo>
                    <a:pt x="1226820" y="24130"/>
                  </a:lnTo>
                  <a:lnTo>
                    <a:pt x="122682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722630"/>
                  </a:lnTo>
                  <a:lnTo>
                    <a:pt x="0" y="745490"/>
                  </a:lnTo>
                  <a:lnTo>
                    <a:pt x="1249680" y="745490"/>
                  </a:lnTo>
                  <a:lnTo>
                    <a:pt x="1249680" y="722630"/>
                  </a:lnTo>
                  <a:lnTo>
                    <a:pt x="1249680" y="24130"/>
                  </a:lnTo>
                  <a:lnTo>
                    <a:pt x="1249680" y="0"/>
                  </a:lnTo>
                  <a:close/>
                </a:path>
              </a:pathLst>
            </a:custGeom>
            <a:solidFill>
              <a:srgbClr val="EE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8" name="object 228"/>
            <p:cNvSpPr/>
            <p:nvPr/>
          </p:nvSpPr>
          <p:spPr>
            <a:xfrm>
              <a:off x="2025650" y="5312410"/>
              <a:ext cx="1203960" cy="698500"/>
            </a:xfrm>
            <a:custGeom>
              <a:avLst/>
              <a:gdLst/>
              <a:ahLst/>
              <a:cxnLst/>
              <a:rect l="l" t="t" r="r" b="b"/>
              <a:pathLst>
                <a:path w="1203960" h="698500">
                  <a:moveTo>
                    <a:pt x="1203960" y="0"/>
                  </a:moveTo>
                  <a:lnTo>
                    <a:pt x="1181100" y="0"/>
                  </a:lnTo>
                  <a:lnTo>
                    <a:pt x="1181100" y="22860"/>
                  </a:lnTo>
                  <a:lnTo>
                    <a:pt x="1181100" y="675640"/>
                  </a:lnTo>
                  <a:lnTo>
                    <a:pt x="22860" y="675640"/>
                  </a:lnTo>
                  <a:lnTo>
                    <a:pt x="22860" y="22860"/>
                  </a:lnTo>
                  <a:lnTo>
                    <a:pt x="1181100" y="2286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675640"/>
                  </a:lnTo>
                  <a:lnTo>
                    <a:pt x="0" y="698500"/>
                  </a:lnTo>
                  <a:lnTo>
                    <a:pt x="1203960" y="698500"/>
                  </a:lnTo>
                  <a:lnTo>
                    <a:pt x="1203960" y="675640"/>
                  </a:lnTo>
                  <a:lnTo>
                    <a:pt x="1203960" y="22860"/>
                  </a:lnTo>
                  <a:lnTo>
                    <a:pt x="1203960" y="0"/>
                  </a:lnTo>
                  <a:close/>
                </a:path>
              </a:pathLst>
            </a:custGeom>
            <a:solidFill>
              <a:srgbClr val="E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29" name="object 229"/>
            <p:cNvSpPr/>
            <p:nvPr/>
          </p:nvSpPr>
          <p:spPr>
            <a:xfrm>
              <a:off x="2048510" y="5335270"/>
              <a:ext cx="1158240" cy="652780"/>
            </a:xfrm>
            <a:custGeom>
              <a:avLst/>
              <a:gdLst/>
              <a:ahLst/>
              <a:cxnLst/>
              <a:rect l="l" t="t" r="r" b="b"/>
              <a:pathLst>
                <a:path w="1158239" h="652779">
                  <a:moveTo>
                    <a:pt x="1158240" y="0"/>
                  </a:moveTo>
                  <a:lnTo>
                    <a:pt x="1134110" y="0"/>
                  </a:lnTo>
                  <a:lnTo>
                    <a:pt x="1134110" y="22860"/>
                  </a:lnTo>
                  <a:lnTo>
                    <a:pt x="1134110" y="628650"/>
                  </a:lnTo>
                  <a:lnTo>
                    <a:pt x="24130" y="628650"/>
                  </a:lnTo>
                  <a:lnTo>
                    <a:pt x="24130" y="22860"/>
                  </a:lnTo>
                  <a:lnTo>
                    <a:pt x="1134110" y="22860"/>
                  </a:lnTo>
                  <a:lnTo>
                    <a:pt x="113411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628650"/>
                  </a:lnTo>
                  <a:lnTo>
                    <a:pt x="0" y="652780"/>
                  </a:lnTo>
                  <a:lnTo>
                    <a:pt x="1158240" y="652780"/>
                  </a:lnTo>
                  <a:lnTo>
                    <a:pt x="1158240" y="628650"/>
                  </a:lnTo>
                  <a:lnTo>
                    <a:pt x="1158240" y="22860"/>
                  </a:lnTo>
                  <a:lnTo>
                    <a:pt x="1158240" y="0"/>
                  </a:lnTo>
                  <a:close/>
                </a:path>
              </a:pathLst>
            </a:custGeom>
            <a:solidFill>
              <a:srgbClr val="F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0" name="object 230"/>
            <p:cNvSpPr/>
            <p:nvPr/>
          </p:nvSpPr>
          <p:spPr>
            <a:xfrm>
              <a:off x="2072640" y="5358130"/>
              <a:ext cx="1109980" cy="605790"/>
            </a:xfrm>
            <a:custGeom>
              <a:avLst/>
              <a:gdLst/>
              <a:ahLst/>
              <a:cxnLst/>
              <a:rect l="l" t="t" r="r" b="b"/>
              <a:pathLst>
                <a:path w="1109980" h="605789">
                  <a:moveTo>
                    <a:pt x="1109980" y="0"/>
                  </a:moveTo>
                  <a:lnTo>
                    <a:pt x="1087120" y="0"/>
                  </a:lnTo>
                  <a:lnTo>
                    <a:pt x="1087120" y="24130"/>
                  </a:lnTo>
                  <a:lnTo>
                    <a:pt x="1087120" y="582930"/>
                  </a:lnTo>
                  <a:lnTo>
                    <a:pt x="22860" y="582930"/>
                  </a:lnTo>
                  <a:lnTo>
                    <a:pt x="22860" y="24130"/>
                  </a:lnTo>
                  <a:lnTo>
                    <a:pt x="1087120" y="24130"/>
                  </a:lnTo>
                  <a:lnTo>
                    <a:pt x="108712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582930"/>
                  </a:lnTo>
                  <a:lnTo>
                    <a:pt x="0" y="605790"/>
                  </a:lnTo>
                  <a:lnTo>
                    <a:pt x="1109980" y="605790"/>
                  </a:lnTo>
                  <a:lnTo>
                    <a:pt x="1109980" y="582930"/>
                  </a:lnTo>
                  <a:lnTo>
                    <a:pt x="1109980" y="24130"/>
                  </a:lnTo>
                  <a:lnTo>
                    <a:pt x="1109980" y="0"/>
                  </a:lnTo>
                  <a:close/>
                </a:path>
              </a:pathLst>
            </a:custGeom>
            <a:solidFill>
              <a:srgbClr val="F1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1" name="object 231"/>
            <p:cNvSpPr/>
            <p:nvPr/>
          </p:nvSpPr>
          <p:spPr>
            <a:xfrm>
              <a:off x="2095500" y="5382260"/>
              <a:ext cx="1064260" cy="558800"/>
            </a:xfrm>
            <a:custGeom>
              <a:avLst/>
              <a:gdLst/>
              <a:ahLst/>
              <a:cxnLst/>
              <a:rect l="l" t="t" r="r" b="b"/>
              <a:pathLst>
                <a:path w="1064260" h="558800">
                  <a:moveTo>
                    <a:pt x="1064260" y="0"/>
                  </a:moveTo>
                  <a:lnTo>
                    <a:pt x="1041400" y="0"/>
                  </a:lnTo>
                  <a:lnTo>
                    <a:pt x="1041400" y="22860"/>
                  </a:lnTo>
                  <a:lnTo>
                    <a:pt x="1041400" y="535940"/>
                  </a:lnTo>
                  <a:lnTo>
                    <a:pt x="24130" y="535940"/>
                  </a:lnTo>
                  <a:lnTo>
                    <a:pt x="24130" y="22860"/>
                  </a:lnTo>
                  <a:lnTo>
                    <a:pt x="1041400" y="22860"/>
                  </a:lnTo>
                  <a:lnTo>
                    <a:pt x="10414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535940"/>
                  </a:lnTo>
                  <a:lnTo>
                    <a:pt x="0" y="558800"/>
                  </a:lnTo>
                  <a:lnTo>
                    <a:pt x="1064260" y="558800"/>
                  </a:lnTo>
                  <a:lnTo>
                    <a:pt x="1064260" y="535940"/>
                  </a:lnTo>
                  <a:lnTo>
                    <a:pt x="1064260" y="22860"/>
                  </a:lnTo>
                  <a:lnTo>
                    <a:pt x="1064260" y="0"/>
                  </a:lnTo>
                  <a:close/>
                </a:path>
              </a:pathLst>
            </a:custGeom>
            <a:solidFill>
              <a:srgbClr val="F2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2" name="object 232"/>
            <p:cNvSpPr/>
            <p:nvPr/>
          </p:nvSpPr>
          <p:spPr>
            <a:xfrm>
              <a:off x="2119630" y="5405120"/>
              <a:ext cx="1017269" cy="513080"/>
            </a:xfrm>
            <a:custGeom>
              <a:avLst/>
              <a:gdLst/>
              <a:ahLst/>
              <a:cxnLst/>
              <a:rect l="l" t="t" r="r" b="b"/>
              <a:pathLst>
                <a:path w="1017269" h="513079">
                  <a:moveTo>
                    <a:pt x="1017270" y="0"/>
                  </a:moveTo>
                  <a:lnTo>
                    <a:pt x="993140" y="0"/>
                  </a:lnTo>
                  <a:lnTo>
                    <a:pt x="993140" y="22860"/>
                  </a:lnTo>
                  <a:lnTo>
                    <a:pt x="993140" y="488950"/>
                  </a:lnTo>
                  <a:lnTo>
                    <a:pt x="22860" y="488950"/>
                  </a:lnTo>
                  <a:lnTo>
                    <a:pt x="22860" y="22860"/>
                  </a:lnTo>
                  <a:lnTo>
                    <a:pt x="993140" y="22860"/>
                  </a:lnTo>
                  <a:lnTo>
                    <a:pt x="99314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488950"/>
                  </a:lnTo>
                  <a:lnTo>
                    <a:pt x="0" y="513080"/>
                  </a:lnTo>
                  <a:lnTo>
                    <a:pt x="1017270" y="513080"/>
                  </a:lnTo>
                  <a:lnTo>
                    <a:pt x="1017270" y="488950"/>
                  </a:lnTo>
                  <a:lnTo>
                    <a:pt x="1017270" y="22860"/>
                  </a:lnTo>
                  <a:lnTo>
                    <a:pt x="1017270" y="0"/>
                  </a:lnTo>
                  <a:close/>
                </a:path>
              </a:pathLst>
            </a:custGeom>
            <a:solidFill>
              <a:srgbClr val="F3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3" name="object 233"/>
            <p:cNvSpPr/>
            <p:nvPr/>
          </p:nvSpPr>
          <p:spPr>
            <a:xfrm>
              <a:off x="2142490" y="5427980"/>
              <a:ext cx="970280" cy="466090"/>
            </a:xfrm>
            <a:custGeom>
              <a:avLst/>
              <a:gdLst/>
              <a:ahLst/>
              <a:cxnLst/>
              <a:rect l="l" t="t" r="r" b="b"/>
              <a:pathLst>
                <a:path w="970280" h="466089">
                  <a:moveTo>
                    <a:pt x="970280" y="0"/>
                  </a:moveTo>
                  <a:lnTo>
                    <a:pt x="947420" y="0"/>
                  </a:lnTo>
                  <a:lnTo>
                    <a:pt x="947420" y="24130"/>
                  </a:lnTo>
                  <a:lnTo>
                    <a:pt x="947420" y="443230"/>
                  </a:lnTo>
                  <a:lnTo>
                    <a:pt x="22860" y="443230"/>
                  </a:lnTo>
                  <a:lnTo>
                    <a:pt x="22860" y="24130"/>
                  </a:lnTo>
                  <a:lnTo>
                    <a:pt x="947420" y="24130"/>
                  </a:lnTo>
                  <a:lnTo>
                    <a:pt x="94742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443230"/>
                  </a:lnTo>
                  <a:lnTo>
                    <a:pt x="0" y="466090"/>
                  </a:lnTo>
                  <a:lnTo>
                    <a:pt x="970280" y="466090"/>
                  </a:lnTo>
                  <a:lnTo>
                    <a:pt x="970280" y="443230"/>
                  </a:lnTo>
                  <a:lnTo>
                    <a:pt x="970280" y="24130"/>
                  </a:lnTo>
                  <a:lnTo>
                    <a:pt x="970280" y="0"/>
                  </a:lnTo>
                  <a:close/>
                </a:path>
              </a:pathLst>
            </a:custGeom>
            <a:solidFill>
              <a:srgbClr val="F4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4" name="object 234"/>
            <p:cNvSpPr/>
            <p:nvPr/>
          </p:nvSpPr>
          <p:spPr>
            <a:xfrm>
              <a:off x="2165350" y="5452110"/>
              <a:ext cx="924560" cy="419100"/>
            </a:xfrm>
            <a:custGeom>
              <a:avLst/>
              <a:gdLst/>
              <a:ahLst/>
              <a:cxnLst/>
              <a:rect l="l" t="t" r="r" b="b"/>
              <a:pathLst>
                <a:path w="924560" h="419100">
                  <a:moveTo>
                    <a:pt x="924560" y="0"/>
                  </a:moveTo>
                  <a:lnTo>
                    <a:pt x="901700" y="0"/>
                  </a:lnTo>
                  <a:lnTo>
                    <a:pt x="901700" y="22860"/>
                  </a:lnTo>
                  <a:lnTo>
                    <a:pt x="901700" y="396240"/>
                  </a:lnTo>
                  <a:lnTo>
                    <a:pt x="24130" y="396240"/>
                  </a:lnTo>
                  <a:lnTo>
                    <a:pt x="24130" y="22860"/>
                  </a:lnTo>
                  <a:lnTo>
                    <a:pt x="901700" y="22860"/>
                  </a:lnTo>
                  <a:lnTo>
                    <a:pt x="9017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396240"/>
                  </a:lnTo>
                  <a:lnTo>
                    <a:pt x="0" y="419100"/>
                  </a:lnTo>
                  <a:lnTo>
                    <a:pt x="924560" y="419100"/>
                  </a:lnTo>
                  <a:lnTo>
                    <a:pt x="924560" y="396240"/>
                  </a:lnTo>
                  <a:lnTo>
                    <a:pt x="924560" y="22860"/>
                  </a:lnTo>
                  <a:lnTo>
                    <a:pt x="924560" y="0"/>
                  </a:lnTo>
                  <a:close/>
                </a:path>
              </a:pathLst>
            </a:custGeom>
            <a:solidFill>
              <a:srgbClr val="F5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5" name="object 235"/>
            <p:cNvSpPr/>
            <p:nvPr/>
          </p:nvSpPr>
          <p:spPr>
            <a:xfrm>
              <a:off x="2189480" y="5474970"/>
              <a:ext cx="877569" cy="373380"/>
            </a:xfrm>
            <a:custGeom>
              <a:avLst/>
              <a:gdLst/>
              <a:ahLst/>
              <a:cxnLst/>
              <a:rect l="l" t="t" r="r" b="b"/>
              <a:pathLst>
                <a:path w="877569" h="373379">
                  <a:moveTo>
                    <a:pt x="877570" y="0"/>
                  </a:moveTo>
                  <a:lnTo>
                    <a:pt x="853440" y="0"/>
                  </a:lnTo>
                  <a:lnTo>
                    <a:pt x="853440" y="24130"/>
                  </a:lnTo>
                  <a:lnTo>
                    <a:pt x="853440" y="349250"/>
                  </a:lnTo>
                  <a:lnTo>
                    <a:pt x="22860" y="349250"/>
                  </a:lnTo>
                  <a:lnTo>
                    <a:pt x="22860" y="24130"/>
                  </a:lnTo>
                  <a:lnTo>
                    <a:pt x="853440" y="24130"/>
                  </a:lnTo>
                  <a:lnTo>
                    <a:pt x="85344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349250"/>
                  </a:lnTo>
                  <a:lnTo>
                    <a:pt x="0" y="373380"/>
                  </a:lnTo>
                  <a:lnTo>
                    <a:pt x="877570" y="373380"/>
                  </a:lnTo>
                  <a:lnTo>
                    <a:pt x="877570" y="349250"/>
                  </a:lnTo>
                  <a:lnTo>
                    <a:pt x="877570" y="24130"/>
                  </a:lnTo>
                  <a:lnTo>
                    <a:pt x="877570" y="0"/>
                  </a:lnTo>
                  <a:close/>
                </a:path>
              </a:pathLst>
            </a:custGeom>
            <a:solidFill>
              <a:srgbClr val="F6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6" name="object 236"/>
            <p:cNvSpPr/>
            <p:nvPr/>
          </p:nvSpPr>
          <p:spPr>
            <a:xfrm>
              <a:off x="2212340" y="5499100"/>
              <a:ext cx="830580" cy="325120"/>
            </a:xfrm>
            <a:custGeom>
              <a:avLst/>
              <a:gdLst/>
              <a:ahLst/>
              <a:cxnLst/>
              <a:rect l="l" t="t" r="r" b="b"/>
              <a:pathLst>
                <a:path w="830580" h="325120">
                  <a:moveTo>
                    <a:pt x="830580" y="0"/>
                  </a:moveTo>
                  <a:lnTo>
                    <a:pt x="807720" y="0"/>
                  </a:lnTo>
                  <a:lnTo>
                    <a:pt x="807720" y="22860"/>
                  </a:lnTo>
                  <a:lnTo>
                    <a:pt x="807720" y="302260"/>
                  </a:lnTo>
                  <a:lnTo>
                    <a:pt x="22860" y="302260"/>
                  </a:lnTo>
                  <a:lnTo>
                    <a:pt x="22860" y="22860"/>
                  </a:lnTo>
                  <a:lnTo>
                    <a:pt x="807720" y="22860"/>
                  </a:lnTo>
                  <a:lnTo>
                    <a:pt x="80772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302260"/>
                  </a:lnTo>
                  <a:lnTo>
                    <a:pt x="0" y="325120"/>
                  </a:lnTo>
                  <a:lnTo>
                    <a:pt x="830580" y="325120"/>
                  </a:lnTo>
                  <a:lnTo>
                    <a:pt x="830580" y="302260"/>
                  </a:lnTo>
                  <a:lnTo>
                    <a:pt x="830580" y="22860"/>
                  </a:lnTo>
                  <a:lnTo>
                    <a:pt x="830580" y="0"/>
                  </a:lnTo>
                  <a:close/>
                </a:path>
              </a:pathLst>
            </a:custGeom>
            <a:solidFill>
              <a:srgbClr val="F7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7" name="object 237"/>
            <p:cNvSpPr/>
            <p:nvPr/>
          </p:nvSpPr>
          <p:spPr>
            <a:xfrm>
              <a:off x="2235200" y="5521960"/>
              <a:ext cx="784860" cy="279400"/>
            </a:xfrm>
            <a:custGeom>
              <a:avLst/>
              <a:gdLst/>
              <a:ahLst/>
              <a:cxnLst/>
              <a:rect l="l" t="t" r="r" b="b"/>
              <a:pathLst>
                <a:path w="784860" h="279400">
                  <a:moveTo>
                    <a:pt x="784860" y="0"/>
                  </a:moveTo>
                  <a:lnTo>
                    <a:pt x="762000" y="0"/>
                  </a:lnTo>
                  <a:lnTo>
                    <a:pt x="762000" y="22860"/>
                  </a:lnTo>
                  <a:lnTo>
                    <a:pt x="762000" y="256540"/>
                  </a:lnTo>
                  <a:lnTo>
                    <a:pt x="24130" y="256540"/>
                  </a:lnTo>
                  <a:lnTo>
                    <a:pt x="24130" y="22860"/>
                  </a:lnTo>
                  <a:lnTo>
                    <a:pt x="762000" y="2286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256540"/>
                  </a:lnTo>
                  <a:lnTo>
                    <a:pt x="0" y="279400"/>
                  </a:lnTo>
                  <a:lnTo>
                    <a:pt x="784860" y="279400"/>
                  </a:lnTo>
                  <a:lnTo>
                    <a:pt x="784860" y="256540"/>
                  </a:lnTo>
                  <a:lnTo>
                    <a:pt x="784860" y="22860"/>
                  </a:lnTo>
                  <a:lnTo>
                    <a:pt x="784860" y="0"/>
                  </a:lnTo>
                  <a:close/>
                </a:path>
              </a:pathLst>
            </a:custGeom>
            <a:solidFill>
              <a:srgbClr val="F8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8" name="object 238"/>
            <p:cNvSpPr/>
            <p:nvPr/>
          </p:nvSpPr>
          <p:spPr>
            <a:xfrm>
              <a:off x="2259330" y="5544820"/>
              <a:ext cx="737870" cy="233679"/>
            </a:xfrm>
            <a:custGeom>
              <a:avLst/>
              <a:gdLst/>
              <a:ahLst/>
              <a:cxnLst/>
              <a:rect l="l" t="t" r="r" b="b"/>
              <a:pathLst>
                <a:path w="737869" h="233679">
                  <a:moveTo>
                    <a:pt x="737870" y="0"/>
                  </a:moveTo>
                  <a:lnTo>
                    <a:pt x="713740" y="0"/>
                  </a:lnTo>
                  <a:lnTo>
                    <a:pt x="713740" y="24130"/>
                  </a:lnTo>
                  <a:lnTo>
                    <a:pt x="713740" y="209550"/>
                  </a:lnTo>
                  <a:lnTo>
                    <a:pt x="22860" y="209550"/>
                  </a:lnTo>
                  <a:lnTo>
                    <a:pt x="22860" y="24130"/>
                  </a:lnTo>
                  <a:lnTo>
                    <a:pt x="713740" y="24130"/>
                  </a:lnTo>
                  <a:lnTo>
                    <a:pt x="71374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209550"/>
                  </a:lnTo>
                  <a:lnTo>
                    <a:pt x="0" y="233680"/>
                  </a:lnTo>
                  <a:lnTo>
                    <a:pt x="737870" y="233680"/>
                  </a:lnTo>
                  <a:lnTo>
                    <a:pt x="737870" y="209550"/>
                  </a:lnTo>
                  <a:lnTo>
                    <a:pt x="737870" y="24130"/>
                  </a:lnTo>
                  <a:lnTo>
                    <a:pt x="737870" y="0"/>
                  </a:lnTo>
                  <a:close/>
                </a:path>
              </a:pathLst>
            </a:custGeom>
            <a:solidFill>
              <a:srgbClr val="F9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39" name="object 239"/>
            <p:cNvSpPr/>
            <p:nvPr/>
          </p:nvSpPr>
          <p:spPr>
            <a:xfrm>
              <a:off x="2282190" y="5568950"/>
              <a:ext cx="690880" cy="185420"/>
            </a:xfrm>
            <a:custGeom>
              <a:avLst/>
              <a:gdLst/>
              <a:ahLst/>
              <a:cxnLst/>
              <a:rect l="l" t="t" r="r" b="b"/>
              <a:pathLst>
                <a:path w="690880" h="185420">
                  <a:moveTo>
                    <a:pt x="690880" y="0"/>
                  </a:moveTo>
                  <a:lnTo>
                    <a:pt x="668020" y="0"/>
                  </a:lnTo>
                  <a:lnTo>
                    <a:pt x="668020" y="22860"/>
                  </a:lnTo>
                  <a:lnTo>
                    <a:pt x="668020" y="162560"/>
                  </a:lnTo>
                  <a:lnTo>
                    <a:pt x="24130" y="162560"/>
                  </a:lnTo>
                  <a:lnTo>
                    <a:pt x="24130" y="22860"/>
                  </a:lnTo>
                  <a:lnTo>
                    <a:pt x="668020" y="22860"/>
                  </a:lnTo>
                  <a:lnTo>
                    <a:pt x="66802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62560"/>
                  </a:lnTo>
                  <a:lnTo>
                    <a:pt x="0" y="185420"/>
                  </a:lnTo>
                  <a:lnTo>
                    <a:pt x="690880" y="185420"/>
                  </a:lnTo>
                  <a:lnTo>
                    <a:pt x="690880" y="162560"/>
                  </a:lnTo>
                  <a:lnTo>
                    <a:pt x="690880" y="22860"/>
                  </a:lnTo>
                  <a:lnTo>
                    <a:pt x="690880" y="0"/>
                  </a:lnTo>
                  <a:close/>
                </a:path>
              </a:pathLst>
            </a:custGeom>
            <a:solidFill>
              <a:srgbClr val="FA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0" name="object 240"/>
            <p:cNvSpPr/>
            <p:nvPr/>
          </p:nvSpPr>
          <p:spPr>
            <a:xfrm>
              <a:off x="2306320" y="5591810"/>
              <a:ext cx="643890" cy="139700"/>
            </a:xfrm>
            <a:custGeom>
              <a:avLst/>
              <a:gdLst/>
              <a:ahLst/>
              <a:cxnLst/>
              <a:rect l="l" t="t" r="r" b="b"/>
              <a:pathLst>
                <a:path w="643889" h="139700">
                  <a:moveTo>
                    <a:pt x="643890" y="0"/>
                  </a:moveTo>
                  <a:lnTo>
                    <a:pt x="621030" y="0"/>
                  </a:lnTo>
                  <a:lnTo>
                    <a:pt x="621030" y="22860"/>
                  </a:lnTo>
                  <a:lnTo>
                    <a:pt x="621030" y="116840"/>
                  </a:lnTo>
                  <a:lnTo>
                    <a:pt x="22860" y="116840"/>
                  </a:lnTo>
                  <a:lnTo>
                    <a:pt x="22860" y="22860"/>
                  </a:lnTo>
                  <a:lnTo>
                    <a:pt x="621030" y="22860"/>
                  </a:lnTo>
                  <a:lnTo>
                    <a:pt x="62103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16840"/>
                  </a:lnTo>
                  <a:lnTo>
                    <a:pt x="0" y="139700"/>
                  </a:lnTo>
                  <a:lnTo>
                    <a:pt x="643890" y="139700"/>
                  </a:lnTo>
                  <a:lnTo>
                    <a:pt x="643890" y="116840"/>
                  </a:lnTo>
                  <a:lnTo>
                    <a:pt x="643890" y="22860"/>
                  </a:lnTo>
                  <a:lnTo>
                    <a:pt x="643890" y="0"/>
                  </a:lnTo>
                  <a:close/>
                </a:path>
              </a:pathLst>
            </a:custGeom>
            <a:solidFill>
              <a:srgbClr val="FB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1" name="object 241"/>
            <p:cNvSpPr/>
            <p:nvPr/>
          </p:nvSpPr>
          <p:spPr>
            <a:xfrm>
              <a:off x="2329180" y="5614670"/>
              <a:ext cx="598170" cy="93980"/>
            </a:xfrm>
            <a:custGeom>
              <a:avLst/>
              <a:gdLst/>
              <a:ahLst/>
              <a:cxnLst/>
              <a:rect l="l" t="t" r="r" b="b"/>
              <a:pathLst>
                <a:path w="598169" h="93979">
                  <a:moveTo>
                    <a:pt x="598170" y="0"/>
                  </a:moveTo>
                  <a:lnTo>
                    <a:pt x="574040" y="0"/>
                  </a:lnTo>
                  <a:lnTo>
                    <a:pt x="574040" y="24130"/>
                  </a:lnTo>
                  <a:lnTo>
                    <a:pt x="574040" y="69850"/>
                  </a:lnTo>
                  <a:lnTo>
                    <a:pt x="22860" y="69850"/>
                  </a:lnTo>
                  <a:lnTo>
                    <a:pt x="22860" y="24130"/>
                  </a:lnTo>
                  <a:lnTo>
                    <a:pt x="574040" y="24130"/>
                  </a:lnTo>
                  <a:lnTo>
                    <a:pt x="57404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69850"/>
                  </a:lnTo>
                  <a:lnTo>
                    <a:pt x="0" y="93980"/>
                  </a:lnTo>
                  <a:lnTo>
                    <a:pt x="598170" y="93980"/>
                  </a:lnTo>
                  <a:lnTo>
                    <a:pt x="598170" y="69850"/>
                  </a:lnTo>
                  <a:lnTo>
                    <a:pt x="598170" y="24130"/>
                  </a:lnTo>
                  <a:lnTo>
                    <a:pt x="598170" y="0"/>
                  </a:lnTo>
                  <a:close/>
                </a:path>
              </a:pathLst>
            </a:custGeom>
            <a:solidFill>
              <a:srgbClr val="FC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2" name="object 242"/>
            <p:cNvSpPr/>
            <p:nvPr/>
          </p:nvSpPr>
          <p:spPr>
            <a:xfrm>
              <a:off x="1187450" y="4472940"/>
              <a:ext cx="2881630" cy="2377440"/>
            </a:xfrm>
            <a:custGeom>
              <a:avLst/>
              <a:gdLst/>
              <a:ahLst/>
              <a:cxnLst/>
              <a:rect l="l" t="t" r="r" b="b"/>
              <a:pathLst>
                <a:path w="2881629" h="2377440">
                  <a:moveTo>
                    <a:pt x="212090" y="0"/>
                  </a:moveTo>
                  <a:lnTo>
                    <a:pt x="166751" y="6216"/>
                  </a:lnTo>
                  <a:lnTo>
                    <a:pt x="123389" y="23607"/>
                  </a:lnTo>
                  <a:lnTo>
                    <a:pt x="83827" y="50285"/>
                  </a:lnTo>
                  <a:lnTo>
                    <a:pt x="49885" y="84360"/>
                  </a:lnTo>
                  <a:lnTo>
                    <a:pt x="23385" y="123945"/>
                  </a:lnTo>
                  <a:lnTo>
                    <a:pt x="6150" y="167151"/>
                  </a:lnTo>
                  <a:lnTo>
                    <a:pt x="0" y="212090"/>
                  </a:lnTo>
                  <a:lnTo>
                    <a:pt x="0" y="2165350"/>
                  </a:lnTo>
                  <a:lnTo>
                    <a:pt x="6150" y="2210288"/>
                  </a:lnTo>
                  <a:lnTo>
                    <a:pt x="23385" y="2253494"/>
                  </a:lnTo>
                  <a:lnTo>
                    <a:pt x="49885" y="2293079"/>
                  </a:lnTo>
                  <a:lnTo>
                    <a:pt x="83827" y="2327154"/>
                  </a:lnTo>
                  <a:lnTo>
                    <a:pt x="123389" y="2353832"/>
                  </a:lnTo>
                  <a:lnTo>
                    <a:pt x="166751" y="2371223"/>
                  </a:lnTo>
                  <a:lnTo>
                    <a:pt x="212090" y="2377440"/>
                  </a:lnTo>
                  <a:lnTo>
                    <a:pt x="2669540" y="2377440"/>
                  </a:lnTo>
                  <a:lnTo>
                    <a:pt x="2714478" y="2371223"/>
                  </a:lnTo>
                  <a:lnTo>
                    <a:pt x="2757684" y="2353832"/>
                  </a:lnTo>
                  <a:lnTo>
                    <a:pt x="2797269" y="2327154"/>
                  </a:lnTo>
                  <a:lnTo>
                    <a:pt x="2831344" y="2293079"/>
                  </a:lnTo>
                  <a:lnTo>
                    <a:pt x="2858022" y="2253494"/>
                  </a:lnTo>
                  <a:lnTo>
                    <a:pt x="2875413" y="2210288"/>
                  </a:lnTo>
                  <a:lnTo>
                    <a:pt x="2881629" y="2165350"/>
                  </a:lnTo>
                  <a:lnTo>
                    <a:pt x="2881629" y="212090"/>
                  </a:lnTo>
                  <a:lnTo>
                    <a:pt x="2875413" y="167151"/>
                  </a:lnTo>
                  <a:lnTo>
                    <a:pt x="2858022" y="123945"/>
                  </a:lnTo>
                  <a:lnTo>
                    <a:pt x="2831344" y="84360"/>
                  </a:lnTo>
                  <a:lnTo>
                    <a:pt x="2797269" y="50285"/>
                  </a:lnTo>
                  <a:lnTo>
                    <a:pt x="2757684" y="23607"/>
                  </a:lnTo>
                  <a:lnTo>
                    <a:pt x="2714478" y="6216"/>
                  </a:lnTo>
                  <a:lnTo>
                    <a:pt x="2669540" y="0"/>
                  </a:lnTo>
                  <a:lnTo>
                    <a:pt x="212090" y="0"/>
                  </a:lnTo>
                  <a:close/>
                </a:path>
                <a:path w="2881629" h="2377440">
                  <a:moveTo>
                    <a:pt x="0" y="0"/>
                  </a:moveTo>
                  <a:lnTo>
                    <a:pt x="0" y="0"/>
                  </a:lnTo>
                </a:path>
                <a:path w="2881629" h="2377440">
                  <a:moveTo>
                    <a:pt x="2881629" y="2377440"/>
                  </a:moveTo>
                  <a:lnTo>
                    <a:pt x="2881629" y="237744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43" name="object 243"/>
          <p:cNvSpPr txBox="1"/>
          <p:nvPr/>
        </p:nvSpPr>
        <p:spPr>
          <a:xfrm>
            <a:off x="4029771" y="3215179"/>
            <a:ext cx="733489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b="1" spc="-7" dirty="0">
                <a:latin typeface="Arial"/>
                <a:cs typeface="Arial"/>
              </a:rPr>
              <a:t>N</a:t>
            </a:r>
            <a:r>
              <a:rPr sz="1225" b="1" spc="-3" dirty="0">
                <a:latin typeface="Arial"/>
                <a:cs typeface="Arial"/>
              </a:rPr>
              <a:t>EM</a:t>
            </a:r>
            <a:r>
              <a:rPr sz="1225" b="1" spc="3" dirty="0">
                <a:latin typeface="Arial"/>
                <a:cs typeface="Arial"/>
              </a:rPr>
              <a:t>O</a:t>
            </a:r>
            <a:r>
              <a:rPr sz="1225" b="1" dirty="0">
                <a:latin typeface="Arial"/>
                <a:cs typeface="Arial"/>
              </a:rPr>
              <a:t>-</a:t>
            </a:r>
            <a:r>
              <a:rPr sz="1225" b="1" spc="-10" dirty="0">
                <a:latin typeface="Arial"/>
                <a:cs typeface="Arial"/>
              </a:rPr>
              <a:t>3</a:t>
            </a:r>
            <a:r>
              <a:rPr sz="1225" b="1" dirty="0">
                <a:latin typeface="Arial"/>
                <a:cs typeface="Arial"/>
              </a:rPr>
              <a:t>D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244" name="object 244"/>
          <p:cNvGrpSpPr/>
          <p:nvPr/>
        </p:nvGrpSpPr>
        <p:grpSpPr>
          <a:xfrm>
            <a:off x="6230886" y="3146239"/>
            <a:ext cx="1967929" cy="1624741"/>
            <a:chOff x="5430837" y="4468177"/>
            <a:chExt cx="2891155" cy="2386965"/>
          </a:xfrm>
        </p:grpSpPr>
        <p:sp>
          <p:nvSpPr>
            <p:cNvPr id="245" name="object 245"/>
            <p:cNvSpPr/>
            <p:nvPr/>
          </p:nvSpPr>
          <p:spPr>
            <a:xfrm>
              <a:off x="5435600" y="4474210"/>
              <a:ext cx="2881630" cy="2376170"/>
            </a:xfrm>
            <a:custGeom>
              <a:avLst/>
              <a:gdLst/>
              <a:ahLst/>
              <a:cxnLst/>
              <a:rect l="l" t="t" r="r" b="b"/>
              <a:pathLst>
                <a:path w="2881629" h="2376170">
                  <a:moveTo>
                    <a:pt x="45720" y="87884"/>
                  </a:moveTo>
                  <a:lnTo>
                    <a:pt x="38100" y="97790"/>
                  </a:lnTo>
                  <a:lnTo>
                    <a:pt x="26670" y="115570"/>
                  </a:lnTo>
                  <a:lnTo>
                    <a:pt x="22860" y="123190"/>
                  </a:lnTo>
                  <a:lnTo>
                    <a:pt x="17780" y="133350"/>
                  </a:lnTo>
                  <a:lnTo>
                    <a:pt x="10160" y="152400"/>
                  </a:lnTo>
                  <a:lnTo>
                    <a:pt x="3810" y="171450"/>
                  </a:lnTo>
                  <a:lnTo>
                    <a:pt x="0" y="191782"/>
                  </a:lnTo>
                  <a:lnTo>
                    <a:pt x="0" y="2184400"/>
                  </a:lnTo>
                  <a:lnTo>
                    <a:pt x="10160" y="2223770"/>
                  </a:lnTo>
                  <a:lnTo>
                    <a:pt x="26670" y="2260600"/>
                  </a:lnTo>
                  <a:lnTo>
                    <a:pt x="45720" y="2288298"/>
                  </a:lnTo>
                  <a:lnTo>
                    <a:pt x="45720" y="87884"/>
                  </a:lnTo>
                  <a:close/>
                </a:path>
                <a:path w="2881629" h="2376170">
                  <a:moveTo>
                    <a:pt x="2790825" y="45720"/>
                  </a:moveTo>
                  <a:lnTo>
                    <a:pt x="2782570" y="39370"/>
                  </a:lnTo>
                  <a:lnTo>
                    <a:pt x="2764790" y="27940"/>
                  </a:lnTo>
                  <a:lnTo>
                    <a:pt x="2753677" y="21590"/>
                  </a:lnTo>
                  <a:lnTo>
                    <a:pt x="2747010" y="17780"/>
                  </a:lnTo>
                  <a:lnTo>
                    <a:pt x="2727960" y="8890"/>
                  </a:lnTo>
                  <a:lnTo>
                    <a:pt x="2708910" y="5080"/>
                  </a:lnTo>
                  <a:lnTo>
                    <a:pt x="2688590" y="1270"/>
                  </a:lnTo>
                  <a:lnTo>
                    <a:pt x="2669540" y="0"/>
                  </a:lnTo>
                  <a:lnTo>
                    <a:pt x="210820" y="0"/>
                  </a:lnTo>
                  <a:lnTo>
                    <a:pt x="171450" y="5080"/>
                  </a:lnTo>
                  <a:lnTo>
                    <a:pt x="133350" y="17780"/>
                  </a:lnTo>
                  <a:lnTo>
                    <a:pt x="126682" y="21590"/>
                  </a:lnTo>
                  <a:lnTo>
                    <a:pt x="115570" y="27940"/>
                  </a:lnTo>
                  <a:lnTo>
                    <a:pt x="97790" y="39370"/>
                  </a:lnTo>
                  <a:lnTo>
                    <a:pt x="89522" y="45720"/>
                  </a:lnTo>
                  <a:lnTo>
                    <a:pt x="2790825" y="45720"/>
                  </a:lnTo>
                  <a:close/>
                </a:path>
                <a:path w="2881629" h="2376170">
                  <a:moveTo>
                    <a:pt x="2792476" y="2329180"/>
                  </a:moveTo>
                  <a:lnTo>
                    <a:pt x="87884" y="2329180"/>
                  </a:lnTo>
                  <a:lnTo>
                    <a:pt x="97790" y="2336800"/>
                  </a:lnTo>
                  <a:lnTo>
                    <a:pt x="115570" y="2348230"/>
                  </a:lnTo>
                  <a:lnTo>
                    <a:pt x="124460" y="2353310"/>
                  </a:lnTo>
                  <a:lnTo>
                    <a:pt x="133350" y="2358390"/>
                  </a:lnTo>
                  <a:lnTo>
                    <a:pt x="152400" y="2366010"/>
                  </a:lnTo>
                  <a:lnTo>
                    <a:pt x="171450" y="2371090"/>
                  </a:lnTo>
                  <a:lnTo>
                    <a:pt x="191770" y="2374900"/>
                  </a:lnTo>
                  <a:lnTo>
                    <a:pt x="210820" y="2376170"/>
                  </a:lnTo>
                  <a:lnTo>
                    <a:pt x="2669540" y="2376170"/>
                  </a:lnTo>
                  <a:lnTo>
                    <a:pt x="2708910" y="2371090"/>
                  </a:lnTo>
                  <a:lnTo>
                    <a:pt x="2747010" y="2358390"/>
                  </a:lnTo>
                  <a:lnTo>
                    <a:pt x="2755900" y="2353310"/>
                  </a:lnTo>
                  <a:lnTo>
                    <a:pt x="2764790" y="2348230"/>
                  </a:lnTo>
                  <a:lnTo>
                    <a:pt x="2782570" y="2336800"/>
                  </a:lnTo>
                  <a:lnTo>
                    <a:pt x="2792476" y="2329180"/>
                  </a:lnTo>
                  <a:close/>
                </a:path>
                <a:path w="2881629" h="2376170">
                  <a:moveTo>
                    <a:pt x="2881630" y="201930"/>
                  </a:moveTo>
                  <a:lnTo>
                    <a:pt x="2870200" y="152400"/>
                  </a:lnTo>
                  <a:lnTo>
                    <a:pt x="2858770" y="125742"/>
                  </a:lnTo>
                  <a:lnTo>
                    <a:pt x="2853690" y="115570"/>
                  </a:lnTo>
                  <a:lnTo>
                    <a:pt x="2842260" y="97790"/>
                  </a:lnTo>
                  <a:lnTo>
                    <a:pt x="2835910" y="89535"/>
                  </a:lnTo>
                  <a:lnTo>
                    <a:pt x="2835910" y="2286635"/>
                  </a:lnTo>
                  <a:lnTo>
                    <a:pt x="2842260" y="2278380"/>
                  </a:lnTo>
                  <a:lnTo>
                    <a:pt x="2853690" y="2260600"/>
                  </a:lnTo>
                  <a:lnTo>
                    <a:pt x="2858770" y="2250440"/>
                  </a:lnTo>
                  <a:lnTo>
                    <a:pt x="2862580" y="2242820"/>
                  </a:lnTo>
                  <a:lnTo>
                    <a:pt x="2870200" y="2223770"/>
                  </a:lnTo>
                  <a:lnTo>
                    <a:pt x="2876550" y="2203450"/>
                  </a:lnTo>
                  <a:lnTo>
                    <a:pt x="2880360" y="2184400"/>
                  </a:lnTo>
                  <a:lnTo>
                    <a:pt x="2881630" y="2174240"/>
                  </a:lnTo>
                  <a:lnTo>
                    <a:pt x="2881630" y="20193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6" name="object 246"/>
            <p:cNvSpPr/>
            <p:nvPr/>
          </p:nvSpPr>
          <p:spPr>
            <a:xfrm>
              <a:off x="5481319" y="4519930"/>
              <a:ext cx="2790190" cy="2283460"/>
            </a:xfrm>
            <a:custGeom>
              <a:avLst/>
              <a:gdLst/>
              <a:ahLst/>
              <a:cxnLst/>
              <a:rect l="l" t="t" r="r" b="b"/>
              <a:pathLst>
                <a:path w="2790190" h="2283459">
                  <a:moveTo>
                    <a:pt x="2745104" y="0"/>
                  </a:moveTo>
                  <a:lnTo>
                    <a:pt x="43814" y="0"/>
                  </a:lnTo>
                  <a:lnTo>
                    <a:pt x="35559" y="6350"/>
                  </a:lnTo>
                  <a:lnTo>
                    <a:pt x="20319" y="20320"/>
                  </a:lnTo>
                  <a:lnTo>
                    <a:pt x="5079" y="35560"/>
                  </a:lnTo>
                  <a:lnTo>
                    <a:pt x="0" y="42163"/>
                  </a:lnTo>
                  <a:lnTo>
                    <a:pt x="0" y="2242566"/>
                  </a:lnTo>
                  <a:lnTo>
                    <a:pt x="5079" y="2249170"/>
                  </a:lnTo>
                  <a:lnTo>
                    <a:pt x="20319" y="2264410"/>
                  </a:lnTo>
                  <a:lnTo>
                    <a:pt x="35559" y="2278380"/>
                  </a:lnTo>
                  <a:lnTo>
                    <a:pt x="42163" y="2283460"/>
                  </a:lnTo>
                  <a:lnTo>
                    <a:pt x="2746755" y="2283460"/>
                  </a:lnTo>
                  <a:lnTo>
                    <a:pt x="2753359" y="2278380"/>
                  </a:lnTo>
                  <a:lnTo>
                    <a:pt x="2769870" y="2264410"/>
                  </a:lnTo>
                  <a:lnTo>
                    <a:pt x="2773362" y="2260600"/>
                  </a:lnTo>
                  <a:lnTo>
                    <a:pt x="24129" y="2260600"/>
                  </a:lnTo>
                  <a:lnTo>
                    <a:pt x="24129" y="22860"/>
                  </a:lnTo>
                  <a:lnTo>
                    <a:pt x="2772198" y="22860"/>
                  </a:lnTo>
                  <a:lnTo>
                    <a:pt x="2769870" y="20320"/>
                  </a:lnTo>
                  <a:lnTo>
                    <a:pt x="2753359" y="6350"/>
                  </a:lnTo>
                  <a:lnTo>
                    <a:pt x="2745104" y="0"/>
                  </a:lnTo>
                  <a:close/>
                </a:path>
                <a:path w="2790190" h="2283459">
                  <a:moveTo>
                    <a:pt x="2772198" y="22860"/>
                  </a:moveTo>
                  <a:lnTo>
                    <a:pt x="2766059" y="22860"/>
                  </a:lnTo>
                  <a:lnTo>
                    <a:pt x="2766059" y="2260600"/>
                  </a:lnTo>
                  <a:lnTo>
                    <a:pt x="2773362" y="2260600"/>
                  </a:lnTo>
                  <a:lnTo>
                    <a:pt x="2783839" y="2249170"/>
                  </a:lnTo>
                  <a:lnTo>
                    <a:pt x="2790189" y="2240915"/>
                  </a:lnTo>
                  <a:lnTo>
                    <a:pt x="2790189" y="43815"/>
                  </a:lnTo>
                  <a:lnTo>
                    <a:pt x="2783839" y="35560"/>
                  </a:lnTo>
                  <a:lnTo>
                    <a:pt x="2772198" y="22860"/>
                  </a:lnTo>
                  <a:close/>
                </a:path>
              </a:pathLst>
            </a:custGeom>
            <a:solidFill>
              <a:srgbClr val="CD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7" name="object 247"/>
            <p:cNvSpPr/>
            <p:nvPr/>
          </p:nvSpPr>
          <p:spPr>
            <a:xfrm>
              <a:off x="5505450" y="4542790"/>
              <a:ext cx="2741930" cy="2237740"/>
            </a:xfrm>
            <a:custGeom>
              <a:avLst/>
              <a:gdLst/>
              <a:ahLst/>
              <a:cxnLst/>
              <a:rect l="l" t="t" r="r" b="b"/>
              <a:pathLst>
                <a:path w="2741929" h="2237740">
                  <a:moveTo>
                    <a:pt x="2741930" y="0"/>
                  </a:moveTo>
                  <a:lnTo>
                    <a:pt x="2719070" y="0"/>
                  </a:lnTo>
                  <a:lnTo>
                    <a:pt x="2719070" y="22860"/>
                  </a:lnTo>
                  <a:lnTo>
                    <a:pt x="2719070" y="2213610"/>
                  </a:lnTo>
                  <a:lnTo>
                    <a:pt x="22860" y="2213610"/>
                  </a:lnTo>
                  <a:lnTo>
                    <a:pt x="22860" y="22860"/>
                  </a:lnTo>
                  <a:lnTo>
                    <a:pt x="2719070" y="22860"/>
                  </a:lnTo>
                  <a:lnTo>
                    <a:pt x="271907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2213610"/>
                  </a:lnTo>
                  <a:lnTo>
                    <a:pt x="0" y="2237740"/>
                  </a:lnTo>
                  <a:lnTo>
                    <a:pt x="2741930" y="2237740"/>
                  </a:lnTo>
                  <a:lnTo>
                    <a:pt x="2741930" y="2213610"/>
                  </a:lnTo>
                  <a:lnTo>
                    <a:pt x="2741930" y="22860"/>
                  </a:lnTo>
                  <a:lnTo>
                    <a:pt x="2741930" y="0"/>
                  </a:lnTo>
                  <a:close/>
                </a:path>
              </a:pathLst>
            </a:custGeom>
            <a:solidFill>
              <a:srgbClr val="CE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8" name="object 248"/>
            <p:cNvSpPr/>
            <p:nvPr/>
          </p:nvSpPr>
          <p:spPr>
            <a:xfrm>
              <a:off x="5528310" y="4565650"/>
              <a:ext cx="2696210" cy="2190750"/>
            </a:xfrm>
            <a:custGeom>
              <a:avLst/>
              <a:gdLst/>
              <a:ahLst/>
              <a:cxnLst/>
              <a:rect l="l" t="t" r="r" b="b"/>
              <a:pathLst>
                <a:path w="2696209" h="2190750">
                  <a:moveTo>
                    <a:pt x="2696210" y="0"/>
                  </a:moveTo>
                  <a:lnTo>
                    <a:pt x="2673350" y="0"/>
                  </a:lnTo>
                  <a:lnTo>
                    <a:pt x="2673350" y="24130"/>
                  </a:lnTo>
                  <a:lnTo>
                    <a:pt x="2673350" y="2167890"/>
                  </a:lnTo>
                  <a:lnTo>
                    <a:pt x="22860" y="2167890"/>
                  </a:lnTo>
                  <a:lnTo>
                    <a:pt x="22860" y="24130"/>
                  </a:lnTo>
                  <a:lnTo>
                    <a:pt x="2673350" y="24130"/>
                  </a:lnTo>
                  <a:lnTo>
                    <a:pt x="267335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2167890"/>
                  </a:lnTo>
                  <a:lnTo>
                    <a:pt x="0" y="2190750"/>
                  </a:lnTo>
                  <a:lnTo>
                    <a:pt x="2696210" y="2190750"/>
                  </a:lnTo>
                  <a:lnTo>
                    <a:pt x="2696210" y="2167890"/>
                  </a:lnTo>
                  <a:lnTo>
                    <a:pt x="2696210" y="24130"/>
                  </a:lnTo>
                  <a:lnTo>
                    <a:pt x="2696210" y="0"/>
                  </a:lnTo>
                  <a:close/>
                </a:path>
              </a:pathLst>
            </a:custGeom>
            <a:solidFill>
              <a:srgbClr val="C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49" name="object 249"/>
            <p:cNvSpPr/>
            <p:nvPr/>
          </p:nvSpPr>
          <p:spPr>
            <a:xfrm>
              <a:off x="5551170" y="4589780"/>
              <a:ext cx="2650490" cy="2143760"/>
            </a:xfrm>
            <a:custGeom>
              <a:avLst/>
              <a:gdLst/>
              <a:ahLst/>
              <a:cxnLst/>
              <a:rect l="l" t="t" r="r" b="b"/>
              <a:pathLst>
                <a:path w="2650490" h="2143759">
                  <a:moveTo>
                    <a:pt x="2650490" y="0"/>
                  </a:moveTo>
                  <a:lnTo>
                    <a:pt x="2626360" y="0"/>
                  </a:lnTo>
                  <a:lnTo>
                    <a:pt x="2626360" y="22860"/>
                  </a:lnTo>
                  <a:lnTo>
                    <a:pt x="2626360" y="2120900"/>
                  </a:lnTo>
                  <a:lnTo>
                    <a:pt x="24130" y="2120900"/>
                  </a:lnTo>
                  <a:lnTo>
                    <a:pt x="24130" y="22860"/>
                  </a:lnTo>
                  <a:lnTo>
                    <a:pt x="2626360" y="22860"/>
                  </a:lnTo>
                  <a:lnTo>
                    <a:pt x="262636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2120900"/>
                  </a:lnTo>
                  <a:lnTo>
                    <a:pt x="0" y="2143760"/>
                  </a:lnTo>
                  <a:lnTo>
                    <a:pt x="2650490" y="2143760"/>
                  </a:lnTo>
                  <a:lnTo>
                    <a:pt x="2650490" y="2120912"/>
                  </a:lnTo>
                  <a:lnTo>
                    <a:pt x="2650490" y="22860"/>
                  </a:lnTo>
                  <a:lnTo>
                    <a:pt x="2650490" y="0"/>
                  </a:lnTo>
                  <a:close/>
                </a:path>
              </a:pathLst>
            </a:custGeom>
            <a:solidFill>
              <a:srgbClr val="D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0" name="object 250"/>
            <p:cNvSpPr/>
            <p:nvPr/>
          </p:nvSpPr>
          <p:spPr>
            <a:xfrm>
              <a:off x="5575300" y="4612640"/>
              <a:ext cx="2602230" cy="2098040"/>
            </a:xfrm>
            <a:custGeom>
              <a:avLst/>
              <a:gdLst/>
              <a:ahLst/>
              <a:cxnLst/>
              <a:rect l="l" t="t" r="r" b="b"/>
              <a:pathLst>
                <a:path w="2602229" h="2098040">
                  <a:moveTo>
                    <a:pt x="2602230" y="0"/>
                  </a:moveTo>
                  <a:lnTo>
                    <a:pt x="2579370" y="0"/>
                  </a:lnTo>
                  <a:lnTo>
                    <a:pt x="2579370" y="22860"/>
                  </a:lnTo>
                  <a:lnTo>
                    <a:pt x="2579370" y="2073910"/>
                  </a:lnTo>
                  <a:lnTo>
                    <a:pt x="22860" y="2073910"/>
                  </a:lnTo>
                  <a:lnTo>
                    <a:pt x="22860" y="22860"/>
                  </a:lnTo>
                  <a:lnTo>
                    <a:pt x="2579370" y="22860"/>
                  </a:lnTo>
                  <a:lnTo>
                    <a:pt x="257937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2073910"/>
                  </a:lnTo>
                  <a:lnTo>
                    <a:pt x="0" y="2098040"/>
                  </a:lnTo>
                  <a:lnTo>
                    <a:pt x="2602230" y="2098040"/>
                  </a:lnTo>
                  <a:lnTo>
                    <a:pt x="2602230" y="2073910"/>
                  </a:lnTo>
                  <a:lnTo>
                    <a:pt x="2602230" y="22860"/>
                  </a:lnTo>
                  <a:lnTo>
                    <a:pt x="2602230" y="0"/>
                  </a:lnTo>
                  <a:close/>
                </a:path>
              </a:pathLst>
            </a:custGeom>
            <a:solidFill>
              <a:srgbClr val="D1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1" name="object 251"/>
            <p:cNvSpPr/>
            <p:nvPr/>
          </p:nvSpPr>
          <p:spPr>
            <a:xfrm>
              <a:off x="5598160" y="4635500"/>
              <a:ext cx="2556510" cy="2051050"/>
            </a:xfrm>
            <a:custGeom>
              <a:avLst/>
              <a:gdLst/>
              <a:ahLst/>
              <a:cxnLst/>
              <a:rect l="l" t="t" r="r" b="b"/>
              <a:pathLst>
                <a:path w="2556509" h="2051050">
                  <a:moveTo>
                    <a:pt x="2556510" y="0"/>
                  </a:moveTo>
                  <a:lnTo>
                    <a:pt x="2532380" y="0"/>
                  </a:lnTo>
                  <a:lnTo>
                    <a:pt x="2532380" y="24130"/>
                  </a:lnTo>
                  <a:lnTo>
                    <a:pt x="2532380" y="2028190"/>
                  </a:lnTo>
                  <a:lnTo>
                    <a:pt x="24130" y="2028190"/>
                  </a:lnTo>
                  <a:lnTo>
                    <a:pt x="24130" y="24130"/>
                  </a:lnTo>
                  <a:lnTo>
                    <a:pt x="2532380" y="24130"/>
                  </a:lnTo>
                  <a:lnTo>
                    <a:pt x="253238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2028190"/>
                  </a:lnTo>
                  <a:lnTo>
                    <a:pt x="0" y="2051050"/>
                  </a:lnTo>
                  <a:lnTo>
                    <a:pt x="2556510" y="2051050"/>
                  </a:lnTo>
                  <a:lnTo>
                    <a:pt x="2556510" y="2028190"/>
                  </a:lnTo>
                  <a:lnTo>
                    <a:pt x="2556510" y="24130"/>
                  </a:lnTo>
                  <a:lnTo>
                    <a:pt x="2556510" y="0"/>
                  </a:lnTo>
                  <a:close/>
                </a:path>
              </a:pathLst>
            </a:custGeom>
            <a:solidFill>
              <a:srgbClr val="D2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2" name="object 252"/>
            <p:cNvSpPr/>
            <p:nvPr/>
          </p:nvSpPr>
          <p:spPr>
            <a:xfrm>
              <a:off x="5622290" y="4659630"/>
              <a:ext cx="2508250" cy="2004060"/>
            </a:xfrm>
            <a:custGeom>
              <a:avLst/>
              <a:gdLst/>
              <a:ahLst/>
              <a:cxnLst/>
              <a:rect l="l" t="t" r="r" b="b"/>
              <a:pathLst>
                <a:path w="2508250" h="2004059">
                  <a:moveTo>
                    <a:pt x="2508250" y="0"/>
                  </a:moveTo>
                  <a:lnTo>
                    <a:pt x="2485390" y="0"/>
                  </a:lnTo>
                  <a:lnTo>
                    <a:pt x="2485390" y="22860"/>
                  </a:lnTo>
                  <a:lnTo>
                    <a:pt x="2485390" y="1981200"/>
                  </a:lnTo>
                  <a:lnTo>
                    <a:pt x="22860" y="1981200"/>
                  </a:lnTo>
                  <a:lnTo>
                    <a:pt x="22860" y="22860"/>
                  </a:lnTo>
                  <a:lnTo>
                    <a:pt x="2485390" y="22860"/>
                  </a:lnTo>
                  <a:lnTo>
                    <a:pt x="248539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981200"/>
                  </a:lnTo>
                  <a:lnTo>
                    <a:pt x="0" y="2004060"/>
                  </a:lnTo>
                  <a:lnTo>
                    <a:pt x="2508250" y="2004060"/>
                  </a:lnTo>
                  <a:lnTo>
                    <a:pt x="2508250" y="1981200"/>
                  </a:lnTo>
                  <a:lnTo>
                    <a:pt x="2508250" y="22860"/>
                  </a:lnTo>
                  <a:lnTo>
                    <a:pt x="2508250" y="0"/>
                  </a:lnTo>
                  <a:close/>
                </a:path>
              </a:pathLst>
            </a:custGeom>
            <a:solidFill>
              <a:srgbClr val="D3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3" name="object 253"/>
            <p:cNvSpPr/>
            <p:nvPr/>
          </p:nvSpPr>
          <p:spPr>
            <a:xfrm>
              <a:off x="5645150" y="4682490"/>
              <a:ext cx="2462530" cy="1958339"/>
            </a:xfrm>
            <a:custGeom>
              <a:avLst/>
              <a:gdLst/>
              <a:ahLst/>
              <a:cxnLst/>
              <a:rect l="l" t="t" r="r" b="b"/>
              <a:pathLst>
                <a:path w="2462529" h="1958340">
                  <a:moveTo>
                    <a:pt x="2462530" y="0"/>
                  </a:moveTo>
                  <a:lnTo>
                    <a:pt x="2439670" y="0"/>
                  </a:lnTo>
                  <a:lnTo>
                    <a:pt x="2439670" y="22860"/>
                  </a:lnTo>
                  <a:lnTo>
                    <a:pt x="2439670" y="1934210"/>
                  </a:lnTo>
                  <a:lnTo>
                    <a:pt x="22860" y="1934210"/>
                  </a:lnTo>
                  <a:lnTo>
                    <a:pt x="22860" y="22860"/>
                  </a:lnTo>
                  <a:lnTo>
                    <a:pt x="2439670" y="22860"/>
                  </a:lnTo>
                  <a:lnTo>
                    <a:pt x="243967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934210"/>
                  </a:lnTo>
                  <a:lnTo>
                    <a:pt x="0" y="1958340"/>
                  </a:lnTo>
                  <a:lnTo>
                    <a:pt x="2462530" y="1958340"/>
                  </a:lnTo>
                  <a:lnTo>
                    <a:pt x="2462530" y="1934210"/>
                  </a:lnTo>
                  <a:lnTo>
                    <a:pt x="2462530" y="22860"/>
                  </a:lnTo>
                  <a:lnTo>
                    <a:pt x="2462530" y="0"/>
                  </a:lnTo>
                  <a:close/>
                </a:path>
              </a:pathLst>
            </a:custGeom>
            <a:solidFill>
              <a:srgbClr val="D4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4" name="object 254"/>
            <p:cNvSpPr/>
            <p:nvPr/>
          </p:nvSpPr>
          <p:spPr>
            <a:xfrm>
              <a:off x="5668010" y="4705350"/>
              <a:ext cx="2416810" cy="1911350"/>
            </a:xfrm>
            <a:custGeom>
              <a:avLst/>
              <a:gdLst/>
              <a:ahLst/>
              <a:cxnLst/>
              <a:rect l="l" t="t" r="r" b="b"/>
              <a:pathLst>
                <a:path w="2416809" h="1911350">
                  <a:moveTo>
                    <a:pt x="2416810" y="0"/>
                  </a:moveTo>
                  <a:lnTo>
                    <a:pt x="2392680" y="0"/>
                  </a:lnTo>
                  <a:lnTo>
                    <a:pt x="2392680" y="24130"/>
                  </a:lnTo>
                  <a:lnTo>
                    <a:pt x="2392680" y="1888490"/>
                  </a:lnTo>
                  <a:lnTo>
                    <a:pt x="24130" y="1888490"/>
                  </a:lnTo>
                  <a:lnTo>
                    <a:pt x="24130" y="24130"/>
                  </a:lnTo>
                  <a:lnTo>
                    <a:pt x="2392680" y="24130"/>
                  </a:lnTo>
                  <a:lnTo>
                    <a:pt x="239268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888490"/>
                  </a:lnTo>
                  <a:lnTo>
                    <a:pt x="0" y="1911350"/>
                  </a:lnTo>
                  <a:lnTo>
                    <a:pt x="2416810" y="1911350"/>
                  </a:lnTo>
                  <a:lnTo>
                    <a:pt x="2416810" y="1888490"/>
                  </a:lnTo>
                  <a:lnTo>
                    <a:pt x="2416810" y="24130"/>
                  </a:lnTo>
                  <a:lnTo>
                    <a:pt x="2416810" y="0"/>
                  </a:lnTo>
                  <a:close/>
                </a:path>
              </a:pathLst>
            </a:custGeom>
            <a:solidFill>
              <a:srgbClr val="D5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5" name="object 255"/>
            <p:cNvSpPr/>
            <p:nvPr/>
          </p:nvSpPr>
          <p:spPr>
            <a:xfrm>
              <a:off x="5692140" y="4729480"/>
              <a:ext cx="2368550" cy="1864360"/>
            </a:xfrm>
            <a:custGeom>
              <a:avLst/>
              <a:gdLst/>
              <a:ahLst/>
              <a:cxnLst/>
              <a:rect l="l" t="t" r="r" b="b"/>
              <a:pathLst>
                <a:path w="2368550" h="1864359">
                  <a:moveTo>
                    <a:pt x="2368550" y="0"/>
                  </a:moveTo>
                  <a:lnTo>
                    <a:pt x="2345690" y="0"/>
                  </a:lnTo>
                  <a:lnTo>
                    <a:pt x="2345690" y="22860"/>
                  </a:lnTo>
                  <a:lnTo>
                    <a:pt x="2345690" y="1841500"/>
                  </a:lnTo>
                  <a:lnTo>
                    <a:pt x="22860" y="1841500"/>
                  </a:lnTo>
                  <a:lnTo>
                    <a:pt x="22860" y="22860"/>
                  </a:lnTo>
                  <a:lnTo>
                    <a:pt x="2345690" y="22860"/>
                  </a:lnTo>
                  <a:lnTo>
                    <a:pt x="234569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841500"/>
                  </a:lnTo>
                  <a:lnTo>
                    <a:pt x="0" y="1864360"/>
                  </a:lnTo>
                  <a:lnTo>
                    <a:pt x="2368550" y="1864360"/>
                  </a:lnTo>
                  <a:lnTo>
                    <a:pt x="2368550" y="1841500"/>
                  </a:lnTo>
                  <a:lnTo>
                    <a:pt x="2368550" y="22860"/>
                  </a:lnTo>
                  <a:lnTo>
                    <a:pt x="2368550" y="0"/>
                  </a:lnTo>
                  <a:close/>
                </a:path>
              </a:pathLst>
            </a:custGeom>
            <a:solidFill>
              <a:srgbClr val="D6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6" name="object 256"/>
            <p:cNvSpPr/>
            <p:nvPr/>
          </p:nvSpPr>
          <p:spPr>
            <a:xfrm>
              <a:off x="5715000" y="4752340"/>
              <a:ext cx="2322830" cy="1818639"/>
            </a:xfrm>
            <a:custGeom>
              <a:avLst/>
              <a:gdLst/>
              <a:ahLst/>
              <a:cxnLst/>
              <a:rect l="l" t="t" r="r" b="b"/>
              <a:pathLst>
                <a:path w="2322829" h="1818640">
                  <a:moveTo>
                    <a:pt x="2322830" y="0"/>
                  </a:moveTo>
                  <a:lnTo>
                    <a:pt x="2299970" y="0"/>
                  </a:lnTo>
                  <a:lnTo>
                    <a:pt x="2299970" y="22860"/>
                  </a:lnTo>
                  <a:lnTo>
                    <a:pt x="2299970" y="1794510"/>
                  </a:lnTo>
                  <a:lnTo>
                    <a:pt x="22860" y="1794510"/>
                  </a:lnTo>
                  <a:lnTo>
                    <a:pt x="22860" y="22860"/>
                  </a:lnTo>
                  <a:lnTo>
                    <a:pt x="2299970" y="22860"/>
                  </a:lnTo>
                  <a:lnTo>
                    <a:pt x="229997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794510"/>
                  </a:lnTo>
                  <a:lnTo>
                    <a:pt x="0" y="1818640"/>
                  </a:lnTo>
                  <a:lnTo>
                    <a:pt x="2322830" y="1818640"/>
                  </a:lnTo>
                  <a:lnTo>
                    <a:pt x="2322830" y="1794510"/>
                  </a:lnTo>
                  <a:lnTo>
                    <a:pt x="2322830" y="22860"/>
                  </a:lnTo>
                  <a:lnTo>
                    <a:pt x="2322830" y="0"/>
                  </a:lnTo>
                  <a:close/>
                </a:path>
              </a:pathLst>
            </a:custGeom>
            <a:solidFill>
              <a:srgbClr val="D7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7" name="object 257"/>
            <p:cNvSpPr/>
            <p:nvPr/>
          </p:nvSpPr>
          <p:spPr>
            <a:xfrm>
              <a:off x="5737860" y="4775200"/>
              <a:ext cx="2277110" cy="1771650"/>
            </a:xfrm>
            <a:custGeom>
              <a:avLst/>
              <a:gdLst/>
              <a:ahLst/>
              <a:cxnLst/>
              <a:rect l="l" t="t" r="r" b="b"/>
              <a:pathLst>
                <a:path w="2277109" h="1771650">
                  <a:moveTo>
                    <a:pt x="2277110" y="0"/>
                  </a:moveTo>
                  <a:lnTo>
                    <a:pt x="2252980" y="0"/>
                  </a:lnTo>
                  <a:lnTo>
                    <a:pt x="2252980" y="24130"/>
                  </a:lnTo>
                  <a:lnTo>
                    <a:pt x="2252980" y="1748790"/>
                  </a:lnTo>
                  <a:lnTo>
                    <a:pt x="24130" y="1748790"/>
                  </a:lnTo>
                  <a:lnTo>
                    <a:pt x="24130" y="24130"/>
                  </a:lnTo>
                  <a:lnTo>
                    <a:pt x="2252980" y="24130"/>
                  </a:lnTo>
                  <a:lnTo>
                    <a:pt x="225298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748790"/>
                  </a:lnTo>
                  <a:lnTo>
                    <a:pt x="0" y="1771650"/>
                  </a:lnTo>
                  <a:lnTo>
                    <a:pt x="2277110" y="1771650"/>
                  </a:lnTo>
                  <a:lnTo>
                    <a:pt x="2277110" y="1748790"/>
                  </a:lnTo>
                  <a:lnTo>
                    <a:pt x="2277110" y="24130"/>
                  </a:lnTo>
                  <a:lnTo>
                    <a:pt x="2277110" y="0"/>
                  </a:lnTo>
                  <a:close/>
                </a:path>
              </a:pathLst>
            </a:custGeom>
            <a:solidFill>
              <a:srgbClr val="D8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8" name="object 258"/>
            <p:cNvSpPr/>
            <p:nvPr/>
          </p:nvSpPr>
          <p:spPr>
            <a:xfrm>
              <a:off x="5761990" y="4799330"/>
              <a:ext cx="2228850" cy="1724660"/>
            </a:xfrm>
            <a:custGeom>
              <a:avLst/>
              <a:gdLst/>
              <a:ahLst/>
              <a:cxnLst/>
              <a:rect l="l" t="t" r="r" b="b"/>
              <a:pathLst>
                <a:path w="2228850" h="1724659">
                  <a:moveTo>
                    <a:pt x="2228850" y="0"/>
                  </a:moveTo>
                  <a:lnTo>
                    <a:pt x="2205990" y="0"/>
                  </a:lnTo>
                  <a:lnTo>
                    <a:pt x="2205990" y="22860"/>
                  </a:lnTo>
                  <a:lnTo>
                    <a:pt x="2205990" y="1701800"/>
                  </a:lnTo>
                  <a:lnTo>
                    <a:pt x="22860" y="1701800"/>
                  </a:lnTo>
                  <a:lnTo>
                    <a:pt x="22860" y="22860"/>
                  </a:lnTo>
                  <a:lnTo>
                    <a:pt x="2205990" y="22860"/>
                  </a:lnTo>
                  <a:lnTo>
                    <a:pt x="220599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701800"/>
                  </a:lnTo>
                  <a:lnTo>
                    <a:pt x="0" y="1724660"/>
                  </a:lnTo>
                  <a:lnTo>
                    <a:pt x="2228850" y="1724660"/>
                  </a:lnTo>
                  <a:lnTo>
                    <a:pt x="2228850" y="1701800"/>
                  </a:lnTo>
                  <a:lnTo>
                    <a:pt x="2228850" y="22860"/>
                  </a:lnTo>
                  <a:lnTo>
                    <a:pt x="2228850" y="0"/>
                  </a:lnTo>
                  <a:close/>
                </a:path>
              </a:pathLst>
            </a:custGeom>
            <a:solidFill>
              <a:srgbClr val="D9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59" name="object 259"/>
            <p:cNvSpPr/>
            <p:nvPr/>
          </p:nvSpPr>
          <p:spPr>
            <a:xfrm>
              <a:off x="5784850" y="4822190"/>
              <a:ext cx="2183130" cy="1678939"/>
            </a:xfrm>
            <a:custGeom>
              <a:avLst/>
              <a:gdLst/>
              <a:ahLst/>
              <a:cxnLst/>
              <a:rect l="l" t="t" r="r" b="b"/>
              <a:pathLst>
                <a:path w="2183129" h="1678939">
                  <a:moveTo>
                    <a:pt x="2183130" y="0"/>
                  </a:moveTo>
                  <a:lnTo>
                    <a:pt x="2159000" y="0"/>
                  </a:lnTo>
                  <a:lnTo>
                    <a:pt x="2159000" y="24130"/>
                  </a:lnTo>
                  <a:lnTo>
                    <a:pt x="2159000" y="1654810"/>
                  </a:lnTo>
                  <a:lnTo>
                    <a:pt x="22860" y="1654810"/>
                  </a:lnTo>
                  <a:lnTo>
                    <a:pt x="22860" y="24130"/>
                  </a:lnTo>
                  <a:lnTo>
                    <a:pt x="2159000" y="24130"/>
                  </a:lnTo>
                  <a:lnTo>
                    <a:pt x="215900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654810"/>
                  </a:lnTo>
                  <a:lnTo>
                    <a:pt x="0" y="1678940"/>
                  </a:lnTo>
                  <a:lnTo>
                    <a:pt x="2183130" y="1678940"/>
                  </a:lnTo>
                  <a:lnTo>
                    <a:pt x="2183130" y="1654810"/>
                  </a:lnTo>
                  <a:lnTo>
                    <a:pt x="2183130" y="24130"/>
                  </a:lnTo>
                  <a:lnTo>
                    <a:pt x="2183130" y="0"/>
                  </a:lnTo>
                  <a:close/>
                </a:path>
              </a:pathLst>
            </a:custGeom>
            <a:solidFill>
              <a:srgbClr val="DA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0" name="object 260"/>
            <p:cNvSpPr/>
            <p:nvPr/>
          </p:nvSpPr>
          <p:spPr>
            <a:xfrm>
              <a:off x="5807710" y="4846320"/>
              <a:ext cx="2136140" cy="1630680"/>
            </a:xfrm>
            <a:custGeom>
              <a:avLst/>
              <a:gdLst/>
              <a:ahLst/>
              <a:cxnLst/>
              <a:rect l="l" t="t" r="r" b="b"/>
              <a:pathLst>
                <a:path w="2136140" h="1630679">
                  <a:moveTo>
                    <a:pt x="2136140" y="0"/>
                  </a:moveTo>
                  <a:lnTo>
                    <a:pt x="2113280" y="0"/>
                  </a:lnTo>
                  <a:lnTo>
                    <a:pt x="2113280" y="22860"/>
                  </a:lnTo>
                  <a:lnTo>
                    <a:pt x="2113280" y="1607820"/>
                  </a:lnTo>
                  <a:lnTo>
                    <a:pt x="24130" y="1607820"/>
                  </a:lnTo>
                  <a:lnTo>
                    <a:pt x="24130" y="22860"/>
                  </a:lnTo>
                  <a:lnTo>
                    <a:pt x="2113280" y="22860"/>
                  </a:lnTo>
                  <a:lnTo>
                    <a:pt x="211328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607820"/>
                  </a:lnTo>
                  <a:lnTo>
                    <a:pt x="0" y="1630680"/>
                  </a:lnTo>
                  <a:lnTo>
                    <a:pt x="2136140" y="1630680"/>
                  </a:lnTo>
                  <a:lnTo>
                    <a:pt x="2136140" y="1607820"/>
                  </a:lnTo>
                  <a:lnTo>
                    <a:pt x="2136140" y="22860"/>
                  </a:lnTo>
                  <a:lnTo>
                    <a:pt x="2136140" y="0"/>
                  </a:lnTo>
                  <a:close/>
                </a:path>
              </a:pathLst>
            </a:custGeom>
            <a:solidFill>
              <a:srgbClr val="DB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1" name="object 261"/>
            <p:cNvSpPr/>
            <p:nvPr/>
          </p:nvSpPr>
          <p:spPr>
            <a:xfrm>
              <a:off x="5831840" y="4869180"/>
              <a:ext cx="2089150" cy="1584960"/>
            </a:xfrm>
            <a:custGeom>
              <a:avLst/>
              <a:gdLst/>
              <a:ahLst/>
              <a:cxnLst/>
              <a:rect l="l" t="t" r="r" b="b"/>
              <a:pathLst>
                <a:path w="2089150" h="1584960">
                  <a:moveTo>
                    <a:pt x="2089150" y="0"/>
                  </a:moveTo>
                  <a:lnTo>
                    <a:pt x="2066290" y="0"/>
                  </a:lnTo>
                  <a:lnTo>
                    <a:pt x="2066290" y="22860"/>
                  </a:lnTo>
                  <a:lnTo>
                    <a:pt x="2066290" y="1562100"/>
                  </a:lnTo>
                  <a:lnTo>
                    <a:pt x="22860" y="1562100"/>
                  </a:lnTo>
                  <a:lnTo>
                    <a:pt x="22860" y="22860"/>
                  </a:lnTo>
                  <a:lnTo>
                    <a:pt x="2066290" y="22860"/>
                  </a:lnTo>
                  <a:lnTo>
                    <a:pt x="206629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562100"/>
                  </a:lnTo>
                  <a:lnTo>
                    <a:pt x="0" y="1584960"/>
                  </a:lnTo>
                  <a:lnTo>
                    <a:pt x="2089150" y="1584960"/>
                  </a:lnTo>
                  <a:lnTo>
                    <a:pt x="2089150" y="1562100"/>
                  </a:lnTo>
                  <a:lnTo>
                    <a:pt x="2089150" y="22860"/>
                  </a:lnTo>
                  <a:lnTo>
                    <a:pt x="2089150" y="0"/>
                  </a:lnTo>
                  <a:close/>
                </a:path>
              </a:pathLst>
            </a:custGeom>
            <a:solidFill>
              <a:srgbClr val="DC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2" name="object 262"/>
            <p:cNvSpPr/>
            <p:nvPr/>
          </p:nvSpPr>
          <p:spPr>
            <a:xfrm>
              <a:off x="5854700" y="4892040"/>
              <a:ext cx="2043430" cy="1539240"/>
            </a:xfrm>
            <a:custGeom>
              <a:avLst/>
              <a:gdLst/>
              <a:ahLst/>
              <a:cxnLst/>
              <a:rect l="l" t="t" r="r" b="b"/>
              <a:pathLst>
                <a:path w="2043429" h="1539239">
                  <a:moveTo>
                    <a:pt x="2043430" y="0"/>
                  </a:moveTo>
                  <a:lnTo>
                    <a:pt x="2020570" y="0"/>
                  </a:lnTo>
                  <a:lnTo>
                    <a:pt x="2020570" y="24130"/>
                  </a:lnTo>
                  <a:lnTo>
                    <a:pt x="2020570" y="1515110"/>
                  </a:lnTo>
                  <a:lnTo>
                    <a:pt x="22860" y="1515110"/>
                  </a:lnTo>
                  <a:lnTo>
                    <a:pt x="22860" y="24130"/>
                  </a:lnTo>
                  <a:lnTo>
                    <a:pt x="2020570" y="24130"/>
                  </a:lnTo>
                  <a:lnTo>
                    <a:pt x="202057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515110"/>
                  </a:lnTo>
                  <a:lnTo>
                    <a:pt x="0" y="1539240"/>
                  </a:lnTo>
                  <a:lnTo>
                    <a:pt x="2043430" y="1539240"/>
                  </a:lnTo>
                  <a:lnTo>
                    <a:pt x="2043430" y="1515110"/>
                  </a:lnTo>
                  <a:lnTo>
                    <a:pt x="2043430" y="24130"/>
                  </a:lnTo>
                  <a:lnTo>
                    <a:pt x="2043430" y="0"/>
                  </a:lnTo>
                  <a:close/>
                </a:path>
              </a:pathLst>
            </a:custGeom>
            <a:solidFill>
              <a:srgbClr val="DD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3" name="object 263"/>
            <p:cNvSpPr/>
            <p:nvPr/>
          </p:nvSpPr>
          <p:spPr>
            <a:xfrm>
              <a:off x="5877560" y="4916170"/>
              <a:ext cx="1997710" cy="1490980"/>
            </a:xfrm>
            <a:custGeom>
              <a:avLst/>
              <a:gdLst/>
              <a:ahLst/>
              <a:cxnLst/>
              <a:rect l="l" t="t" r="r" b="b"/>
              <a:pathLst>
                <a:path w="1997709" h="1490979">
                  <a:moveTo>
                    <a:pt x="1997710" y="0"/>
                  </a:moveTo>
                  <a:lnTo>
                    <a:pt x="1973580" y="0"/>
                  </a:lnTo>
                  <a:lnTo>
                    <a:pt x="1973580" y="22860"/>
                  </a:lnTo>
                  <a:lnTo>
                    <a:pt x="1973580" y="1468120"/>
                  </a:lnTo>
                  <a:lnTo>
                    <a:pt x="24130" y="1468120"/>
                  </a:lnTo>
                  <a:lnTo>
                    <a:pt x="24130" y="22860"/>
                  </a:lnTo>
                  <a:lnTo>
                    <a:pt x="1973580" y="22860"/>
                  </a:lnTo>
                  <a:lnTo>
                    <a:pt x="197358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468120"/>
                  </a:lnTo>
                  <a:lnTo>
                    <a:pt x="0" y="1490980"/>
                  </a:lnTo>
                  <a:lnTo>
                    <a:pt x="1997710" y="1490980"/>
                  </a:lnTo>
                  <a:lnTo>
                    <a:pt x="1997710" y="1468120"/>
                  </a:lnTo>
                  <a:lnTo>
                    <a:pt x="1997710" y="22860"/>
                  </a:lnTo>
                  <a:lnTo>
                    <a:pt x="1997710" y="0"/>
                  </a:lnTo>
                  <a:close/>
                </a:path>
              </a:pathLst>
            </a:custGeom>
            <a:solidFill>
              <a:srgbClr val="DE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4" name="object 264"/>
            <p:cNvSpPr/>
            <p:nvPr/>
          </p:nvSpPr>
          <p:spPr>
            <a:xfrm>
              <a:off x="5901690" y="4939030"/>
              <a:ext cx="1949450" cy="1445260"/>
            </a:xfrm>
            <a:custGeom>
              <a:avLst/>
              <a:gdLst/>
              <a:ahLst/>
              <a:cxnLst/>
              <a:rect l="l" t="t" r="r" b="b"/>
              <a:pathLst>
                <a:path w="1949450" h="1445260">
                  <a:moveTo>
                    <a:pt x="1949450" y="0"/>
                  </a:moveTo>
                  <a:lnTo>
                    <a:pt x="1926590" y="0"/>
                  </a:lnTo>
                  <a:lnTo>
                    <a:pt x="1926590" y="22860"/>
                  </a:lnTo>
                  <a:lnTo>
                    <a:pt x="1926590" y="1422400"/>
                  </a:lnTo>
                  <a:lnTo>
                    <a:pt x="22860" y="1422400"/>
                  </a:lnTo>
                  <a:lnTo>
                    <a:pt x="22860" y="22860"/>
                  </a:lnTo>
                  <a:lnTo>
                    <a:pt x="1926590" y="22860"/>
                  </a:lnTo>
                  <a:lnTo>
                    <a:pt x="192659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422400"/>
                  </a:lnTo>
                  <a:lnTo>
                    <a:pt x="0" y="1445260"/>
                  </a:lnTo>
                  <a:lnTo>
                    <a:pt x="1949450" y="1445260"/>
                  </a:lnTo>
                  <a:lnTo>
                    <a:pt x="1949450" y="1422412"/>
                  </a:lnTo>
                  <a:lnTo>
                    <a:pt x="1949450" y="22860"/>
                  </a:lnTo>
                  <a:lnTo>
                    <a:pt x="1949450" y="0"/>
                  </a:lnTo>
                  <a:close/>
                </a:path>
              </a:pathLst>
            </a:custGeom>
            <a:solidFill>
              <a:srgbClr val="D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5" name="object 265"/>
            <p:cNvSpPr/>
            <p:nvPr/>
          </p:nvSpPr>
          <p:spPr>
            <a:xfrm>
              <a:off x="5924550" y="4961890"/>
              <a:ext cx="1903730" cy="1399540"/>
            </a:xfrm>
            <a:custGeom>
              <a:avLst/>
              <a:gdLst/>
              <a:ahLst/>
              <a:cxnLst/>
              <a:rect l="l" t="t" r="r" b="b"/>
              <a:pathLst>
                <a:path w="1903729" h="1399539">
                  <a:moveTo>
                    <a:pt x="1903730" y="0"/>
                  </a:moveTo>
                  <a:lnTo>
                    <a:pt x="1880870" y="0"/>
                  </a:lnTo>
                  <a:lnTo>
                    <a:pt x="1880870" y="24130"/>
                  </a:lnTo>
                  <a:lnTo>
                    <a:pt x="1880870" y="1375410"/>
                  </a:lnTo>
                  <a:lnTo>
                    <a:pt x="22860" y="1375410"/>
                  </a:lnTo>
                  <a:lnTo>
                    <a:pt x="22860" y="24130"/>
                  </a:lnTo>
                  <a:lnTo>
                    <a:pt x="1880870" y="24130"/>
                  </a:lnTo>
                  <a:lnTo>
                    <a:pt x="188087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375410"/>
                  </a:lnTo>
                  <a:lnTo>
                    <a:pt x="0" y="1399540"/>
                  </a:lnTo>
                  <a:lnTo>
                    <a:pt x="1903730" y="1399540"/>
                  </a:lnTo>
                  <a:lnTo>
                    <a:pt x="1903730" y="1375410"/>
                  </a:lnTo>
                  <a:lnTo>
                    <a:pt x="1903730" y="24130"/>
                  </a:lnTo>
                  <a:lnTo>
                    <a:pt x="1903730" y="0"/>
                  </a:lnTo>
                  <a:close/>
                </a:path>
              </a:pathLst>
            </a:custGeom>
            <a:solidFill>
              <a:srgbClr val="E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6" name="object 266"/>
            <p:cNvSpPr/>
            <p:nvPr/>
          </p:nvSpPr>
          <p:spPr>
            <a:xfrm>
              <a:off x="5947410" y="4986020"/>
              <a:ext cx="1858010" cy="1351280"/>
            </a:xfrm>
            <a:custGeom>
              <a:avLst/>
              <a:gdLst/>
              <a:ahLst/>
              <a:cxnLst/>
              <a:rect l="l" t="t" r="r" b="b"/>
              <a:pathLst>
                <a:path w="1858009" h="1351279">
                  <a:moveTo>
                    <a:pt x="1858010" y="0"/>
                  </a:moveTo>
                  <a:lnTo>
                    <a:pt x="1833880" y="0"/>
                  </a:lnTo>
                  <a:lnTo>
                    <a:pt x="1833880" y="22860"/>
                  </a:lnTo>
                  <a:lnTo>
                    <a:pt x="1833880" y="1328420"/>
                  </a:lnTo>
                  <a:lnTo>
                    <a:pt x="24130" y="1328420"/>
                  </a:lnTo>
                  <a:lnTo>
                    <a:pt x="24130" y="22860"/>
                  </a:lnTo>
                  <a:lnTo>
                    <a:pt x="1833880" y="22860"/>
                  </a:lnTo>
                  <a:lnTo>
                    <a:pt x="183388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328420"/>
                  </a:lnTo>
                  <a:lnTo>
                    <a:pt x="0" y="1351280"/>
                  </a:lnTo>
                  <a:lnTo>
                    <a:pt x="1858010" y="1351280"/>
                  </a:lnTo>
                  <a:lnTo>
                    <a:pt x="1858010" y="1328420"/>
                  </a:lnTo>
                  <a:lnTo>
                    <a:pt x="1858010" y="22860"/>
                  </a:lnTo>
                  <a:lnTo>
                    <a:pt x="1858010" y="0"/>
                  </a:lnTo>
                  <a:close/>
                </a:path>
              </a:pathLst>
            </a:custGeom>
            <a:solidFill>
              <a:srgbClr val="E1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7" name="object 267"/>
            <p:cNvSpPr/>
            <p:nvPr/>
          </p:nvSpPr>
          <p:spPr>
            <a:xfrm>
              <a:off x="5971540" y="5008880"/>
              <a:ext cx="1809750" cy="1305560"/>
            </a:xfrm>
            <a:custGeom>
              <a:avLst/>
              <a:gdLst/>
              <a:ahLst/>
              <a:cxnLst/>
              <a:rect l="l" t="t" r="r" b="b"/>
              <a:pathLst>
                <a:path w="1809750" h="1305560">
                  <a:moveTo>
                    <a:pt x="1809750" y="0"/>
                  </a:moveTo>
                  <a:lnTo>
                    <a:pt x="1786890" y="0"/>
                  </a:lnTo>
                  <a:lnTo>
                    <a:pt x="1786890" y="24130"/>
                  </a:lnTo>
                  <a:lnTo>
                    <a:pt x="1786890" y="1281430"/>
                  </a:lnTo>
                  <a:lnTo>
                    <a:pt x="22860" y="1281430"/>
                  </a:lnTo>
                  <a:lnTo>
                    <a:pt x="22860" y="24130"/>
                  </a:lnTo>
                  <a:lnTo>
                    <a:pt x="1786890" y="24130"/>
                  </a:lnTo>
                  <a:lnTo>
                    <a:pt x="178689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281430"/>
                  </a:lnTo>
                  <a:lnTo>
                    <a:pt x="0" y="1305560"/>
                  </a:lnTo>
                  <a:lnTo>
                    <a:pt x="1809750" y="1305560"/>
                  </a:lnTo>
                  <a:lnTo>
                    <a:pt x="1809750" y="1281430"/>
                  </a:lnTo>
                  <a:lnTo>
                    <a:pt x="1809750" y="24130"/>
                  </a:lnTo>
                  <a:lnTo>
                    <a:pt x="1809750" y="0"/>
                  </a:lnTo>
                  <a:close/>
                </a:path>
              </a:pathLst>
            </a:custGeom>
            <a:solidFill>
              <a:srgbClr val="E2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8" name="object 268"/>
            <p:cNvSpPr/>
            <p:nvPr/>
          </p:nvSpPr>
          <p:spPr>
            <a:xfrm>
              <a:off x="5994400" y="5033010"/>
              <a:ext cx="1764030" cy="1257300"/>
            </a:xfrm>
            <a:custGeom>
              <a:avLst/>
              <a:gdLst/>
              <a:ahLst/>
              <a:cxnLst/>
              <a:rect l="l" t="t" r="r" b="b"/>
              <a:pathLst>
                <a:path w="1764029" h="1257300">
                  <a:moveTo>
                    <a:pt x="1764030" y="0"/>
                  </a:moveTo>
                  <a:lnTo>
                    <a:pt x="1741170" y="0"/>
                  </a:lnTo>
                  <a:lnTo>
                    <a:pt x="1741170" y="22860"/>
                  </a:lnTo>
                  <a:lnTo>
                    <a:pt x="1741170" y="1234440"/>
                  </a:lnTo>
                  <a:lnTo>
                    <a:pt x="22860" y="1234440"/>
                  </a:lnTo>
                  <a:lnTo>
                    <a:pt x="22860" y="22860"/>
                  </a:lnTo>
                  <a:lnTo>
                    <a:pt x="1741170" y="22860"/>
                  </a:lnTo>
                  <a:lnTo>
                    <a:pt x="174117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234440"/>
                  </a:lnTo>
                  <a:lnTo>
                    <a:pt x="0" y="1257300"/>
                  </a:lnTo>
                  <a:lnTo>
                    <a:pt x="1764030" y="1257300"/>
                  </a:lnTo>
                  <a:lnTo>
                    <a:pt x="1764030" y="1234440"/>
                  </a:lnTo>
                  <a:lnTo>
                    <a:pt x="1764030" y="22860"/>
                  </a:lnTo>
                  <a:lnTo>
                    <a:pt x="1764030" y="0"/>
                  </a:lnTo>
                  <a:close/>
                </a:path>
              </a:pathLst>
            </a:custGeom>
            <a:solidFill>
              <a:srgbClr val="E3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69" name="object 269"/>
            <p:cNvSpPr/>
            <p:nvPr/>
          </p:nvSpPr>
          <p:spPr>
            <a:xfrm>
              <a:off x="6017260" y="5055870"/>
              <a:ext cx="1718310" cy="1211580"/>
            </a:xfrm>
            <a:custGeom>
              <a:avLst/>
              <a:gdLst/>
              <a:ahLst/>
              <a:cxnLst/>
              <a:rect l="l" t="t" r="r" b="b"/>
              <a:pathLst>
                <a:path w="1718309" h="1211579">
                  <a:moveTo>
                    <a:pt x="1718310" y="0"/>
                  </a:moveTo>
                  <a:lnTo>
                    <a:pt x="1694180" y="0"/>
                  </a:lnTo>
                  <a:lnTo>
                    <a:pt x="1694180" y="22860"/>
                  </a:lnTo>
                  <a:lnTo>
                    <a:pt x="1694180" y="1188720"/>
                  </a:lnTo>
                  <a:lnTo>
                    <a:pt x="24130" y="1188720"/>
                  </a:lnTo>
                  <a:lnTo>
                    <a:pt x="24130" y="22860"/>
                  </a:lnTo>
                  <a:lnTo>
                    <a:pt x="1694180" y="22860"/>
                  </a:lnTo>
                  <a:lnTo>
                    <a:pt x="169418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188720"/>
                  </a:lnTo>
                  <a:lnTo>
                    <a:pt x="0" y="1211580"/>
                  </a:lnTo>
                  <a:lnTo>
                    <a:pt x="1718310" y="1211580"/>
                  </a:lnTo>
                  <a:lnTo>
                    <a:pt x="1718310" y="1188732"/>
                  </a:lnTo>
                  <a:lnTo>
                    <a:pt x="1718310" y="22860"/>
                  </a:lnTo>
                  <a:lnTo>
                    <a:pt x="1718310" y="0"/>
                  </a:lnTo>
                  <a:close/>
                </a:path>
              </a:pathLst>
            </a:custGeom>
            <a:solidFill>
              <a:srgbClr val="E4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0" name="object 270"/>
            <p:cNvSpPr/>
            <p:nvPr/>
          </p:nvSpPr>
          <p:spPr>
            <a:xfrm>
              <a:off x="6041390" y="5078730"/>
              <a:ext cx="1670050" cy="1165860"/>
            </a:xfrm>
            <a:custGeom>
              <a:avLst/>
              <a:gdLst/>
              <a:ahLst/>
              <a:cxnLst/>
              <a:rect l="l" t="t" r="r" b="b"/>
              <a:pathLst>
                <a:path w="1670050" h="1165860">
                  <a:moveTo>
                    <a:pt x="1670050" y="0"/>
                  </a:moveTo>
                  <a:lnTo>
                    <a:pt x="1647190" y="0"/>
                  </a:lnTo>
                  <a:lnTo>
                    <a:pt x="1647190" y="24130"/>
                  </a:lnTo>
                  <a:lnTo>
                    <a:pt x="1647190" y="1141730"/>
                  </a:lnTo>
                  <a:lnTo>
                    <a:pt x="22860" y="1141730"/>
                  </a:lnTo>
                  <a:lnTo>
                    <a:pt x="22860" y="24130"/>
                  </a:lnTo>
                  <a:lnTo>
                    <a:pt x="1647190" y="24130"/>
                  </a:lnTo>
                  <a:lnTo>
                    <a:pt x="164719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141730"/>
                  </a:lnTo>
                  <a:lnTo>
                    <a:pt x="0" y="1165860"/>
                  </a:lnTo>
                  <a:lnTo>
                    <a:pt x="1670050" y="1165860"/>
                  </a:lnTo>
                  <a:lnTo>
                    <a:pt x="1670050" y="1141730"/>
                  </a:lnTo>
                  <a:lnTo>
                    <a:pt x="1670050" y="24130"/>
                  </a:lnTo>
                  <a:lnTo>
                    <a:pt x="1670050" y="0"/>
                  </a:lnTo>
                  <a:close/>
                </a:path>
              </a:pathLst>
            </a:custGeom>
            <a:solidFill>
              <a:srgbClr val="E5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1" name="object 271"/>
            <p:cNvSpPr/>
            <p:nvPr/>
          </p:nvSpPr>
          <p:spPr>
            <a:xfrm>
              <a:off x="6064250" y="5102860"/>
              <a:ext cx="1624330" cy="1117600"/>
            </a:xfrm>
            <a:custGeom>
              <a:avLst/>
              <a:gdLst/>
              <a:ahLst/>
              <a:cxnLst/>
              <a:rect l="l" t="t" r="r" b="b"/>
              <a:pathLst>
                <a:path w="1624329" h="1117600">
                  <a:moveTo>
                    <a:pt x="1624330" y="0"/>
                  </a:moveTo>
                  <a:lnTo>
                    <a:pt x="1600200" y="0"/>
                  </a:lnTo>
                  <a:lnTo>
                    <a:pt x="1600200" y="22860"/>
                  </a:lnTo>
                  <a:lnTo>
                    <a:pt x="1600200" y="1094740"/>
                  </a:lnTo>
                  <a:lnTo>
                    <a:pt x="24130" y="1094740"/>
                  </a:lnTo>
                  <a:lnTo>
                    <a:pt x="24130" y="22860"/>
                  </a:lnTo>
                  <a:lnTo>
                    <a:pt x="1600200" y="22860"/>
                  </a:lnTo>
                  <a:lnTo>
                    <a:pt x="16002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094740"/>
                  </a:lnTo>
                  <a:lnTo>
                    <a:pt x="0" y="1117600"/>
                  </a:lnTo>
                  <a:lnTo>
                    <a:pt x="1624330" y="1117600"/>
                  </a:lnTo>
                  <a:lnTo>
                    <a:pt x="1624330" y="1094752"/>
                  </a:lnTo>
                  <a:lnTo>
                    <a:pt x="1624330" y="22860"/>
                  </a:lnTo>
                  <a:lnTo>
                    <a:pt x="1624330" y="0"/>
                  </a:lnTo>
                  <a:close/>
                </a:path>
              </a:pathLst>
            </a:custGeom>
            <a:solidFill>
              <a:srgbClr val="E6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2" name="object 272"/>
            <p:cNvSpPr/>
            <p:nvPr/>
          </p:nvSpPr>
          <p:spPr>
            <a:xfrm>
              <a:off x="6088380" y="5125720"/>
              <a:ext cx="1576070" cy="1071880"/>
            </a:xfrm>
            <a:custGeom>
              <a:avLst/>
              <a:gdLst/>
              <a:ahLst/>
              <a:cxnLst/>
              <a:rect l="l" t="t" r="r" b="b"/>
              <a:pathLst>
                <a:path w="1576070" h="1071879">
                  <a:moveTo>
                    <a:pt x="1576070" y="0"/>
                  </a:moveTo>
                  <a:lnTo>
                    <a:pt x="1553210" y="0"/>
                  </a:lnTo>
                  <a:lnTo>
                    <a:pt x="1553210" y="22860"/>
                  </a:lnTo>
                  <a:lnTo>
                    <a:pt x="1553210" y="1049020"/>
                  </a:lnTo>
                  <a:lnTo>
                    <a:pt x="22860" y="1049020"/>
                  </a:lnTo>
                  <a:lnTo>
                    <a:pt x="22860" y="22860"/>
                  </a:lnTo>
                  <a:lnTo>
                    <a:pt x="1553210" y="22860"/>
                  </a:lnTo>
                  <a:lnTo>
                    <a:pt x="155321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049020"/>
                  </a:lnTo>
                  <a:lnTo>
                    <a:pt x="0" y="1071880"/>
                  </a:lnTo>
                  <a:lnTo>
                    <a:pt x="1576070" y="1071880"/>
                  </a:lnTo>
                  <a:lnTo>
                    <a:pt x="1576070" y="1049020"/>
                  </a:lnTo>
                  <a:lnTo>
                    <a:pt x="1576070" y="22860"/>
                  </a:lnTo>
                  <a:lnTo>
                    <a:pt x="1576070" y="0"/>
                  </a:lnTo>
                  <a:close/>
                </a:path>
              </a:pathLst>
            </a:custGeom>
            <a:solidFill>
              <a:srgbClr val="E7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3" name="object 273"/>
            <p:cNvSpPr/>
            <p:nvPr/>
          </p:nvSpPr>
          <p:spPr>
            <a:xfrm>
              <a:off x="6111240" y="5148580"/>
              <a:ext cx="1530350" cy="1026160"/>
            </a:xfrm>
            <a:custGeom>
              <a:avLst/>
              <a:gdLst/>
              <a:ahLst/>
              <a:cxnLst/>
              <a:rect l="l" t="t" r="r" b="b"/>
              <a:pathLst>
                <a:path w="1530350" h="1026160">
                  <a:moveTo>
                    <a:pt x="1530350" y="0"/>
                  </a:moveTo>
                  <a:lnTo>
                    <a:pt x="1507490" y="0"/>
                  </a:lnTo>
                  <a:lnTo>
                    <a:pt x="1507490" y="24130"/>
                  </a:lnTo>
                  <a:lnTo>
                    <a:pt x="1507490" y="1002030"/>
                  </a:lnTo>
                  <a:lnTo>
                    <a:pt x="22860" y="1002030"/>
                  </a:lnTo>
                  <a:lnTo>
                    <a:pt x="22860" y="24130"/>
                  </a:lnTo>
                  <a:lnTo>
                    <a:pt x="1507490" y="24130"/>
                  </a:lnTo>
                  <a:lnTo>
                    <a:pt x="150749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1002030"/>
                  </a:lnTo>
                  <a:lnTo>
                    <a:pt x="0" y="1026160"/>
                  </a:lnTo>
                  <a:lnTo>
                    <a:pt x="1530350" y="1026160"/>
                  </a:lnTo>
                  <a:lnTo>
                    <a:pt x="1530350" y="1002030"/>
                  </a:lnTo>
                  <a:lnTo>
                    <a:pt x="1530350" y="24130"/>
                  </a:lnTo>
                  <a:lnTo>
                    <a:pt x="1530350" y="0"/>
                  </a:lnTo>
                  <a:close/>
                </a:path>
              </a:pathLst>
            </a:custGeom>
            <a:solidFill>
              <a:srgbClr val="E8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4" name="object 274"/>
            <p:cNvSpPr/>
            <p:nvPr/>
          </p:nvSpPr>
          <p:spPr>
            <a:xfrm>
              <a:off x="6134100" y="5172710"/>
              <a:ext cx="1484630" cy="977900"/>
            </a:xfrm>
            <a:custGeom>
              <a:avLst/>
              <a:gdLst/>
              <a:ahLst/>
              <a:cxnLst/>
              <a:rect l="l" t="t" r="r" b="b"/>
              <a:pathLst>
                <a:path w="1484629" h="977900">
                  <a:moveTo>
                    <a:pt x="1484630" y="0"/>
                  </a:moveTo>
                  <a:lnTo>
                    <a:pt x="1460500" y="0"/>
                  </a:lnTo>
                  <a:lnTo>
                    <a:pt x="1460500" y="22860"/>
                  </a:lnTo>
                  <a:lnTo>
                    <a:pt x="1460500" y="955040"/>
                  </a:lnTo>
                  <a:lnTo>
                    <a:pt x="24130" y="955040"/>
                  </a:lnTo>
                  <a:lnTo>
                    <a:pt x="24130" y="22860"/>
                  </a:lnTo>
                  <a:lnTo>
                    <a:pt x="1460500" y="22860"/>
                  </a:lnTo>
                  <a:lnTo>
                    <a:pt x="14605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955040"/>
                  </a:lnTo>
                  <a:lnTo>
                    <a:pt x="0" y="977900"/>
                  </a:lnTo>
                  <a:lnTo>
                    <a:pt x="1484630" y="977900"/>
                  </a:lnTo>
                  <a:lnTo>
                    <a:pt x="1484630" y="955040"/>
                  </a:lnTo>
                  <a:lnTo>
                    <a:pt x="1484630" y="22860"/>
                  </a:lnTo>
                  <a:lnTo>
                    <a:pt x="1484630" y="0"/>
                  </a:lnTo>
                  <a:close/>
                </a:path>
              </a:pathLst>
            </a:custGeom>
            <a:solidFill>
              <a:srgbClr val="E9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5" name="object 275"/>
            <p:cNvSpPr/>
            <p:nvPr/>
          </p:nvSpPr>
          <p:spPr>
            <a:xfrm>
              <a:off x="6158230" y="5195570"/>
              <a:ext cx="1436370" cy="932180"/>
            </a:xfrm>
            <a:custGeom>
              <a:avLst/>
              <a:gdLst/>
              <a:ahLst/>
              <a:cxnLst/>
              <a:rect l="l" t="t" r="r" b="b"/>
              <a:pathLst>
                <a:path w="1436370" h="932179">
                  <a:moveTo>
                    <a:pt x="1436370" y="0"/>
                  </a:moveTo>
                  <a:lnTo>
                    <a:pt x="1413510" y="0"/>
                  </a:lnTo>
                  <a:lnTo>
                    <a:pt x="1413510" y="22860"/>
                  </a:lnTo>
                  <a:lnTo>
                    <a:pt x="1413510" y="908050"/>
                  </a:lnTo>
                  <a:lnTo>
                    <a:pt x="22860" y="908050"/>
                  </a:lnTo>
                  <a:lnTo>
                    <a:pt x="22860" y="22860"/>
                  </a:lnTo>
                  <a:lnTo>
                    <a:pt x="1413510" y="22860"/>
                  </a:lnTo>
                  <a:lnTo>
                    <a:pt x="141351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908050"/>
                  </a:lnTo>
                  <a:lnTo>
                    <a:pt x="0" y="932180"/>
                  </a:lnTo>
                  <a:lnTo>
                    <a:pt x="1436370" y="932180"/>
                  </a:lnTo>
                  <a:lnTo>
                    <a:pt x="1436370" y="908050"/>
                  </a:lnTo>
                  <a:lnTo>
                    <a:pt x="1436370" y="22860"/>
                  </a:lnTo>
                  <a:lnTo>
                    <a:pt x="1436370" y="0"/>
                  </a:lnTo>
                  <a:close/>
                </a:path>
              </a:pathLst>
            </a:custGeom>
            <a:solidFill>
              <a:srgbClr val="EA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6" name="object 276"/>
            <p:cNvSpPr/>
            <p:nvPr/>
          </p:nvSpPr>
          <p:spPr>
            <a:xfrm>
              <a:off x="6181090" y="5218430"/>
              <a:ext cx="1390650" cy="885190"/>
            </a:xfrm>
            <a:custGeom>
              <a:avLst/>
              <a:gdLst/>
              <a:ahLst/>
              <a:cxnLst/>
              <a:rect l="l" t="t" r="r" b="b"/>
              <a:pathLst>
                <a:path w="1390650" h="885189">
                  <a:moveTo>
                    <a:pt x="1390650" y="0"/>
                  </a:moveTo>
                  <a:lnTo>
                    <a:pt x="1367790" y="0"/>
                  </a:lnTo>
                  <a:lnTo>
                    <a:pt x="1367790" y="24130"/>
                  </a:lnTo>
                  <a:lnTo>
                    <a:pt x="1367790" y="862330"/>
                  </a:lnTo>
                  <a:lnTo>
                    <a:pt x="22860" y="862330"/>
                  </a:lnTo>
                  <a:lnTo>
                    <a:pt x="22860" y="24130"/>
                  </a:lnTo>
                  <a:lnTo>
                    <a:pt x="1367790" y="24130"/>
                  </a:lnTo>
                  <a:lnTo>
                    <a:pt x="136779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862330"/>
                  </a:lnTo>
                  <a:lnTo>
                    <a:pt x="0" y="885190"/>
                  </a:lnTo>
                  <a:lnTo>
                    <a:pt x="1390650" y="885190"/>
                  </a:lnTo>
                  <a:lnTo>
                    <a:pt x="1390650" y="862330"/>
                  </a:lnTo>
                  <a:lnTo>
                    <a:pt x="1390650" y="24130"/>
                  </a:lnTo>
                  <a:lnTo>
                    <a:pt x="1390650" y="0"/>
                  </a:lnTo>
                  <a:close/>
                </a:path>
              </a:pathLst>
            </a:custGeom>
            <a:solidFill>
              <a:srgbClr val="EB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7" name="object 277"/>
            <p:cNvSpPr/>
            <p:nvPr/>
          </p:nvSpPr>
          <p:spPr>
            <a:xfrm>
              <a:off x="6203950" y="5242560"/>
              <a:ext cx="1344930" cy="838200"/>
            </a:xfrm>
            <a:custGeom>
              <a:avLst/>
              <a:gdLst/>
              <a:ahLst/>
              <a:cxnLst/>
              <a:rect l="l" t="t" r="r" b="b"/>
              <a:pathLst>
                <a:path w="1344929" h="838200">
                  <a:moveTo>
                    <a:pt x="1344930" y="0"/>
                  </a:moveTo>
                  <a:lnTo>
                    <a:pt x="1320800" y="0"/>
                  </a:lnTo>
                  <a:lnTo>
                    <a:pt x="1320800" y="22860"/>
                  </a:lnTo>
                  <a:lnTo>
                    <a:pt x="1320800" y="815340"/>
                  </a:lnTo>
                  <a:lnTo>
                    <a:pt x="24130" y="815340"/>
                  </a:lnTo>
                  <a:lnTo>
                    <a:pt x="24130" y="22860"/>
                  </a:lnTo>
                  <a:lnTo>
                    <a:pt x="1320800" y="22860"/>
                  </a:lnTo>
                  <a:lnTo>
                    <a:pt x="13208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815340"/>
                  </a:lnTo>
                  <a:lnTo>
                    <a:pt x="0" y="838200"/>
                  </a:lnTo>
                  <a:lnTo>
                    <a:pt x="1344930" y="838200"/>
                  </a:lnTo>
                  <a:lnTo>
                    <a:pt x="1344930" y="815340"/>
                  </a:lnTo>
                  <a:lnTo>
                    <a:pt x="1344930" y="22860"/>
                  </a:lnTo>
                  <a:lnTo>
                    <a:pt x="1344930" y="0"/>
                  </a:lnTo>
                  <a:close/>
                </a:path>
              </a:pathLst>
            </a:custGeom>
            <a:solidFill>
              <a:srgbClr val="EC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8" name="object 278"/>
            <p:cNvSpPr/>
            <p:nvPr/>
          </p:nvSpPr>
          <p:spPr>
            <a:xfrm>
              <a:off x="6228080" y="5265420"/>
              <a:ext cx="1296670" cy="792480"/>
            </a:xfrm>
            <a:custGeom>
              <a:avLst/>
              <a:gdLst/>
              <a:ahLst/>
              <a:cxnLst/>
              <a:rect l="l" t="t" r="r" b="b"/>
              <a:pathLst>
                <a:path w="1296670" h="792479">
                  <a:moveTo>
                    <a:pt x="1296670" y="0"/>
                  </a:moveTo>
                  <a:lnTo>
                    <a:pt x="1273810" y="0"/>
                  </a:lnTo>
                  <a:lnTo>
                    <a:pt x="1273810" y="22860"/>
                  </a:lnTo>
                  <a:lnTo>
                    <a:pt x="1273810" y="768350"/>
                  </a:lnTo>
                  <a:lnTo>
                    <a:pt x="22860" y="768350"/>
                  </a:lnTo>
                  <a:lnTo>
                    <a:pt x="22860" y="22860"/>
                  </a:lnTo>
                  <a:lnTo>
                    <a:pt x="1273810" y="22860"/>
                  </a:lnTo>
                  <a:lnTo>
                    <a:pt x="127381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768350"/>
                  </a:lnTo>
                  <a:lnTo>
                    <a:pt x="0" y="792480"/>
                  </a:lnTo>
                  <a:lnTo>
                    <a:pt x="1296670" y="792480"/>
                  </a:lnTo>
                  <a:lnTo>
                    <a:pt x="1296670" y="768350"/>
                  </a:lnTo>
                  <a:lnTo>
                    <a:pt x="1296670" y="22860"/>
                  </a:lnTo>
                  <a:lnTo>
                    <a:pt x="1296670" y="0"/>
                  </a:lnTo>
                  <a:close/>
                </a:path>
              </a:pathLst>
            </a:custGeom>
            <a:solidFill>
              <a:srgbClr val="ED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79" name="object 279"/>
            <p:cNvSpPr/>
            <p:nvPr/>
          </p:nvSpPr>
          <p:spPr>
            <a:xfrm>
              <a:off x="6250940" y="5288280"/>
              <a:ext cx="1250950" cy="745490"/>
            </a:xfrm>
            <a:custGeom>
              <a:avLst/>
              <a:gdLst/>
              <a:ahLst/>
              <a:cxnLst/>
              <a:rect l="l" t="t" r="r" b="b"/>
              <a:pathLst>
                <a:path w="1250950" h="745489">
                  <a:moveTo>
                    <a:pt x="1250950" y="0"/>
                  </a:moveTo>
                  <a:lnTo>
                    <a:pt x="1226820" y="0"/>
                  </a:lnTo>
                  <a:lnTo>
                    <a:pt x="1226820" y="24130"/>
                  </a:lnTo>
                  <a:lnTo>
                    <a:pt x="1226820" y="722630"/>
                  </a:lnTo>
                  <a:lnTo>
                    <a:pt x="24130" y="722630"/>
                  </a:lnTo>
                  <a:lnTo>
                    <a:pt x="24130" y="24130"/>
                  </a:lnTo>
                  <a:lnTo>
                    <a:pt x="1226820" y="24130"/>
                  </a:lnTo>
                  <a:lnTo>
                    <a:pt x="122682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722630"/>
                  </a:lnTo>
                  <a:lnTo>
                    <a:pt x="0" y="745490"/>
                  </a:lnTo>
                  <a:lnTo>
                    <a:pt x="1250950" y="745490"/>
                  </a:lnTo>
                  <a:lnTo>
                    <a:pt x="1250950" y="722630"/>
                  </a:lnTo>
                  <a:lnTo>
                    <a:pt x="1250950" y="24130"/>
                  </a:lnTo>
                  <a:lnTo>
                    <a:pt x="1250950" y="0"/>
                  </a:lnTo>
                  <a:close/>
                </a:path>
              </a:pathLst>
            </a:custGeom>
            <a:solidFill>
              <a:srgbClr val="EE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0" name="object 280"/>
            <p:cNvSpPr/>
            <p:nvPr/>
          </p:nvSpPr>
          <p:spPr>
            <a:xfrm>
              <a:off x="6275070" y="5312410"/>
              <a:ext cx="1202690" cy="698500"/>
            </a:xfrm>
            <a:custGeom>
              <a:avLst/>
              <a:gdLst/>
              <a:ahLst/>
              <a:cxnLst/>
              <a:rect l="l" t="t" r="r" b="b"/>
              <a:pathLst>
                <a:path w="1202690" h="698500">
                  <a:moveTo>
                    <a:pt x="1202690" y="0"/>
                  </a:moveTo>
                  <a:lnTo>
                    <a:pt x="1179830" y="0"/>
                  </a:lnTo>
                  <a:lnTo>
                    <a:pt x="1179830" y="22860"/>
                  </a:lnTo>
                  <a:lnTo>
                    <a:pt x="1179830" y="675640"/>
                  </a:lnTo>
                  <a:lnTo>
                    <a:pt x="22860" y="675640"/>
                  </a:lnTo>
                  <a:lnTo>
                    <a:pt x="22860" y="22860"/>
                  </a:lnTo>
                  <a:lnTo>
                    <a:pt x="1179830" y="22860"/>
                  </a:lnTo>
                  <a:lnTo>
                    <a:pt x="117983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675640"/>
                  </a:lnTo>
                  <a:lnTo>
                    <a:pt x="0" y="698500"/>
                  </a:lnTo>
                  <a:lnTo>
                    <a:pt x="1202690" y="698500"/>
                  </a:lnTo>
                  <a:lnTo>
                    <a:pt x="1202690" y="675640"/>
                  </a:lnTo>
                  <a:lnTo>
                    <a:pt x="1202690" y="22860"/>
                  </a:lnTo>
                  <a:lnTo>
                    <a:pt x="1202690" y="0"/>
                  </a:lnTo>
                  <a:close/>
                </a:path>
              </a:pathLst>
            </a:custGeom>
            <a:solidFill>
              <a:srgbClr val="E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1" name="object 281"/>
            <p:cNvSpPr/>
            <p:nvPr/>
          </p:nvSpPr>
          <p:spPr>
            <a:xfrm>
              <a:off x="6297930" y="5335270"/>
              <a:ext cx="1156970" cy="652780"/>
            </a:xfrm>
            <a:custGeom>
              <a:avLst/>
              <a:gdLst/>
              <a:ahLst/>
              <a:cxnLst/>
              <a:rect l="l" t="t" r="r" b="b"/>
              <a:pathLst>
                <a:path w="1156970" h="652779">
                  <a:moveTo>
                    <a:pt x="1156970" y="0"/>
                  </a:moveTo>
                  <a:lnTo>
                    <a:pt x="1134110" y="0"/>
                  </a:lnTo>
                  <a:lnTo>
                    <a:pt x="1134110" y="22860"/>
                  </a:lnTo>
                  <a:lnTo>
                    <a:pt x="1134110" y="628650"/>
                  </a:lnTo>
                  <a:lnTo>
                    <a:pt x="22860" y="628650"/>
                  </a:lnTo>
                  <a:lnTo>
                    <a:pt x="22860" y="22860"/>
                  </a:lnTo>
                  <a:lnTo>
                    <a:pt x="1134110" y="22860"/>
                  </a:lnTo>
                  <a:lnTo>
                    <a:pt x="113411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628650"/>
                  </a:lnTo>
                  <a:lnTo>
                    <a:pt x="0" y="652780"/>
                  </a:lnTo>
                  <a:lnTo>
                    <a:pt x="1156970" y="652780"/>
                  </a:lnTo>
                  <a:lnTo>
                    <a:pt x="1156970" y="628650"/>
                  </a:lnTo>
                  <a:lnTo>
                    <a:pt x="1156970" y="22860"/>
                  </a:lnTo>
                  <a:lnTo>
                    <a:pt x="1156970" y="0"/>
                  </a:lnTo>
                  <a:close/>
                </a:path>
              </a:pathLst>
            </a:custGeom>
            <a:solidFill>
              <a:srgbClr val="F0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2" name="object 282"/>
            <p:cNvSpPr/>
            <p:nvPr/>
          </p:nvSpPr>
          <p:spPr>
            <a:xfrm>
              <a:off x="6320790" y="5358130"/>
              <a:ext cx="1111250" cy="605790"/>
            </a:xfrm>
            <a:custGeom>
              <a:avLst/>
              <a:gdLst/>
              <a:ahLst/>
              <a:cxnLst/>
              <a:rect l="l" t="t" r="r" b="b"/>
              <a:pathLst>
                <a:path w="1111250" h="605789">
                  <a:moveTo>
                    <a:pt x="1111250" y="0"/>
                  </a:moveTo>
                  <a:lnTo>
                    <a:pt x="1087120" y="0"/>
                  </a:lnTo>
                  <a:lnTo>
                    <a:pt x="1087120" y="24130"/>
                  </a:lnTo>
                  <a:lnTo>
                    <a:pt x="1087120" y="582930"/>
                  </a:lnTo>
                  <a:lnTo>
                    <a:pt x="22860" y="582930"/>
                  </a:lnTo>
                  <a:lnTo>
                    <a:pt x="22860" y="24130"/>
                  </a:lnTo>
                  <a:lnTo>
                    <a:pt x="1087120" y="24130"/>
                  </a:lnTo>
                  <a:lnTo>
                    <a:pt x="108712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582930"/>
                  </a:lnTo>
                  <a:lnTo>
                    <a:pt x="0" y="605790"/>
                  </a:lnTo>
                  <a:lnTo>
                    <a:pt x="1111250" y="605790"/>
                  </a:lnTo>
                  <a:lnTo>
                    <a:pt x="1111250" y="582930"/>
                  </a:lnTo>
                  <a:lnTo>
                    <a:pt x="1111250" y="24130"/>
                  </a:lnTo>
                  <a:lnTo>
                    <a:pt x="1111250" y="0"/>
                  </a:lnTo>
                  <a:close/>
                </a:path>
              </a:pathLst>
            </a:custGeom>
            <a:solidFill>
              <a:srgbClr val="F1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3" name="object 283"/>
            <p:cNvSpPr/>
            <p:nvPr/>
          </p:nvSpPr>
          <p:spPr>
            <a:xfrm>
              <a:off x="6343650" y="5382260"/>
              <a:ext cx="1064260" cy="558800"/>
            </a:xfrm>
            <a:custGeom>
              <a:avLst/>
              <a:gdLst/>
              <a:ahLst/>
              <a:cxnLst/>
              <a:rect l="l" t="t" r="r" b="b"/>
              <a:pathLst>
                <a:path w="1064259" h="558800">
                  <a:moveTo>
                    <a:pt x="1064260" y="0"/>
                  </a:moveTo>
                  <a:lnTo>
                    <a:pt x="1041400" y="0"/>
                  </a:lnTo>
                  <a:lnTo>
                    <a:pt x="1041400" y="22860"/>
                  </a:lnTo>
                  <a:lnTo>
                    <a:pt x="1041400" y="535940"/>
                  </a:lnTo>
                  <a:lnTo>
                    <a:pt x="24130" y="535940"/>
                  </a:lnTo>
                  <a:lnTo>
                    <a:pt x="24130" y="22860"/>
                  </a:lnTo>
                  <a:lnTo>
                    <a:pt x="1041400" y="22860"/>
                  </a:lnTo>
                  <a:lnTo>
                    <a:pt x="10414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535940"/>
                  </a:lnTo>
                  <a:lnTo>
                    <a:pt x="0" y="558800"/>
                  </a:lnTo>
                  <a:lnTo>
                    <a:pt x="1064260" y="558800"/>
                  </a:lnTo>
                  <a:lnTo>
                    <a:pt x="1064260" y="535940"/>
                  </a:lnTo>
                  <a:lnTo>
                    <a:pt x="1064260" y="22860"/>
                  </a:lnTo>
                  <a:lnTo>
                    <a:pt x="1064260" y="0"/>
                  </a:lnTo>
                  <a:close/>
                </a:path>
              </a:pathLst>
            </a:custGeom>
            <a:solidFill>
              <a:srgbClr val="F2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4" name="object 284"/>
            <p:cNvSpPr/>
            <p:nvPr/>
          </p:nvSpPr>
          <p:spPr>
            <a:xfrm>
              <a:off x="6367780" y="5405120"/>
              <a:ext cx="1017269" cy="513080"/>
            </a:xfrm>
            <a:custGeom>
              <a:avLst/>
              <a:gdLst/>
              <a:ahLst/>
              <a:cxnLst/>
              <a:rect l="l" t="t" r="r" b="b"/>
              <a:pathLst>
                <a:path w="1017270" h="513079">
                  <a:moveTo>
                    <a:pt x="1017270" y="0"/>
                  </a:moveTo>
                  <a:lnTo>
                    <a:pt x="994410" y="0"/>
                  </a:lnTo>
                  <a:lnTo>
                    <a:pt x="994410" y="22860"/>
                  </a:lnTo>
                  <a:lnTo>
                    <a:pt x="994410" y="488950"/>
                  </a:lnTo>
                  <a:lnTo>
                    <a:pt x="22860" y="488950"/>
                  </a:lnTo>
                  <a:lnTo>
                    <a:pt x="22860" y="22860"/>
                  </a:lnTo>
                  <a:lnTo>
                    <a:pt x="994410" y="22860"/>
                  </a:lnTo>
                  <a:lnTo>
                    <a:pt x="99441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488950"/>
                  </a:lnTo>
                  <a:lnTo>
                    <a:pt x="0" y="513080"/>
                  </a:lnTo>
                  <a:lnTo>
                    <a:pt x="1017270" y="513080"/>
                  </a:lnTo>
                  <a:lnTo>
                    <a:pt x="1017270" y="488950"/>
                  </a:lnTo>
                  <a:lnTo>
                    <a:pt x="1017270" y="22860"/>
                  </a:lnTo>
                  <a:lnTo>
                    <a:pt x="1017270" y="0"/>
                  </a:lnTo>
                  <a:close/>
                </a:path>
              </a:pathLst>
            </a:custGeom>
            <a:solidFill>
              <a:srgbClr val="F3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5" name="object 285"/>
            <p:cNvSpPr/>
            <p:nvPr/>
          </p:nvSpPr>
          <p:spPr>
            <a:xfrm>
              <a:off x="6390640" y="5427980"/>
              <a:ext cx="971550" cy="466090"/>
            </a:xfrm>
            <a:custGeom>
              <a:avLst/>
              <a:gdLst/>
              <a:ahLst/>
              <a:cxnLst/>
              <a:rect l="l" t="t" r="r" b="b"/>
              <a:pathLst>
                <a:path w="971550" h="466089">
                  <a:moveTo>
                    <a:pt x="971550" y="0"/>
                  </a:moveTo>
                  <a:lnTo>
                    <a:pt x="947420" y="0"/>
                  </a:lnTo>
                  <a:lnTo>
                    <a:pt x="947420" y="24130"/>
                  </a:lnTo>
                  <a:lnTo>
                    <a:pt x="947420" y="443230"/>
                  </a:lnTo>
                  <a:lnTo>
                    <a:pt x="22860" y="443230"/>
                  </a:lnTo>
                  <a:lnTo>
                    <a:pt x="22860" y="24130"/>
                  </a:lnTo>
                  <a:lnTo>
                    <a:pt x="947420" y="24130"/>
                  </a:lnTo>
                  <a:lnTo>
                    <a:pt x="94742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443230"/>
                  </a:lnTo>
                  <a:lnTo>
                    <a:pt x="0" y="466090"/>
                  </a:lnTo>
                  <a:lnTo>
                    <a:pt x="971550" y="466090"/>
                  </a:lnTo>
                  <a:lnTo>
                    <a:pt x="971550" y="443230"/>
                  </a:lnTo>
                  <a:lnTo>
                    <a:pt x="971550" y="24130"/>
                  </a:lnTo>
                  <a:lnTo>
                    <a:pt x="971550" y="0"/>
                  </a:lnTo>
                  <a:close/>
                </a:path>
              </a:pathLst>
            </a:custGeom>
            <a:solidFill>
              <a:srgbClr val="F4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6" name="object 286"/>
            <p:cNvSpPr/>
            <p:nvPr/>
          </p:nvSpPr>
          <p:spPr>
            <a:xfrm>
              <a:off x="6413500" y="5452110"/>
              <a:ext cx="924560" cy="419100"/>
            </a:xfrm>
            <a:custGeom>
              <a:avLst/>
              <a:gdLst/>
              <a:ahLst/>
              <a:cxnLst/>
              <a:rect l="l" t="t" r="r" b="b"/>
              <a:pathLst>
                <a:path w="924559" h="419100">
                  <a:moveTo>
                    <a:pt x="924560" y="0"/>
                  </a:moveTo>
                  <a:lnTo>
                    <a:pt x="901700" y="0"/>
                  </a:lnTo>
                  <a:lnTo>
                    <a:pt x="901700" y="22860"/>
                  </a:lnTo>
                  <a:lnTo>
                    <a:pt x="901700" y="396240"/>
                  </a:lnTo>
                  <a:lnTo>
                    <a:pt x="24130" y="396240"/>
                  </a:lnTo>
                  <a:lnTo>
                    <a:pt x="24130" y="22860"/>
                  </a:lnTo>
                  <a:lnTo>
                    <a:pt x="901700" y="22860"/>
                  </a:lnTo>
                  <a:lnTo>
                    <a:pt x="9017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396240"/>
                  </a:lnTo>
                  <a:lnTo>
                    <a:pt x="0" y="419100"/>
                  </a:lnTo>
                  <a:lnTo>
                    <a:pt x="924560" y="419100"/>
                  </a:lnTo>
                  <a:lnTo>
                    <a:pt x="924560" y="396240"/>
                  </a:lnTo>
                  <a:lnTo>
                    <a:pt x="924560" y="22860"/>
                  </a:lnTo>
                  <a:lnTo>
                    <a:pt x="924560" y="0"/>
                  </a:lnTo>
                  <a:close/>
                </a:path>
              </a:pathLst>
            </a:custGeom>
            <a:solidFill>
              <a:srgbClr val="F5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7" name="object 287"/>
            <p:cNvSpPr/>
            <p:nvPr/>
          </p:nvSpPr>
          <p:spPr>
            <a:xfrm>
              <a:off x="6437630" y="5474970"/>
              <a:ext cx="877569" cy="373380"/>
            </a:xfrm>
            <a:custGeom>
              <a:avLst/>
              <a:gdLst/>
              <a:ahLst/>
              <a:cxnLst/>
              <a:rect l="l" t="t" r="r" b="b"/>
              <a:pathLst>
                <a:path w="877570" h="373379">
                  <a:moveTo>
                    <a:pt x="877570" y="0"/>
                  </a:moveTo>
                  <a:lnTo>
                    <a:pt x="854710" y="0"/>
                  </a:lnTo>
                  <a:lnTo>
                    <a:pt x="854710" y="24130"/>
                  </a:lnTo>
                  <a:lnTo>
                    <a:pt x="854710" y="349250"/>
                  </a:lnTo>
                  <a:lnTo>
                    <a:pt x="22860" y="349250"/>
                  </a:lnTo>
                  <a:lnTo>
                    <a:pt x="22860" y="24130"/>
                  </a:lnTo>
                  <a:lnTo>
                    <a:pt x="854710" y="24130"/>
                  </a:lnTo>
                  <a:lnTo>
                    <a:pt x="85471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349250"/>
                  </a:lnTo>
                  <a:lnTo>
                    <a:pt x="0" y="373380"/>
                  </a:lnTo>
                  <a:lnTo>
                    <a:pt x="877570" y="373380"/>
                  </a:lnTo>
                  <a:lnTo>
                    <a:pt x="877570" y="349250"/>
                  </a:lnTo>
                  <a:lnTo>
                    <a:pt x="877570" y="24130"/>
                  </a:lnTo>
                  <a:lnTo>
                    <a:pt x="877570" y="0"/>
                  </a:lnTo>
                  <a:close/>
                </a:path>
              </a:pathLst>
            </a:custGeom>
            <a:solidFill>
              <a:srgbClr val="F6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8" name="object 288"/>
            <p:cNvSpPr/>
            <p:nvPr/>
          </p:nvSpPr>
          <p:spPr>
            <a:xfrm>
              <a:off x="6460490" y="5499100"/>
              <a:ext cx="831850" cy="325120"/>
            </a:xfrm>
            <a:custGeom>
              <a:avLst/>
              <a:gdLst/>
              <a:ahLst/>
              <a:cxnLst/>
              <a:rect l="l" t="t" r="r" b="b"/>
              <a:pathLst>
                <a:path w="831850" h="325120">
                  <a:moveTo>
                    <a:pt x="831850" y="0"/>
                  </a:moveTo>
                  <a:lnTo>
                    <a:pt x="807720" y="0"/>
                  </a:lnTo>
                  <a:lnTo>
                    <a:pt x="807720" y="22860"/>
                  </a:lnTo>
                  <a:lnTo>
                    <a:pt x="807720" y="302260"/>
                  </a:lnTo>
                  <a:lnTo>
                    <a:pt x="22860" y="302260"/>
                  </a:lnTo>
                  <a:lnTo>
                    <a:pt x="22860" y="22860"/>
                  </a:lnTo>
                  <a:lnTo>
                    <a:pt x="807720" y="22860"/>
                  </a:lnTo>
                  <a:lnTo>
                    <a:pt x="80772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302260"/>
                  </a:lnTo>
                  <a:lnTo>
                    <a:pt x="0" y="325120"/>
                  </a:lnTo>
                  <a:lnTo>
                    <a:pt x="831850" y="325120"/>
                  </a:lnTo>
                  <a:lnTo>
                    <a:pt x="831850" y="302260"/>
                  </a:lnTo>
                  <a:lnTo>
                    <a:pt x="831850" y="22860"/>
                  </a:lnTo>
                  <a:lnTo>
                    <a:pt x="831850" y="0"/>
                  </a:lnTo>
                  <a:close/>
                </a:path>
              </a:pathLst>
            </a:custGeom>
            <a:solidFill>
              <a:srgbClr val="F7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89" name="object 289"/>
            <p:cNvSpPr/>
            <p:nvPr/>
          </p:nvSpPr>
          <p:spPr>
            <a:xfrm>
              <a:off x="6483350" y="5521960"/>
              <a:ext cx="784860" cy="279400"/>
            </a:xfrm>
            <a:custGeom>
              <a:avLst/>
              <a:gdLst/>
              <a:ahLst/>
              <a:cxnLst/>
              <a:rect l="l" t="t" r="r" b="b"/>
              <a:pathLst>
                <a:path w="784859" h="279400">
                  <a:moveTo>
                    <a:pt x="784860" y="0"/>
                  </a:moveTo>
                  <a:lnTo>
                    <a:pt x="762000" y="0"/>
                  </a:lnTo>
                  <a:lnTo>
                    <a:pt x="762000" y="22860"/>
                  </a:lnTo>
                  <a:lnTo>
                    <a:pt x="762000" y="256540"/>
                  </a:lnTo>
                  <a:lnTo>
                    <a:pt x="24130" y="256540"/>
                  </a:lnTo>
                  <a:lnTo>
                    <a:pt x="24130" y="22860"/>
                  </a:lnTo>
                  <a:lnTo>
                    <a:pt x="762000" y="2286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256540"/>
                  </a:lnTo>
                  <a:lnTo>
                    <a:pt x="0" y="279400"/>
                  </a:lnTo>
                  <a:lnTo>
                    <a:pt x="784860" y="279400"/>
                  </a:lnTo>
                  <a:lnTo>
                    <a:pt x="784860" y="256540"/>
                  </a:lnTo>
                  <a:lnTo>
                    <a:pt x="784860" y="22860"/>
                  </a:lnTo>
                  <a:lnTo>
                    <a:pt x="784860" y="0"/>
                  </a:lnTo>
                  <a:close/>
                </a:path>
              </a:pathLst>
            </a:custGeom>
            <a:solidFill>
              <a:srgbClr val="F8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0" name="object 290"/>
            <p:cNvSpPr/>
            <p:nvPr/>
          </p:nvSpPr>
          <p:spPr>
            <a:xfrm>
              <a:off x="6507480" y="5544820"/>
              <a:ext cx="737870" cy="233679"/>
            </a:xfrm>
            <a:custGeom>
              <a:avLst/>
              <a:gdLst/>
              <a:ahLst/>
              <a:cxnLst/>
              <a:rect l="l" t="t" r="r" b="b"/>
              <a:pathLst>
                <a:path w="737870" h="233679">
                  <a:moveTo>
                    <a:pt x="737870" y="0"/>
                  </a:moveTo>
                  <a:lnTo>
                    <a:pt x="715010" y="0"/>
                  </a:lnTo>
                  <a:lnTo>
                    <a:pt x="715010" y="24130"/>
                  </a:lnTo>
                  <a:lnTo>
                    <a:pt x="715010" y="209550"/>
                  </a:lnTo>
                  <a:lnTo>
                    <a:pt x="22860" y="209550"/>
                  </a:lnTo>
                  <a:lnTo>
                    <a:pt x="22860" y="24130"/>
                  </a:lnTo>
                  <a:lnTo>
                    <a:pt x="715010" y="24130"/>
                  </a:lnTo>
                  <a:lnTo>
                    <a:pt x="71501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209550"/>
                  </a:lnTo>
                  <a:lnTo>
                    <a:pt x="0" y="233680"/>
                  </a:lnTo>
                  <a:lnTo>
                    <a:pt x="737870" y="233680"/>
                  </a:lnTo>
                  <a:lnTo>
                    <a:pt x="737870" y="209550"/>
                  </a:lnTo>
                  <a:lnTo>
                    <a:pt x="737870" y="24130"/>
                  </a:lnTo>
                  <a:lnTo>
                    <a:pt x="737870" y="0"/>
                  </a:lnTo>
                  <a:close/>
                </a:path>
              </a:pathLst>
            </a:custGeom>
            <a:solidFill>
              <a:srgbClr val="F9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1" name="object 291"/>
            <p:cNvSpPr/>
            <p:nvPr/>
          </p:nvSpPr>
          <p:spPr>
            <a:xfrm>
              <a:off x="6530340" y="5568950"/>
              <a:ext cx="692150" cy="185420"/>
            </a:xfrm>
            <a:custGeom>
              <a:avLst/>
              <a:gdLst/>
              <a:ahLst/>
              <a:cxnLst/>
              <a:rect l="l" t="t" r="r" b="b"/>
              <a:pathLst>
                <a:path w="692150" h="185420">
                  <a:moveTo>
                    <a:pt x="692150" y="0"/>
                  </a:moveTo>
                  <a:lnTo>
                    <a:pt x="668020" y="0"/>
                  </a:lnTo>
                  <a:lnTo>
                    <a:pt x="668020" y="22860"/>
                  </a:lnTo>
                  <a:lnTo>
                    <a:pt x="668020" y="162560"/>
                  </a:lnTo>
                  <a:lnTo>
                    <a:pt x="24130" y="162560"/>
                  </a:lnTo>
                  <a:lnTo>
                    <a:pt x="24130" y="22860"/>
                  </a:lnTo>
                  <a:lnTo>
                    <a:pt x="668020" y="22860"/>
                  </a:lnTo>
                  <a:lnTo>
                    <a:pt x="66802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62560"/>
                  </a:lnTo>
                  <a:lnTo>
                    <a:pt x="0" y="185420"/>
                  </a:lnTo>
                  <a:lnTo>
                    <a:pt x="692150" y="185420"/>
                  </a:lnTo>
                  <a:lnTo>
                    <a:pt x="692150" y="162560"/>
                  </a:lnTo>
                  <a:lnTo>
                    <a:pt x="692150" y="2286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A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2" name="object 292"/>
            <p:cNvSpPr/>
            <p:nvPr/>
          </p:nvSpPr>
          <p:spPr>
            <a:xfrm>
              <a:off x="6554470" y="5591810"/>
              <a:ext cx="643890" cy="139700"/>
            </a:xfrm>
            <a:custGeom>
              <a:avLst/>
              <a:gdLst/>
              <a:ahLst/>
              <a:cxnLst/>
              <a:rect l="l" t="t" r="r" b="b"/>
              <a:pathLst>
                <a:path w="643890" h="139700">
                  <a:moveTo>
                    <a:pt x="643890" y="0"/>
                  </a:moveTo>
                  <a:lnTo>
                    <a:pt x="621030" y="0"/>
                  </a:lnTo>
                  <a:lnTo>
                    <a:pt x="621030" y="22860"/>
                  </a:lnTo>
                  <a:lnTo>
                    <a:pt x="621030" y="116840"/>
                  </a:lnTo>
                  <a:lnTo>
                    <a:pt x="22860" y="116840"/>
                  </a:lnTo>
                  <a:lnTo>
                    <a:pt x="22860" y="22860"/>
                  </a:lnTo>
                  <a:lnTo>
                    <a:pt x="621030" y="22860"/>
                  </a:lnTo>
                  <a:lnTo>
                    <a:pt x="621030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16840"/>
                  </a:lnTo>
                  <a:lnTo>
                    <a:pt x="0" y="139700"/>
                  </a:lnTo>
                  <a:lnTo>
                    <a:pt x="643890" y="139700"/>
                  </a:lnTo>
                  <a:lnTo>
                    <a:pt x="643890" y="116840"/>
                  </a:lnTo>
                  <a:lnTo>
                    <a:pt x="643890" y="22860"/>
                  </a:lnTo>
                  <a:lnTo>
                    <a:pt x="643890" y="0"/>
                  </a:lnTo>
                  <a:close/>
                </a:path>
              </a:pathLst>
            </a:custGeom>
            <a:solidFill>
              <a:srgbClr val="FB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3" name="object 293"/>
            <p:cNvSpPr/>
            <p:nvPr/>
          </p:nvSpPr>
          <p:spPr>
            <a:xfrm>
              <a:off x="6577330" y="5614670"/>
              <a:ext cx="598170" cy="93980"/>
            </a:xfrm>
            <a:custGeom>
              <a:avLst/>
              <a:gdLst/>
              <a:ahLst/>
              <a:cxnLst/>
              <a:rect l="l" t="t" r="r" b="b"/>
              <a:pathLst>
                <a:path w="598170" h="93979">
                  <a:moveTo>
                    <a:pt x="598170" y="0"/>
                  </a:moveTo>
                  <a:lnTo>
                    <a:pt x="575310" y="0"/>
                  </a:lnTo>
                  <a:lnTo>
                    <a:pt x="575310" y="24130"/>
                  </a:lnTo>
                  <a:lnTo>
                    <a:pt x="575310" y="69850"/>
                  </a:lnTo>
                  <a:lnTo>
                    <a:pt x="22860" y="69850"/>
                  </a:lnTo>
                  <a:lnTo>
                    <a:pt x="22860" y="24130"/>
                  </a:lnTo>
                  <a:lnTo>
                    <a:pt x="575310" y="24130"/>
                  </a:lnTo>
                  <a:lnTo>
                    <a:pt x="57531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69850"/>
                  </a:lnTo>
                  <a:lnTo>
                    <a:pt x="0" y="93980"/>
                  </a:lnTo>
                  <a:lnTo>
                    <a:pt x="598170" y="93980"/>
                  </a:lnTo>
                  <a:lnTo>
                    <a:pt x="598170" y="69850"/>
                  </a:lnTo>
                  <a:lnTo>
                    <a:pt x="598170" y="24130"/>
                  </a:lnTo>
                  <a:lnTo>
                    <a:pt x="598170" y="0"/>
                  </a:lnTo>
                  <a:close/>
                </a:path>
              </a:pathLst>
            </a:custGeom>
            <a:solidFill>
              <a:srgbClr val="FC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4" name="object 294"/>
            <p:cNvSpPr/>
            <p:nvPr/>
          </p:nvSpPr>
          <p:spPr>
            <a:xfrm>
              <a:off x="6600189" y="5638800"/>
              <a:ext cx="552450" cy="45720"/>
            </a:xfrm>
            <a:custGeom>
              <a:avLst/>
              <a:gdLst/>
              <a:ahLst/>
              <a:cxnLst/>
              <a:rect l="l" t="t" r="r" b="b"/>
              <a:pathLst>
                <a:path w="552450" h="45720">
                  <a:moveTo>
                    <a:pt x="55245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552450" y="45719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5" name="object 295"/>
            <p:cNvSpPr/>
            <p:nvPr/>
          </p:nvSpPr>
          <p:spPr>
            <a:xfrm>
              <a:off x="5435600" y="4472940"/>
              <a:ext cx="2881630" cy="2377440"/>
            </a:xfrm>
            <a:custGeom>
              <a:avLst/>
              <a:gdLst/>
              <a:ahLst/>
              <a:cxnLst/>
              <a:rect l="l" t="t" r="r" b="b"/>
              <a:pathLst>
                <a:path w="2881629" h="2377440">
                  <a:moveTo>
                    <a:pt x="212089" y="0"/>
                  </a:moveTo>
                  <a:lnTo>
                    <a:pt x="166751" y="6216"/>
                  </a:lnTo>
                  <a:lnTo>
                    <a:pt x="123389" y="23607"/>
                  </a:lnTo>
                  <a:lnTo>
                    <a:pt x="83827" y="50285"/>
                  </a:lnTo>
                  <a:lnTo>
                    <a:pt x="49885" y="84360"/>
                  </a:lnTo>
                  <a:lnTo>
                    <a:pt x="23385" y="123945"/>
                  </a:lnTo>
                  <a:lnTo>
                    <a:pt x="6150" y="167151"/>
                  </a:lnTo>
                  <a:lnTo>
                    <a:pt x="0" y="212090"/>
                  </a:lnTo>
                  <a:lnTo>
                    <a:pt x="0" y="2165350"/>
                  </a:lnTo>
                  <a:lnTo>
                    <a:pt x="6150" y="2210288"/>
                  </a:lnTo>
                  <a:lnTo>
                    <a:pt x="23385" y="2253494"/>
                  </a:lnTo>
                  <a:lnTo>
                    <a:pt x="49885" y="2293079"/>
                  </a:lnTo>
                  <a:lnTo>
                    <a:pt x="83827" y="2327154"/>
                  </a:lnTo>
                  <a:lnTo>
                    <a:pt x="123389" y="2353832"/>
                  </a:lnTo>
                  <a:lnTo>
                    <a:pt x="166751" y="2371223"/>
                  </a:lnTo>
                  <a:lnTo>
                    <a:pt x="212089" y="2377440"/>
                  </a:lnTo>
                  <a:lnTo>
                    <a:pt x="2669540" y="2377440"/>
                  </a:lnTo>
                  <a:lnTo>
                    <a:pt x="2714878" y="2371223"/>
                  </a:lnTo>
                  <a:lnTo>
                    <a:pt x="2758240" y="2353832"/>
                  </a:lnTo>
                  <a:lnTo>
                    <a:pt x="2797802" y="2327154"/>
                  </a:lnTo>
                  <a:lnTo>
                    <a:pt x="2831744" y="2293079"/>
                  </a:lnTo>
                  <a:lnTo>
                    <a:pt x="2858244" y="2253494"/>
                  </a:lnTo>
                  <a:lnTo>
                    <a:pt x="2875479" y="2210288"/>
                  </a:lnTo>
                  <a:lnTo>
                    <a:pt x="2881629" y="2165350"/>
                  </a:lnTo>
                  <a:lnTo>
                    <a:pt x="2881629" y="212090"/>
                  </a:lnTo>
                  <a:lnTo>
                    <a:pt x="2875479" y="167151"/>
                  </a:lnTo>
                  <a:lnTo>
                    <a:pt x="2858244" y="123945"/>
                  </a:lnTo>
                  <a:lnTo>
                    <a:pt x="2831744" y="84360"/>
                  </a:lnTo>
                  <a:lnTo>
                    <a:pt x="2797802" y="50285"/>
                  </a:lnTo>
                  <a:lnTo>
                    <a:pt x="2758240" y="23607"/>
                  </a:lnTo>
                  <a:lnTo>
                    <a:pt x="2714878" y="6216"/>
                  </a:lnTo>
                  <a:lnTo>
                    <a:pt x="2669540" y="0"/>
                  </a:lnTo>
                  <a:lnTo>
                    <a:pt x="212089" y="0"/>
                  </a:lnTo>
                  <a:close/>
                </a:path>
                <a:path w="2881629" h="2377440">
                  <a:moveTo>
                    <a:pt x="0" y="0"/>
                  </a:moveTo>
                  <a:lnTo>
                    <a:pt x="0" y="0"/>
                  </a:lnTo>
                </a:path>
                <a:path w="2881629" h="2377440">
                  <a:moveTo>
                    <a:pt x="2881629" y="2377440"/>
                  </a:moveTo>
                  <a:lnTo>
                    <a:pt x="2881629" y="237744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296" name="object 296"/>
          <p:cNvSpPr txBox="1"/>
          <p:nvPr/>
        </p:nvSpPr>
        <p:spPr>
          <a:xfrm>
            <a:off x="7047578" y="3215179"/>
            <a:ext cx="481933" cy="19724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1225" b="1" spc="-92" dirty="0">
                <a:latin typeface="Arial"/>
                <a:cs typeface="Arial"/>
              </a:rPr>
              <a:t>V</a:t>
            </a:r>
            <a:r>
              <a:rPr sz="1225" b="1" spc="-3" dirty="0">
                <a:latin typeface="Arial"/>
                <a:cs typeface="Arial"/>
              </a:rPr>
              <a:t>ol</a:t>
            </a:r>
            <a:r>
              <a:rPr sz="1225" b="1" spc="3" dirty="0">
                <a:latin typeface="Arial"/>
                <a:cs typeface="Arial"/>
              </a:rPr>
              <a:t>Q</a:t>
            </a:r>
            <a:r>
              <a:rPr sz="1225" b="1" dirty="0">
                <a:latin typeface="Arial"/>
                <a:cs typeface="Arial"/>
              </a:rPr>
              <a:t>D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297" name="object 297"/>
          <p:cNvGrpSpPr/>
          <p:nvPr/>
        </p:nvGrpSpPr>
        <p:grpSpPr>
          <a:xfrm>
            <a:off x="6577316" y="3662967"/>
            <a:ext cx="1274205" cy="760719"/>
            <a:chOff x="5939790" y="5227320"/>
            <a:chExt cx="1871980" cy="1117600"/>
          </a:xfrm>
        </p:grpSpPr>
        <p:sp>
          <p:nvSpPr>
            <p:cNvPr id="298" name="object 298"/>
            <p:cNvSpPr/>
            <p:nvPr/>
          </p:nvSpPr>
          <p:spPr>
            <a:xfrm>
              <a:off x="5939790" y="5426710"/>
              <a:ext cx="1079500" cy="91820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299" name="object 299"/>
            <p:cNvSpPr/>
            <p:nvPr/>
          </p:nvSpPr>
          <p:spPr>
            <a:xfrm>
              <a:off x="6732270" y="5227320"/>
              <a:ext cx="1079500" cy="9017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grpSp>
        <p:nvGrpSpPr>
          <p:cNvPr id="300" name="object 300"/>
          <p:cNvGrpSpPr/>
          <p:nvPr/>
        </p:nvGrpSpPr>
        <p:grpSpPr>
          <a:xfrm>
            <a:off x="3534716" y="3538763"/>
            <a:ext cx="1624741" cy="1085322"/>
            <a:chOff x="1469797" y="5044847"/>
            <a:chExt cx="2386965" cy="1594485"/>
          </a:xfrm>
        </p:grpSpPr>
        <p:sp>
          <p:nvSpPr>
            <p:cNvPr id="301" name="object 301"/>
            <p:cNvSpPr/>
            <p:nvPr/>
          </p:nvSpPr>
          <p:spPr>
            <a:xfrm>
              <a:off x="1474470" y="5049519"/>
              <a:ext cx="2376170" cy="1584960"/>
            </a:xfrm>
            <a:custGeom>
              <a:avLst/>
              <a:gdLst/>
              <a:ahLst/>
              <a:cxnLst/>
              <a:rect l="l" t="t" r="r" b="b"/>
              <a:pathLst>
                <a:path w="2376170" h="1584959">
                  <a:moveTo>
                    <a:pt x="30480" y="115430"/>
                  </a:moveTo>
                  <a:lnTo>
                    <a:pt x="27940" y="119380"/>
                  </a:lnTo>
                  <a:lnTo>
                    <a:pt x="17780" y="138430"/>
                  </a:lnTo>
                  <a:lnTo>
                    <a:pt x="15240" y="146062"/>
                  </a:lnTo>
                  <a:lnTo>
                    <a:pt x="11430" y="157480"/>
                  </a:lnTo>
                  <a:lnTo>
                    <a:pt x="5080" y="177800"/>
                  </a:lnTo>
                  <a:lnTo>
                    <a:pt x="0" y="198120"/>
                  </a:lnTo>
                  <a:lnTo>
                    <a:pt x="0" y="1388110"/>
                  </a:lnTo>
                  <a:lnTo>
                    <a:pt x="5080" y="1407160"/>
                  </a:lnTo>
                  <a:lnTo>
                    <a:pt x="15240" y="1439672"/>
                  </a:lnTo>
                  <a:lnTo>
                    <a:pt x="17780" y="1447800"/>
                  </a:lnTo>
                  <a:lnTo>
                    <a:pt x="27940" y="1465580"/>
                  </a:lnTo>
                  <a:lnTo>
                    <a:pt x="30480" y="1469821"/>
                  </a:lnTo>
                  <a:lnTo>
                    <a:pt x="30480" y="115430"/>
                  </a:lnTo>
                  <a:close/>
                </a:path>
                <a:path w="2376170" h="1584959">
                  <a:moveTo>
                    <a:pt x="2258758" y="30480"/>
                  </a:moveTo>
                  <a:lnTo>
                    <a:pt x="2256790" y="29210"/>
                  </a:lnTo>
                  <a:lnTo>
                    <a:pt x="2237740" y="17780"/>
                  </a:lnTo>
                  <a:lnTo>
                    <a:pt x="2230120" y="15240"/>
                  </a:lnTo>
                  <a:lnTo>
                    <a:pt x="2218690" y="11430"/>
                  </a:lnTo>
                  <a:lnTo>
                    <a:pt x="2198370" y="5080"/>
                  </a:lnTo>
                  <a:lnTo>
                    <a:pt x="2178050" y="1270"/>
                  </a:lnTo>
                  <a:lnTo>
                    <a:pt x="2157730" y="0"/>
                  </a:lnTo>
                  <a:lnTo>
                    <a:pt x="217170" y="0"/>
                  </a:lnTo>
                  <a:lnTo>
                    <a:pt x="176530" y="5080"/>
                  </a:lnTo>
                  <a:lnTo>
                    <a:pt x="138430" y="17780"/>
                  </a:lnTo>
                  <a:lnTo>
                    <a:pt x="116128" y="30480"/>
                  </a:lnTo>
                  <a:lnTo>
                    <a:pt x="2258758" y="30480"/>
                  </a:lnTo>
                  <a:close/>
                </a:path>
                <a:path w="2376170" h="1584959">
                  <a:moveTo>
                    <a:pt x="2262124" y="1553210"/>
                  </a:moveTo>
                  <a:lnTo>
                    <a:pt x="112776" y="1553210"/>
                  </a:lnTo>
                  <a:lnTo>
                    <a:pt x="118110" y="1557020"/>
                  </a:lnTo>
                  <a:lnTo>
                    <a:pt x="138430" y="1565910"/>
                  </a:lnTo>
                  <a:lnTo>
                    <a:pt x="143497" y="1568450"/>
                  </a:lnTo>
                  <a:lnTo>
                    <a:pt x="156210" y="1574800"/>
                  </a:lnTo>
                  <a:lnTo>
                    <a:pt x="176530" y="1579880"/>
                  </a:lnTo>
                  <a:lnTo>
                    <a:pt x="196850" y="1583690"/>
                  </a:lnTo>
                  <a:lnTo>
                    <a:pt x="217170" y="1584960"/>
                  </a:lnTo>
                  <a:lnTo>
                    <a:pt x="2157730" y="1584960"/>
                  </a:lnTo>
                  <a:lnTo>
                    <a:pt x="2178050" y="1583690"/>
                  </a:lnTo>
                  <a:lnTo>
                    <a:pt x="2198370" y="1579880"/>
                  </a:lnTo>
                  <a:lnTo>
                    <a:pt x="2218690" y="1574800"/>
                  </a:lnTo>
                  <a:lnTo>
                    <a:pt x="2232291" y="1568450"/>
                  </a:lnTo>
                  <a:lnTo>
                    <a:pt x="2256790" y="1557020"/>
                  </a:lnTo>
                  <a:lnTo>
                    <a:pt x="2262124" y="1553210"/>
                  </a:lnTo>
                  <a:close/>
                </a:path>
                <a:path w="2376170" h="1584959">
                  <a:moveTo>
                    <a:pt x="2376170" y="218440"/>
                  </a:moveTo>
                  <a:lnTo>
                    <a:pt x="2374900" y="198120"/>
                  </a:lnTo>
                  <a:lnTo>
                    <a:pt x="2371090" y="177800"/>
                  </a:lnTo>
                  <a:lnTo>
                    <a:pt x="2364740" y="157480"/>
                  </a:lnTo>
                  <a:lnTo>
                    <a:pt x="2360930" y="147955"/>
                  </a:lnTo>
                  <a:lnTo>
                    <a:pt x="2357120" y="138430"/>
                  </a:lnTo>
                  <a:lnTo>
                    <a:pt x="2348230" y="119380"/>
                  </a:lnTo>
                  <a:lnTo>
                    <a:pt x="2345690" y="115836"/>
                  </a:lnTo>
                  <a:lnTo>
                    <a:pt x="2345690" y="1469390"/>
                  </a:lnTo>
                  <a:lnTo>
                    <a:pt x="2348230" y="1465580"/>
                  </a:lnTo>
                  <a:lnTo>
                    <a:pt x="2357120" y="1447800"/>
                  </a:lnTo>
                  <a:lnTo>
                    <a:pt x="2360930" y="1437640"/>
                  </a:lnTo>
                  <a:lnTo>
                    <a:pt x="2364740" y="1427480"/>
                  </a:lnTo>
                  <a:lnTo>
                    <a:pt x="2371090" y="1407160"/>
                  </a:lnTo>
                  <a:lnTo>
                    <a:pt x="2374900" y="1388110"/>
                  </a:lnTo>
                  <a:lnTo>
                    <a:pt x="2376170" y="1366520"/>
                  </a:lnTo>
                  <a:lnTo>
                    <a:pt x="2376170" y="21844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2" name="object 302"/>
            <p:cNvSpPr/>
            <p:nvPr/>
          </p:nvSpPr>
          <p:spPr>
            <a:xfrm>
              <a:off x="1504950" y="5079999"/>
              <a:ext cx="2315210" cy="1522730"/>
            </a:xfrm>
            <a:custGeom>
              <a:avLst/>
              <a:gdLst/>
              <a:ahLst/>
              <a:cxnLst/>
              <a:rect l="l" t="t" r="r" b="b"/>
              <a:pathLst>
                <a:path w="2315210" h="1522729">
                  <a:moveTo>
                    <a:pt x="2252980" y="1507490"/>
                  </a:moveTo>
                  <a:lnTo>
                    <a:pt x="61594" y="1507490"/>
                  </a:lnTo>
                  <a:lnTo>
                    <a:pt x="69850" y="1513840"/>
                  </a:lnTo>
                  <a:lnTo>
                    <a:pt x="82296" y="1522730"/>
                  </a:lnTo>
                  <a:lnTo>
                    <a:pt x="2231644" y="1522730"/>
                  </a:lnTo>
                  <a:lnTo>
                    <a:pt x="2252980" y="1507490"/>
                  </a:lnTo>
                  <a:close/>
                </a:path>
                <a:path w="2315210" h="1522729">
                  <a:moveTo>
                    <a:pt x="15240" y="63038"/>
                  </a:moveTo>
                  <a:lnTo>
                    <a:pt x="8890" y="71119"/>
                  </a:lnTo>
                  <a:lnTo>
                    <a:pt x="0" y="84948"/>
                  </a:lnTo>
                  <a:lnTo>
                    <a:pt x="0" y="1439333"/>
                  </a:lnTo>
                  <a:lnTo>
                    <a:pt x="8890" y="1454150"/>
                  </a:lnTo>
                  <a:lnTo>
                    <a:pt x="15240" y="1461654"/>
                  </a:lnTo>
                  <a:lnTo>
                    <a:pt x="15240" y="63038"/>
                  </a:lnTo>
                  <a:close/>
                </a:path>
                <a:path w="2315210" h="1522729">
                  <a:moveTo>
                    <a:pt x="2299970" y="64008"/>
                  </a:moveTo>
                  <a:lnTo>
                    <a:pt x="2299970" y="1460753"/>
                  </a:lnTo>
                  <a:lnTo>
                    <a:pt x="2305050" y="1454150"/>
                  </a:lnTo>
                  <a:lnTo>
                    <a:pt x="2315210" y="1438909"/>
                  </a:lnTo>
                  <a:lnTo>
                    <a:pt x="2315210" y="85344"/>
                  </a:lnTo>
                  <a:lnTo>
                    <a:pt x="2299970" y="64008"/>
                  </a:lnTo>
                  <a:close/>
                </a:path>
                <a:path w="2315210" h="1522729">
                  <a:moveTo>
                    <a:pt x="2228285" y="0"/>
                  </a:moveTo>
                  <a:lnTo>
                    <a:pt x="85654" y="0"/>
                  </a:lnTo>
                  <a:lnTo>
                    <a:pt x="69850" y="10160"/>
                  </a:lnTo>
                  <a:lnTo>
                    <a:pt x="63246" y="15239"/>
                  </a:lnTo>
                  <a:lnTo>
                    <a:pt x="2251202" y="15239"/>
                  </a:lnTo>
                  <a:lnTo>
                    <a:pt x="2244090" y="10160"/>
                  </a:lnTo>
                  <a:lnTo>
                    <a:pt x="2228285" y="0"/>
                  </a:lnTo>
                  <a:close/>
                </a:path>
              </a:pathLst>
            </a:custGeom>
            <a:solidFill>
              <a:srgbClr val="FFFFC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3" name="object 303"/>
            <p:cNvSpPr/>
            <p:nvPr/>
          </p:nvSpPr>
          <p:spPr>
            <a:xfrm>
              <a:off x="1520190" y="5095239"/>
              <a:ext cx="2284730" cy="1492250"/>
            </a:xfrm>
            <a:custGeom>
              <a:avLst/>
              <a:gdLst/>
              <a:ahLst/>
              <a:cxnLst/>
              <a:rect l="l" t="t" r="r" b="b"/>
              <a:pathLst>
                <a:path w="2284729" h="1492250">
                  <a:moveTo>
                    <a:pt x="2255520" y="1477010"/>
                  </a:moveTo>
                  <a:lnTo>
                    <a:pt x="28469" y="1477010"/>
                  </a:lnTo>
                  <a:lnTo>
                    <a:pt x="38100" y="1485900"/>
                  </a:lnTo>
                  <a:lnTo>
                    <a:pt x="46354" y="1492250"/>
                  </a:lnTo>
                  <a:lnTo>
                    <a:pt x="2237740" y="1492250"/>
                  </a:lnTo>
                  <a:lnTo>
                    <a:pt x="2246630" y="1485900"/>
                  </a:lnTo>
                  <a:lnTo>
                    <a:pt x="2255520" y="1477010"/>
                  </a:lnTo>
                  <a:close/>
                </a:path>
                <a:path w="2284729" h="1492250">
                  <a:moveTo>
                    <a:pt x="16509" y="28401"/>
                  </a:moveTo>
                  <a:lnTo>
                    <a:pt x="7619" y="38100"/>
                  </a:lnTo>
                  <a:lnTo>
                    <a:pt x="0" y="47798"/>
                  </a:lnTo>
                  <a:lnTo>
                    <a:pt x="0" y="1446414"/>
                  </a:lnTo>
                  <a:lnTo>
                    <a:pt x="7619" y="1455420"/>
                  </a:lnTo>
                  <a:lnTo>
                    <a:pt x="16509" y="1465118"/>
                  </a:lnTo>
                  <a:lnTo>
                    <a:pt x="16509" y="28401"/>
                  </a:lnTo>
                  <a:close/>
                </a:path>
                <a:path w="2284729" h="1492250">
                  <a:moveTo>
                    <a:pt x="2269490" y="30479"/>
                  </a:moveTo>
                  <a:lnTo>
                    <a:pt x="2269490" y="1463040"/>
                  </a:lnTo>
                  <a:lnTo>
                    <a:pt x="2277110" y="1455420"/>
                  </a:lnTo>
                  <a:lnTo>
                    <a:pt x="2284730" y="1445513"/>
                  </a:lnTo>
                  <a:lnTo>
                    <a:pt x="2284730" y="48768"/>
                  </a:lnTo>
                  <a:lnTo>
                    <a:pt x="2277110" y="38100"/>
                  </a:lnTo>
                  <a:lnTo>
                    <a:pt x="2269490" y="30479"/>
                  </a:lnTo>
                  <a:close/>
                </a:path>
                <a:path w="2284729" h="1492250">
                  <a:moveTo>
                    <a:pt x="2235962" y="0"/>
                  </a:moveTo>
                  <a:lnTo>
                    <a:pt x="48006" y="0"/>
                  </a:lnTo>
                  <a:lnTo>
                    <a:pt x="38100" y="7620"/>
                  </a:lnTo>
                  <a:lnTo>
                    <a:pt x="29845" y="15240"/>
                  </a:lnTo>
                  <a:lnTo>
                    <a:pt x="2254250" y="15240"/>
                  </a:lnTo>
                  <a:lnTo>
                    <a:pt x="2246630" y="7620"/>
                  </a:lnTo>
                  <a:lnTo>
                    <a:pt x="2235962" y="0"/>
                  </a:lnTo>
                  <a:close/>
                </a:path>
              </a:pathLst>
            </a:custGeom>
            <a:solidFill>
              <a:srgbClr val="FFFFC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4" name="object 304"/>
            <p:cNvSpPr/>
            <p:nvPr/>
          </p:nvSpPr>
          <p:spPr>
            <a:xfrm>
              <a:off x="1536700" y="5110479"/>
              <a:ext cx="2252980" cy="1461770"/>
            </a:xfrm>
            <a:custGeom>
              <a:avLst/>
              <a:gdLst/>
              <a:ahLst/>
              <a:cxnLst/>
              <a:rect l="l" t="t" r="r" b="b"/>
              <a:pathLst>
                <a:path w="2252979" h="1461770">
                  <a:moveTo>
                    <a:pt x="2237740" y="0"/>
                  </a:moveTo>
                  <a:lnTo>
                    <a:pt x="13335" y="0"/>
                  </a:lnTo>
                  <a:lnTo>
                    <a:pt x="5080" y="7620"/>
                  </a:lnTo>
                  <a:lnTo>
                    <a:pt x="0" y="13161"/>
                  </a:lnTo>
                  <a:lnTo>
                    <a:pt x="0" y="1449878"/>
                  </a:lnTo>
                  <a:lnTo>
                    <a:pt x="5080" y="1455420"/>
                  </a:lnTo>
                  <a:lnTo>
                    <a:pt x="11959" y="1461770"/>
                  </a:lnTo>
                  <a:lnTo>
                    <a:pt x="2239010" y="1461770"/>
                  </a:lnTo>
                  <a:lnTo>
                    <a:pt x="2252979" y="1447800"/>
                  </a:lnTo>
                  <a:lnTo>
                    <a:pt x="2252979" y="1446530"/>
                  </a:lnTo>
                  <a:lnTo>
                    <a:pt x="15240" y="1446530"/>
                  </a:lnTo>
                  <a:lnTo>
                    <a:pt x="15240" y="16510"/>
                  </a:lnTo>
                  <a:lnTo>
                    <a:pt x="2252979" y="16510"/>
                  </a:lnTo>
                  <a:lnTo>
                    <a:pt x="2252979" y="15239"/>
                  </a:lnTo>
                  <a:lnTo>
                    <a:pt x="2237740" y="0"/>
                  </a:lnTo>
                  <a:close/>
                </a:path>
                <a:path w="2252979" h="1461770">
                  <a:moveTo>
                    <a:pt x="2252979" y="16510"/>
                  </a:moveTo>
                  <a:lnTo>
                    <a:pt x="2237740" y="16510"/>
                  </a:lnTo>
                  <a:lnTo>
                    <a:pt x="2237740" y="1446530"/>
                  </a:lnTo>
                  <a:lnTo>
                    <a:pt x="2252979" y="1446530"/>
                  </a:lnTo>
                  <a:lnTo>
                    <a:pt x="2252979" y="16510"/>
                  </a:lnTo>
                  <a:close/>
                </a:path>
              </a:pathLst>
            </a:custGeom>
            <a:solidFill>
              <a:srgbClr val="FFFFC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5" name="object 305"/>
            <p:cNvSpPr/>
            <p:nvPr/>
          </p:nvSpPr>
          <p:spPr>
            <a:xfrm>
              <a:off x="1551940" y="5126989"/>
              <a:ext cx="2222500" cy="1430020"/>
            </a:xfrm>
            <a:custGeom>
              <a:avLst/>
              <a:gdLst/>
              <a:ahLst/>
              <a:cxnLst/>
              <a:rect l="l" t="t" r="r" b="b"/>
              <a:pathLst>
                <a:path w="2222500" h="1430020">
                  <a:moveTo>
                    <a:pt x="2222500" y="0"/>
                  </a:moveTo>
                  <a:lnTo>
                    <a:pt x="2205990" y="0"/>
                  </a:lnTo>
                  <a:lnTo>
                    <a:pt x="2205990" y="15240"/>
                  </a:lnTo>
                  <a:lnTo>
                    <a:pt x="2205990" y="1413510"/>
                  </a:lnTo>
                  <a:lnTo>
                    <a:pt x="15240" y="1413510"/>
                  </a:lnTo>
                  <a:lnTo>
                    <a:pt x="15240" y="15240"/>
                  </a:lnTo>
                  <a:lnTo>
                    <a:pt x="2205990" y="15240"/>
                  </a:lnTo>
                  <a:lnTo>
                    <a:pt x="220599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413510"/>
                  </a:lnTo>
                  <a:lnTo>
                    <a:pt x="0" y="1430020"/>
                  </a:lnTo>
                  <a:lnTo>
                    <a:pt x="2222500" y="1430020"/>
                  </a:lnTo>
                  <a:lnTo>
                    <a:pt x="2222500" y="1413522"/>
                  </a:lnTo>
                  <a:lnTo>
                    <a:pt x="2222500" y="15240"/>
                  </a:lnTo>
                  <a:lnTo>
                    <a:pt x="2222500" y="0"/>
                  </a:lnTo>
                  <a:close/>
                </a:path>
              </a:pathLst>
            </a:custGeom>
            <a:solidFill>
              <a:srgbClr val="FFFFD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6" name="object 306"/>
            <p:cNvSpPr/>
            <p:nvPr/>
          </p:nvSpPr>
          <p:spPr>
            <a:xfrm>
              <a:off x="1567180" y="5142229"/>
              <a:ext cx="2190750" cy="1398270"/>
            </a:xfrm>
            <a:custGeom>
              <a:avLst/>
              <a:gdLst/>
              <a:ahLst/>
              <a:cxnLst/>
              <a:rect l="l" t="t" r="r" b="b"/>
              <a:pathLst>
                <a:path w="2190750" h="1398270">
                  <a:moveTo>
                    <a:pt x="2190750" y="0"/>
                  </a:moveTo>
                  <a:lnTo>
                    <a:pt x="2175510" y="0"/>
                  </a:lnTo>
                  <a:lnTo>
                    <a:pt x="2175510" y="15240"/>
                  </a:lnTo>
                  <a:lnTo>
                    <a:pt x="2175510" y="1383030"/>
                  </a:lnTo>
                  <a:lnTo>
                    <a:pt x="15240" y="1383030"/>
                  </a:lnTo>
                  <a:lnTo>
                    <a:pt x="15240" y="15240"/>
                  </a:lnTo>
                  <a:lnTo>
                    <a:pt x="2175510" y="15240"/>
                  </a:lnTo>
                  <a:lnTo>
                    <a:pt x="217551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383030"/>
                  </a:lnTo>
                  <a:lnTo>
                    <a:pt x="0" y="1398270"/>
                  </a:lnTo>
                  <a:lnTo>
                    <a:pt x="2190750" y="1398270"/>
                  </a:lnTo>
                  <a:lnTo>
                    <a:pt x="2190750" y="1383042"/>
                  </a:lnTo>
                  <a:lnTo>
                    <a:pt x="2190750" y="15240"/>
                  </a:lnTo>
                  <a:lnTo>
                    <a:pt x="2190750" y="0"/>
                  </a:lnTo>
                  <a:close/>
                </a:path>
              </a:pathLst>
            </a:custGeom>
            <a:solidFill>
              <a:srgbClr val="FFFFD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7" name="object 307"/>
            <p:cNvSpPr/>
            <p:nvPr/>
          </p:nvSpPr>
          <p:spPr>
            <a:xfrm>
              <a:off x="1582420" y="5157469"/>
              <a:ext cx="2160270" cy="1367790"/>
            </a:xfrm>
            <a:custGeom>
              <a:avLst/>
              <a:gdLst/>
              <a:ahLst/>
              <a:cxnLst/>
              <a:rect l="l" t="t" r="r" b="b"/>
              <a:pathLst>
                <a:path w="2160270" h="1367790">
                  <a:moveTo>
                    <a:pt x="2160270" y="0"/>
                  </a:moveTo>
                  <a:lnTo>
                    <a:pt x="2145030" y="0"/>
                  </a:lnTo>
                  <a:lnTo>
                    <a:pt x="2145030" y="15240"/>
                  </a:lnTo>
                  <a:lnTo>
                    <a:pt x="2145030" y="1352550"/>
                  </a:lnTo>
                  <a:lnTo>
                    <a:pt x="16510" y="1352550"/>
                  </a:lnTo>
                  <a:lnTo>
                    <a:pt x="16510" y="15240"/>
                  </a:lnTo>
                  <a:lnTo>
                    <a:pt x="2145030" y="15240"/>
                  </a:lnTo>
                  <a:lnTo>
                    <a:pt x="214503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352550"/>
                  </a:lnTo>
                  <a:lnTo>
                    <a:pt x="0" y="1367790"/>
                  </a:lnTo>
                  <a:lnTo>
                    <a:pt x="2160270" y="1367790"/>
                  </a:lnTo>
                  <a:lnTo>
                    <a:pt x="2160270" y="1352550"/>
                  </a:lnTo>
                  <a:lnTo>
                    <a:pt x="2160270" y="15240"/>
                  </a:lnTo>
                  <a:lnTo>
                    <a:pt x="2160270" y="0"/>
                  </a:lnTo>
                  <a:close/>
                </a:path>
              </a:pathLst>
            </a:custGeom>
            <a:solidFill>
              <a:srgbClr val="FFFFD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8" name="object 308"/>
            <p:cNvSpPr/>
            <p:nvPr/>
          </p:nvSpPr>
          <p:spPr>
            <a:xfrm>
              <a:off x="1598930" y="5172709"/>
              <a:ext cx="2128520" cy="1337310"/>
            </a:xfrm>
            <a:custGeom>
              <a:avLst/>
              <a:gdLst/>
              <a:ahLst/>
              <a:cxnLst/>
              <a:rect l="l" t="t" r="r" b="b"/>
              <a:pathLst>
                <a:path w="2128520" h="1337309">
                  <a:moveTo>
                    <a:pt x="2128520" y="0"/>
                  </a:moveTo>
                  <a:lnTo>
                    <a:pt x="2113280" y="0"/>
                  </a:lnTo>
                  <a:lnTo>
                    <a:pt x="2113280" y="16510"/>
                  </a:lnTo>
                  <a:lnTo>
                    <a:pt x="2113280" y="1322070"/>
                  </a:lnTo>
                  <a:lnTo>
                    <a:pt x="15240" y="1322070"/>
                  </a:lnTo>
                  <a:lnTo>
                    <a:pt x="15240" y="16510"/>
                  </a:lnTo>
                  <a:lnTo>
                    <a:pt x="2113280" y="16510"/>
                  </a:lnTo>
                  <a:lnTo>
                    <a:pt x="2113280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1322070"/>
                  </a:lnTo>
                  <a:lnTo>
                    <a:pt x="0" y="1337310"/>
                  </a:lnTo>
                  <a:lnTo>
                    <a:pt x="2128520" y="1337310"/>
                  </a:lnTo>
                  <a:lnTo>
                    <a:pt x="2128520" y="1322070"/>
                  </a:lnTo>
                  <a:lnTo>
                    <a:pt x="2128520" y="16510"/>
                  </a:lnTo>
                  <a:lnTo>
                    <a:pt x="2128520" y="0"/>
                  </a:lnTo>
                  <a:close/>
                </a:path>
              </a:pathLst>
            </a:custGeom>
            <a:solidFill>
              <a:srgbClr val="FFFFD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09" name="object 309"/>
            <p:cNvSpPr/>
            <p:nvPr/>
          </p:nvSpPr>
          <p:spPr>
            <a:xfrm>
              <a:off x="1614170" y="5189219"/>
              <a:ext cx="2098040" cy="1305560"/>
            </a:xfrm>
            <a:custGeom>
              <a:avLst/>
              <a:gdLst/>
              <a:ahLst/>
              <a:cxnLst/>
              <a:rect l="l" t="t" r="r" b="b"/>
              <a:pathLst>
                <a:path w="2098040" h="1305560">
                  <a:moveTo>
                    <a:pt x="2098040" y="0"/>
                  </a:moveTo>
                  <a:lnTo>
                    <a:pt x="2081530" y="0"/>
                  </a:lnTo>
                  <a:lnTo>
                    <a:pt x="2081530" y="15240"/>
                  </a:lnTo>
                  <a:lnTo>
                    <a:pt x="2081530" y="1290320"/>
                  </a:lnTo>
                  <a:lnTo>
                    <a:pt x="15240" y="1290320"/>
                  </a:lnTo>
                  <a:lnTo>
                    <a:pt x="15240" y="15240"/>
                  </a:lnTo>
                  <a:lnTo>
                    <a:pt x="2081530" y="15240"/>
                  </a:lnTo>
                  <a:lnTo>
                    <a:pt x="208153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290320"/>
                  </a:lnTo>
                  <a:lnTo>
                    <a:pt x="0" y="1305560"/>
                  </a:lnTo>
                  <a:lnTo>
                    <a:pt x="2098040" y="1305560"/>
                  </a:lnTo>
                  <a:lnTo>
                    <a:pt x="2098040" y="1290320"/>
                  </a:lnTo>
                  <a:lnTo>
                    <a:pt x="2098040" y="15240"/>
                  </a:lnTo>
                  <a:lnTo>
                    <a:pt x="2098040" y="0"/>
                  </a:lnTo>
                  <a:close/>
                </a:path>
              </a:pathLst>
            </a:custGeom>
            <a:solidFill>
              <a:srgbClr val="FFFFD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0" name="object 310"/>
            <p:cNvSpPr/>
            <p:nvPr/>
          </p:nvSpPr>
          <p:spPr>
            <a:xfrm>
              <a:off x="1629410" y="5204459"/>
              <a:ext cx="2066289" cy="1275080"/>
            </a:xfrm>
            <a:custGeom>
              <a:avLst/>
              <a:gdLst/>
              <a:ahLst/>
              <a:cxnLst/>
              <a:rect l="l" t="t" r="r" b="b"/>
              <a:pathLst>
                <a:path w="2066289" h="1275079">
                  <a:moveTo>
                    <a:pt x="2066290" y="0"/>
                  </a:moveTo>
                  <a:lnTo>
                    <a:pt x="2051050" y="0"/>
                  </a:lnTo>
                  <a:lnTo>
                    <a:pt x="2051050" y="15240"/>
                  </a:lnTo>
                  <a:lnTo>
                    <a:pt x="2051050" y="1258570"/>
                  </a:lnTo>
                  <a:lnTo>
                    <a:pt x="15240" y="1258570"/>
                  </a:lnTo>
                  <a:lnTo>
                    <a:pt x="15240" y="15240"/>
                  </a:lnTo>
                  <a:lnTo>
                    <a:pt x="2051050" y="15240"/>
                  </a:lnTo>
                  <a:lnTo>
                    <a:pt x="205105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258570"/>
                  </a:lnTo>
                  <a:lnTo>
                    <a:pt x="0" y="1275080"/>
                  </a:lnTo>
                  <a:lnTo>
                    <a:pt x="2066290" y="1275080"/>
                  </a:lnTo>
                  <a:lnTo>
                    <a:pt x="2066290" y="1258570"/>
                  </a:lnTo>
                  <a:lnTo>
                    <a:pt x="2066290" y="15240"/>
                  </a:lnTo>
                  <a:lnTo>
                    <a:pt x="2066290" y="0"/>
                  </a:lnTo>
                  <a:close/>
                </a:path>
              </a:pathLst>
            </a:custGeom>
            <a:solidFill>
              <a:srgbClr val="FFFFD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1" name="object 311"/>
            <p:cNvSpPr/>
            <p:nvPr/>
          </p:nvSpPr>
          <p:spPr>
            <a:xfrm>
              <a:off x="1644650" y="5219699"/>
              <a:ext cx="2035810" cy="1243330"/>
            </a:xfrm>
            <a:custGeom>
              <a:avLst/>
              <a:gdLst/>
              <a:ahLst/>
              <a:cxnLst/>
              <a:rect l="l" t="t" r="r" b="b"/>
              <a:pathLst>
                <a:path w="2035810" h="1243329">
                  <a:moveTo>
                    <a:pt x="2035810" y="0"/>
                  </a:moveTo>
                  <a:lnTo>
                    <a:pt x="2020570" y="0"/>
                  </a:lnTo>
                  <a:lnTo>
                    <a:pt x="2020570" y="15240"/>
                  </a:lnTo>
                  <a:lnTo>
                    <a:pt x="2020570" y="1228090"/>
                  </a:lnTo>
                  <a:lnTo>
                    <a:pt x="16510" y="1228090"/>
                  </a:lnTo>
                  <a:lnTo>
                    <a:pt x="16510" y="15240"/>
                  </a:lnTo>
                  <a:lnTo>
                    <a:pt x="2020570" y="15240"/>
                  </a:lnTo>
                  <a:lnTo>
                    <a:pt x="202057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228090"/>
                  </a:lnTo>
                  <a:lnTo>
                    <a:pt x="0" y="1243330"/>
                  </a:lnTo>
                  <a:lnTo>
                    <a:pt x="2035810" y="1243330"/>
                  </a:lnTo>
                  <a:lnTo>
                    <a:pt x="2035810" y="1228102"/>
                  </a:lnTo>
                  <a:lnTo>
                    <a:pt x="2035810" y="15240"/>
                  </a:lnTo>
                  <a:lnTo>
                    <a:pt x="2035810" y="0"/>
                  </a:lnTo>
                  <a:close/>
                </a:path>
              </a:pathLst>
            </a:custGeom>
            <a:solidFill>
              <a:srgbClr val="FFFFD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2" name="object 312"/>
            <p:cNvSpPr/>
            <p:nvPr/>
          </p:nvSpPr>
          <p:spPr>
            <a:xfrm>
              <a:off x="1661160" y="5234939"/>
              <a:ext cx="2004060" cy="1212850"/>
            </a:xfrm>
            <a:custGeom>
              <a:avLst/>
              <a:gdLst/>
              <a:ahLst/>
              <a:cxnLst/>
              <a:rect l="l" t="t" r="r" b="b"/>
              <a:pathLst>
                <a:path w="2004060" h="1212850">
                  <a:moveTo>
                    <a:pt x="2004060" y="0"/>
                  </a:moveTo>
                  <a:lnTo>
                    <a:pt x="1987550" y="0"/>
                  </a:lnTo>
                  <a:lnTo>
                    <a:pt x="1987550" y="16510"/>
                  </a:lnTo>
                  <a:lnTo>
                    <a:pt x="1987550" y="1197610"/>
                  </a:lnTo>
                  <a:lnTo>
                    <a:pt x="15240" y="1197610"/>
                  </a:lnTo>
                  <a:lnTo>
                    <a:pt x="15240" y="16510"/>
                  </a:lnTo>
                  <a:lnTo>
                    <a:pt x="1987550" y="16510"/>
                  </a:lnTo>
                  <a:lnTo>
                    <a:pt x="1987550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1197610"/>
                  </a:lnTo>
                  <a:lnTo>
                    <a:pt x="0" y="1212850"/>
                  </a:lnTo>
                  <a:lnTo>
                    <a:pt x="2004060" y="1212850"/>
                  </a:lnTo>
                  <a:lnTo>
                    <a:pt x="2004060" y="1197610"/>
                  </a:lnTo>
                  <a:lnTo>
                    <a:pt x="2004060" y="16510"/>
                  </a:lnTo>
                  <a:lnTo>
                    <a:pt x="2004060" y="0"/>
                  </a:lnTo>
                  <a:close/>
                </a:path>
              </a:pathLst>
            </a:custGeom>
            <a:solidFill>
              <a:srgbClr val="FFFFD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3" name="object 313"/>
            <p:cNvSpPr/>
            <p:nvPr/>
          </p:nvSpPr>
          <p:spPr>
            <a:xfrm>
              <a:off x="1676400" y="5251449"/>
              <a:ext cx="1972310" cy="1181100"/>
            </a:xfrm>
            <a:custGeom>
              <a:avLst/>
              <a:gdLst/>
              <a:ahLst/>
              <a:cxnLst/>
              <a:rect l="l" t="t" r="r" b="b"/>
              <a:pathLst>
                <a:path w="1972310" h="1181100">
                  <a:moveTo>
                    <a:pt x="1972310" y="0"/>
                  </a:moveTo>
                  <a:lnTo>
                    <a:pt x="1957070" y="0"/>
                  </a:lnTo>
                  <a:lnTo>
                    <a:pt x="1957070" y="15240"/>
                  </a:lnTo>
                  <a:lnTo>
                    <a:pt x="1957070" y="1164590"/>
                  </a:lnTo>
                  <a:lnTo>
                    <a:pt x="15240" y="1164590"/>
                  </a:lnTo>
                  <a:lnTo>
                    <a:pt x="15240" y="15240"/>
                  </a:lnTo>
                  <a:lnTo>
                    <a:pt x="1957070" y="15240"/>
                  </a:lnTo>
                  <a:lnTo>
                    <a:pt x="195707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164590"/>
                  </a:lnTo>
                  <a:lnTo>
                    <a:pt x="0" y="1181100"/>
                  </a:lnTo>
                  <a:lnTo>
                    <a:pt x="1972310" y="1181100"/>
                  </a:lnTo>
                  <a:lnTo>
                    <a:pt x="1972310" y="1164590"/>
                  </a:lnTo>
                  <a:lnTo>
                    <a:pt x="1972310" y="15240"/>
                  </a:lnTo>
                  <a:lnTo>
                    <a:pt x="1972310" y="0"/>
                  </a:lnTo>
                  <a:close/>
                </a:path>
              </a:pathLst>
            </a:custGeom>
            <a:solidFill>
              <a:srgbClr val="FFFFD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4" name="object 314"/>
            <p:cNvSpPr/>
            <p:nvPr/>
          </p:nvSpPr>
          <p:spPr>
            <a:xfrm>
              <a:off x="1691640" y="5266689"/>
              <a:ext cx="1941830" cy="1149350"/>
            </a:xfrm>
            <a:custGeom>
              <a:avLst/>
              <a:gdLst/>
              <a:ahLst/>
              <a:cxnLst/>
              <a:rect l="l" t="t" r="r" b="b"/>
              <a:pathLst>
                <a:path w="1941829" h="1149350">
                  <a:moveTo>
                    <a:pt x="1941830" y="0"/>
                  </a:moveTo>
                  <a:lnTo>
                    <a:pt x="1926590" y="0"/>
                  </a:lnTo>
                  <a:lnTo>
                    <a:pt x="1926590" y="15240"/>
                  </a:lnTo>
                  <a:lnTo>
                    <a:pt x="1926590" y="1134110"/>
                  </a:lnTo>
                  <a:lnTo>
                    <a:pt x="15240" y="1134110"/>
                  </a:lnTo>
                  <a:lnTo>
                    <a:pt x="15240" y="15240"/>
                  </a:lnTo>
                  <a:lnTo>
                    <a:pt x="1926590" y="15240"/>
                  </a:lnTo>
                  <a:lnTo>
                    <a:pt x="192659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134110"/>
                  </a:lnTo>
                  <a:lnTo>
                    <a:pt x="0" y="1149350"/>
                  </a:lnTo>
                  <a:lnTo>
                    <a:pt x="1941830" y="1149350"/>
                  </a:lnTo>
                  <a:lnTo>
                    <a:pt x="1941830" y="1134110"/>
                  </a:lnTo>
                  <a:lnTo>
                    <a:pt x="1941830" y="15240"/>
                  </a:lnTo>
                  <a:lnTo>
                    <a:pt x="1941830" y="0"/>
                  </a:lnTo>
                  <a:close/>
                </a:path>
              </a:pathLst>
            </a:custGeom>
            <a:solidFill>
              <a:srgbClr val="FFFFD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5" name="object 315"/>
            <p:cNvSpPr/>
            <p:nvPr/>
          </p:nvSpPr>
          <p:spPr>
            <a:xfrm>
              <a:off x="1706880" y="5281929"/>
              <a:ext cx="1911350" cy="1118870"/>
            </a:xfrm>
            <a:custGeom>
              <a:avLst/>
              <a:gdLst/>
              <a:ahLst/>
              <a:cxnLst/>
              <a:rect l="l" t="t" r="r" b="b"/>
              <a:pathLst>
                <a:path w="1911350" h="1118870">
                  <a:moveTo>
                    <a:pt x="1911350" y="0"/>
                  </a:moveTo>
                  <a:lnTo>
                    <a:pt x="1896110" y="0"/>
                  </a:lnTo>
                  <a:lnTo>
                    <a:pt x="1896110" y="15240"/>
                  </a:lnTo>
                  <a:lnTo>
                    <a:pt x="1896110" y="1103630"/>
                  </a:lnTo>
                  <a:lnTo>
                    <a:pt x="15240" y="1103630"/>
                  </a:lnTo>
                  <a:lnTo>
                    <a:pt x="15240" y="15240"/>
                  </a:lnTo>
                  <a:lnTo>
                    <a:pt x="1896110" y="15240"/>
                  </a:lnTo>
                  <a:lnTo>
                    <a:pt x="189611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103630"/>
                  </a:lnTo>
                  <a:lnTo>
                    <a:pt x="0" y="1118870"/>
                  </a:lnTo>
                  <a:lnTo>
                    <a:pt x="1911350" y="1118870"/>
                  </a:lnTo>
                  <a:lnTo>
                    <a:pt x="1911350" y="1103630"/>
                  </a:lnTo>
                  <a:lnTo>
                    <a:pt x="1911350" y="15240"/>
                  </a:lnTo>
                  <a:lnTo>
                    <a:pt x="1911350" y="0"/>
                  </a:lnTo>
                  <a:close/>
                </a:path>
              </a:pathLst>
            </a:custGeom>
            <a:solidFill>
              <a:srgbClr val="FFFFD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6" name="object 316"/>
            <p:cNvSpPr/>
            <p:nvPr/>
          </p:nvSpPr>
          <p:spPr>
            <a:xfrm>
              <a:off x="1722120" y="5297169"/>
              <a:ext cx="1880870" cy="1088390"/>
            </a:xfrm>
            <a:custGeom>
              <a:avLst/>
              <a:gdLst/>
              <a:ahLst/>
              <a:cxnLst/>
              <a:rect l="l" t="t" r="r" b="b"/>
              <a:pathLst>
                <a:path w="1880870" h="1088389">
                  <a:moveTo>
                    <a:pt x="1880870" y="0"/>
                  </a:moveTo>
                  <a:lnTo>
                    <a:pt x="1864360" y="0"/>
                  </a:lnTo>
                  <a:lnTo>
                    <a:pt x="1864360" y="16510"/>
                  </a:lnTo>
                  <a:lnTo>
                    <a:pt x="1864360" y="1073150"/>
                  </a:lnTo>
                  <a:lnTo>
                    <a:pt x="16510" y="1073150"/>
                  </a:lnTo>
                  <a:lnTo>
                    <a:pt x="16510" y="16510"/>
                  </a:lnTo>
                  <a:lnTo>
                    <a:pt x="1864360" y="16510"/>
                  </a:lnTo>
                  <a:lnTo>
                    <a:pt x="1864360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1073150"/>
                  </a:lnTo>
                  <a:lnTo>
                    <a:pt x="0" y="1088390"/>
                  </a:lnTo>
                  <a:lnTo>
                    <a:pt x="1880870" y="1088390"/>
                  </a:lnTo>
                  <a:lnTo>
                    <a:pt x="1880870" y="1073162"/>
                  </a:lnTo>
                  <a:lnTo>
                    <a:pt x="1880870" y="16510"/>
                  </a:lnTo>
                  <a:lnTo>
                    <a:pt x="1880870" y="0"/>
                  </a:lnTo>
                  <a:close/>
                </a:path>
              </a:pathLst>
            </a:custGeom>
            <a:solidFill>
              <a:srgbClr val="FFFFD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7" name="object 317"/>
            <p:cNvSpPr/>
            <p:nvPr/>
          </p:nvSpPr>
          <p:spPr>
            <a:xfrm>
              <a:off x="1738630" y="5313679"/>
              <a:ext cx="1847850" cy="1056640"/>
            </a:xfrm>
            <a:custGeom>
              <a:avLst/>
              <a:gdLst/>
              <a:ahLst/>
              <a:cxnLst/>
              <a:rect l="l" t="t" r="r" b="b"/>
              <a:pathLst>
                <a:path w="1847850" h="1056639">
                  <a:moveTo>
                    <a:pt x="1847850" y="0"/>
                  </a:moveTo>
                  <a:lnTo>
                    <a:pt x="1832610" y="0"/>
                  </a:lnTo>
                  <a:lnTo>
                    <a:pt x="1832610" y="15240"/>
                  </a:lnTo>
                  <a:lnTo>
                    <a:pt x="1832610" y="1040130"/>
                  </a:lnTo>
                  <a:lnTo>
                    <a:pt x="15240" y="1040130"/>
                  </a:lnTo>
                  <a:lnTo>
                    <a:pt x="15240" y="15240"/>
                  </a:lnTo>
                  <a:lnTo>
                    <a:pt x="1832610" y="15240"/>
                  </a:lnTo>
                  <a:lnTo>
                    <a:pt x="183261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040130"/>
                  </a:lnTo>
                  <a:lnTo>
                    <a:pt x="0" y="1056640"/>
                  </a:lnTo>
                  <a:lnTo>
                    <a:pt x="1847850" y="1056640"/>
                  </a:lnTo>
                  <a:lnTo>
                    <a:pt x="1847850" y="1040130"/>
                  </a:lnTo>
                  <a:lnTo>
                    <a:pt x="1847850" y="15240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FFFFD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8" name="object 318"/>
            <p:cNvSpPr/>
            <p:nvPr/>
          </p:nvSpPr>
          <p:spPr>
            <a:xfrm>
              <a:off x="1753870" y="5328919"/>
              <a:ext cx="1817370" cy="1024890"/>
            </a:xfrm>
            <a:custGeom>
              <a:avLst/>
              <a:gdLst/>
              <a:ahLst/>
              <a:cxnLst/>
              <a:rect l="l" t="t" r="r" b="b"/>
              <a:pathLst>
                <a:path w="1817370" h="1024889">
                  <a:moveTo>
                    <a:pt x="1817370" y="0"/>
                  </a:moveTo>
                  <a:lnTo>
                    <a:pt x="1802130" y="0"/>
                  </a:lnTo>
                  <a:lnTo>
                    <a:pt x="1802130" y="15240"/>
                  </a:lnTo>
                  <a:lnTo>
                    <a:pt x="1802130" y="1009650"/>
                  </a:lnTo>
                  <a:lnTo>
                    <a:pt x="15240" y="1009650"/>
                  </a:lnTo>
                  <a:lnTo>
                    <a:pt x="15240" y="15240"/>
                  </a:lnTo>
                  <a:lnTo>
                    <a:pt x="1802130" y="15240"/>
                  </a:lnTo>
                  <a:lnTo>
                    <a:pt x="180213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009650"/>
                  </a:lnTo>
                  <a:lnTo>
                    <a:pt x="0" y="1024890"/>
                  </a:lnTo>
                  <a:lnTo>
                    <a:pt x="1817370" y="1024890"/>
                  </a:lnTo>
                  <a:lnTo>
                    <a:pt x="1817370" y="1009662"/>
                  </a:lnTo>
                  <a:lnTo>
                    <a:pt x="1817370" y="15240"/>
                  </a:lnTo>
                  <a:lnTo>
                    <a:pt x="1817370" y="0"/>
                  </a:lnTo>
                  <a:close/>
                </a:path>
              </a:pathLst>
            </a:custGeom>
            <a:solidFill>
              <a:srgbClr val="FFFFD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19" name="object 319"/>
            <p:cNvSpPr/>
            <p:nvPr/>
          </p:nvSpPr>
          <p:spPr>
            <a:xfrm>
              <a:off x="1769110" y="5344159"/>
              <a:ext cx="1786889" cy="994410"/>
            </a:xfrm>
            <a:custGeom>
              <a:avLst/>
              <a:gdLst/>
              <a:ahLst/>
              <a:cxnLst/>
              <a:rect l="l" t="t" r="r" b="b"/>
              <a:pathLst>
                <a:path w="1786889" h="994410">
                  <a:moveTo>
                    <a:pt x="1786890" y="0"/>
                  </a:moveTo>
                  <a:lnTo>
                    <a:pt x="1771650" y="0"/>
                  </a:lnTo>
                  <a:lnTo>
                    <a:pt x="1771650" y="15240"/>
                  </a:lnTo>
                  <a:lnTo>
                    <a:pt x="1771650" y="979170"/>
                  </a:lnTo>
                  <a:lnTo>
                    <a:pt x="15240" y="979170"/>
                  </a:lnTo>
                  <a:lnTo>
                    <a:pt x="15240" y="15240"/>
                  </a:lnTo>
                  <a:lnTo>
                    <a:pt x="1771650" y="15240"/>
                  </a:lnTo>
                  <a:lnTo>
                    <a:pt x="177165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979170"/>
                  </a:lnTo>
                  <a:lnTo>
                    <a:pt x="0" y="994410"/>
                  </a:lnTo>
                  <a:lnTo>
                    <a:pt x="1786890" y="994410"/>
                  </a:lnTo>
                  <a:lnTo>
                    <a:pt x="1786890" y="979170"/>
                  </a:lnTo>
                  <a:lnTo>
                    <a:pt x="1786890" y="15240"/>
                  </a:lnTo>
                  <a:lnTo>
                    <a:pt x="1786890" y="0"/>
                  </a:lnTo>
                  <a:close/>
                </a:path>
              </a:pathLst>
            </a:custGeom>
            <a:solidFill>
              <a:srgbClr val="FFFFD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0" name="object 320"/>
            <p:cNvSpPr/>
            <p:nvPr/>
          </p:nvSpPr>
          <p:spPr>
            <a:xfrm>
              <a:off x="1784350" y="5359399"/>
              <a:ext cx="1756410" cy="963930"/>
            </a:xfrm>
            <a:custGeom>
              <a:avLst/>
              <a:gdLst/>
              <a:ahLst/>
              <a:cxnLst/>
              <a:rect l="l" t="t" r="r" b="b"/>
              <a:pathLst>
                <a:path w="1756410" h="963929">
                  <a:moveTo>
                    <a:pt x="1756410" y="0"/>
                  </a:moveTo>
                  <a:lnTo>
                    <a:pt x="1741170" y="0"/>
                  </a:lnTo>
                  <a:lnTo>
                    <a:pt x="1741170" y="15240"/>
                  </a:lnTo>
                  <a:lnTo>
                    <a:pt x="1741170" y="948690"/>
                  </a:lnTo>
                  <a:lnTo>
                    <a:pt x="16510" y="948690"/>
                  </a:lnTo>
                  <a:lnTo>
                    <a:pt x="16510" y="15240"/>
                  </a:lnTo>
                  <a:lnTo>
                    <a:pt x="1741170" y="15240"/>
                  </a:lnTo>
                  <a:lnTo>
                    <a:pt x="174117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948690"/>
                  </a:lnTo>
                  <a:lnTo>
                    <a:pt x="0" y="963930"/>
                  </a:lnTo>
                  <a:lnTo>
                    <a:pt x="1756410" y="963930"/>
                  </a:lnTo>
                  <a:lnTo>
                    <a:pt x="1756410" y="948690"/>
                  </a:lnTo>
                  <a:lnTo>
                    <a:pt x="1756410" y="15240"/>
                  </a:lnTo>
                  <a:lnTo>
                    <a:pt x="1756410" y="0"/>
                  </a:lnTo>
                  <a:close/>
                </a:path>
              </a:pathLst>
            </a:custGeom>
            <a:solidFill>
              <a:srgbClr val="FFFFD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1" name="object 321"/>
            <p:cNvSpPr/>
            <p:nvPr/>
          </p:nvSpPr>
          <p:spPr>
            <a:xfrm>
              <a:off x="1800860" y="5374639"/>
              <a:ext cx="1724660" cy="933450"/>
            </a:xfrm>
            <a:custGeom>
              <a:avLst/>
              <a:gdLst/>
              <a:ahLst/>
              <a:cxnLst/>
              <a:rect l="l" t="t" r="r" b="b"/>
              <a:pathLst>
                <a:path w="1724660" h="933450">
                  <a:moveTo>
                    <a:pt x="1724660" y="0"/>
                  </a:moveTo>
                  <a:lnTo>
                    <a:pt x="1708150" y="0"/>
                  </a:lnTo>
                  <a:lnTo>
                    <a:pt x="1708150" y="16510"/>
                  </a:lnTo>
                  <a:lnTo>
                    <a:pt x="1708150" y="916940"/>
                  </a:lnTo>
                  <a:lnTo>
                    <a:pt x="15240" y="916940"/>
                  </a:lnTo>
                  <a:lnTo>
                    <a:pt x="15240" y="16510"/>
                  </a:lnTo>
                  <a:lnTo>
                    <a:pt x="1708150" y="16510"/>
                  </a:lnTo>
                  <a:lnTo>
                    <a:pt x="1708150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916940"/>
                  </a:lnTo>
                  <a:lnTo>
                    <a:pt x="0" y="933450"/>
                  </a:lnTo>
                  <a:lnTo>
                    <a:pt x="1724660" y="933450"/>
                  </a:lnTo>
                  <a:lnTo>
                    <a:pt x="1724660" y="916952"/>
                  </a:lnTo>
                  <a:lnTo>
                    <a:pt x="1724660" y="16510"/>
                  </a:lnTo>
                  <a:lnTo>
                    <a:pt x="1724660" y="0"/>
                  </a:lnTo>
                  <a:close/>
                </a:path>
              </a:pathLst>
            </a:custGeom>
            <a:solidFill>
              <a:srgbClr val="FFFFE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2" name="object 322"/>
            <p:cNvSpPr/>
            <p:nvPr/>
          </p:nvSpPr>
          <p:spPr>
            <a:xfrm>
              <a:off x="1816100" y="5391149"/>
              <a:ext cx="1692910" cy="900430"/>
            </a:xfrm>
            <a:custGeom>
              <a:avLst/>
              <a:gdLst/>
              <a:ahLst/>
              <a:cxnLst/>
              <a:rect l="l" t="t" r="r" b="b"/>
              <a:pathLst>
                <a:path w="1692910" h="900429">
                  <a:moveTo>
                    <a:pt x="1692910" y="0"/>
                  </a:moveTo>
                  <a:lnTo>
                    <a:pt x="1677670" y="0"/>
                  </a:lnTo>
                  <a:lnTo>
                    <a:pt x="1677670" y="15240"/>
                  </a:lnTo>
                  <a:lnTo>
                    <a:pt x="1677670" y="885190"/>
                  </a:lnTo>
                  <a:lnTo>
                    <a:pt x="15240" y="885190"/>
                  </a:lnTo>
                  <a:lnTo>
                    <a:pt x="15240" y="15240"/>
                  </a:lnTo>
                  <a:lnTo>
                    <a:pt x="1677670" y="15240"/>
                  </a:lnTo>
                  <a:lnTo>
                    <a:pt x="167767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885190"/>
                  </a:lnTo>
                  <a:lnTo>
                    <a:pt x="0" y="900430"/>
                  </a:lnTo>
                  <a:lnTo>
                    <a:pt x="1692910" y="900430"/>
                  </a:lnTo>
                  <a:lnTo>
                    <a:pt x="1692910" y="885190"/>
                  </a:lnTo>
                  <a:lnTo>
                    <a:pt x="1692910" y="15240"/>
                  </a:lnTo>
                  <a:lnTo>
                    <a:pt x="1692910" y="0"/>
                  </a:lnTo>
                  <a:close/>
                </a:path>
              </a:pathLst>
            </a:custGeom>
            <a:solidFill>
              <a:srgbClr val="FFFFE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3" name="object 323"/>
            <p:cNvSpPr/>
            <p:nvPr/>
          </p:nvSpPr>
          <p:spPr>
            <a:xfrm>
              <a:off x="1831340" y="5406389"/>
              <a:ext cx="1662430" cy="869950"/>
            </a:xfrm>
            <a:custGeom>
              <a:avLst/>
              <a:gdLst/>
              <a:ahLst/>
              <a:cxnLst/>
              <a:rect l="l" t="t" r="r" b="b"/>
              <a:pathLst>
                <a:path w="1662429" h="869950">
                  <a:moveTo>
                    <a:pt x="1662430" y="0"/>
                  </a:moveTo>
                  <a:lnTo>
                    <a:pt x="1647190" y="0"/>
                  </a:lnTo>
                  <a:lnTo>
                    <a:pt x="1647190" y="15240"/>
                  </a:lnTo>
                  <a:lnTo>
                    <a:pt x="1647190" y="854710"/>
                  </a:lnTo>
                  <a:lnTo>
                    <a:pt x="15240" y="854710"/>
                  </a:lnTo>
                  <a:lnTo>
                    <a:pt x="15240" y="15240"/>
                  </a:lnTo>
                  <a:lnTo>
                    <a:pt x="1647190" y="15240"/>
                  </a:lnTo>
                  <a:lnTo>
                    <a:pt x="164719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854710"/>
                  </a:lnTo>
                  <a:lnTo>
                    <a:pt x="0" y="869950"/>
                  </a:lnTo>
                  <a:lnTo>
                    <a:pt x="1662430" y="869950"/>
                  </a:lnTo>
                  <a:lnTo>
                    <a:pt x="1662430" y="854710"/>
                  </a:lnTo>
                  <a:lnTo>
                    <a:pt x="1662430" y="15240"/>
                  </a:lnTo>
                  <a:lnTo>
                    <a:pt x="1662430" y="0"/>
                  </a:lnTo>
                  <a:close/>
                </a:path>
              </a:pathLst>
            </a:custGeom>
            <a:solidFill>
              <a:srgbClr val="FFFFE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4" name="object 324"/>
            <p:cNvSpPr/>
            <p:nvPr/>
          </p:nvSpPr>
          <p:spPr>
            <a:xfrm>
              <a:off x="1846580" y="5421629"/>
              <a:ext cx="1631950" cy="839469"/>
            </a:xfrm>
            <a:custGeom>
              <a:avLst/>
              <a:gdLst/>
              <a:ahLst/>
              <a:cxnLst/>
              <a:rect l="l" t="t" r="r" b="b"/>
              <a:pathLst>
                <a:path w="1631950" h="839470">
                  <a:moveTo>
                    <a:pt x="1631950" y="0"/>
                  </a:moveTo>
                  <a:lnTo>
                    <a:pt x="1616710" y="0"/>
                  </a:lnTo>
                  <a:lnTo>
                    <a:pt x="1616710" y="15240"/>
                  </a:lnTo>
                  <a:lnTo>
                    <a:pt x="1616710" y="824230"/>
                  </a:lnTo>
                  <a:lnTo>
                    <a:pt x="16510" y="824230"/>
                  </a:lnTo>
                  <a:lnTo>
                    <a:pt x="16510" y="15240"/>
                  </a:lnTo>
                  <a:lnTo>
                    <a:pt x="1616710" y="15240"/>
                  </a:lnTo>
                  <a:lnTo>
                    <a:pt x="161671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824230"/>
                  </a:lnTo>
                  <a:lnTo>
                    <a:pt x="0" y="839470"/>
                  </a:lnTo>
                  <a:lnTo>
                    <a:pt x="1631950" y="839470"/>
                  </a:lnTo>
                  <a:lnTo>
                    <a:pt x="1631950" y="824230"/>
                  </a:lnTo>
                  <a:lnTo>
                    <a:pt x="1631950" y="15240"/>
                  </a:lnTo>
                  <a:lnTo>
                    <a:pt x="1631950" y="0"/>
                  </a:lnTo>
                  <a:close/>
                </a:path>
              </a:pathLst>
            </a:custGeom>
            <a:solidFill>
              <a:srgbClr val="FFFFE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5" name="object 325"/>
            <p:cNvSpPr/>
            <p:nvPr/>
          </p:nvSpPr>
          <p:spPr>
            <a:xfrm>
              <a:off x="1863090" y="5436869"/>
              <a:ext cx="1600200" cy="808990"/>
            </a:xfrm>
            <a:custGeom>
              <a:avLst/>
              <a:gdLst/>
              <a:ahLst/>
              <a:cxnLst/>
              <a:rect l="l" t="t" r="r" b="b"/>
              <a:pathLst>
                <a:path w="1600200" h="808989">
                  <a:moveTo>
                    <a:pt x="1600200" y="0"/>
                  </a:moveTo>
                  <a:lnTo>
                    <a:pt x="1583690" y="0"/>
                  </a:lnTo>
                  <a:lnTo>
                    <a:pt x="1583690" y="16510"/>
                  </a:lnTo>
                  <a:lnTo>
                    <a:pt x="1583690" y="793750"/>
                  </a:lnTo>
                  <a:lnTo>
                    <a:pt x="15240" y="793750"/>
                  </a:lnTo>
                  <a:lnTo>
                    <a:pt x="15240" y="16510"/>
                  </a:lnTo>
                  <a:lnTo>
                    <a:pt x="1583690" y="16510"/>
                  </a:lnTo>
                  <a:lnTo>
                    <a:pt x="1583690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793750"/>
                  </a:lnTo>
                  <a:lnTo>
                    <a:pt x="0" y="808990"/>
                  </a:lnTo>
                  <a:lnTo>
                    <a:pt x="1600200" y="808990"/>
                  </a:lnTo>
                  <a:lnTo>
                    <a:pt x="1600200" y="793750"/>
                  </a:lnTo>
                  <a:lnTo>
                    <a:pt x="1600200" y="16510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FFFFE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6" name="object 326"/>
            <p:cNvSpPr/>
            <p:nvPr/>
          </p:nvSpPr>
          <p:spPr>
            <a:xfrm>
              <a:off x="1878330" y="5453379"/>
              <a:ext cx="1568450" cy="777240"/>
            </a:xfrm>
            <a:custGeom>
              <a:avLst/>
              <a:gdLst/>
              <a:ahLst/>
              <a:cxnLst/>
              <a:rect l="l" t="t" r="r" b="b"/>
              <a:pathLst>
                <a:path w="1568450" h="777239">
                  <a:moveTo>
                    <a:pt x="1568450" y="0"/>
                  </a:moveTo>
                  <a:lnTo>
                    <a:pt x="1553210" y="0"/>
                  </a:lnTo>
                  <a:lnTo>
                    <a:pt x="1553210" y="15240"/>
                  </a:lnTo>
                  <a:lnTo>
                    <a:pt x="1553210" y="760730"/>
                  </a:lnTo>
                  <a:lnTo>
                    <a:pt x="15240" y="760730"/>
                  </a:lnTo>
                  <a:lnTo>
                    <a:pt x="15240" y="15240"/>
                  </a:lnTo>
                  <a:lnTo>
                    <a:pt x="1553210" y="15240"/>
                  </a:lnTo>
                  <a:lnTo>
                    <a:pt x="155321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760730"/>
                  </a:lnTo>
                  <a:lnTo>
                    <a:pt x="0" y="777240"/>
                  </a:lnTo>
                  <a:lnTo>
                    <a:pt x="1568450" y="777240"/>
                  </a:lnTo>
                  <a:lnTo>
                    <a:pt x="1568450" y="760730"/>
                  </a:lnTo>
                  <a:lnTo>
                    <a:pt x="1568450" y="15240"/>
                  </a:lnTo>
                  <a:lnTo>
                    <a:pt x="1568450" y="0"/>
                  </a:lnTo>
                  <a:close/>
                </a:path>
              </a:pathLst>
            </a:custGeom>
            <a:solidFill>
              <a:srgbClr val="FFFFE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7" name="object 327"/>
            <p:cNvSpPr/>
            <p:nvPr/>
          </p:nvSpPr>
          <p:spPr>
            <a:xfrm>
              <a:off x="1893570" y="5468619"/>
              <a:ext cx="1537970" cy="745490"/>
            </a:xfrm>
            <a:custGeom>
              <a:avLst/>
              <a:gdLst/>
              <a:ahLst/>
              <a:cxnLst/>
              <a:rect l="l" t="t" r="r" b="b"/>
              <a:pathLst>
                <a:path w="1537970" h="745489">
                  <a:moveTo>
                    <a:pt x="1537970" y="0"/>
                  </a:moveTo>
                  <a:lnTo>
                    <a:pt x="1522730" y="0"/>
                  </a:lnTo>
                  <a:lnTo>
                    <a:pt x="1522730" y="15240"/>
                  </a:lnTo>
                  <a:lnTo>
                    <a:pt x="1522730" y="730250"/>
                  </a:lnTo>
                  <a:lnTo>
                    <a:pt x="15240" y="730250"/>
                  </a:lnTo>
                  <a:lnTo>
                    <a:pt x="15240" y="15240"/>
                  </a:lnTo>
                  <a:lnTo>
                    <a:pt x="1522730" y="15240"/>
                  </a:lnTo>
                  <a:lnTo>
                    <a:pt x="152273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730250"/>
                  </a:lnTo>
                  <a:lnTo>
                    <a:pt x="0" y="745490"/>
                  </a:lnTo>
                  <a:lnTo>
                    <a:pt x="1537970" y="745490"/>
                  </a:lnTo>
                  <a:lnTo>
                    <a:pt x="1537970" y="730250"/>
                  </a:lnTo>
                  <a:lnTo>
                    <a:pt x="1537970" y="15240"/>
                  </a:lnTo>
                  <a:lnTo>
                    <a:pt x="1537970" y="0"/>
                  </a:lnTo>
                  <a:close/>
                </a:path>
              </a:pathLst>
            </a:custGeom>
            <a:solidFill>
              <a:srgbClr val="FFFFE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8" name="object 328"/>
            <p:cNvSpPr/>
            <p:nvPr/>
          </p:nvSpPr>
          <p:spPr>
            <a:xfrm>
              <a:off x="1908810" y="5483859"/>
              <a:ext cx="1507490" cy="715010"/>
            </a:xfrm>
            <a:custGeom>
              <a:avLst/>
              <a:gdLst/>
              <a:ahLst/>
              <a:cxnLst/>
              <a:rect l="l" t="t" r="r" b="b"/>
              <a:pathLst>
                <a:path w="1507489" h="715010">
                  <a:moveTo>
                    <a:pt x="1507490" y="0"/>
                  </a:moveTo>
                  <a:lnTo>
                    <a:pt x="1492250" y="0"/>
                  </a:lnTo>
                  <a:lnTo>
                    <a:pt x="1492250" y="15240"/>
                  </a:lnTo>
                  <a:lnTo>
                    <a:pt x="1492250" y="699770"/>
                  </a:lnTo>
                  <a:lnTo>
                    <a:pt x="16510" y="699770"/>
                  </a:lnTo>
                  <a:lnTo>
                    <a:pt x="16510" y="15240"/>
                  </a:lnTo>
                  <a:lnTo>
                    <a:pt x="1492250" y="15240"/>
                  </a:lnTo>
                  <a:lnTo>
                    <a:pt x="149225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699770"/>
                  </a:lnTo>
                  <a:lnTo>
                    <a:pt x="0" y="715010"/>
                  </a:lnTo>
                  <a:lnTo>
                    <a:pt x="1507490" y="715010"/>
                  </a:lnTo>
                  <a:lnTo>
                    <a:pt x="1507490" y="699770"/>
                  </a:lnTo>
                  <a:lnTo>
                    <a:pt x="1507490" y="15240"/>
                  </a:lnTo>
                  <a:lnTo>
                    <a:pt x="1507490" y="0"/>
                  </a:lnTo>
                  <a:close/>
                </a:path>
              </a:pathLst>
            </a:custGeom>
            <a:solidFill>
              <a:srgbClr val="FFFFE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29" name="object 329"/>
            <p:cNvSpPr/>
            <p:nvPr/>
          </p:nvSpPr>
          <p:spPr>
            <a:xfrm>
              <a:off x="1925320" y="5499099"/>
              <a:ext cx="1475740" cy="684530"/>
            </a:xfrm>
            <a:custGeom>
              <a:avLst/>
              <a:gdLst/>
              <a:ahLst/>
              <a:cxnLst/>
              <a:rect l="l" t="t" r="r" b="b"/>
              <a:pathLst>
                <a:path w="1475739" h="684529">
                  <a:moveTo>
                    <a:pt x="1475740" y="0"/>
                  </a:moveTo>
                  <a:lnTo>
                    <a:pt x="1459230" y="0"/>
                  </a:lnTo>
                  <a:lnTo>
                    <a:pt x="1459230" y="16510"/>
                  </a:lnTo>
                  <a:lnTo>
                    <a:pt x="1459230" y="669290"/>
                  </a:lnTo>
                  <a:lnTo>
                    <a:pt x="15240" y="669290"/>
                  </a:lnTo>
                  <a:lnTo>
                    <a:pt x="15240" y="16510"/>
                  </a:lnTo>
                  <a:lnTo>
                    <a:pt x="1459230" y="16510"/>
                  </a:lnTo>
                  <a:lnTo>
                    <a:pt x="1459230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669290"/>
                  </a:lnTo>
                  <a:lnTo>
                    <a:pt x="0" y="684530"/>
                  </a:lnTo>
                  <a:lnTo>
                    <a:pt x="1475740" y="684530"/>
                  </a:lnTo>
                  <a:lnTo>
                    <a:pt x="1475740" y="669290"/>
                  </a:lnTo>
                  <a:lnTo>
                    <a:pt x="1475740" y="16510"/>
                  </a:lnTo>
                  <a:lnTo>
                    <a:pt x="1475740" y="0"/>
                  </a:lnTo>
                  <a:close/>
                </a:path>
              </a:pathLst>
            </a:custGeom>
            <a:solidFill>
              <a:srgbClr val="FFFFE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0" name="object 330"/>
            <p:cNvSpPr/>
            <p:nvPr/>
          </p:nvSpPr>
          <p:spPr>
            <a:xfrm>
              <a:off x="1940560" y="5515609"/>
              <a:ext cx="1443990" cy="652780"/>
            </a:xfrm>
            <a:custGeom>
              <a:avLst/>
              <a:gdLst/>
              <a:ahLst/>
              <a:cxnLst/>
              <a:rect l="l" t="t" r="r" b="b"/>
              <a:pathLst>
                <a:path w="1443989" h="652779">
                  <a:moveTo>
                    <a:pt x="1443990" y="0"/>
                  </a:moveTo>
                  <a:lnTo>
                    <a:pt x="1428750" y="0"/>
                  </a:lnTo>
                  <a:lnTo>
                    <a:pt x="1428750" y="15240"/>
                  </a:lnTo>
                  <a:lnTo>
                    <a:pt x="1428750" y="636270"/>
                  </a:lnTo>
                  <a:lnTo>
                    <a:pt x="15240" y="636270"/>
                  </a:lnTo>
                  <a:lnTo>
                    <a:pt x="15240" y="15240"/>
                  </a:lnTo>
                  <a:lnTo>
                    <a:pt x="1428750" y="15240"/>
                  </a:lnTo>
                  <a:lnTo>
                    <a:pt x="142875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636270"/>
                  </a:lnTo>
                  <a:lnTo>
                    <a:pt x="0" y="652780"/>
                  </a:lnTo>
                  <a:lnTo>
                    <a:pt x="1443990" y="652780"/>
                  </a:lnTo>
                  <a:lnTo>
                    <a:pt x="1443990" y="636270"/>
                  </a:lnTo>
                  <a:lnTo>
                    <a:pt x="1443990" y="15240"/>
                  </a:lnTo>
                  <a:lnTo>
                    <a:pt x="1443990" y="0"/>
                  </a:lnTo>
                  <a:close/>
                </a:path>
              </a:pathLst>
            </a:custGeom>
            <a:solidFill>
              <a:srgbClr val="FFFFE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1" name="object 331"/>
            <p:cNvSpPr/>
            <p:nvPr/>
          </p:nvSpPr>
          <p:spPr>
            <a:xfrm>
              <a:off x="1955800" y="5530849"/>
              <a:ext cx="1413510" cy="621030"/>
            </a:xfrm>
            <a:custGeom>
              <a:avLst/>
              <a:gdLst/>
              <a:ahLst/>
              <a:cxnLst/>
              <a:rect l="l" t="t" r="r" b="b"/>
              <a:pathLst>
                <a:path w="1413510" h="621029">
                  <a:moveTo>
                    <a:pt x="1413510" y="0"/>
                  </a:moveTo>
                  <a:lnTo>
                    <a:pt x="1398270" y="0"/>
                  </a:lnTo>
                  <a:lnTo>
                    <a:pt x="1398270" y="15240"/>
                  </a:lnTo>
                  <a:lnTo>
                    <a:pt x="1398270" y="605790"/>
                  </a:lnTo>
                  <a:lnTo>
                    <a:pt x="15240" y="605790"/>
                  </a:lnTo>
                  <a:lnTo>
                    <a:pt x="15240" y="15240"/>
                  </a:lnTo>
                  <a:lnTo>
                    <a:pt x="1398270" y="15240"/>
                  </a:lnTo>
                  <a:lnTo>
                    <a:pt x="139827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605790"/>
                  </a:lnTo>
                  <a:lnTo>
                    <a:pt x="0" y="621030"/>
                  </a:lnTo>
                  <a:lnTo>
                    <a:pt x="1413510" y="621030"/>
                  </a:lnTo>
                  <a:lnTo>
                    <a:pt x="1413510" y="605790"/>
                  </a:lnTo>
                  <a:lnTo>
                    <a:pt x="1413510" y="15240"/>
                  </a:lnTo>
                  <a:lnTo>
                    <a:pt x="1413510" y="0"/>
                  </a:lnTo>
                  <a:close/>
                </a:path>
              </a:pathLst>
            </a:custGeom>
            <a:solidFill>
              <a:srgbClr val="FFFFE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2" name="object 332"/>
            <p:cNvSpPr/>
            <p:nvPr/>
          </p:nvSpPr>
          <p:spPr>
            <a:xfrm>
              <a:off x="1971040" y="5546089"/>
              <a:ext cx="1383030" cy="590550"/>
            </a:xfrm>
            <a:custGeom>
              <a:avLst/>
              <a:gdLst/>
              <a:ahLst/>
              <a:cxnLst/>
              <a:rect l="l" t="t" r="r" b="b"/>
              <a:pathLst>
                <a:path w="1383029" h="590550">
                  <a:moveTo>
                    <a:pt x="1383030" y="0"/>
                  </a:moveTo>
                  <a:lnTo>
                    <a:pt x="1367790" y="0"/>
                  </a:lnTo>
                  <a:lnTo>
                    <a:pt x="1367790" y="16510"/>
                  </a:lnTo>
                  <a:lnTo>
                    <a:pt x="1367790" y="575310"/>
                  </a:lnTo>
                  <a:lnTo>
                    <a:pt x="16510" y="575310"/>
                  </a:lnTo>
                  <a:lnTo>
                    <a:pt x="16510" y="16510"/>
                  </a:lnTo>
                  <a:lnTo>
                    <a:pt x="1367790" y="16510"/>
                  </a:lnTo>
                  <a:lnTo>
                    <a:pt x="1367790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575310"/>
                  </a:lnTo>
                  <a:lnTo>
                    <a:pt x="0" y="590550"/>
                  </a:lnTo>
                  <a:lnTo>
                    <a:pt x="1383030" y="590550"/>
                  </a:lnTo>
                  <a:lnTo>
                    <a:pt x="1383030" y="575310"/>
                  </a:lnTo>
                  <a:lnTo>
                    <a:pt x="1383030" y="16510"/>
                  </a:lnTo>
                  <a:lnTo>
                    <a:pt x="1383030" y="0"/>
                  </a:lnTo>
                  <a:close/>
                </a:path>
              </a:pathLst>
            </a:custGeom>
            <a:solidFill>
              <a:srgbClr val="FFFFE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3" name="object 333"/>
            <p:cNvSpPr/>
            <p:nvPr/>
          </p:nvSpPr>
          <p:spPr>
            <a:xfrm>
              <a:off x="1987550" y="5562599"/>
              <a:ext cx="1351280" cy="558800"/>
            </a:xfrm>
            <a:custGeom>
              <a:avLst/>
              <a:gdLst/>
              <a:ahLst/>
              <a:cxnLst/>
              <a:rect l="l" t="t" r="r" b="b"/>
              <a:pathLst>
                <a:path w="1351279" h="558800">
                  <a:moveTo>
                    <a:pt x="1351280" y="0"/>
                  </a:moveTo>
                  <a:lnTo>
                    <a:pt x="1334770" y="0"/>
                  </a:lnTo>
                  <a:lnTo>
                    <a:pt x="1334770" y="15240"/>
                  </a:lnTo>
                  <a:lnTo>
                    <a:pt x="1334770" y="543560"/>
                  </a:lnTo>
                  <a:lnTo>
                    <a:pt x="15240" y="543560"/>
                  </a:lnTo>
                  <a:lnTo>
                    <a:pt x="15240" y="15240"/>
                  </a:lnTo>
                  <a:lnTo>
                    <a:pt x="1334770" y="15240"/>
                  </a:lnTo>
                  <a:lnTo>
                    <a:pt x="133477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43560"/>
                  </a:lnTo>
                  <a:lnTo>
                    <a:pt x="0" y="558800"/>
                  </a:lnTo>
                  <a:lnTo>
                    <a:pt x="1351280" y="558800"/>
                  </a:lnTo>
                  <a:lnTo>
                    <a:pt x="1351280" y="543560"/>
                  </a:lnTo>
                  <a:lnTo>
                    <a:pt x="1351280" y="15240"/>
                  </a:lnTo>
                  <a:lnTo>
                    <a:pt x="1351280" y="0"/>
                  </a:lnTo>
                  <a:close/>
                </a:path>
              </a:pathLst>
            </a:custGeom>
            <a:solidFill>
              <a:srgbClr val="FFFFE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4" name="object 334"/>
            <p:cNvSpPr/>
            <p:nvPr/>
          </p:nvSpPr>
          <p:spPr>
            <a:xfrm>
              <a:off x="2002790" y="5577839"/>
              <a:ext cx="1319530" cy="528320"/>
            </a:xfrm>
            <a:custGeom>
              <a:avLst/>
              <a:gdLst/>
              <a:ahLst/>
              <a:cxnLst/>
              <a:rect l="l" t="t" r="r" b="b"/>
              <a:pathLst>
                <a:path w="1319529" h="528320">
                  <a:moveTo>
                    <a:pt x="1319530" y="0"/>
                  </a:moveTo>
                  <a:lnTo>
                    <a:pt x="1304277" y="0"/>
                  </a:lnTo>
                  <a:lnTo>
                    <a:pt x="1304277" y="15240"/>
                  </a:lnTo>
                  <a:lnTo>
                    <a:pt x="1304277" y="511810"/>
                  </a:lnTo>
                  <a:lnTo>
                    <a:pt x="15240" y="511810"/>
                  </a:lnTo>
                  <a:lnTo>
                    <a:pt x="15240" y="15240"/>
                  </a:lnTo>
                  <a:lnTo>
                    <a:pt x="1304277" y="15240"/>
                  </a:lnTo>
                  <a:lnTo>
                    <a:pt x="1304277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511810"/>
                  </a:lnTo>
                  <a:lnTo>
                    <a:pt x="0" y="528320"/>
                  </a:lnTo>
                  <a:lnTo>
                    <a:pt x="1319530" y="528320"/>
                  </a:lnTo>
                  <a:lnTo>
                    <a:pt x="1319530" y="511810"/>
                  </a:lnTo>
                  <a:lnTo>
                    <a:pt x="1319530" y="15240"/>
                  </a:lnTo>
                  <a:lnTo>
                    <a:pt x="1319530" y="0"/>
                  </a:lnTo>
                  <a:close/>
                </a:path>
              </a:pathLst>
            </a:custGeom>
            <a:solidFill>
              <a:srgbClr val="FFFFE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5" name="object 335"/>
            <p:cNvSpPr/>
            <p:nvPr/>
          </p:nvSpPr>
          <p:spPr>
            <a:xfrm>
              <a:off x="2018030" y="5593079"/>
              <a:ext cx="1289050" cy="496570"/>
            </a:xfrm>
            <a:custGeom>
              <a:avLst/>
              <a:gdLst/>
              <a:ahLst/>
              <a:cxnLst/>
              <a:rect l="l" t="t" r="r" b="b"/>
              <a:pathLst>
                <a:path w="1289050" h="496570">
                  <a:moveTo>
                    <a:pt x="1289037" y="0"/>
                  </a:moveTo>
                  <a:lnTo>
                    <a:pt x="1273810" y="0"/>
                  </a:lnTo>
                  <a:lnTo>
                    <a:pt x="1273810" y="15240"/>
                  </a:lnTo>
                  <a:lnTo>
                    <a:pt x="1273810" y="481330"/>
                  </a:lnTo>
                  <a:lnTo>
                    <a:pt x="15240" y="481330"/>
                  </a:lnTo>
                  <a:lnTo>
                    <a:pt x="15240" y="15240"/>
                  </a:lnTo>
                  <a:lnTo>
                    <a:pt x="1273810" y="15240"/>
                  </a:lnTo>
                  <a:lnTo>
                    <a:pt x="127381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481330"/>
                  </a:lnTo>
                  <a:lnTo>
                    <a:pt x="0" y="496570"/>
                  </a:lnTo>
                  <a:lnTo>
                    <a:pt x="1289037" y="496570"/>
                  </a:lnTo>
                  <a:lnTo>
                    <a:pt x="1289037" y="481342"/>
                  </a:lnTo>
                  <a:lnTo>
                    <a:pt x="1289037" y="15240"/>
                  </a:lnTo>
                  <a:lnTo>
                    <a:pt x="1289037" y="0"/>
                  </a:lnTo>
                  <a:close/>
                </a:path>
              </a:pathLst>
            </a:custGeom>
            <a:solidFill>
              <a:srgbClr val="FFFFE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6" name="object 336"/>
            <p:cNvSpPr/>
            <p:nvPr/>
          </p:nvSpPr>
          <p:spPr>
            <a:xfrm>
              <a:off x="2033270" y="5608319"/>
              <a:ext cx="1258570" cy="466090"/>
            </a:xfrm>
            <a:custGeom>
              <a:avLst/>
              <a:gdLst/>
              <a:ahLst/>
              <a:cxnLst/>
              <a:rect l="l" t="t" r="r" b="b"/>
              <a:pathLst>
                <a:path w="1258570" h="466089">
                  <a:moveTo>
                    <a:pt x="1258570" y="0"/>
                  </a:moveTo>
                  <a:lnTo>
                    <a:pt x="1243330" y="0"/>
                  </a:lnTo>
                  <a:lnTo>
                    <a:pt x="1243330" y="15240"/>
                  </a:lnTo>
                  <a:lnTo>
                    <a:pt x="1243330" y="450850"/>
                  </a:lnTo>
                  <a:lnTo>
                    <a:pt x="15240" y="450850"/>
                  </a:lnTo>
                  <a:lnTo>
                    <a:pt x="15240" y="15240"/>
                  </a:lnTo>
                  <a:lnTo>
                    <a:pt x="1243330" y="15240"/>
                  </a:lnTo>
                  <a:lnTo>
                    <a:pt x="124333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450850"/>
                  </a:lnTo>
                  <a:lnTo>
                    <a:pt x="0" y="466090"/>
                  </a:lnTo>
                  <a:lnTo>
                    <a:pt x="1258570" y="466090"/>
                  </a:lnTo>
                  <a:lnTo>
                    <a:pt x="1258570" y="450850"/>
                  </a:lnTo>
                  <a:lnTo>
                    <a:pt x="1258570" y="15240"/>
                  </a:lnTo>
                  <a:lnTo>
                    <a:pt x="1258570" y="0"/>
                  </a:lnTo>
                  <a:close/>
                </a:path>
              </a:pathLst>
            </a:custGeom>
            <a:solidFill>
              <a:srgbClr val="FFFFE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7" name="object 337"/>
            <p:cNvSpPr/>
            <p:nvPr/>
          </p:nvSpPr>
          <p:spPr>
            <a:xfrm>
              <a:off x="2048510" y="5623559"/>
              <a:ext cx="1228090" cy="435609"/>
            </a:xfrm>
            <a:custGeom>
              <a:avLst/>
              <a:gdLst/>
              <a:ahLst/>
              <a:cxnLst/>
              <a:rect l="l" t="t" r="r" b="b"/>
              <a:pathLst>
                <a:path w="1228089" h="435610">
                  <a:moveTo>
                    <a:pt x="1228090" y="0"/>
                  </a:moveTo>
                  <a:lnTo>
                    <a:pt x="1211580" y="0"/>
                  </a:lnTo>
                  <a:lnTo>
                    <a:pt x="1211580" y="16510"/>
                  </a:lnTo>
                  <a:lnTo>
                    <a:pt x="1211580" y="420370"/>
                  </a:lnTo>
                  <a:lnTo>
                    <a:pt x="16510" y="420370"/>
                  </a:lnTo>
                  <a:lnTo>
                    <a:pt x="16510" y="16510"/>
                  </a:lnTo>
                  <a:lnTo>
                    <a:pt x="1211580" y="16510"/>
                  </a:lnTo>
                  <a:lnTo>
                    <a:pt x="1211580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420370"/>
                  </a:lnTo>
                  <a:lnTo>
                    <a:pt x="0" y="435610"/>
                  </a:lnTo>
                  <a:lnTo>
                    <a:pt x="1228090" y="435610"/>
                  </a:lnTo>
                  <a:lnTo>
                    <a:pt x="1228090" y="420370"/>
                  </a:lnTo>
                  <a:lnTo>
                    <a:pt x="1228090" y="16510"/>
                  </a:lnTo>
                  <a:lnTo>
                    <a:pt x="1228090" y="0"/>
                  </a:lnTo>
                  <a:close/>
                </a:path>
              </a:pathLst>
            </a:custGeom>
            <a:solidFill>
              <a:srgbClr val="FFFFF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8" name="object 338"/>
            <p:cNvSpPr/>
            <p:nvPr/>
          </p:nvSpPr>
          <p:spPr>
            <a:xfrm>
              <a:off x="2065020" y="5640069"/>
              <a:ext cx="1195070" cy="403860"/>
            </a:xfrm>
            <a:custGeom>
              <a:avLst/>
              <a:gdLst/>
              <a:ahLst/>
              <a:cxnLst/>
              <a:rect l="l" t="t" r="r" b="b"/>
              <a:pathLst>
                <a:path w="1195070" h="403860">
                  <a:moveTo>
                    <a:pt x="1195070" y="0"/>
                  </a:moveTo>
                  <a:lnTo>
                    <a:pt x="1179830" y="0"/>
                  </a:lnTo>
                  <a:lnTo>
                    <a:pt x="1179830" y="15240"/>
                  </a:lnTo>
                  <a:lnTo>
                    <a:pt x="1179830" y="387350"/>
                  </a:lnTo>
                  <a:lnTo>
                    <a:pt x="15240" y="387350"/>
                  </a:lnTo>
                  <a:lnTo>
                    <a:pt x="15240" y="15240"/>
                  </a:lnTo>
                  <a:lnTo>
                    <a:pt x="1179830" y="15240"/>
                  </a:lnTo>
                  <a:lnTo>
                    <a:pt x="117983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387350"/>
                  </a:lnTo>
                  <a:lnTo>
                    <a:pt x="0" y="403860"/>
                  </a:lnTo>
                  <a:lnTo>
                    <a:pt x="1195070" y="403860"/>
                  </a:lnTo>
                  <a:lnTo>
                    <a:pt x="1195070" y="387350"/>
                  </a:lnTo>
                  <a:lnTo>
                    <a:pt x="1195070" y="15240"/>
                  </a:lnTo>
                  <a:lnTo>
                    <a:pt x="1195070" y="0"/>
                  </a:lnTo>
                  <a:close/>
                </a:path>
              </a:pathLst>
            </a:custGeom>
            <a:solidFill>
              <a:srgbClr val="FFFFF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39" name="object 339"/>
            <p:cNvSpPr/>
            <p:nvPr/>
          </p:nvSpPr>
          <p:spPr>
            <a:xfrm>
              <a:off x="2080260" y="5655309"/>
              <a:ext cx="1164590" cy="372110"/>
            </a:xfrm>
            <a:custGeom>
              <a:avLst/>
              <a:gdLst/>
              <a:ahLst/>
              <a:cxnLst/>
              <a:rect l="l" t="t" r="r" b="b"/>
              <a:pathLst>
                <a:path w="1164589" h="372110">
                  <a:moveTo>
                    <a:pt x="1164590" y="0"/>
                  </a:moveTo>
                  <a:lnTo>
                    <a:pt x="1149350" y="0"/>
                  </a:lnTo>
                  <a:lnTo>
                    <a:pt x="1149350" y="15240"/>
                  </a:lnTo>
                  <a:lnTo>
                    <a:pt x="1149350" y="356870"/>
                  </a:lnTo>
                  <a:lnTo>
                    <a:pt x="15240" y="356870"/>
                  </a:lnTo>
                  <a:lnTo>
                    <a:pt x="15240" y="15240"/>
                  </a:lnTo>
                  <a:lnTo>
                    <a:pt x="1149350" y="15240"/>
                  </a:lnTo>
                  <a:lnTo>
                    <a:pt x="114935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356870"/>
                  </a:lnTo>
                  <a:lnTo>
                    <a:pt x="0" y="372110"/>
                  </a:lnTo>
                  <a:lnTo>
                    <a:pt x="1164590" y="372110"/>
                  </a:lnTo>
                  <a:lnTo>
                    <a:pt x="1164590" y="356870"/>
                  </a:lnTo>
                  <a:lnTo>
                    <a:pt x="1164590" y="15240"/>
                  </a:lnTo>
                  <a:lnTo>
                    <a:pt x="1164590" y="0"/>
                  </a:lnTo>
                  <a:close/>
                </a:path>
              </a:pathLst>
            </a:custGeom>
            <a:solidFill>
              <a:srgbClr val="FFFFF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0" name="object 340"/>
            <p:cNvSpPr/>
            <p:nvPr/>
          </p:nvSpPr>
          <p:spPr>
            <a:xfrm>
              <a:off x="2095500" y="5670549"/>
              <a:ext cx="1134110" cy="341630"/>
            </a:xfrm>
            <a:custGeom>
              <a:avLst/>
              <a:gdLst/>
              <a:ahLst/>
              <a:cxnLst/>
              <a:rect l="l" t="t" r="r" b="b"/>
              <a:pathLst>
                <a:path w="1134110" h="341629">
                  <a:moveTo>
                    <a:pt x="1134110" y="0"/>
                  </a:moveTo>
                  <a:lnTo>
                    <a:pt x="1118870" y="0"/>
                  </a:lnTo>
                  <a:lnTo>
                    <a:pt x="1118870" y="15240"/>
                  </a:lnTo>
                  <a:lnTo>
                    <a:pt x="1118870" y="326390"/>
                  </a:lnTo>
                  <a:lnTo>
                    <a:pt x="16510" y="326390"/>
                  </a:lnTo>
                  <a:lnTo>
                    <a:pt x="16510" y="15240"/>
                  </a:lnTo>
                  <a:lnTo>
                    <a:pt x="1118870" y="15240"/>
                  </a:lnTo>
                  <a:lnTo>
                    <a:pt x="111887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326390"/>
                  </a:lnTo>
                  <a:lnTo>
                    <a:pt x="0" y="341630"/>
                  </a:lnTo>
                  <a:lnTo>
                    <a:pt x="1134110" y="341630"/>
                  </a:lnTo>
                  <a:lnTo>
                    <a:pt x="1134110" y="326390"/>
                  </a:lnTo>
                  <a:lnTo>
                    <a:pt x="1134110" y="15240"/>
                  </a:lnTo>
                  <a:lnTo>
                    <a:pt x="1134110" y="0"/>
                  </a:lnTo>
                  <a:close/>
                </a:path>
              </a:pathLst>
            </a:custGeom>
            <a:solidFill>
              <a:srgbClr val="FFFFF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1" name="object 341"/>
            <p:cNvSpPr/>
            <p:nvPr/>
          </p:nvSpPr>
          <p:spPr>
            <a:xfrm>
              <a:off x="2112010" y="5685789"/>
              <a:ext cx="1102360" cy="311150"/>
            </a:xfrm>
            <a:custGeom>
              <a:avLst/>
              <a:gdLst/>
              <a:ahLst/>
              <a:cxnLst/>
              <a:rect l="l" t="t" r="r" b="b"/>
              <a:pathLst>
                <a:path w="1102360" h="311150">
                  <a:moveTo>
                    <a:pt x="1102360" y="0"/>
                  </a:moveTo>
                  <a:lnTo>
                    <a:pt x="1087120" y="0"/>
                  </a:lnTo>
                  <a:lnTo>
                    <a:pt x="1087120" y="16510"/>
                  </a:lnTo>
                  <a:lnTo>
                    <a:pt x="1087120" y="295910"/>
                  </a:lnTo>
                  <a:lnTo>
                    <a:pt x="15240" y="295910"/>
                  </a:lnTo>
                  <a:lnTo>
                    <a:pt x="15240" y="16510"/>
                  </a:lnTo>
                  <a:lnTo>
                    <a:pt x="1087120" y="16510"/>
                  </a:lnTo>
                  <a:lnTo>
                    <a:pt x="1087120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295910"/>
                  </a:lnTo>
                  <a:lnTo>
                    <a:pt x="0" y="311150"/>
                  </a:lnTo>
                  <a:lnTo>
                    <a:pt x="1102360" y="311150"/>
                  </a:lnTo>
                  <a:lnTo>
                    <a:pt x="1102360" y="295910"/>
                  </a:lnTo>
                  <a:lnTo>
                    <a:pt x="1102360" y="16510"/>
                  </a:lnTo>
                  <a:lnTo>
                    <a:pt x="1102360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2" name="object 342"/>
            <p:cNvSpPr/>
            <p:nvPr/>
          </p:nvSpPr>
          <p:spPr>
            <a:xfrm>
              <a:off x="2127250" y="5702299"/>
              <a:ext cx="1071880" cy="279400"/>
            </a:xfrm>
            <a:custGeom>
              <a:avLst/>
              <a:gdLst/>
              <a:ahLst/>
              <a:cxnLst/>
              <a:rect l="l" t="t" r="r" b="b"/>
              <a:pathLst>
                <a:path w="1071880" h="279400">
                  <a:moveTo>
                    <a:pt x="1071880" y="0"/>
                  </a:moveTo>
                  <a:lnTo>
                    <a:pt x="1055370" y="0"/>
                  </a:lnTo>
                  <a:lnTo>
                    <a:pt x="1055370" y="15240"/>
                  </a:lnTo>
                  <a:lnTo>
                    <a:pt x="1055370" y="262890"/>
                  </a:lnTo>
                  <a:lnTo>
                    <a:pt x="15240" y="262890"/>
                  </a:lnTo>
                  <a:lnTo>
                    <a:pt x="15240" y="15240"/>
                  </a:lnTo>
                  <a:lnTo>
                    <a:pt x="1055370" y="15240"/>
                  </a:lnTo>
                  <a:lnTo>
                    <a:pt x="105537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262890"/>
                  </a:lnTo>
                  <a:lnTo>
                    <a:pt x="0" y="279400"/>
                  </a:lnTo>
                  <a:lnTo>
                    <a:pt x="1071880" y="279400"/>
                  </a:lnTo>
                  <a:lnTo>
                    <a:pt x="1071880" y="262890"/>
                  </a:lnTo>
                  <a:lnTo>
                    <a:pt x="1071880" y="15240"/>
                  </a:lnTo>
                  <a:lnTo>
                    <a:pt x="1071880" y="0"/>
                  </a:lnTo>
                  <a:close/>
                </a:path>
              </a:pathLst>
            </a:custGeom>
            <a:solidFill>
              <a:srgbClr val="FFFFF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3" name="object 343"/>
            <p:cNvSpPr/>
            <p:nvPr/>
          </p:nvSpPr>
          <p:spPr>
            <a:xfrm>
              <a:off x="2142490" y="5717539"/>
              <a:ext cx="1040130" cy="247650"/>
            </a:xfrm>
            <a:custGeom>
              <a:avLst/>
              <a:gdLst/>
              <a:ahLst/>
              <a:cxnLst/>
              <a:rect l="l" t="t" r="r" b="b"/>
              <a:pathLst>
                <a:path w="1040130" h="247650">
                  <a:moveTo>
                    <a:pt x="1040130" y="0"/>
                  </a:moveTo>
                  <a:lnTo>
                    <a:pt x="1024890" y="0"/>
                  </a:lnTo>
                  <a:lnTo>
                    <a:pt x="1024890" y="15240"/>
                  </a:lnTo>
                  <a:lnTo>
                    <a:pt x="1024890" y="232410"/>
                  </a:lnTo>
                  <a:lnTo>
                    <a:pt x="15240" y="232410"/>
                  </a:lnTo>
                  <a:lnTo>
                    <a:pt x="15240" y="15240"/>
                  </a:lnTo>
                  <a:lnTo>
                    <a:pt x="1024890" y="15240"/>
                  </a:lnTo>
                  <a:lnTo>
                    <a:pt x="102489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232410"/>
                  </a:lnTo>
                  <a:lnTo>
                    <a:pt x="0" y="247650"/>
                  </a:lnTo>
                  <a:lnTo>
                    <a:pt x="1040130" y="247650"/>
                  </a:lnTo>
                  <a:lnTo>
                    <a:pt x="1040130" y="232410"/>
                  </a:lnTo>
                  <a:lnTo>
                    <a:pt x="1040130" y="15240"/>
                  </a:lnTo>
                  <a:lnTo>
                    <a:pt x="1040130" y="0"/>
                  </a:lnTo>
                  <a:close/>
                </a:path>
              </a:pathLst>
            </a:custGeom>
            <a:solidFill>
              <a:srgbClr val="FFFFF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4" name="object 344"/>
            <p:cNvSpPr/>
            <p:nvPr/>
          </p:nvSpPr>
          <p:spPr>
            <a:xfrm>
              <a:off x="2157730" y="5732779"/>
              <a:ext cx="1009650" cy="217170"/>
            </a:xfrm>
            <a:custGeom>
              <a:avLst/>
              <a:gdLst/>
              <a:ahLst/>
              <a:cxnLst/>
              <a:rect l="l" t="t" r="r" b="b"/>
              <a:pathLst>
                <a:path w="1009650" h="217170">
                  <a:moveTo>
                    <a:pt x="1009650" y="0"/>
                  </a:moveTo>
                  <a:lnTo>
                    <a:pt x="994410" y="0"/>
                  </a:lnTo>
                  <a:lnTo>
                    <a:pt x="994410" y="15240"/>
                  </a:lnTo>
                  <a:lnTo>
                    <a:pt x="994410" y="201930"/>
                  </a:lnTo>
                  <a:lnTo>
                    <a:pt x="16510" y="201930"/>
                  </a:lnTo>
                  <a:lnTo>
                    <a:pt x="16510" y="15240"/>
                  </a:lnTo>
                  <a:lnTo>
                    <a:pt x="994410" y="15240"/>
                  </a:lnTo>
                  <a:lnTo>
                    <a:pt x="99441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201930"/>
                  </a:lnTo>
                  <a:lnTo>
                    <a:pt x="0" y="217170"/>
                  </a:lnTo>
                  <a:lnTo>
                    <a:pt x="1009650" y="217170"/>
                  </a:lnTo>
                  <a:lnTo>
                    <a:pt x="1009650" y="201930"/>
                  </a:lnTo>
                  <a:lnTo>
                    <a:pt x="1009650" y="15240"/>
                  </a:lnTo>
                  <a:lnTo>
                    <a:pt x="1009650" y="0"/>
                  </a:lnTo>
                  <a:close/>
                </a:path>
              </a:pathLst>
            </a:custGeom>
            <a:solidFill>
              <a:srgbClr val="FFFFF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5" name="object 345"/>
            <p:cNvSpPr/>
            <p:nvPr/>
          </p:nvSpPr>
          <p:spPr>
            <a:xfrm>
              <a:off x="2174240" y="5748019"/>
              <a:ext cx="977900" cy="186690"/>
            </a:xfrm>
            <a:custGeom>
              <a:avLst/>
              <a:gdLst/>
              <a:ahLst/>
              <a:cxnLst/>
              <a:rect l="l" t="t" r="r" b="b"/>
              <a:pathLst>
                <a:path w="977900" h="186689">
                  <a:moveTo>
                    <a:pt x="977900" y="0"/>
                  </a:moveTo>
                  <a:lnTo>
                    <a:pt x="962660" y="0"/>
                  </a:lnTo>
                  <a:lnTo>
                    <a:pt x="962660" y="16510"/>
                  </a:lnTo>
                  <a:lnTo>
                    <a:pt x="962660" y="171450"/>
                  </a:lnTo>
                  <a:lnTo>
                    <a:pt x="15240" y="171450"/>
                  </a:lnTo>
                  <a:lnTo>
                    <a:pt x="15240" y="16510"/>
                  </a:lnTo>
                  <a:lnTo>
                    <a:pt x="962660" y="16510"/>
                  </a:lnTo>
                  <a:lnTo>
                    <a:pt x="962660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171450"/>
                  </a:lnTo>
                  <a:lnTo>
                    <a:pt x="0" y="186690"/>
                  </a:lnTo>
                  <a:lnTo>
                    <a:pt x="977900" y="186690"/>
                  </a:lnTo>
                  <a:lnTo>
                    <a:pt x="977900" y="171450"/>
                  </a:lnTo>
                  <a:lnTo>
                    <a:pt x="977900" y="16510"/>
                  </a:lnTo>
                  <a:lnTo>
                    <a:pt x="977900" y="0"/>
                  </a:lnTo>
                  <a:close/>
                </a:path>
              </a:pathLst>
            </a:custGeom>
            <a:solidFill>
              <a:srgbClr val="FFFFF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6" name="object 346"/>
            <p:cNvSpPr/>
            <p:nvPr/>
          </p:nvSpPr>
          <p:spPr>
            <a:xfrm>
              <a:off x="2189480" y="5764529"/>
              <a:ext cx="947419" cy="154940"/>
            </a:xfrm>
            <a:custGeom>
              <a:avLst/>
              <a:gdLst/>
              <a:ahLst/>
              <a:cxnLst/>
              <a:rect l="l" t="t" r="r" b="b"/>
              <a:pathLst>
                <a:path w="947419" h="154939">
                  <a:moveTo>
                    <a:pt x="947420" y="0"/>
                  </a:moveTo>
                  <a:lnTo>
                    <a:pt x="930910" y="0"/>
                  </a:lnTo>
                  <a:lnTo>
                    <a:pt x="930910" y="15240"/>
                  </a:lnTo>
                  <a:lnTo>
                    <a:pt x="930910" y="139700"/>
                  </a:lnTo>
                  <a:lnTo>
                    <a:pt x="15240" y="139700"/>
                  </a:lnTo>
                  <a:lnTo>
                    <a:pt x="15240" y="15240"/>
                  </a:lnTo>
                  <a:lnTo>
                    <a:pt x="930910" y="15240"/>
                  </a:lnTo>
                  <a:lnTo>
                    <a:pt x="93091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39700"/>
                  </a:lnTo>
                  <a:lnTo>
                    <a:pt x="0" y="154940"/>
                  </a:lnTo>
                  <a:lnTo>
                    <a:pt x="947420" y="154940"/>
                  </a:lnTo>
                  <a:lnTo>
                    <a:pt x="947420" y="139700"/>
                  </a:lnTo>
                  <a:lnTo>
                    <a:pt x="947420" y="15240"/>
                  </a:lnTo>
                  <a:lnTo>
                    <a:pt x="947420" y="0"/>
                  </a:lnTo>
                  <a:close/>
                </a:path>
              </a:pathLst>
            </a:custGeom>
            <a:solidFill>
              <a:srgbClr val="FFFFF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7" name="object 347"/>
            <p:cNvSpPr/>
            <p:nvPr/>
          </p:nvSpPr>
          <p:spPr>
            <a:xfrm>
              <a:off x="2204720" y="5779769"/>
              <a:ext cx="915669" cy="124460"/>
            </a:xfrm>
            <a:custGeom>
              <a:avLst/>
              <a:gdLst/>
              <a:ahLst/>
              <a:cxnLst/>
              <a:rect l="l" t="t" r="r" b="b"/>
              <a:pathLst>
                <a:path w="915669" h="124460">
                  <a:moveTo>
                    <a:pt x="915670" y="0"/>
                  </a:moveTo>
                  <a:lnTo>
                    <a:pt x="900430" y="0"/>
                  </a:lnTo>
                  <a:lnTo>
                    <a:pt x="900430" y="15240"/>
                  </a:lnTo>
                  <a:lnTo>
                    <a:pt x="900430" y="107950"/>
                  </a:lnTo>
                  <a:lnTo>
                    <a:pt x="15240" y="107950"/>
                  </a:lnTo>
                  <a:lnTo>
                    <a:pt x="15240" y="15240"/>
                  </a:lnTo>
                  <a:lnTo>
                    <a:pt x="900430" y="15240"/>
                  </a:lnTo>
                  <a:lnTo>
                    <a:pt x="90043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107950"/>
                  </a:lnTo>
                  <a:lnTo>
                    <a:pt x="0" y="124460"/>
                  </a:lnTo>
                  <a:lnTo>
                    <a:pt x="915670" y="124460"/>
                  </a:lnTo>
                  <a:lnTo>
                    <a:pt x="915670" y="107950"/>
                  </a:lnTo>
                  <a:lnTo>
                    <a:pt x="915670" y="15240"/>
                  </a:lnTo>
                  <a:lnTo>
                    <a:pt x="915670" y="0"/>
                  </a:lnTo>
                  <a:close/>
                </a:path>
              </a:pathLst>
            </a:custGeom>
            <a:solidFill>
              <a:srgbClr val="FFFFF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8" name="object 348"/>
            <p:cNvSpPr/>
            <p:nvPr/>
          </p:nvSpPr>
          <p:spPr>
            <a:xfrm>
              <a:off x="2219960" y="5795009"/>
              <a:ext cx="885190" cy="92710"/>
            </a:xfrm>
            <a:custGeom>
              <a:avLst/>
              <a:gdLst/>
              <a:ahLst/>
              <a:cxnLst/>
              <a:rect l="l" t="t" r="r" b="b"/>
              <a:pathLst>
                <a:path w="885189" h="92710">
                  <a:moveTo>
                    <a:pt x="885190" y="0"/>
                  </a:moveTo>
                  <a:lnTo>
                    <a:pt x="869950" y="0"/>
                  </a:lnTo>
                  <a:lnTo>
                    <a:pt x="869950" y="15240"/>
                  </a:lnTo>
                  <a:lnTo>
                    <a:pt x="869950" y="77470"/>
                  </a:lnTo>
                  <a:lnTo>
                    <a:pt x="16510" y="77470"/>
                  </a:lnTo>
                  <a:lnTo>
                    <a:pt x="16510" y="15240"/>
                  </a:lnTo>
                  <a:lnTo>
                    <a:pt x="869950" y="15240"/>
                  </a:lnTo>
                  <a:lnTo>
                    <a:pt x="86995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77470"/>
                  </a:lnTo>
                  <a:lnTo>
                    <a:pt x="0" y="92710"/>
                  </a:lnTo>
                  <a:lnTo>
                    <a:pt x="885190" y="92710"/>
                  </a:lnTo>
                  <a:lnTo>
                    <a:pt x="885190" y="77470"/>
                  </a:lnTo>
                  <a:lnTo>
                    <a:pt x="885190" y="15240"/>
                  </a:lnTo>
                  <a:lnTo>
                    <a:pt x="885190" y="0"/>
                  </a:lnTo>
                  <a:close/>
                </a:path>
              </a:pathLst>
            </a:custGeom>
            <a:solidFill>
              <a:srgbClr val="FFFFF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49" name="object 349"/>
            <p:cNvSpPr/>
            <p:nvPr/>
          </p:nvSpPr>
          <p:spPr>
            <a:xfrm>
              <a:off x="2236470" y="5810249"/>
              <a:ext cx="853440" cy="62230"/>
            </a:xfrm>
            <a:custGeom>
              <a:avLst/>
              <a:gdLst/>
              <a:ahLst/>
              <a:cxnLst/>
              <a:rect l="l" t="t" r="r" b="b"/>
              <a:pathLst>
                <a:path w="853439" h="62229">
                  <a:moveTo>
                    <a:pt x="853440" y="0"/>
                  </a:moveTo>
                  <a:lnTo>
                    <a:pt x="838200" y="0"/>
                  </a:lnTo>
                  <a:lnTo>
                    <a:pt x="838200" y="16510"/>
                  </a:lnTo>
                  <a:lnTo>
                    <a:pt x="838200" y="46990"/>
                  </a:lnTo>
                  <a:lnTo>
                    <a:pt x="15240" y="46990"/>
                  </a:lnTo>
                  <a:lnTo>
                    <a:pt x="15240" y="16510"/>
                  </a:lnTo>
                  <a:lnTo>
                    <a:pt x="838200" y="16510"/>
                  </a:lnTo>
                  <a:lnTo>
                    <a:pt x="838200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46990"/>
                  </a:lnTo>
                  <a:lnTo>
                    <a:pt x="0" y="62230"/>
                  </a:lnTo>
                  <a:lnTo>
                    <a:pt x="853440" y="62230"/>
                  </a:lnTo>
                  <a:lnTo>
                    <a:pt x="853440" y="46990"/>
                  </a:lnTo>
                  <a:lnTo>
                    <a:pt x="853440" y="16510"/>
                  </a:lnTo>
                  <a:lnTo>
                    <a:pt x="853440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0" name="object 350"/>
            <p:cNvSpPr/>
            <p:nvPr/>
          </p:nvSpPr>
          <p:spPr>
            <a:xfrm>
              <a:off x="2251710" y="5826759"/>
              <a:ext cx="822960" cy="30480"/>
            </a:xfrm>
            <a:custGeom>
              <a:avLst/>
              <a:gdLst/>
              <a:ahLst/>
              <a:cxnLst/>
              <a:rect l="l" t="t" r="r" b="b"/>
              <a:pathLst>
                <a:path w="822960" h="30479">
                  <a:moveTo>
                    <a:pt x="822959" y="0"/>
                  </a:moveTo>
                  <a:lnTo>
                    <a:pt x="0" y="0"/>
                  </a:lnTo>
                  <a:lnTo>
                    <a:pt x="0" y="30479"/>
                  </a:lnTo>
                  <a:lnTo>
                    <a:pt x="822959" y="30479"/>
                  </a:lnTo>
                  <a:lnTo>
                    <a:pt x="8229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1" name="object 351"/>
            <p:cNvSpPr/>
            <p:nvPr/>
          </p:nvSpPr>
          <p:spPr>
            <a:xfrm>
              <a:off x="1474470" y="5049519"/>
              <a:ext cx="2377440" cy="1584960"/>
            </a:xfrm>
            <a:custGeom>
              <a:avLst/>
              <a:gdLst/>
              <a:ahLst/>
              <a:cxnLst/>
              <a:rect l="l" t="t" r="r" b="b"/>
              <a:pathLst>
                <a:path w="2377440" h="1584959">
                  <a:moveTo>
                    <a:pt x="218440" y="0"/>
                  </a:moveTo>
                  <a:lnTo>
                    <a:pt x="171949" y="6298"/>
                  </a:lnTo>
                  <a:lnTo>
                    <a:pt x="127370" y="23948"/>
                  </a:lnTo>
                  <a:lnTo>
                    <a:pt x="86611" y="51085"/>
                  </a:lnTo>
                  <a:lnTo>
                    <a:pt x="51584" y="85841"/>
                  </a:lnTo>
                  <a:lnTo>
                    <a:pt x="24200" y="126352"/>
                  </a:lnTo>
                  <a:lnTo>
                    <a:pt x="6368" y="170750"/>
                  </a:lnTo>
                  <a:lnTo>
                    <a:pt x="0" y="217169"/>
                  </a:lnTo>
                  <a:lnTo>
                    <a:pt x="0" y="1366519"/>
                  </a:lnTo>
                  <a:lnTo>
                    <a:pt x="6368" y="1413010"/>
                  </a:lnTo>
                  <a:lnTo>
                    <a:pt x="24200" y="1457589"/>
                  </a:lnTo>
                  <a:lnTo>
                    <a:pt x="51584" y="1498348"/>
                  </a:lnTo>
                  <a:lnTo>
                    <a:pt x="86611" y="1533375"/>
                  </a:lnTo>
                  <a:lnTo>
                    <a:pt x="127370" y="1560759"/>
                  </a:lnTo>
                  <a:lnTo>
                    <a:pt x="171949" y="1578591"/>
                  </a:lnTo>
                  <a:lnTo>
                    <a:pt x="218440" y="1584959"/>
                  </a:lnTo>
                  <a:lnTo>
                    <a:pt x="2159000" y="1584959"/>
                  </a:lnTo>
                  <a:lnTo>
                    <a:pt x="2205490" y="1578591"/>
                  </a:lnTo>
                  <a:lnTo>
                    <a:pt x="2250069" y="1560759"/>
                  </a:lnTo>
                  <a:lnTo>
                    <a:pt x="2290828" y="1533375"/>
                  </a:lnTo>
                  <a:lnTo>
                    <a:pt x="2325855" y="1498348"/>
                  </a:lnTo>
                  <a:lnTo>
                    <a:pt x="2353239" y="1457589"/>
                  </a:lnTo>
                  <a:lnTo>
                    <a:pt x="2371071" y="1413010"/>
                  </a:lnTo>
                  <a:lnTo>
                    <a:pt x="2377440" y="1366519"/>
                  </a:lnTo>
                  <a:lnTo>
                    <a:pt x="2377440" y="217169"/>
                  </a:lnTo>
                  <a:lnTo>
                    <a:pt x="2371071" y="170750"/>
                  </a:lnTo>
                  <a:lnTo>
                    <a:pt x="2353239" y="126352"/>
                  </a:lnTo>
                  <a:lnTo>
                    <a:pt x="2325855" y="85841"/>
                  </a:lnTo>
                  <a:lnTo>
                    <a:pt x="2290828" y="51085"/>
                  </a:lnTo>
                  <a:lnTo>
                    <a:pt x="2250069" y="23948"/>
                  </a:lnTo>
                  <a:lnTo>
                    <a:pt x="2205490" y="6298"/>
                  </a:lnTo>
                  <a:lnTo>
                    <a:pt x="2159000" y="0"/>
                  </a:lnTo>
                  <a:lnTo>
                    <a:pt x="218440" y="0"/>
                  </a:lnTo>
                  <a:close/>
                </a:path>
                <a:path w="2377440" h="1584959">
                  <a:moveTo>
                    <a:pt x="0" y="0"/>
                  </a:moveTo>
                  <a:lnTo>
                    <a:pt x="0" y="0"/>
                  </a:lnTo>
                </a:path>
                <a:path w="2377440" h="1584959">
                  <a:moveTo>
                    <a:pt x="2377440" y="1584959"/>
                  </a:moveTo>
                  <a:lnTo>
                    <a:pt x="2377440" y="1584959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2" name="object 352"/>
            <p:cNvSpPr/>
            <p:nvPr/>
          </p:nvSpPr>
          <p:spPr>
            <a:xfrm>
              <a:off x="2555240" y="5841999"/>
              <a:ext cx="1150620" cy="648970"/>
            </a:xfrm>
            <a:custGeom>
              <a:avLst/>
              <a:gdLst/>
              <a:ahLst/>
              <a:cxnLst/>
              <a:rect l="l" t="t" r="r" b="b"/>
              <a:pathLst>
                <a:path w="1150620" h="648970">
                  <a:moveTo>
                    <a:pt x="12700" y="47637"/>
                  </a:moveTo>
                  <a:lnTo>
                    <a:pt x="11430" y="49530"/>
                  </a:lnTo>
                  <a:lnTo>
                    <a:pt x="7620" y="57150"/>
                  </a:lnTo>
                  <a:lnTo>
                    <a:pt x="6350" y="59270"/>
                  </a:lnTo>
                  <a:lnTo>
                    <a:pt x="3810" y="63500"/>
                  </a:lnTo>
                  <a:lnTo>
                    <a:pt x="2540" y="73672"/>
                  </a:lnTo>
                  <a:lnTo>
                    <a:pt x="0" y="81280"/>
                  </a:lnTo>
                  <a:lnTo>
                    <a:pt x="0" y="568960"/>
                  </a:lnTo>
                  <a:lnTo>
                    <a:pt x="2540" y="576580"/>
                  </a:lnTo>
                  <a:lnTo>
                    <a:pt x="3810" y="584200"/>
                  </a:lnTo>
                  <a:lnTo>
                    <a:pt x="6350" y="590130"/>
                  </a:lnTo>
                  <a:lnTo>
                    <a:pt x="7620" y="593090"/>
                  </a:lnTo>
                  <a:lnTo>
                    <a:pt x="11430" y="600710"/>
                  </a:lnTo>
                  <a:lnTo>
                    <a:pt x="12700" y="602615"/>
                  </a:lnTo>
                  <a:lnTo>
                    <a:pt x="12700" y="47637"/>
                  </a:lnTo>
                  <a:close/>
                </a:path>
                <a:path w="1150620" h="648970">
                  <a:moveTo>
                    <a:pt x="1100455" y="11430"/>
                  </a:moveTo>
                  <a:lnTo>
                    <a:pt x="1094740" y="7620"/>
                  </a:lnTo>
                  <a:lnTo>
                    <a:pt x="1085850" y="5080"/>
                  </a:lnTo>
                  <a:lnTo>
                    <a:pt x="1078230" y="2540"/>
                  </a:lnTo>
                  <a:lnTo>
                    <a:pt x="1069340" y="0"/>
                  </a:lnTo>
                  <a:lnTo>
                    <a:pt x="81280" y="0"/>
                  </a:lnTo>
                  <a:lnTo>
                    <a:pt x="73660" y="2540"/>
                  </a:lnTo>
                  <a:lnTo>
                    <a:pt x="64757" y="5080"/>
                  </a:lnTo>
                  <a:lnTo>
                    <a:pt x="55880" y="7620"/>
                  </a:lnTo>
                  <a:lnTo>
                    <a:pt x="50152" y="11430"/>
                  </a:lnTo>
                  <a:lnTo>
                    <a:pt x="1100455" y="11430"/>
                  </a:lnTo>
                  <a:close/>
                </a:path>
                <a:path w="1150620" h="648970">
                  <a:moveTo>
                    <a:pt x="1104468" y="636270"/>
                  </a:moveTo>
                  <a:lnTo>
                    <a:pt x="45707" y="636270"/>
                  </a:lnTo>
                  <a:lnTo>
                    <a:pt x="48260" y="637540"/>
                  </a:lnTo>
                  <a:lnTo>
                    <a:pt x="55880" y="642620"/>
                  </a:lnTo>
                  <a:lnTo>
                    <a:pt x="73660" y="647700"/>
                  </a:lnTo>
                  <a:lnTo>
                    <a:pt x="81280" y="647700"/>
                  </a:lnTo>
                  <a:lnTo>
                    <a:pt x="85077" y="648970"/>
                  </a:lnTo>
                  <a:lnTo>
                    <a:pt x="1065530" y="648970"/>
                  </a:lnTo>
                  <a:lnTo>
                    <a:pt x="1069340" y="647700"/>
                  </a:lnTo>
                  <a:lnTo>
                    <a:pt x="1078230" y="647700"/>
                  </a:lnTo>
                  <a:lnTo>
                    <a:pt x="1085850" y="645160"/>
                  </a:lnTo>
                  <a:lnTo>
                    <a:pt x="1094740" y="642620"/>
                  </a:lnTo>
                  <a:lnTo>
                    <a:pt x="1102360" y="637540"/>
                  </a:lnTo>
                  <a:lnTo>
                    <a:pt x="1104468" y="636270"/>
                  </a:lnTo>
                  <a:close/>
                </a:path>
                <a:path w="1150620" h="648970">
                  <a:moveTo>
                    <a:pt x="1150620" y="81280"/>
                  </a:moveTo>
                  <a:lnTo>
                    <a:pt x="1149350" y="73672"/>
                  </a:lnTo>
                  <a:lnTo>
                    <a:pt x="1146810" y="63500"/>
                  </a:lnTo>
                  <a:lnTo>
                    <a:pt x="1145540" y="61391"/>
                  </a:lnTo>
                  <a:lnTo>
                    <a:pt x="1143000" y="57150"/>
                  </a:lnTo>
                  <a:lnTo>
                    <a:pt x="1140460" y="49530"/>
                  </a:lnTo>
                  <a:lnTo>
                    <a:pt x="1139190" y="48006"/>
                  </a:lnTo>
                  <a:lnTo>
                    <a:pt x="1139190" y="602246"/>
                  </a:lnTo>
                  <a:lnTo>
                    <a:pt x="1140460" y="600710"/>
                  </a:lnTo>
                  <a:lnTo>
                    <a:pt x="1143000" y="593090"/>
                  </a:lnTo>
                  <a:lnTo>
                    <a:pt x="1145540" y="587171"/>
                  </a:lnTo>
                  <a:lnTo>
                    <a:pt x="1146810" y="584200"/>
                  </a:lnTo>
                  <a:lnTo>
                    <a:pt x="1149350" y="576580"/>
                  </a:lnTo>
                  <a:lnTo>
                    <a:pt x="1150620" y="568960"/>
                  </a:lnTo>
                  <a:lnTo>
                    <a:pt x="1150620" y="8128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3" name="object 353"/>
            <p:cNvSpPr/>
            <p:nvPr/>
          </p:nvSpPr>
          <p:spPr>
            <a:xfrm>
              <a:off x="2567940" y="5853429"/>
              <a:ext cx="1126490" cy="624840"/>
            </a:xfrm>
            <a:custGeom>
              <a:avLst/>
              <a:gdLst/>
              <a:ahLst/>
              <a:cxnLst/>
              <a:rect l="l" t="t" r="r" b="b"/>
              <a:pathLst>
                <a:path w="1126489" h="624839">
                  <a:moveTo>
                    <a:pt x="1100582" y="618490"/>
                  </a:moveTo>
                  <a:lnTo>
                    <a:pt x="24892" y="618490"/>
                  </a:lnTo>
                  <a:lnTo>
                    <a:pt x="27940" y="622300"/>
                  </a:lnTo>
                  <a:lnTo>
                    <a:pt x="33019" y="624840"/>
                  </a:lnTo>
                  <a:lnTo>
                    <a:pt x="1091776" y="624840"/>
                  </a:lnTo>
                  <a:lnTo>
                    <a:pt x="1096010" y="622300"/>
                  </a:lnTo>
                  <a:lnTo>
                    <a:pt x="1100582" y="618490"/>
                  </a:lnTo>
                  <a:close/>
                </a:path>
                <a:path w="1126489" h="624839">
                  <a:moveTo>
                    <a:pt x="6350" y="27432"/>
                  </a:moveTo>
                  <a:lnTo>
                    <a:pt x="3810" y="30480"/>
                  </a:lnTo>
                  <a:lnTo>
                    <a:pt x="0" y="36195"/>
                  </a:lnTo>
                  <a:lnTo>
                    <a:pt x="0" y="591185"/>
                  </a:lnTo>
                  <a:lnTo>
                    <a:pt x="3810" y="596900"/>
                  </a:lnTo>
                  <a:lnTo>
                    <a:pt x="6350" y="599440"/>
                  </a:lnTo>
                  <a:lnTo>
                    <a:pt x="6350" y="27432"/>
                  </a:lnTo>
                  <a:close/>
                </a:path>
                <a:path w="1126489" h="624839">
                  <a:moveTo>
                    <a:pt x="1120139" y="28575"/>
                  </a:moveTo>
                  <a:lnTo>
                    <a:pt x="1120139" y="598487"/>
                  </a:lnTo>
                  <a:lnTo>
                    <a:pt x="1121410" y="596900"/>
                  </a:lnTo>
                  <a:lnTo>
                    <a:pt x="1126489" y="590804"/>
                  </a:lnTo>
                  <a:lnTo>
                    <a:pt x="1126489" y="36575"/>
                  </a:lnTo>
                  <a:lnTo>
                    <a:pt x="1121410" y="30480"/>
                  </a:lnTo>
                  <a:lnTo>
                    <a:pt x="1120139" y="28575"/>
                  </a:lnTo>
                  <a:close/>
                </a:path>
                <a:path w="1126489" h="624839">
                  <a:moveTo>
                    <a:pt x="1087755" y="0"/>
                  </a:moveTo>
                  <a:lnTo>
                    <a:pt x="37464" y="0"/>
                  </a:lnTo>
                  <a:lnTo>
                    <a:pt x="35560" y="1270"/>
                  </a:lnTo>
                  <a:lnTo>
                    <a:pt x="27940" y="5080"/>
                  </a:lnTo>
                  <a:lnTo>
                    <a:pt x="25908" y="7620"/>
                  </a:lnTo>
                  <a:lnTo>
                    <a:pt x="1099058" y="7620"/>
                  </a:lnTo>
                  <a:lnTo>
                    <a:pt x="1096010" y="5080"/>
                  </a:lnTo>
                  <a:lnTo>
                    <a:pt x="1089660" y="1270"/>
                  </a:lnTo>
                  <a:lnTo>
                    <a:pt x="1087755" y="0"/>
                  </a:lnTo>
                  <a:close/>
                </a:path>
              </a:pathLst>
            </a:custGeom>
            <a:solidFill>
              <a:srgbClr val="FFFFC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4" name="object 354"/>
            <p:cNvSpPr/>
            <p:nvPr/>
          </p:nvSpPr>
          <p:spPr>
            <a:xfrm>
              <a:off x="2574290" y="5861049"/>
              <a:ext cx="1113790" cy="610870"/>
            </a:xfrm>
            <a:custGeom>
              <a:avLst/>
              <a:gdLst/>
              <a:ahLst/>
              <a:cxnLst/>
              <a:rect l="l" t="t" r="r" b="b"/>
              <a:pathLst>
                <a:path w="1113789" h="610870">
                  <a:moveTo>
                    <a:pt x="1102042" y="604519"/>
                  </a:moveTo>
                  <a:lnTo>
                    <a:pt x="10794" y="604519"/>
                  </a:lnTo>
                  <a:lnTo>
                    <a:pt x="16510" y="608330"/>
                  </a:lnTo>
                  <a:lnTo>
                    <a:pt x="18542" y="610869"/>
                  </a:lnTo>
                  <a:lnTo>
                    <a:pt x="1094232" y="610869"/>
                  </a:lnTo>
                  <a:lnTo>
                    <a:pt x="1097280" y="608330"/>
                  </a:lnTo>
                  <a:lnTo>
                    <a:pt x="1102042" y="604519"/>
                  </a:lnTo>
                  <a:close/>
                </a:path>
                <a:path w="1113789" h="610870">
                  <a:moveTo>
                    <a:pt x="6350" y="12065"/>
                  </a:moveTo>
                  <a:lnTo>
                    <a:pt x="3810" y="15239"/>
                  </a:lnTo>
                  <a:lnTo>
                    <a:pt x="0" y="19812"/>
                  </a:lnTo>
                  <a:lnTo>
                    <a:pt x="0" y="591819"/>
                  </a:lnTo>
                  <a:lnTo>
                    <a:pt x="3810" y="595630"/>
                  </a:lnTo>
                  <a:lnTo>
                    <a:pt x="6350" y="599439"/>
                  </a:lnTo>
                  <a:lnTo>
                    <a:pt x="6350" y="12065"/>
                  </a:lnTo>
                  <a:close/>
                </a:path>
                <a:path w="1113789" h="610870">
                  <a:moveTo>
                    <a:pt x="1107439" y="12699"/>
                  </a:moveTo>
                  <a:lnTo>
                    <a:pt x="1107439" y="598678"/>
                  </a:lnTo>
                  <a:lnTo>
                    <a:pt x="1109980" y="595630"/>
                  </a:lnTo>
                  <a:lnTo>
                    <a:pt x="1113789" y="590867"/>
                  </a:lnTo>
                  <a:lnTo>
                    <a:pt x="1113789" y="20954"/>
                  </a:lnTo>
                  <a:lnTo>
                    <a:pt x="1109980" y="15239"/>
                  </a:lnTo>
                  <a:lnTo>
                    <a:pt x="1107439" y="12699"/>
                  </a:lnTo>
                  <a:close/>
                </a:path>
                <a:path w="1113789" h="610870">
                  <a:moveTo>
                    <a:pt x="1092708" y="0"/>
                  </a:moveTo>
                  <a:lnTo>
                    <a:pt x="19558" y="0"/>
                  </a:lnTo>
                  <a:lnTo>
                    <a:pt x="16510" y="3810"/>
                  </a:lnTo>
                  <a:lnTo>
                    <a:pt x="14605" y="5080"/>
                  </a:lnTo>
                  <a:lnTo>
                    <a:pt x="1098867" y="5080"/>
                  </a:lnTo>
                  <a:lnTo>
                    <a:pt x="1097280" y="3810"/>
                  </a:lnTo>
                  <a:lnTo>
                    <a:pt x="1092708" y="0"/>
                  </a:lnTo>
                  <a:close/>
                </a:path>
              </a:pathLst>
            </a:custGeom>
            <a:solidFill>
              <a:srgbClr val="FFFFC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5" name="object 355"/>
            <p:cNvSpPr/>
            <p:nvPr/>
          </p:nvSpPr>
          <p:spPr>
            <a:xfrm>
              <a:off x="2580640" y="5866129"/>
              <a:ext cx="1101090" cy="599440"/>
            </a:xfrm>
            <a:custGeom>
              <a:avLst/>
              <a:gdLst/>
              <a:ahLst/>
              <a:cxnLst/>
              <a:rect l="l" t="t" r="r" b="b"/>
              <a:pathLst>
                <a:path w="1101089" h="599439">
                  <a:moveTo>
                    <a:pt x="1092517" y="0"/>
                  </a:moveTo>
                  <a:lnTo>
                    <a:pt x="8255" y="0"/>
                  </a:lnTo>
                  <a:lnTo>
                    <a:pt x="2540" y="3810"/>
                  </a:lnTo>
                  <a:lnTo>
                    <a:pt x="0" y="6985"/>
                  </a:lnTo>
                  <a:lnTo>
                    <a:pt x="0" y="594360"/>
                  </a:lnTo>
                  <a:lnTo>
                    <a:pt x="2540" y="598170"/>
                  </a:lnTo>
                  <a:lnTo>
                    <a:pt x="4445" y="599440"/>
                  </a:lnTo>
                  <a:lnTo>
                    <a:pt x="1095692" y="599440"/>
                  </a:lnTo>
                  <a:lnTo>
                    <a:pt x="1097280" y="598170"/>
                  </a:lnTo>
                  <a:lnTo>
                    <a:pt x="1101089" y="593598"/>
                  </a:lnTo>
                  <a:lnTo>
                    <a:pt x="1101089" y="593090"/>
                  </a:lnTo>
                  <a:lnTo>
                    <a:pt x="6350" y="593090"/>
                  </a:lnTo>
                  <a:lnTo>
                    <a:pt x="6350" y="6350"/>
                  </a:lnTo>
                  <a:lnTo>
                    <a:pt x="1099820" y="6350"/>
                  </a:lnTo>
                  <a:lnTo>
                    <a:pt x="1097280" y="3810"/>
                  </a:lnTo>
                  <a:lnTo>
                    <a:pt x="1092517" y="0"/>
                  </a:lnTo>
                  <a:close/>
                </a:path>
                <a:path w="1101089" h="599439">
                  <a:moveTo>
                    <a:pt x="1099820" y="6350"/>
                  </a:moveTo>
                  <a:lnTo>
                    <a:pt x="1094739" y="6350"/>
                  </a:lnTo>
                  <a:lnTo>
                    <a:pt x="1094739" y="593090"/>
                  </a:lnTo>
                  <a:lnTo>
                    <a:pt x="1101089" y="593090"/>
                  </a:lnTo>
                  <a:lnTo>
                    <a:pt x="1101089" y="7619"/>
                  </a:lnTo>
                  <a:lnTo>
                    <a:pt x="1099820" y="6350"/>
                  </a:lnTo>
                  <a:close/>
                </a:path>
              </a:pathLst>
            </a:custGeom>
            <a:solidFill>
              <a:srgbClr val="FFFFC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6" name="object 356"/>
            <p:cNvSpPr/>
            <p:nvPr/>
          </p:nvSpPr>
          <p:spPr>
            <a:xfrm>
              <a:off x="2586990" y="5872479"/>
              <a:ext cx="1088390" cy="586740"/>
            </a:xfrm>
            <a:custGeom>
              <a:avLst/>
              <a:gdLst/>
              <a:ahLst/>
              <a:cxnLst/>
              <a:rect l="l" t="t" r="r" b="b"/>
              <a:pathLst>
                <a:path w="1088389" h="586739">
                  <a:moveTo>
                    <a:pt x="1088390" y="0"/>
                  </a:moveTo>
                  <a:lnTo>
                    <a:pt x="1082040" y="0"/>
                  </a:lnTo>
                  <a:lnTo>
                    <a:pt x="1082040" y="7620"/>
                  </a:lnTo>
                  <a:lnTo>
                    <a:pt x="1082040" y="580390"/>
                  </a:lnTo>
                  <a:lnTo>
                    <a:pt x="6350" y="580390"/>
                  </a:lnTo>
                  <a:lnTo>
                    <a:pt x="6350" y="7620"/>
                  </a:lnTo>
                  <a:lnTo>
                    <a:pt x="1082040" y="7620"/>
                  </a:lnTo>
                  <a:lnTo>
                    <a:pt x="1082040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580390"/>
                  </a:lnTo>
                  <a:lnTo>
                    <a:pt x="0" y="586740"/>
                  </a:lnTo>
                  <a:lnTo>
                    <a:pt x="1088390" y="586740"/>
                  </a:lnTo>
                  <a:lnTo>
                    <a:pt x="1088390" y="580390"/>
                  </a:lnTo>
                  <a:lnTo>
                    <a:pt x="1088390" y="7620"/>
                  </a:lnTo>
                  <a:lnTo>
                    <a:pt x="1088390" y="0"/>
                  </a:lnTo>
                  <a:close/>
                </a:path>
              </a:pathLst>
            </a:custGeom>
            <a:solidFill>
              <a:srgbClr val="FFFFD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7" name="object 357"/>
            <p:cNvSpPr/>
            <p:nvPr/>
          </p:nvSpPr>
          <p:spPr>
            <a:xfrm>
              <a:off x="2593340" y="5880099"/>
              <a:ext cx="1075690" cy="572770"/>
            </a:xfrm>
            <a:custGeom>
              <a:avLst/>
              <a:gdLst/>
              <a:ahLst/>
              <a:cxnLst/>
              <a:rect l="l" t="t" r="r" b="b"/>
              <a:pathLst>
                <a:path w="1075689" h="572770">
                  <a:moveTo>
                    <a:pt x="1075690" y="0"/>
                  </a:moveTo>
                  <a:lnTo>
                    <a:pt x="1069340" y="0"/>
                  </a:lnTo>
                  <a:lnTo>
                    <a:pt x="1069340" y="6350"/>
                  </a:lnTo>
                  <a:lnTo>
                    <a:pt x="1069340" y="566420"/>
                  </a:lnTo>
                  <a:lnTo>
                    <a:pt x="6350" y="566420"/>
                  </a:lnTo>
                  <a:lnTo>
                    <a:pt x="6350" y="6350"/>
                  </a:lnTo>
                  <a:lnTo>
                    <a:pt x="1069340" y="6350"/>
                  </a:lnTo>
                  <a:lnTo>
                    <a:pt x="106934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566420"/>
                  </a:lnTo>
                  <a:lnTo>
                    <a:pt x="0" y="572770"/>
                  </a:lnTo>
                  <a:lnTo>
                    <a:pt x="1075690" y="572770"/>
                  </a:lnTo>
                  <a:lnTo>
                    <a:pt x="1075690" y="566420"/>
                  </a:lnTo>
                  <a:lnTo>
                    <a:pt x="1075690" y="6350"/>
                  </a:lnTo>
                  <a:lnTo>
                    <a:pt x="1075690" y="0"/>
                  </a:lnTo>
                  <a:close/>
                </a:path>
              </a:pathLst>
            </a:custGeom>
            <a:solidFill>
              <a:srgbClr val="FFFFD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8" name="object 358"/>
            <p:cNvSpPr/>
            <p:nvPr/>
          </p:nvSpPr>
          <p:spPr>
            <a:xfrm>
              <a:off x="2599690" y="5886449"/>
              <a:ext cx="1062990" cy="560070"/>
            </a:xfrm>
            <a:custGeom>
              <a:avLst/>
              <a:gdLst/>
              <a:ahLst/>
              <a:cxnLst/>
              <a:rect l="l" t="t" r="r" b="b"/>
              <a:pathLst>
                <a:path w="1062989" h="560070">
                  <a:moveTo>
                    <a:pt x="1062990" y="0"/>
                  </a:moveTo>
                  <a:lnTo>
                    <a:pt x="1056640" y="0"/>
                  </a:lnTo>
                  <a:lnTo>
                    <a:pt x="1056640" y="5080"/>
                  </a:lnTo>
                  <a:lnTo>
                    <a:pt x="1056640" y="553720"/>
                  </a:lnTo>
                  <a:lnTo>
                    <a:pt x="6350" y="553720"/>
                  </a:lnTo>
                  <a:lnTo>
                    <a:pt x="6350" y="5080"/>
                  </a:lnTo>
                  <a:lnTo>
                    <a:pt x="1056640" y="5080"/>
                  </a:lnTo>
                  <a:lnTo>
                    <a:pt x="1056640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553720"/>
                  </a:lnTo>
                  <a:lnTo>
                    <a:pt x="0" y="560070"/>
                  </a:lnTo>
                  <a:lnTo>
                    <a:pt x="1062990" y="560070"/>
                  </a:lnTo>
                  <a:lnTo>
                    <a:pt x="1062990" y="553720"/>
                  </a:lnTo>
                  <a:lnTo>
                    <a:pt x="1062990" y="5080"/>
                  </a:lnTo>
                  <a:lnTo>
                    <a:pt x="1062990" y="0"/>
                  </a:lnTo>
                  <a:close/>
                </a:path>
              </a:pathLst>
            </a:custGeom>
            <a:solidFill>
              <a:srgbClr val="FFFFD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59" name="object 359"/>
            <p:cNvSpPr/>
            <p:nvPr/>
          </p:nvSpPr>
          <p:spPr>
            <a:xfrm>
              <a:off x="2606040" y="5891529"/>
              <a:ext cx="1050290" cy="548640"/>
            </a:xfrm>
            <a:custGeom>
              <a:avLst/>
              <a:gdLst/>
              <a:ahLst/>
              <a:cxnLst/>
              <a:rect l="l" t="t" r="r" b="b"/>
              <a:pathLst>
                <a:path w="1050289" h="548639">
                  <a:moveTo>
                    <a:pt x="1050290" y="0"/>
                  </a:moveTo>
                  <a:lnTo>
                    <a:pt x="1043940" y="0"/>
                  </a:lnTo>
                  <a:lnTo>
                    <a:pt x="1043940" y="7620"/>
                  </a:lnTo>
                  <a:lnTo>
                    <a:pt x="1043940" y="542290"/>
                  </a:lnTo>
                  <a:lnTo>
                    <a:pt x="6350" y="542290"/>
                  </a:lnTo>
                  <a:lnTo>
                    <a:pt x="6350" y="7620"/>
                  </a:lnTo>
                  <a:lnTo>
                    <a:pt x="1043940" y="7620"/>
                  </a:lnTo>
                  <a:lnTo>
                    <a:pt x="1043940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542290"/>
                  </a:lnTo>
                  <a:lnTo>
                    <a:pt x="0" y="548640"/>
                  </a:lnTo>
                  <a:lnTo>
                    <a:pt x="1050290" y="548640"/>
                  </a:lnTo>
                  <a:lnTo>
                    <a:pt x="1050290" y="542290"/>
                  </a:lnTo>
                  <a:lnTo>
                    <a:pt x="1050290" y="7620"/>
                  </a:lnTo>
                  <a:lnTo>
                    <a:pt x="1050290" y="0"/>
                  </a:lnTo>
                  <a:close/>
                </a:path>
              </a:pathLst>
            </a:custGeom>
            <a:solidFill>
              <a:srgbClr val="FFFFD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0" name="object 360"/>
            <p:cNvSpPr/>
            <p:nvPr/>
          </p:nvSpPr>
          <p:spPr>
            <a:xfrm>
              <a:off x="2612390" y="5899149"/>
              <a:ext cx="1037590" cy="534670"/>
            </a:xfrm>
            <a:custGeom>
              <a:avLst/>
              <a:gdLst/>
              <a:ahLst/>
              <a:cxnLst/>
              <a:rect l="l" t="t" r="r" b="b"/>
              <a:pathLst>
                <a:path w="1037589" h="534670">
                  <a:moveTo>
                    <a:pt x="1037590" y="0"/>
                  </a:moveTo>
                  <a:lnTo>
                    <a:pt x="1031240" y="0"/>
                  </a:lnTo>
                  <a:lnTo>
                    <a:pt x="1031240" y="6350"/>
                  </a:lnTo>
                  <a:lnTo>
                    <a:pt x="1031240" y="528320"/>
                  </a:lnTo>
                  <a:lnTo>
                    <a:pt x="6350" y="528320"/>
                  </a:lnTo>
                  <a:lnTo>
                    <a:pt x="6350" y="6350"/>
                  </a:lnTo>
                  <a:lnTo>
                    <a:pt x="1031240" y="6350"/>
                  </a:lnTo>
                  <a:lnTo>
                    <a:pt x="103124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528320"/>
                  </a:lnTo>
                  <a:lnTo>
                    <a:pt x="0" y="534670"/>
                  </a:lnTo>
                  <a:lnTo>
                    <a:pt x="1037590" y="534670"/>
                  </a:lnTo>
                  <a:lnTo>
                    <a:pt x="1037590" y="528320"/>
                  </a:lnTo>
                  <a:lnTo>
                    <a:pt x="1037590" y="6350"/>
                  </a:lnTo>
                  <a:lnTo>
                    <a:pt x="1037590" y="0"/>
                  </a:lnTo>
                  <a:close/>
                </a:path>
              </a:pathLst>
            </a:custGeom>
            <a:solidFill>
              <a:srgbClr val="FFFFD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1" name="object 361"/>
            <p:cNvSpPr/>
            <p:nvPr/>
          </p:nvSpPr>
          <p:spPr>
            <a:xfrm>
              <a:off x="2618740" y="5905499"/>
              <a:ext cx="1024890" cy="521970"/>
            </a:xfrm>
            <a:custGeom>
              <a:avLst/>
              <a:gdLst/>
              <a:ahLst/>
              <a:cxnLst/>
              <a:rect l="l" t="t" r="r" b="b"/>
              <a:pathLst>
                <a:path w="1024889" h="521970">
                  <a:moveTo>
                    <a:pt x="1024890" y="0"/>
                  </a:moveTo>
                  <a:lnTo>
                    <a:pt x="1018540" y="0"/>
                  </a:lnTo>
                  <a:lnTo>
                    <a:pt x="1018540" y="5080"/>
                  </a:lnTo>
                  <a:lnTo>
                    <a:pt x="1018540" y="515620"/>
                  </a:lnTo>
                  <a:lnTo>
                    <a:pt x="6350" y="515620"/>
                  </a:lnTo>
                  <a:lnTo>
                    <a:pt x="6350" y="5080"/>
                  </a:lnTo>
                  <a:lnTo>
                    <a:pt x="1018540" y="5080"/>
                  </a:lnTo>
                  <a:lnTo>
                    <a:pt x="1018540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515620"/>
                  </a:lnTo>
                  <a:lnTo>
                    <a:pt x="0" y="521970"/>
                  </a:lnTo>
                  <a:lnTo>
                    <a:pt x="1024890" y="521970"/>
                  </a:lnTo>
                  <a:lnTo>
                    <a:pt x="1024890" y="515620"/>
                  </a:lnTo>
                  <a:lnTo>
                    <a:pt x="1024890" y="5080"/>
                  </a:lnTo>
                  <a:lnTo>
                    <a:pt x="1024890" y="0"/>
                  </a:lnTo>
                  <a:close/>
                </a:path>
              </a:pathLst>
            </a:custGeom>
            <a:solidFill>
              <a:srgbClr val="FFFFD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2" name="object 362"/>
            <p:cNvSpPr/>
            <p:nvPr/>
          </p:nvSpPr>
          <p:spPr>
            <a:xfrm>
              <a:off x="2625090" y="5910579"/>
              <a:ext cx="1012190" cy="510540"/>
            </a:xfrm>
            <a:custGeom>
              <a:avLst/>
              <a:gdLst/>
              <a:ahLst/>
              <a:cxnLst/>
              <a:rect l="l" t="t" r="r" b="b"/>
              <a:pathLst>
                <a:path w="1012189" h="510539">
                  <a:moveTo>
                    <a:pt x="1012190" y="0"/>
                  </a:moveTo>
                  <a:lnTo>
                    <a:pt x="1005840" y="0"/>
                  </a:lnTo>
                  <a:lnTo>
                    <a:pt x="1005840" y="7620"/>
                  </a:lnTo>
                  <a:lnTo>
                    <a:pt x="1005840" y="504190"/>
                  </a:lnTo>
                  <a:lnTo>
                    <a:pt x="6350" y="504190"/>
                  </a:lnTo>
                  <a:lnTo>
                    <a:pt x="6350" y="7620"/>
                  </a:lnTo>
                  <a:lnTo>
                    <a:pt x="1005840" y="7620"/>
                  </a:lnTo>
                  <a:lnTo>
                    <a:pt x="1005840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504190"/>
                  </a:lnTo>
                  <a:lnTo>
                    <a:pt x="0" y="510540"/>
                  </a:lnTo>
                  <a:lnTo>
                    <a:pt x="1012190" y="510540"/>
                  </a:lnTo>
                  <a:lnTo>
                    <a:pt x="1012190" y="504190"/>
                  </a:lnTo>
                  <a:lnTo>
                    <a:pt x="1012190" y="7620"/>
                  </a:lnTo>
                  <a:lnTo>
                    <a:pt x="1012190" y="0"/>
                  </a:lnTo>
                  <a:close/>
                </a:path>
              </a:pathLst>
            </a:custGeom>
            <a:solidFill>
              <a:srgbClr val="FFFFD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3" name="object 363"/>
            <p:cNvSpPr/>
            <p:nvPr/>
          </p:nvSpPr>
          <p:spPr>
            <a:xfrm>
              <a:off x="2631440" y="5918199"/>
              <a:ext cx="999490" cy="496570"/>
            </a:xfrm>
            <a:custGeom>
              <a:avLst/>
              <a:gdLst/>
              <a:ahLst/>
              <a:cxnLst/>
              <a:rect l="l" t="t" r="r" b="b"/>
              <a:pathLst>
                <a:path w="999489" h="496570">
                  <a:moveTo>
                    <a:pt x="999490" y="0"/>
                  </a:moveTo>
                  <a:lnTo>
                    <a:pt x="993140" y="0"/>
                  </a:lnTo>
                  <a:lnTo>
                    <a:pt x="993140" y="6350"/>
                  </a:lnTo>
                  <a:lnTo>
                    <a:pt x="993140" y="490220"/>
                  </a:lnTo>
                  <a:lnTo>
                    <a:pt x="6350" y="490220"/>
                  </a:lnTo>
                  <a:lnTo>
                    <a:pt x="6350" y="6350"/>
                  </a:lnTo>
                  <a:lnTo>
                    <a:pt x="993140" y="6350"/>
                  </a:lnTo>
                  <a:lnTo>
                    <a:pt x="99314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490220"/>
                  </a:lnTo>
                  <a:lnTo>
                    <a:pt x="0" y="496570"/>
                  </a:lnTo>
                  <a:lnTo>
                    <a:pt x="999490" y="496570"/>
                  </a:lnTo>
                  <a:lnTo>
                    <a:pt x="999490" y="490220"/>
                  </a:lnTo>
                  <a:lnTo>
                    <a:pt x="999490" y="6350"/>
                  </a:lnTo>
                  <a:lnTo>
                    <a:pt x="999490" y="0"/>
                  </a:lnTo>
                  <a:close/>
                </a:path>
              </a:pathLst>
            </a:custGeom>
            <a:solidFill>
              <a:srgbClr val="FFFFD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4" name="object 364"/>
            <p:cNvSpPr/>
            <p:nvPr/>
          </p:nvSpPr>
          <p:spPr>
            <a:xfrm>
              <a:off x="2637790" y="5924549"/>
              <a:ext cx="986790" cy="483870"/>
            </a:xfrm>
            <a:custGeom>
              <a:avLst/>
              <a:gdLst/>
              <a:ahLst/>
              <a:cxnLst/>
              <a:rect l="l" t="t" r="r" b="b"/>
              <a:pathLst>
                <a:path w="986789" h="483870">
                  <a:moveTo>
                    <a:pt x="986790" y="0"/>
                  </a:moveTo>
                  <a:lnTo>
                    <a:pt x="980440" y="0"/>
                  </a:lnTo>
                  <a:lnTo>
                    <a:pt x="980440" y="6350"/>
                  </a:lnTo>
                  <a:lnTo>
                    <a:pt x="980440" y="477520"/>
                  </a:lnTo>
                  <a:lnTo>
                    <a:pt x="6350" y="477520"/>
                  </a:lnTo>
                  <a:lnTo>
                    <a:pt x="6350" y="6350"/>
                  </a:lnTo>
                  <a:lnTo>
                    <a:pt x="980440" y="6350"/>
                  </a:lnTo>
                  <a:lnTo>
                    <a:pt x="98044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477520"/>
                  </a:lnTo>
                  <a:lnTo>
                    <a:pt x="0" y="483870"/>
                  </a:lnTo>
                  <a:lnTo>
                    <a:pt x="986790" y="483870"/>
                  </a:lnTo>
                  <a:lnTo>
                    <a:pt x="986790" y="477520"/>
                  </a:lnTo>
                  <a:lnTo>
                    <a:pt x="986790" y="6350"/>
                  </a:lnTo>
                  <a:lnTo>
                    <a:pt x="986790" y="0"/>
                  </a:lnTo>
                  <a:close/>
                </a:path>
              </a:pathLst>
            </a:custGeom>
            <a:solidFill>
              <a:srgbClr val="FFFFD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5" name="object 365"/>
            <p:cNvSpPr/>
            <p:nvPr/>
          </p:nvSpPr>
          <p:spPr>
            <a:xfrm>
              <a:off x="2644140" y="5930899"/>
              <a:ext cx="974090" cy="471170"/>
            </a:xfrm>
            <a:custGeom>
              <a:avLst/>
              <a:gdLst/>
              <a:ahLst/>
              <a:cxnLst/>
              <a:rect l="l" t="t" r="r" b="b"/>
              <a:pathLst>
                <a:path w="974089" h="471170">
                  <a:moveTo>
                    <a:pt x="974090" y="0"/>
                  </a:moveTo>
                  <a:lnTo>
                    <a:pt x="967740" y="0"/>
                  </a:lnTo>
                  <a:lnTo>
                    <a:pt x="967740" y="6350"/>
                  </a:lnTo>
                  <a:lnTo>
                    <a:pt x="967740" y="464820"/>
                  </a:lnTo>
                  <a:lnTo>
                    <a:pt x="6350" y="464820"/>
                  </a:lnTo>
                  <a:lnTo>
                    <a:pt x="6350" y="6350"/>
                  </a:lnTo>
                  <a:lnTo>
                    <a:pt x="967740" y="6350"/>
                  </a:lnTo>
                  <a:lnTo>
                    <a:pt x="96774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464820"/>
                  </a:lnTo>
                  <a:lnTo>
                    <a:pt x="0" y="471170"/>
                  </a:lnTo>
                  <a:lnTo>
                    <a:pt x="974090" y="471170"/>
                  </a:lnTo>
                  <a:lnTo>
                    <a:pt x="974090" y="464820"/>
                  </a:lnTo>
                  <a:lnTo>
                    <a:pt x="974090" y="6350"/>
                  </a:lnTo>
                  <a:lnTo>
                    <a:pt x="974090" y="0"/>
                  </a:lnTo>
                  <a:close/>
                </a:path>
              </a:pathLst>
            </a:custGeom>
            <a:solidFill>
              <a:srgbClr val="FFFFD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6" name="object 366"/>
            <p:cNvSpPr/>
            <p:nvPr/>
          </p:nvSpPr>
          <p:spPr>
            <a:xfrm>
              <a:off x="2650490" y="5937249"/>
              <a:ext cx="961390" cy="458470"/>
            </a:xfrm>
            <a:custGeom>
              <a:avLst/>
              <a:gdLst/>
              <a:ahLst/>
              <a:cxnLst/>
              <a:rect l="l" t="t" r="r" b="b"/>
              <a:pathLst>
                <a:path w="961389" h="458470">
                  <a:moveTo>
                    <a:pt x="961390" y="0"/>
                  </a:moveTo>
                  <a:lnTo>
                    <a:pt x="955040" y="0"/>
                  </a:lnTo>
                  <a:lnTo>
                    <a:pt x="955040" y="6350"/>
                  </a:lnTo>
                  <a:lnTo>
                    <a:pt x="955040" y="452120"/>
                  </a:lnTo>
                  <a:lnTo>
                    <a:pt x="6350" y="452120"/>
                  </a:lnTo>
                  <a:lnTo>
                    <a:pt x="6350" y="6350"/>
                  </a:lnTo>
                  <a:lnTo>
                    <a:pt x="955040" y="6350"/>
                  </a:lnTo>
                  <a:lnTo>
                    <a:pt x="95504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452120"/>
                  </a:lnTo>
                  <a:lnTo>
                    <a:pt x="0" y="458470"/>
                  </a:lnTo>
                  <a:lnTo>
                    <a:pt x="961390" y="458470"/>
                  </a:lnTo>
                  <a:lnTo>
                    <a:pt x="961390" y="452120"/>
                  </a:lnTo>
                  <a:lnTo>
                    <a:pt x="961390" y="6350"/>
                  </a:lnTo>
                  <a:lnTo>
                    <a:pt x="961390" y="0"/>
                  </a:lnTo>
                  <a:close/>
                </a:path>
              </a:pathLst>
            </a:custGeom>
            <a:solidFill>
              <a:srgbClr val="FFFFD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7" name="object 367"/>
            <p:cNvSpPr/>
            <p:nvPr/>
          </p:nvSpPr>
          <p:spPr>
            <a:xfrm>
              <a:off x="2656840" y="5943599"/>
              <a:ext cx="948690" cy="445770"/>
            </a:xfrm>
            <a:custGeom>
              <a:avLst/>
              <a:gdLst/>
              <a:ahLst/>
              <a:cxnLst/>
              <a:rect l="l" t="t" r="r" b="b"/>
              <a:pathLst>
                <a:path w="948689" h="445770">
                  <a:moveTo>
                    <a:pt x="948690" y="0"/>
                  </a:moveTo>
                  <a:lnTo>
                    <a:pt x="942340" y="0"/>
                  </a:lnTo>
                  <a:lnTo>
                    <a:pt x="942340" y="6350"/>
                  </a:lnTo>
                  <a:lnTo>
                    <a:pt x="942340" y="439420"/>
                  </a:lnTo>
                  <a:lnTo>
                    <a:pt x="6350" y="439420"/>
                  </a:lnTo>
                  <a:lnTo>
                    <a:pt x="6350" y="6350"/>
                  </a:lnTo>
                  <a:lnTo>
                    <a:pt x="942340" y="6350"/>
                  </a:lnTo>
                  <a:lnTo>
                    <a:pt x="94234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439420"/>
                  </a:lnTo>
                  <a:lnTo>
                    <a:pt x="0" y="445770"/>
                  </a:lnTo>
                  <a:lnTo>
                    <a:pt x="948690" y="445770"/>
                  </a:lnTo>
                  <a:lnTo>
                    <a:pt x="948690" y="439420"/>
                  </a:lnTo>
                  <a:lnTo>
                    <a:pt x="948690" y="6350"/>
                  </a:lnTo>
                  <a:lnTo>
                    <a:pt x="948690" y="0"/>
                  </a:lnTo>
                  <a:close/>
                </a:path>
              </a:pathLst>
            </a:custGeom>
            <a:solidFill>
              <a:srgbClr val="FFFFD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8" name="object 368"/>
            <p:cNvSpPr/>
            <p:nvPr/>
          </p:nvSpPr>
          <p:spPr>
            <a:xfrm>
              <a:off x="2663190" y="5949949"/>
              <a:ext cx="935990" cy="433070"/>
            </a:xfrm>
            <a:custGeom>
              <a:avLst/>
              <a:gdLst/>
              <a:ahLst/>
              <a:cxnLst/>
              <a:rect l="l" t="t" r="r" b="b"/>
              <a:pathLst>
                <a:path w="935989" h="433070">
                  <a:moveTo>
                    <a:pt x="935990" y="0"/>
                  </a:moveTo>
                  <a:lnTo>
                    <a:pt x="929640" y="0"/>
                  </a:lnTo>
                  <a:lnTo>
                    <a:pt x="929640" y="6350"/>
                  </a:lnTo>
                  <a:lnTo>
                    <a:pt x="929640" y="426720"/>
                  </a:lnTo>
                  <a:lnTo>
                    <a:pt x="6350" y="426720"/>
                  </a:lnTo>
                  <a:lnTo>
                    <a:pt x="6350" y="6350"/>
                  </a:lnTo>
                  <a:lnTo>
                    <a:pt x="929640" y="6350"/>
                  </a:lnTo>
                  <a:lnTo>
                    <a:pt x="92964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426720"/>
                  </a:lnTo>
                  <a:lnTo>
                    <a:pt x="0" y="433070"/>
                  </a:lnTo>
                  <a:lnTo>
                    <a:pt x="935990" y="433070"/>
                  </a:lnTo>
                  <a:lnTo>
                    <a:pt x="935990" y="426720"/>
                  </a:lnTo>
                  <a:lnTo>
                    <a:pt x="935990" y="6350"/>
                  </a:lnTo>
                  <a:lnTo>
                    <a:pt x="935990" y="0"/>
                  </a:lnTo>
                  <a:close/>
                </a:path>
              </a:pathLst>
            </a:custGeom>
            <a:solidFill>
              <a:srgbClr val="FFFFD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69" name="object 369"/>
            <p:cNvSpPr/>
            <p:nvPr/>
          </p:nvSpPr>
          <p:spPr>
            <a:xfrm>
              <a:off x="2669540" y="5956299"/>
              <a:ext cx="923290" cy="420370"/>
            </a:xfrm>
            <a:custGeom>
              <a:avLst/>
              <a:gdLst/>
              <a:ahLst/>
              <a:cxnLst/>
              <a:rect l="l" t="t" r="r" b="b"/>
              <a:pathLst>
                <a:path w="923289" h="420370">
                  <a:moveTo>
                    <a:pt x="923290" y="0"/>
                  </a:moveTo>
                  <a:lnTo>
                    <a:pt x="916940" y="0"/>
                  </a:lnTo>
                  <a:lnTo>
                    <a:pt x="916940" y="6350"/>
                  </a:lnTo>
                  <a:lnTo>
                    <a:pt x="916940" y="414020"/>
                  </a:lnTo>
                  <a:lnTo>
                    <a:pt x="6350" y="414020"/>
                  </a:lnTo>
                  <a:lnTo>
                    <a:pt x="6350" y="6350"/>
                  </a:lnTo>
                  <a:lnTo>
                    <a:pt x="916940" y="6350"/>
                  </a:lnTo>
                  <a:lnTo>
                    <a:pt x="91694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414020"/>
                  </a:lnTo>
                  <a:lnTo>
                    <a:pt x="0" y="420370"/>
                  </a:lnTo>
                  <a:lnTo>
                    <a:pt x="923290" y="420370"/>
                  </a:lnTo>
                  <a:lnTo>
                    <a:pt x="923290" y="414020"/>
                  </a:lnTo>
                  <a:lnTo>
                    <a:pt x="923290" y="6350"/>
                  </a:lnTo>
                  <a:lnTo>
                    <a:pt x="923290" y="0"/>
                  </a:lnTo>
                  <a:close/>
                </a:path>
              </a:pathLst>
            </a:custGeom>
            <a:solidFill>
              <a:srgbClr val="FFFFD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0" name="object 370"/>
            <p:cNvSpPr/>
            <p:nvPr/>
          </p:nvSpPr>
          <p:spPr>
            <a:xfrm>
              <a:off x="2675890" y="5962649"/>
              <a:ext cx="910590" cy="407670"/>
            </a:xfrm>
            <a:custGeom>
              <a:avLst/>
              <a:gdLst/>
              <a:ahLst/>
              <a:cxnLst/>
              <a:rect l="l" t="t" r="r" b="b"/>
              <a:pathLst>
                <a:path w="910589" h="407670">
                  <a:moveTo>
                    <a:pt x="910590" y="0"/>
                  </a:moveTo>
                  <a:lnTo>
                    <a:pt x="902970" y="0"/>
                  </a:lnTo>
                  <a:lnTo>
                    <a:pt x="902970" y="6350"/>
                  </a:lnTo>
                  <a:lnTo>
                    <a:pt x="902970" y="401320"/>
                  </a:lnTo>
                  <a:lnTo>
                    <a:pt x="6350" y="401320"/>
                  </a:lnTo>
                  <a:lnTo>
                    <a:pt x="6350" y="6350"/>
                  </a:lnTo>
                  <a:lnTo>
                    <a:pt x="902970" y="6350"/>
                  </a:lnTo>
                  <a:lnTo>
                    <a:pt x="90297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401320"/>
                  </a:lnTo>
                  <a:lnTo>
                    <a:pt x="0" y="407670"/>
                  </a:lnTo>
                  <a:lnTo>
                    <a:pt x="910590" y="407670"/>
                  </a:lnTo>
                  <a:lnTo>
                    <a:pt x="910590" y="401320"/>
                  </a:lnTo>
                  <a:lnTo>
                    <a:pt x="910590" y="6350"/>
                  </a:lnTo>
                  <a:lnTo>
                    <a:pt x="910590" y="0"/>
                  </a:lnTo>
                  <a:close/>
                </a:path>
              </a:pathLst>
            </a:custGeom>
            <a:solidFill>
              <a:srgbClr val="FFFFD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1" name="object 371"/>
            <p:cNvSpPr/>
            <p:nvPr/>
          </p:nvSpPr>
          <p:spPr>
            <a:xfrm>
              <a:off x="2682240" y="5968999"/>
              <a:ext cx="896619" cy="394970"/>
            </a:xfrm>
            <a:custGeom>
              <a:avLst/>
              <a:gdLst/>
              <a:ahLst/>
              <a:cxnLst/>
              <a:rect l="l" t="t" r="r" b="b"/>
              <a:pathLst>
                <a:path w="896620" h="394970">
                  <a:moveTo>
                    <a:pt x="896620" y="0"/>
                  </a:moveTo>
                  <a:lnTo>
                    <a:pt x="890270" y="0"/>
                  </a:lnTo>
                  <a:lnTo>
                    <a:pt x="890270" y="6350"/>
                  </a:lnTo>
                  <a:lnTo>
                    <a:pt x="890270" y="388620"/>
                  </a:lnTo>
                  <a:lnTo>
                    <a:pt x="6350" y="388620"/>
                  </a:lnTo>
                  <a:lnTo>
                    <a:pt x="6350" y="6350"/>
                  </a:lnTo>
                  <a:lnTo>
                    <a:pt x="890270" y="6350"/>
                  </a:lnTo>
                  <a:lnTo>
                    <a:pt x="89027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88620"/>
                  </a:lnTo>
                  <a:lnTo>
                    <a:pt x="0" y="394970"/>
                  </a:lnTo>
                  <a:lnTo>
                    <a:pt x="896620" y="394970"/>
                  </a:lnTo>
                  <a:lnTo>
                    <a:pt x="896620" y="388620"/>
                  </a:lnTo>
                  <a:lnTo>
                    <a:pt x="896620" y="6350"/>
                  </a:lnTo>
                  <a:lnTo>
                    <a:pt x="896620" y="0"/>
                  </a:lnTo>
                  <a:close/>
                </a:path>
              </a:pathLst>
            </a:custGeom>
            <a:solidFill>
              <a:srgbClr val="FFFFD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2" name="object 372"/>
            <p:cNvSpPr/>
            <p:nvPr/>
          </p:nvSpPr>
          <p:spPr>
            <a:xfrm>
              <a:off x="2688590" y="5975349"/>
              <a:ext cx="883919" cy="382270"/>
            </a:xfrm>
            <a:custGeom>
              <a:avLst/>
              <a:gdLst/>
              <a:ahLst/>
              <a:cxnLst/>
              <a:rect l="l" t="t" r="r" b="b"/>
              <a:pathLst>
                <a:path w="883920" h="382270">
                  <a:moveTo>
                    <a:pt x="883920" y="0"/>
                  </a:moveTo>
                  <a:lnTo>
                    <a:pt x="878840" y="0"/>
                  </a:lnTo>
                  <a:lnTo>
                    <a:pt x="878840" y="6350"/>
                  </a:lnTo>
                  <a:lnTo>
                    <a:pt x="878840" y="375920"/>
                  </a:lnTo>
                  <a:lnTo>
                    <a:pt x="6350" y="375920"/>
                  </a:lnTo>
                  <a:lnTo>
                    <a:pt x="6350" y="6350"/>
                  </a:lnTo>
                  <a:lnTo>
                    <a:pt x="878840" y="6350"/>
                  </a:lnTo>
                  <a:lnTo>
                    <a:pt x="87884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75920"/>
                  </a:lnTo>
                  <a:lnTo>
                    <a:pt x="0" y="382270"/>
                  </a:lnTo>
                  <a:lnTo>
                    <a:pt x="883920" y="382270"/>
                  </a:lnTo>
                  <a:lnTo>
                    <a:pt x="883920" y="375920"/>
                  </a:lnTo>
                  <a:lnTo>
                    <a:pt x="883920" y="6350"/>
                  </a:lnTo>
                  <a:lnTo>
                    <a:pt x="883920" y="0"/>
                  </a:lnTo>
                  <a:close/>
                </a:path>
              </a:pathLst>
            </a:custGeom>
            <a:solidFill>
              <a:srgbClr val="FFFFE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3" name="object 373"/>
            <p:cNvSpPr/>
            <p:nvPr/>
          </p:nvSpPr>
          <p:spPr>
            <a:xfrm>
              <a:off x="2694940" y="5981699"/>
              <a:ext cx="872490" cy="369570"/>
            </a:xfrm>
            <a:custGeom>
              <a:avLst/>
              <a:gdLst/>
              <a:ahLst/>
              <a:cxnLst/>
              <a:rect l="l" t="t" r="r" b="b"/>
              <a:pathLst>
                <a:path w="872489" h="369570">
                  <a:moveTo>
                    <a:pt x="872490" y="0"/>
                  </a:moveTo>
                  <a:lnTo>
                    <a:pt x="864870" y="0"/>
                  </a:lnTo>
                  <a:lnTo>
                    <a:pt x="864870" y="6350"/>
                  </a:lnTo>
                  <a:lnTo>
                    <a:pt x="864870" y="363220"/>
                  </a:lnTo>
                  <a:lnTo>
                    <a:pt x="6350" y="363220"/>
                  </a:lnTo>
                  <a:lnTo>
                    <a:pt x="6350" y="6350"/>
                  </a:lnTo>
                  <a:lnTo>
                    <a:pt x="864870" y="6350"/>
                  </a:lnTo>
                  <a:lnTo>
                    <a:pt x="86487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63220"/>
                  </a:lnTo>
                  <a:lnTo>
                    <a:pt x="0" y="369570"/>
                  </a:lnTo>
                  <a:lnTo>
                    <a:pt x="872490" y="369570"/>
                  </a:lnTo>
                  <a:lnTo>
                    <a:pt x="872490" y="363220"/>
                  </a:lnTo>
                  <a:lnTo>
                    <a:pt x="872490" y="6350"/>
                  </a:lnTo>
                  <a:lnTo>
                    <a:pt x="872490" y="0"/>
                  </a:lnTo>
                  <a:close/>
                </a:path>
              </a:pathLst>
            </a:custGeom>
            <a:solidFill>
              <a:srgbClr val="FFFFE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4" name="object 374"/>
            <p:cNvSpPr/>
            <p:nvPr/>
          </p:nvSpPr>
          <p:spPr>
            <a:xfrm>
              <a:off x="2701290" y="5988049"/>
              <a:ext cx="858519" cy="356870"/>
            </a:xfrm>
            <a:custGeom>
              <a:avLst/>
              <a:gdLst/>
              <a:ahLst/>
              <a:cxnLst/>
              <a:rect l="l" t="t" r="r" b="b"/>
              <a:pathLst>
                <a:path w="858520" h="356870">
                  <a:moveTo>
                    <a:pt x="858520" y="0"/>
                  </a:moveTo>
                  <a:lnTo>
                    <a:pt x="852170" y="0"/>
                  </a:lnTo>
                  <a:lnTo>
                    <a:pt x="852170" y="6350"/>
                  </a:lnTo>
                  <a:lnTo>
                    <a:pt x="852170" y="350520"/>
                  </a:lnTo>
                  <a:lnTo>
                    <a:pt x="7620" y="350520"/>
                  </a:lnTo>
                  <a:lnTo>
                    <a:pt x="7620" y="6350"/>
                  </a:lnTo>
                  <a:lnTo>
                    <a:pt x="852170" y="6350"/>
                  </a:lnTo>
                  <a:lnTo>
                    <a:pt x="85217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50520"/>
                  </a:lnTo>
                  <a:lnTo>
                    <a:pt x="0" y="356870"/>
                  </a:lnTo>
                  <a:lnTo>
                    <a:pt x="858520" y="356870"/>
                  </a:lnTo>
                  <a:lnTo>
                    <a:pt x="858520" y="350520"/>
                  </a:lnTo>
                  <a:lnTo>
                    <a:pt x="858520" y="6350"/>
                  </a:lnTo>
                  <a:lnTo>
                    <a:pt x="858520" y="0"/>
                  </a:lnTo>
                  <a:close/>
                </a:path>
              </a:pathLst>
            </a:custGeom>
            <a:solidFill>
              <a:srgbClr val="FFFFE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5" name="object 375"/>
            <p:cNvSpPr/>
            <p:nvPr/>
          </p:nvSpPr>
          <p:spPr>
            <a:xfrm>
              <a:off x="2708910" y="5994399"/>
              <a:ext cx="844550" cy="344170"/>
            </a:xfrm>
            <a:custGeom>
              <a:avLst/>
              <a:gdLst/>
              <a:ahLst/>
              <a:cxnLst/>
              <a:rect l="l" t="t" r="r" b="b"/>
              <a:pathLst>
                <a:path w="844550" h="344170">
                  <a:moveTo>
                    <a:pt x="844550" y="0"/>
                  </a:moveTo>
                  <a:lnTo>
                    <a:pt x="839470" y="0"/>
                  </a:lnTo>
                  <a:lnTo>
                    <a:pt x="839470" y="6350"/>
                  </a:lnTo>
                  <a:lnTo>
                    <a:pt x="839470" y="337820"/>
                  </a:lnTo>
                  <a:lnTo>
                    <a:pt x="5080" y="337820"/>
                  </a:lnTo>
                  <a:lnTo>
                    <a:pt x="5080" y="6350"/>
                  </a:lnTo>
                  <a:lnTo>
                    <a:pt x="839470" y="6350"/>
                  </a:lnTo>
                  <a:lnTo>
                    <a:pt x="83947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37820"/>
                  </a:lnTo>
                  <a:lnTo>
                    <a:pt x="0" y="344170"/>
                  </a:lnTo>
                  <a:lnTo>
                    <a:pt x="844550" y="344170"/>
                  </a:lnTo>
                  <a:lnTo>
                    <a:pt x="844550" y="337820"/>
                  </a:lnTo>
                  <a:lnTo>
                    <a:pt x="844550" y="6350"/>
                  </a:lnTo>
                  <a:lnTo>
                    <a:pt x="844550" y="0"/>
                  </a:lnTo>
                  <a:close/>
                </a:path>
              </a:pathLst>
            </a:custGeom>
            <a:solidFill>
              <a:srgbClr val="FFFFE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6" name="object 376"/>
            <p:cNvSpPr/>
            <p:nvPr/>
          </p:nvSpPr>
          <p:spPr>
            <a:xfrm>
              <a:off x="2713990" y="6000749"/>
              <a:ext cx="834390" cy="331470"/>
            </a:xfrm>
            <a:custGeom>
              <a:avLst/>
              <a:gdLst/>
              <a:ahLst/>
              <a:cxnLst/>
              <a:rect l="l" t="t" r="r" b="b"/>
              <a:pathLst>
                <a:path w="834389" h="331470">
                  <a:moveTo>
                    <a:pt x="834390" y="0"/>
                  </a:moveTo>
                  <a:lnTo>
                    <a:pt x="826770" y="0"/>
                  </a:lnTo>
                  <a:lnTo>
                    <a:pt x="826770" y="6350"/>
                  </a:lnTo>
                  <a:lnTo>
                    <a:pt x="826770" y="325120"/>
                  </a:lnTo>
                  <a:lnTo>
                    <a:pt x="6350" y="325120"/>
                  </a:lnTo>
                  <a:lnTo>
                    <a:pt x="6350" y="6350"/>
                  </a:lnTo>
                  <a:lnTo>
                    <a:pt x="826770" y="6350"/>
                  </a:lnTo>
                  <a:lnTo>
                    <a:pt x="82677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25120"/>
                  </a:lnTo>
                  <a:lnTo>
                    <a:pt x="0" y="331470"/>
                  </a:lnTo>
                  <a:lnTo>
                    <a:pt x="834390" y="331470"/>
                  </a:lnTo>
                  <a:lnTo>
                    <a:pt x="834390" y="325120"/>
                  </a:lnTo>
                  <a:lnTo>
                    <a:pt x="834390" y="6350"/>
                  </a:lnTo>
                  <a:lnTo>
                    <a:pt x="834390" y="0"/>
                  </a:lnTo>
                  <a:close/>
                </a:path>
              </a:pathLst>
            </a:custGeom>
            <a:solidFill>
              <a:srgbClr val="FFFFE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7" name="object 377"/>
            <p:cNvSpPr/>
            <p:nvPr/>
          </p:nvSpPr>
          <p:spPr>
            <a:xfrm>
              <a:off x="2720340" y="6007099"/>
              <a:ext cx="820419" cy="318770"/>
            </a:xfrm>
            <a:custGeom>
              <a:avLst/>
              <a:gdLst/>
              <a:ahLst/>
              <a:cxnLst/>
              <a:rect l="l" t="t" r="r" b="b"/>
              <a:pathLst>
                <a:path w="820420" h="318770">
                  <a:moveTo>
                    <a:pt x="820420" y="0"/>
                  </a:moveTo>
                  <a:lnTo>
                    <a:pt x="814070" y="0"/>
                  </a:lnTo>
                  <a:lnTo>
                    <a:pt x="814070" y="6350"/>
                  </a:lnTo>
                  <a:lnTo>
                    <a:pt x="814070" y="312420"/>
                  </a:lnTo>
                  <a:lnTo>
                    <a:pt x="7620" y="312420"/>
                  </a:lnTo>
                  <a:lnTo>
                    <a:pt x="7620" y="6350"/>
                  </a:lnTo>
                  <a:lnTo>
                    <a:pt x="814070" y="6350"/>
                  </a:lnTo>
                  <a:lnTo>
                    <a:pt x="81407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12420"/>
                  </a:lnTo>
                  <a:lnTo>
                    <a:pt x="0" y="318770"/>
                  </a:lnTo>
                  <a:lnTo>
                    <a:pt x="820420" y="318770"/>
                  </a:lnTo>
                  <a:lnTo>
                    <a:pt x="820420" y="312420"/>
                  </a:lnTo>
                  <a:lnTo>
                    <a:pt x="820420" y="6350"/>
                  </a:lnTo>
                  <a:lnTo>
                    <a:pt x="820420" y="0"/>
                  </a:lnTo>
                  <a:close/>
                </a:path>
              </a:pathLst>
            </a:custGeom>
            <a:solidFill>
              <a:srgbClr val="FFFFE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8" name="object 378"/>
            <p:cNvSpPr/>
            <p:nvPr/>
          </p:nvSpPr>
          <p:spPr>
            <a:xfrm>
              <a:off x="2727960" y="6013449"/>
              <a:ext cx="806450" cy="306070"/>
            </a:xfrm>
            <a:custGeom>
              <a:avLst/>
              <a:gdLst/>
              <a:ahLst/>
              <a:cxnLst/>
              <a:rect l="l" t="t" r="r" b="b"/>
              <a:pathLst>
                <a:path w="806450" h="306070">
                  <a:moveTo>
                    <a:pt x="806450" y="0"/>
                  </a:moveTo>
                  <a:lnTo>
                    <a:pt x="800100" y="0"/>
                  </a:lnTo>
                  <a:lnTo>
                    <a:pt x="800100" y="6350"/>
                  </a:lnTo>
                  <a:lnTo>
                    <a:pt x="800100" y="299720"/>
                  </a:lnTo>
                  <a:lnTo>
                    <a:pt x="6350" y="299720"/>
                  </a:lnTo>
                  <a:lnTo>
                    <a:pt x="6350" y="6350"/>
                  </a:lnTo>
                  <a:lnTo>
                    <a:pt x="800100" y="6350"/>
                  </a:lnTo>
                  <a:lnTo>
                    <a:pt x="8001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299720"/>
                  </a:lnTo>
                  <a:lnTo>
                    <a:pt x="0" y="306070"/>
                  </a:lnTo>
                  <a:lnTo>
                    <a:pt x="806450" y="306070"/>
                  </a:lnTo>
                  <a:lnTo>
                    <a:pt x="806450" y="299720"/>
                  </a:lnTo>
                  <a:lnTo>
                    <a:pt x="806450" y="6350"/>
                  </a:lnTo>
                  <a:lnTo>
                    <a:pt x="806450" y="0"/>
                  </a:lnTo>
                  <a:close/>
                </a:path>
              </a:pathLst>
            </a:custGeom>
            <a:solidFill>
              <a:srgbClr val="FFFFE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79" name="object 379"/>
            <p:cNvSpPr/>
            <p:nvPr/>
          </p:nvSpPr>
          <p:spPr>
            <a:xfrm>
              <a:off x="2734310" y="6019799"/>
              <a:ext cx="793750" cy="293370"/>
            </a:xfrm>
            <a:custGeom>
              <a:avLst/>
              <a:gdLst/>
              <a:ahLst/>
              <a:cxnLst/>
              <a:rect l="l" t="t" r="r" b="b"/>
              <a:pathLst>
                <a:path w="793750" h="293370">
                  <a:moveTo>
                    <a:pt x="793750" y="0"/>
                  </a:moveTo>
                  <a:lnTo>
                    <a:pt x="787400" y="0"/>
                  </a:lnTo>
                  <a:lnTo>
                    <a:pt x="787400" y="6350"/>
                  </a:lnTo>
                  <a:lnTo>
                    <a:pt x="787400" y="287020"/>
                  </a:lnTo>
                  <a:lnTo>
                    <a:pt x="5080" y="287020"/>
                  </a:lnTo>
                  <a:lnTo>
                    <a:pt x="5080" y="6350"/>
                  </a:lnTo>
                  <a:lnTo>
                    <a:pt x="787400" y="6350"/>
                  </a:lnTo>
                  <a:lnTo>
                    <a:pt x="7874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287020"/>
                  </a:lnTo>
                  <a:lnTo>
                    <a:pt x="0" y="293370"/>
                  </a:lnTo>
                  <a:lnTo>
                    <a:pt x="793750" y="293370"/>
                  </a:lnTo>
                  <a:lnTo>
                    <a:pt x="793750" y="287020"/>
                  </a:lnTo>
                  <a:lnTo>
                    <a:pt x="793750" y="6350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FFFFE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0" name="object 380"/>
            <p:cNvSpPr/>
            <p:nvPr/>
          </p:nvSpPr>
          <p:spPr>
            <a:xfrm>
              <a:off x="2739390" y="6026149"/>
              <a:ext cx="782320" cy="280670"/>
            </a:xfrm>
            <a:custGeom>
              <a:avLst/>
              <a:gdLst/>
              <a:ahLst/>
              <a:cxnLst/>
              <a:rect l="l" t="t" r="r" b="b"/>
              <a:pathLst>
                <a:path w="782320" h="280670">
                  <a:moveTo>
                    <a:pt x="782320" y="0"/>
                  </a:moveTo>
                  <a:lnTo>
                    <a:pt x="775970" y="0"/>
                  </a:lnTo>
                  <a:lnTo>
                    <a:pt x="775970" y="6350"/>
                  </a:lnTo>
                  <a:lnTo>
                    <a:pt x="775970" y="274320"/>
                  </a:lnTo>
                  <a:lnTo>
                    <a:pt x="7620" y="274320"/>
                  </a:lnTo>
                  <a:lnTo>
                    <a:pt x="7620" y="6350"/>
                  </a:lnTo>
                  <a:lnTo>
                    <a:pt x="775970" y="6350"/>
                  </a:lnTo>
                  <a:lnTo>
                    <a:pt x="77597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274320"/>
                  </a:lnTo>
                  <a:lnTo>
                    <a:pt x="0" y="280670"/>
                  </a:lnTo>
                  <a:lnTo>
                    <a:pt x="782320" y="280670"/>
                  </a:lnTo>
                  <a:lnTo>
                    <a:pt x="782320" y="274320"/>
                  </a:lnTo>
                  <a:lnTo>
                    <a:pt x="782320" y="6350"/>
                  </a:lnTo>
                  <a:lnTo>
                    <a:pt x="782320" y="0"/>
                  </a:lnTo>
                  <a:close/>
                </a:path>
              </a:pathLst>
            </a:custGeom>
            <a:solidFill>
              <a:srgbClr val="FFFFE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1" name="object 381"/>
            <p:cNvSpPr/>
            <p:nvPr/>
          </p:nvSpPr>
          <p:spPr>
            <a:xfrm>
              <a:off x="2747010" y="6032499"/>
              <a:ext cx="768350" cy="267970"/>
            </a:xfrm>
            <a:custGeom>
              <a:avLst/>
              <a:gdLst/>
              <a:ahLst/>
              <a:cxnLst/>
              <a:rect l="l" t="t" r="r" b="b"/>
              <a:pathLst>
                <a:path w="768350" h="267970">
                  <a:moveTo>
                    <a:pt x="768350" y="0"/>
                  </a:moveTo>
                  <a:lnTo>
                    <a:pt x="762000" y="0"/>
                  </a:lnTo>
                  <a:lnTo>
                    <a:pt x="762000" y="6350"/>
                  </a:lnTo>
                  <a:lnTo>
                    <a:pt x="762000" y="261620"/>
                  </a:lnTo>
                  <a:lnTo>
                    <a:pt x="6350" y="261620"/>
                  </a:lnTo>
                  <a:lnTo>
                    <a:pt x="6350" y="6350"/>
                  </a:lnTo>
                  <a:lnTo>
                    <a:pt x="762000" y="6350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261620"/>
                  </a:lnTo>
                  <a:lnTo>
                    <a:pt x="0" y="267970"/>
                  </a:lnTo>
                  <a:lnTo>
                    <a:pt x="768350" y="267970"/>
                  </a:lnTo>
                  <a:lnTo>
                    <a:pt x="768350" y="261620"/>
                  </a:lnTo>
                  <a:lnTo>
                    <a:pt x="768350" y="6350"/>
                  </a:lnTo>
                  <a:lnTo>
                    <a:pt x="768350" y="0"/>
                  </a:lnTo>
                  <a:close/>
                </a:path>
              </a:pathLst>
            </a:custGeom>
            <a:solidFill>
              <a:srgbClr val="FFFFE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2" name="object 382"/>
            <p:cNvSpPr/>
            <p:nvPr/>
          </p:nvSpPr>
          <p:spPr>
            <a:xfrm>
              <a:off x="2753360" y="6038849"/>
              <a:ext cx="755650" cy="255270"/>
            </a:xfrm>
            <a:custGeom>
              <a:avLst/>
              <a:gdLst/>
              <a:ahLst/>
              <a:cxnLst/>
              <a:rect l="l" t="t" r="r" b="b"/>
              <a:pathLst>
                <a:path w="755650" h="255270">
                  <a:moveTo>
                    <a:pt x="755650" y="0"/>
                  </a:moveTo>
                  <a:lnTo>
                    <a:pt x="749300" y="0"/>
                  </a:lnTo>
                  <a:lnTo>
                    <a:pt x="749300" y="6350"/>
                  </a:lnTo>
                  <a:lnTo>
                    <a:pt x="749300" y="248920"/>
                  </a:lnTo>
                  <a:lnTo>
                    <a:pt x="5080" y="248920"/>
                  </a:lnTo>
                  <a:lnTo>
                    <a:pt x="5080" y="6350"/>
                  </a:lnTo>
                  <a:lnTo>
                    <a:pt x="749300" y="6350"/>
                  </a:lnTo>
                  <a:lnTo>
                    <a:pt x="7493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248920"/>
                  </a:lnTo>
                  <a:lnTo>
                    <a:pt x="0" y="255270"/>
                  </a:lnTo>
                  <a:lnTo>
                    <a:pt x="755650" y="255270"/>
                  </a:lnTo>
                  <a:lnTo>
                    <a:pt x="755650" y="248920"/>
                  </a:lnTo>
                  <a:lnTo>
                    <a:pt x="755650" y="6350"/>
                  </a:lnTo>
                  <a:lnTo>
                    <a:pt x="755650" y="0"/>
                  </a:lnTo>
                  <a:close/>
                </a:path>
              </a:pathLst>
            </a:custGeom>
            <a:solidFill>
              <a:srgbClr val="FFFFE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3" name="object 383"/>
            <p:cNvSpPr/>
            <p:nvPr/>
          </p:nvSpPr>
          <p:spPr>
            <a:xfrm>
              <a:off x="2758440" y="6045199"/>
              <a:ext cx="744220" cy="242570"/>
            </a:xfrm>
            <a:custGeom>
              <a:avLst/>
              <a:gdLst/>
              <a:ahLst/>
              <a:cxnLst/>
              <a:rect l="l" t="t" r="r" b="b"/>
              <a:pathLst>
                <a:path w="744220" h="242570">
                  <a:moveTo>
                    <a:pt x="744220" y="0"/>
                  </a:moveTo>
                  <a:lnTo>
                    <a:pt x="737870" y="0"/>
                  </a:lnTo>
                  <a:lnTo>
                    <a:pt x="737870" y="6350"/>
                  </a:lnTo>
                  <a:lnTo>
                    <a:pt x="737870" y="236220"/>
                  </a:lnTo>
                  <a:lnTo>
                    <a:pt x="7620" y="236220"/>
                  </a:lnTo>
                  <a:lnTo>
                    <a:pt x="7620" y="6350"/>
                  </a:lnTo>
                  <a:lnTo>
                    <a:pt x="737870" y="6350"/>
                  </a:lnTo>
                  <a:lnTo>
                    <a:pt x="73787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236220"/>
                  </a:lnTo>
                  <a:lnTo>
                    <a:pt x="0" y="242570"/>
                  </a:lnTo>
                  <a:lnTo>
                    <a:pt x="744220" y="242570"/>
                  </a:lnTo>
                  <a:lnTo>
                    <a:pt x="744220" y="236220"/>
                  </a:lnTo>
                  <a:lnTo>
                    <a:pt x="744220" y="6350"/>
                  </a:lnTo>
                  <a:lnTo>
                    <a:pt x="744220" y="0"/>
                  </a:lnTo>
                  <a:close/>
                </a:path>
              </a:pathLst>
            </a:custGeom>
            <a:solidFill>
              <a:srgbClr val="FFFFE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4" name="object 384"/>
            <p:cNvSpPr/>
            <p:nvPr/>
          </p:nvSpPr>
          <p:spPr>
            <a:xfrm>
              <a:off x="2766060" y="6051549"/>
              <a:ext cx="730250" cy="229870"/>
            </a:xfrm>
            <a:custGeom>
              <a:avLst/>
              <a:gdLst/>
              <a:ahLst/>
              <a:cxnLst/>
              <a:rect l="l" t="t" r="r" b="b"/>
              <a:pathLst>
                <a:path w="730250" h="229870">
                  <a:moveTo>
                    <a:pt x="730250" y="0"/>
                  </a:moveTo>
                  <a:lnTo>
                    <a:pt x="723900" y="0"/>
                  </a:lnTo>
                  <a:lnTo>
                    <a:pt x="723900" y="6350"/>
                  </a:lnTo>
                  <a:lnTo>
                    <a:pt x="723900" y="223520"/>
                  </a:lnTo>
                  <a:lnTo>
                    <a:pt x="6350" y="223520"/>
                  </a:lnTo>
                  <a:lnTo>
                    <a:pt x="6350" y="6350"/>
                  </a:lnTo>
                  <a:lnTo>
                    <a:pt x="723900" y="6350"/>
                  </a:lnTo>
                  <a:lnTo>
                    <a:pt x="7239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223520"/>
                  </a:lnTo>
                  <a:lnTo>
                    <a:pt x="0" y="229870"/>
                  </a:lnTo>
                  <a:lnTo>
                    <a:pt x="730250" y="229870"/>
                  </a:lnTo>
                  <a:lnTo>
                    <a:pt x="730250" y="223520"/>
                  </a:lnTo>
                  <a:lnTo>
                    <a:pt x="730250" y="6350"/>
                  </a:lnTo>
                  <a:lnTo>
                    <a:pt x="730250" y="0"/>
                  </a:lnTo>
                  <a:close/>
                </a:path>
              </a:pathLst>
            </a:custGeom>
            <a:solidFill>
              <a:srgbClr val="FFFFE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5" name="object 385"/>
            <p:cNvSpPr/>
            <p:nvPr/>
          </p:nvSpPr>
          <p:spPr>
            <a:xfrm>
              <a:off x="2772410" y="6057899"/>
              <a:ext cx="717550" cy="217170"/>
            </a:xfrm>
            <a:custGeom>
              <a:avLst/>
              <a:gdLst/>
              <a:ahLst/>
              <a:cxnLst/>
              <a:rect l="l" t="t" r="r" b="b"/>
              <a:pathLst>
                <a:path w="717550" h="217170">
                  <a:moveTo>
                    <a:pt x="717550" y="0"/>
                  </a:moveTo>
                  <a:lnTo>
                    <a:pt x="711200" y="0"/>
                  </a:lnTo>
                  <a:lnTo>
                    <a:pt x="711200" y="6350"/>
                  </a:lnTo>
                  <a:lnTo>
                    <a:pt x="711200" y="209550"/>
                  </a:lnTo>
                  <a:lnTo>
                    <a:pt x="6350" y="209550"/>
                  </a:lnTo>
                  <a:lnTo>
                    <a:pt x="6350" y="6350"/>
                  </a:lnTo>
                  <a:lnTo>
                    <a:pt x="711200" y="6350"/>
                  </a:lnTo>
                  <a:lnTo>
                    <a:pt x="7112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209550"/>
                  </a:lnTo>
                  <a:lnTo>
                    <a:pt x="0" y="217170"/>
                  </a:lnTo>
                  <a:lnTo>
                    <a:pt x="717550" y="217170"/>
                  </a:lnTo>
                  <a:lnTo>
                    <a:pt x="717550" y="209550"/>
                  </a:lnTo>
                  <a:lnTo>
                    <a:pt x="717550" y="6350"/>
                  </a:lnTo>
                  <a:lnTo>
                    <a:pt x="717550" y="0"/>
                  </a:lnTo>
                  <a:close/>
                </a:path>
              </a:pathLst>
            </a:custGeom>
            <a:solidFill>
              <a:srgbClr val="FFFFED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6" name="object 386"/>
            <p:cNvSpPr/>
            <p:nvPr/>
          </p:nvSpPr>
          <p:spPr>
            <a:xfrm>
              <a:off x="2778760" y="6064249"/>
              <a:ext cx="704850" cy="203200"/>
            </a:xfrm>
            <a:custGeom>
              <a:avLst/>
              <a:gdLst/>
              <a:ahLst/>
              <a:cxnLst/>
              <a:rect l="l" t="t" r="r" b="b"/>
              <a:pathLst>
                <a:path w="704850" h="203200">
                  <a:moveTo>
                    <a:pt x="704850" y="0"/>
                  </a:moveTo>
                  <a:lnTo>
                    <a:pt x="698500" y="0"/>
                  </a:lnTo>
                  <a:lnTo>
                    <a:pt x="698500" y="6350"/>
                  </a:lnTo>
                  <a:lnTo>
                    <a:pt x="698500" y="198120"/>
                  </a:lnTo>
                  <a:lnTo>
                    <a:pt x="6350" y="198120"/>
                  </a:lnTo>
                  <a:lnTo>
                    <a:pt x="6350" y="6350"/>
                  </a:lnTo>
                  <a:lnTo>
                    <a:pt x="698500" y="6350"/>
                  </a:lnTo>
                  <a:lnTo>
                    <a:pt x="6985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98120"/>
                  </a:lnTo>
                  <a:lnTo>
                    <a:pt x="0" y="203200"/>
                  </a:lnTo>
                  <a:lnTo>
                    <a:pt x="704850" y="203200"/>
                  </a:lnTo>
                  <a:lnTo>
                    <a:pt x="704850" y="198120"/>
                  </a:lnTo>
                  <a:lnTo>
                    <a:pt x="704850" y="6350"/>
                  </a:lnTo>
                  <a:lnTo>
                    <a:pt x="704850" y="0"/>
                  </a:lnTo>
                  <a:close/>
                </a:path>
              </a:pathLst>
            </a:custGeom>
            <a:solidFill>
              <a:srgbClr val="FFFFEE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7" name="object 387"/>
            <p:cNvSpPr/>
            <p:nvPr/>
          </p:nvSpPr>
          <p:spPr>
            <a:xfrm>
              <a:off x="2785110" y="6070599"/>
              <a:ext cx="692150" cy="191770"/>
            </a:xfrm>
            <a:custGeom>
              <a:avLst/>
              <a:gdLst/>
              <a:ahLst/>
              <a:cxnLst/>
              <a:rect l="l" t="t" r="r" b="b"/>
              <a:pathLst>
                <a:path w="692150" h="191770">
                  <a:moveTo>
                    <a:pt x="692150" y="0"/>
                  </a:moveTo>
                  <a:lnTo>
                    <a:pt x="685800" y="0"/>
                  </a:lnTo>
                  <a:lnTo>
                    <a:pt x="685800" y="6350"/>
                  </a:lnTo>
                  <a:lnTo>
                    <a:pt x="685800" y="184150"/>
                  </a:lnTo>
                  <a:lnTo>
                    <a:pt x="6350" y="184150"/>
                  </a:lnTo>
                  <a:lnTo>
                    <a:pt x="6350" y="6350"/>
                  </a:lnTo>
                  <a:lnTo>
                    <a:pt x="685800" y="635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84150"/>
                  </a:lnTo>
                  <a:lnTo>
                    <a:pt x="0" y="191770"/>
                  </a:lnTo>
                  <a:lnTo>
                    <a:pt x="692150" y="191770"/>
                  </a:lnTo>
                  <a:lnTo>
                    <a:pt x="692150" y="184150"/>
                  </a:lnTo>
                  <a:lnTo>
                    <a:pt x="692150" y="635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FFFE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8" name="object 388"/>
            <p:cNvSpPr/>
            <p:nvPr/>
          </p:nvSpPr>
          <p:spPr>
            <a:xfrm>
              <a:off x="2791460" y="6076949"/>
              <a:ext cx="679450" cy="177800"/>
            </a:xfrm>
            <a:custGeom>
              <a:avLst/>
              <a:gdLst/>
              <a:ahLst/>
              <a:cxnLst/>
              <a:rect l="l" t="t" r="r" b="b"/>
              <a:pathLst>
                <a:path w="679450" h="177800">
                  <a:moveTo>
                    <a:pt x="679450" y="0"/>
                  </a:moveTo>
                  <a:lnTo>
                    <a:pt x="673100" y="0"/>
                  </a:lnTo>
                  <a:lnTo>
                    <a:pt x="673100" y="6350"/>
                  </a:lnTo>
                  <a:lnTo>
                    <a:pt x="673100" y="171450"/>
                  </a:lnTo>
                  <a:lnTo>
                    <a:pt x="6350" y="171450"/>
                  </a:lnTo>
                  <a:lnTo>
                    <a:pt x="6350" y="6350"/>
                  </a:lnTo>
                  <a:lnTo>
                    <a:pt x="673100" y="6350"/>
                  </a:lnTo>
                  <a:lnTo>
                    <a:pt x="6731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71450"/>
                  </a:lnTo>
                  <a:lnTo>
                    <a:pt x="0" y="177800"/>
                  </a:lnTo>
                  <a:lnTo>
                    <a:pt x="679450" y="177800"/>
                  </a:lnTo>
                  <a:lnTo>
                    <a:pt x="679450" y="171450"/>
                  </a:lnTo>
                  <a:lnTo>
                    <a:pt x="679450" y="635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FFFFF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89" name="object 389"/>
            <p:cNvSpPr/>
            <p:nvPr/>
          </p:nvSpPr>
          <p:spPr>
            <a:xfrm>
              <a:off x="2797810" y="6083299"/>
              <a:ext cx="666750" cy="165100"/>
            </a:xfrm>
            <a:custGeom>
              <a:avLst/>
              <a:gdLst/>
              <a:ahLst/>
              <a:cxnLst/>
              <a:rect l="l" t="t" r="r" b="b"/>
              <a:pathLst>
                <a:path w="666750" h="165100">
                  <a:moveTo>
                    <a:pt x="666750" y="0"/>
                  </a:moveTo>
                  <a:lnTo>
                    <a:pt x="660400" y="0"/>
                  </a:lnTo>
                  <a:lnTo>
                    <a:pt x="660400" y="6350"/>
                  </a:lnTo>
                  <a:lnTo>
                    <a:pt x="660400" y="160020"/>
                  </a:lnTo>
                  <a:lnTo>
                    <a:pt x="6350" y="160020"/>
                  </a:lnTo>
                  <a:lnTo>
                    <a:pt x="6350" y="6350"/>
                  </a:lnTo>
                  <a:lnTo>
                    <a:pt x="660400" y="6350"/>
                  </a:lnTo>
                  <a:lnTo>
                    <a:pt x="6604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60020"/>
                  </a:lnTo>
                  <a:lnTo>
                    <a:pt x="0" y="165100"/>
                  </a:lnTo>
                  <a:lnTo>
                    <a:pt x="666750" y="165100"/>
                  </a:lnTo>
                  <a:lnTo>
                    <a:pt x="666750" y="160020"/>
                  </a:lnTo>
                  <a:lnTo>
                    <a:pt x="666750" y="6350"/>
                  </a:lnTo>
                  <a:lnTo>
                    <a:pt x="666750" y="0"/>
                  </a:lnTo>
                  <a:close/>
                </a:path>
              </a:pathLst>
            </a:custGeom>
            <a:solidFill>
              <a:srgbClr val="FFFFF1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0" name="object 390"/>
            <p:cNvSpPr/>
            <p:nvPr/>
          </p:nvSpPr>
          <p:spPr>
            <a:xfrm>
              <a:off x="2804160" y="6089649"/>
              <a:ext cx="654050" cy="153670"/>
            </a:xfrm>
            <a:custGeom>
              <a:avLst/>
              <a:gdLst/>
              <a:ahLst/>
              <a:cxnLst/>
              <a:rect l="l" t="t" r="r" b="b"/>
              <a:pathLst>
                <a:path w="654050" h="153670">
                  <a:moveTo>
                    <a:pt x="654050" y="0"/>
                  </a:moveTo>
                  <a:lnTo>
                    <a:pt x="647700" y="0"/>
                  </a:lnTo>
                  <a:lnTo>
                    <a:pt x="647700" y="6350"/>
                  </a:lnTo>
                  <a:lnTo>
                    <a:pt x="647700" y="146050"/>
                  </a:lnTo>
                  <a:lnTo>
                    <a:pt x="6350" y="146050"/>
                  </a:lnTo>
                  <a:lnTo>
                    <a:pt x="6350" y="6350"/>
                  </a:lnTo>
                  <a:lnTo>
                    <a:pt x="647700" y="6350"/>
                  </a:lnTo>
                  <a:lnTo>
                    <a:pt x="6477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46050"/>
                  </a:lnTo>
                  <a:lnTo>
                    <a:pt x="0" y="153670"/>
                  </a:lnTo>
                  <a:lnTo>
                    <a:pt x="654050" y="153670"/>
                  </a:lnTo>
                  <a:lnTo>
                    <a:pt x="654050" y="146050"/>
                  </a:lnTo>
                  <a:lnTo>
                    <a:pt x="654050" y="6350"/>
                  </a:lnTo>
                  <a:lnTo>
                    <a:pt x="654050" y="0"/>
                  </a:lnTo>
                  <a:close/>
                </a:path>
              </a:pathLst>
            </a:custGeom>
            <a:solidFill>
              <a:srgbClr val="FFFFF2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1" name="object 391"/>
            <p:cNvSpPr/>
            <p:nvPr/>
          </p:nvSpPr>
          <p:spPr>
            <a:xfrm>
              <a:off x="2810510" y="6095999"/>
              <a:ext cx="641350" cy="139700"/>
            </a:xfrm>
            <a:custGeom>
              <a:avLst/>
              <a:gdLst/>
              <a:ahLst/>
              <a:cxnLst/>
              <a:rect l="l" t="t" r="r" b="b"/>
              <a:pathLst>
                <a:path w="641350" h="139700">
                  <a:moveTo>
                    <a:pt x="641350" y="0"/>
                  </a:moveTo>
                  <a:lnTo>
                    <a:pt x="635000" y="0"/>
                  </a:lnTo>
                  <a:lnTo>
                    <a:pt x="635000" y="6350"/>
                  </a:lnTo>
                  <a:lnTo>
                    <a:pt x="635000" y="133350"/>
                  </a:lnTo>
                  <a:lnTo>
                    <a:pt x="6350" y="133350"/>
                  </a:lnTo>
                  <a:lnTo>
                    <a:pt x="6350" y="6350"/>
                  </a:lnTo>
                  <a:lnTo>
                    <a:pt x="635000" y="6350"/>
                  </a:lnTo>
                  <a:lnTo>
                    <a:pt x="6350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33350"/>
                  </a:lnTo>
                  <a:lnTo>
                    <a:pt x="0" y="139700"/>
                  </a:lnTo>
                  <a:lnTo>
                    <a:pt x="641350" y="139700"/>
                  </a:lnTo>
                  <a:lnTo>
                    <a:pt x="641350" y="133350"/>
                  </a:lnTo>
                  <a:lnTo>
                    <a:pt x="641350" y="6350"/>
                  </a:lnTo>
                  <a:lnTo>
                    <a:pt x="641350" y="0"/>
                  </a:lnTo>
                  <a:close/>
                </a:path>
              </a:pathLst>
            </a:custGeom>
            <a:solidFill>
              <a:srgbClr val="FFFFF3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2" name="object 392"/>
            <p:cNvSpPr/>
            <p:nvPr/>
          </p:nvSpPr>
          <p:spPr>
            <a:xfrm>
              <a:off x="2816860" y="6102349"/>
              <a:ext cx="628650" cy="127000"/>
            </a:xfrm>
            <a:custGeom>
              <a:avLst/>
              <a:gdLst/>
              <a:ahLst/>
              <a:cxnLst/>
              <a:rect l="l" t="t" r="r" b="b"/>
              <a:pathLst>
                <a:path w="628650" h="127000">
                  <a:moveTo>
                    <a:pt x="628650" y="0"/>
                  </a:moveTo>
                  <a:lnTo>
                    <a:pt x="622300" y="0"/>
                  </a:lnTo>
                  <a:lnTo>
                    <a:pt x="622300" y="6350"/>
                  </a:lnTo>
                  <a:lnTo>
                    <a:pt x="622300" y="120650"/>
                  </a:lnTo>
                  <a:lnTo>
                    <a:pt x="6350" y="120650"/>
                  </a:lnTo>
                  <a:lnTo>
                    <a:pt x="6350" y="6350"/>
                  </a:lnTo>
                  <a:lnTo>
                    <a:pt x="622300" y="6350"/>
                  </a:lnTo>
                  <a:lnTo>
                    <a:pt x="6223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20650"/>
                  </a:lnTo>
                  <a:lnTo>
                    <a:pt x="0" y="127000"/>
                  </a:lnTo>
                  <a:lnTo>
                    <a:pt x="628650" y="127000"/>
                  </a:lnTo>
                  <a:lnTo>
                    <a:pt x="628650" y="120650"/>
                  </a:lnTo>
                  <a:lnTo>
                    <a:pt x="628650" y="6350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3" name="object 393"/>
            <p:cNvSpPr/>
            <p:nvPr/>
          </p:nvSpPr>
          <p:spPr>
            <a:xfrm>
              <a:off x="2823210" y="6108699"/>
              <a:ext cx="615950" cy="114300"/>
            </a:xfrm>
            <a:custGeom>
              <a:avLst/>
              <a:gdLst/>
              <a:ahLst/>
              <a:cxnLst/>
              <a:rect l="l" t="t" r="r" b="b"/>
              <a:pathLst>
                <a:path w="615950" h="114300">
                  <a:moveTo>
                    <a:pt x="615950" y="0"/>
                  </a:moveTo>
                  <a:lnTo>
                    <a:pt x="609600" y="0"/>
                  </a:lnTo>
                  <a:lnTo>
                    <a:pt x="609600" y="6350"/>
                  </a:lnTo>
                  <a:lnTo>
                    <a:pt x="609600" y="107950"/>
                  </a:lnTo>
                  <a:lnTo>
                    <a:pt x="6350" y="107950"/>
                  </a:lnTo>
                  <a:lnTo>
                    <a:pt x="6350" y="6350"/>
                  </a:lnTo>
                  <a:lnTo>
                    <a:pt x="609600" y="635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07950"/>
                  </a:lnTo>
                  <a:lnTo>
                    <a:pt x="0" y="114300"/>
                  </a:lnTo>
                  <a:lnTo>
                    <a:pt x="615950" y="114300"/>
                  </a:lnTo>
                  <a:lnTo>
                    <a:pt x="615950" y="107950"/>
                  </a:lnTo>
                  <a:lnTo>
                    <a:pt x="615950" y="6350"/>
                  </a:lnTo>
                  <a:lnTo>
                    <a:pt x="615950" y="0"/>
                  </a:lnTo>
                  <a:close/>
                </a:path>
              </a:pathLst>
            </a:custGeom>
            <a:solidFill>
              <a:srgbClr val="FFFFF5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4" name="object 394"/>
            <p:cNvSpPr/>
            <p:nvPr/>
          </p:nvSpPr>
          <p:spPr>
            <a:xfrm>
              <a:off x="2829560" y="6115049"/>
              <a:ext cx="603250" cy="101600"/>
            </a:xfrm>
            <a:custGeom>
              <a:avLst/>
              <a:gdLst/>
              <a:ahLst/>
              <a:cxnLst/>
              <a:rect l="l" t="t" r="r" b="b"/>
              <a:pathLst>
                <a:path w="603250" h="101600">
                  <a:moveTo>
                    <a:pt x="603250" y="0"/>
                  </a:moveTo>
                  <a:lnTo>
                    <a:pt x="596900" y="0"/>
                  </a:lnTo>
                  <a:lnTo>
                    <a:pt x="596900" y="6350"/>
                  </a:lnTo>
                  <a:lnTo>
                    <a:pt x="596900" y="95250"/>
                  </a:lnTo>
                  <a:lnTo>
                    <a:pt x="6350" y="95250"/>
                  </a:lnTo>
                  <a:lnTo>
                    <a:pt x="6350" y="6350"/>
                  </a:lnTo>
                  <a:lnTo>
                    <a:pt x="596900" y="6350"/>
                  </a:lnTo>
                  <a:lnTo>
                    <a:pt x="5969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95250"/>
                  </a:lnTo>
                  <a:lnTo>
                    <a:pt x="0" y="101600"/>
                  </a:lnTo>
                  <a:lnTo>
                    <a:pt x="603250" y="101600"/>
                  </a:lnTo>
                  <a:lnTo>
                    <a:pt x="603250" y="95250"/>
                  </a:lnTo>
                  <a:lnTo>
                    <a:pt x="603250" y="6350"/>
                  </a:lnTo>
                  <a:lnTo>
                    <a:pt x="603250" y="0"/>
                  </a:lnTo>
                  <a:close/>
                </a:path>
              </a:pathLst>
            </a:custGeom>
            <a:solidFill>
              <a:srgbClr val="FFFFF6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5" name="object 395"/>
            <p:cNvSpPr/>
            <p:nvPr/>
          </p:nvSpPr>
          <p:spPr>
            <a:xfrm>
              <a:off x="2835910" y="6121399"/>
              <a:ext cx="590550" cy="88900"/>
            </a:xfrm>
            <a:custGeom>
              <a:avLst/>
              <a:gdLst/>
              <a:ahLst/>
              <a:cxnLst/>
              <a:rect l="l" t="t" r="r" b="b"/>
              <a:pathLst>
                <a:path w="590550" h="88900">
                  <a:moveTo>
                    <a:pt x="590550" y="0"/>
                  </a:moveTo>
                  <a:lnTo>
                    <a:pt x="584200" y="0"/>
                  </a:lnTo>
                  <a:lnTo>
                    <a:pt x="584200" y="6350"/>
                  </a:lnTo>
                  <a:lnTo>
                    <a:pt x="584200" y="82550"/>
                  </a:lnTo>
                  <a:lnTo>
                    <a:pt x="6350" y="82550"/>
                  </a:lnTo>
                  <a:lnTo>
                    <a:pt x="6350" y="6350"/>
                  </a:lnTo>
                  <a:lnTo>
                    <a:pt x="584200" y="6350"/>
                  </a:lnTo>
                  <a:lnTo>
                    <a:pt x="5842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82550"/>
                  </a:lnTo>
                  <a:lnTo>
                    <a:pt x="0" y="88900"/>
                  </a:lnTo>
                  <a:lnTo>
                    <a:pt x="590550" y="88900"/>
                  </a:lnTo>
                  <a:lnTo>
                    <a:pt x="590550" y="82550"/>
                  </a:lnTo>
                  <a:lnTo>
                    <a:pt x="590550" y="6350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7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6" name="object 396"/>
            <p:cNvSpPr/>
            <p:nvPr/>
          </p:nvSpPr>
          <p:spPr>
            <a:xfrm>
              <a:off x="2842260" y="6127749"/>
              <a:ext cx="577850" cy="76200"/>
            </a:xfrm>
            <a:custGeom>
              <a:avLst/>
              <a:gdLst/>
              <a:ahLst/>
              <a:cxnLst/>
              <a:rect l="l" t="t" r="r" b="b"/>
              <a:pathLst>
                <a:path w="577850" h="76200">
                  <a:moveTo>
                    <a:pt x="577850" y="0"/>
                  </a:moveTo>
                  <a:lnTo>
                    <a:pt x="571500" y="0"/>
                  </a:lnTo>
                  <a:lnTo>
                    <a:pt x="571500" y="6350"/>
                  </a:lnTo>
                  <a:lnTo>
                    <a:pt x="571500" y="69850"/>
                  </a:lnTo>
                  <a:lnTo>
                    <a:pt x="6350" y="69850"/>
                  </a:lnTo>
                  <a:lnTo>
                    <a:pt x="6350" y="6350"/>
                  </a:lnTo>
                  <a:lnTo>
                    <a:pt x="571500" y="6350"/>
                  </a:lnTo>
                  <a:lnTo>
                    <a:pt x="5715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69850"/>
                  </a:lnTo>
                  <a:lnTo>
                    <a:pt x="0" y="76200"/>
                  </a:lnTo>
                  <a:lnTo>
                    <a:pt x="577850" y="76200"/>
                  </a:lnTo>
                  <a:lnTo>
                    <a:pt x="577850" y="69850"/>
                  </a:lnTo>
                  <a:lnTo>
                    <a:pt x="577850" y="6350"/>
                  </a:lnTo>
                  <a:lnTo>
                    <a:pt x="577850" y="0"/>
                  </a:lnTo>
                  <a:close/>
                </a:path>
              </a:pathLst>
            </a:custGeom>
            <a:solidFill>
              <a:srgbClr val="FFFFF8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7" name="object 397"/>
            <p:cNvSpPr/>
            <p:nvPr/>
          </p:nvSpPr>
          <p:spPr>
            <a:xfrm>
              <a:off x="2848610" y="6134099"/>
              <a:ext cx="565150" cy="63500"/>
            </a:xfrm>
            <a:custGeom>
              <a:avLst/>
              <a:gdLst/>
              <a:ahLst/>
              <a:cxnLst/>
              <a:rect l="l" t="t" r="r" b="b"/>
              <a:pathLst>
                <a:path w="565150" h="63500">
                  <a:moveTo>
                    <a:pt x="565150" y="0"/>
                  </a:moveTo>
                  <a:lnTo>
                    <a:pt x="558800" y="0"/>
                  </a:lnTo>
                  <a:lnTo>
                    <a:pt x="558800" y="6350"/>
                  </a:lnTo>
                  <a:lnTo>
                    <a:pt x="558800" y="57150"/>
                  </a:lnTo>
                  <a:lnTo>
                    <a:pt x="6350" y="57150"/>
                  </a:lnTo>
                  <a:lnTo>
                    <a:pt x="6350" y="6350"/>
                  </a:lnTo>
                  <a:lnTo>
                    <a:pt x="558800" y="6350"/>
                  </a:lnTo>
                  <a:lnTo>
                    <a:pt x="5588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57150"/>
                  </a:lnTo>
                  <a:lnTo>
                    <a:pt x="0" y="63500"/>
                  </a:lnTo>
                  <a:lnTo>
                    <a:pt x="565150" y="63500"/>
                  </a:lnTo>
                  <a:lnTo>
                    <a:pt x="565150" y="57150"/>
                  </a:lnTo>
                  <a:lnTo>
                    <a:pt x="565150" y="6350"/>
                  </a:lnTo>
                  <a:lnTo>
                    <a:pt x="565150" y="0"/>
                  </a:lnTo>
                  <a:close/>
                </a:path>
              </a:pathLst>
            </a:custGeom>
            <a:solidFill>
              <a:srgbClr val="FFFFF9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8" name="object 398"/>
            <p:cNvSpPr/>
            <p:nvPr/>
          </p:nvSpPr>
          <p:spPr>
            <a:xfrm>
              <a:off x="2854960" y="6140449"/>
              <a:ext cx="552450" cy="50800"/>
            </a:xfrm>
            <a:custGeom>
              <a:avLst/>
              <a:gdLst/>
              <a:ahLst/>
              <a:cxnLst/>
              <a:rect l="l" t="t" r="r" b="b"/>
              <a:pathLst>
                <a:path w="552450" h="50800">
                  <a:moveTo>
                    <a:pt x="552450" y="0"/>
                  </a:moveTo>
                  <a:lnTo>
                    <a:pt x="546100" y="0"/>
                  </a:lnTo>
                  <a:lnTo>
                    <a:pt x="546100" y="6350"/>
                  </a:lnTo>
                  <a:lnTo>
                    <a:pt x="546100" y="44450"/>
                  </a:lnTo>
                  <a:lnTo>
                    <a:pt x="6350" y="44450"/>
                  </a:lnTo>
                  <a:lnTo>
                    <a:pt x="6350" y="6350"/>
                  </a:lnTo>
                  <a:lnTo>
                    <a:pt x="546100" y="6350"/>
                  </a:lnTo>
                  <a:lnTo>
                    <a:pt x="54610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44450"/>
                  </a:lnTo>
                  <a:lnTo>
                    <a:pt x="0" y="50800"/>
                  </a:lnTo>
                  <a:lnTo>
                    <a:pt x="552450" y="50800"/>
                  </a:lnTo>
                  <a:lnTo>
                    <a:pt x="552450" y="44450"/>
                  </a:lnTo>
                  <a:lnTo>
                    <a:pt x="552450" y="6350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rgbClr val="FFFFFA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399" name="object 399"/>
            <p:cNvSpPr/>
            <p:nvPr/>
          </p:nvSpPr>
          <p:spPr>
            <a:xfrm>
              <a:off x="2861310" y="6146799"/>
              <a:ext cx="539750" cy="38100"/>
            </a:xfrm>
            <a:custGeom>
              <a:avLst/>
              <a:gdLst/>
              <a:ahLst/>
              <a:cxnLst/>
              <a:rect l="l" t="t" r="r" b="b"/>
              <a:pathLst>
                <a:path w="539750" h="38100">
                  <a:moveTo>
                    <a:pt x="539750" y="0"/>
                  </a:moveTo>
                  <a:lnTo>
                    <a:pt x="533400" y="0"/>
                  </a:lnTo>
                  <a:lnTo>
                    <a:pt x="533400" y="7620"/>
                  </a:lnTo>
                  <a:lnTo>
                    <a:pt x="533400" y="31750"/>
                  </a:lnTo>
                  <a:lnTo>
                    <a:pt x="6350" y="31750"/>
                  </a:lnTo>
                  <a:lnTo>
                    <a:pt x="6350" y="7620"/>
                  </a:lnTo>
                  <a:lnTo>
                    <a:pt x="533400" y="762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31750"/>
                  </a:lnTo>
                  <a:lnTo>
                    <a:pt x="0" y="38100"/>
                  </a:lnTo>
                  <a:lnTo>
                    <a:pt x="539750" y="38100"/>
                  </a:lnTo>
                  <a:lnTo>
                    <a:pt x="539750" y="31750"/>
                  </a:lnTo>
                  <a:lnTo>
                    <a:pt x="539750" y="7620"/>
                  </a:lnTo>
                  <a:lnTo>
                    <a:pt x="539750" y="0"/>
                  </a:lnTo>
                  <a:close/>
                </a:path>
              </a:pathLst>
            </a:custGeom>
            <a:solidFill>
              <a:srgbClr val="FFFFFB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0" name="object 400"/>
            <p:cNvSpPr/>
            <p:nvPr/>
          </p:nvSpPr>
          <p:spPr>
            <a:xfrm>
              <a:off x="2867660" y="6154419"/>
              <a:ext cx="527050" cy="24130"/>
            </a:xfrm>
            <a:custGeom>
              <a:avLst/>
              <a:gdLst/>
              <a:ahLst/>
              <a:cxnLst/>
              <a:rect l="l" t="t" r="r" b="b"/>
              <a:pathLst>
                <a:path w="527050" h="24129">
                  <a:moveTo>
                    <a:pt x="527050" y="0"/>
                  </a:moveTo>
                  <a:lnTo>
                    <a:pt x="520700" y="0"/>
                  </a:lnTo>
                  <a:lnTo>
                    <a:pt x="520700" y="5080"/>
                  </a:lnTo>
                  <a:lnTo>
                    <a:pt x="520700" y="17780"/>
                  </a:lnTo>
                  <a:lnTo>
                    <a:pt x="6350" y="17780"/>
                  </a:lnTo>
                  <a:lnTo>
                    <a:pt x="6350" y="5080"/>
                  </a:lnTo>
                  <a:lnTo>
                    <a:pt x="520700" y="5080"/>
                  </a:lnTo>
                  <a:lnTo>
                    <a:pt x="520700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7780"/>
                  </a:lnTo>
                  <a:lnTo>
                    <a:pt x="0" y="24130"/>
                  </a:lnTo>
                  <a:lnTo>
                    <a:pt x="527050" y="24130"/>
                  </a:lnTo>
                  <a:lnTo>
                    <a:pt x="527050" y="17780"/>
                  </a:lnTo>
                  <a:lnTo>
                    <a:pt x="527050" y="5080"/>
                  </a:lnTo>
                  <a:lnTo>
                    <a:pt x="527050" y="0"/>
                  </a:lnTo>
                  <a:close/>
                </a:path>
              </a:pathLst>
            </a:custGeom>
            <a:solidFill>
              <a:srgbClr val="FFFFFC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1" name="object 401"/>
            <p:cNvSpPr/>
            <p:nvPr/>
          </p:nvSpPr>
          <p:spPr>
            <a:xfrm>
              <a:off x="2874010" y="6159499"/>
              <a:ext cx="514350" cy="12700"/>
            </a:xfrm>
            <a:custGeom>
              <a:avLst/>
              <a:gdLst/>
              <a:ahLst/>
              <a:cxnLst/>
              <a:rect l="l" t="t" r="r" b="b"/>
              <a:pathLst>
                <a:path w="514350" h="12700">
                  <a:moveTo>
                    <a:pt x="51435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514350" y="12700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2" name="object 402"/>
            <p:cNvSpPr/>
            <p:nvPr/>
          </p:nvSpPr>
          <p:spPr>
            <a:xfrm>
              <a:off x="2555240" y="5841999"/>
              <a:ext cx="1151890" cy="648970"/>
            </a:xfrm>
            <a:custGeom>
              <a:avLst/>
              <a:gdLst/>
              <a:ahLst/>
              <a:cxnLst/>
              <a:rect l="l" t="t" r="r" b="b"/>
              <a:pathLst>
                <a:path w="1151889" h="648970">
                  <a:moveTo>
                    <a:pt x="90170" y="0"/>
                  </a:moveTo>
                  <a:lnTo>
                    <a:pt x="56792" y="7639"/>
                  </a:lnTo>
                  <a:lnTo>
                    <a:pt x="27940" y="27781"/>
                  </a:lnTo>
                  <a:lnTo>
                    <a:pt x="7659" y="56257"/>
                  </a:lnTo>
                  <a:lnTo>
                    <a:pt x="0" y="88900"/>
                  </a:lnTo>
                  <a:lnTo>
                    <a:pt x="0" y="560069"/>
                  </a:lnTo>
                  <a:lnTo>
                    <a:pt x="7659" y="592712"/>
                  </a:lnTo>
                  <a:lnTo>
                    <a:pt x="27940" y="621188"/>
                  </a:lnTo>
                  <a:lnTo>
                    <a:pt x="56792" y="641330"/>
                  </a:lnTo>
                  <a:lnTo>
                    <a:pt x="90170" y="648969"/>
                  </a:lnTo>
                  <a:lnTo>
                    <a:pt x="1061720" y="648969"/>
                  </a:lnTo>
                  <a:lnTo>
                    <a:pt x="1094561" y="641330"/>
                  </a:lnTo>
                  <a:lnTo>
                    <a:pt x="1123473" y="621188"/>
                  </a:lnTo>
                  <a:lnTo>
                    <a:pt x="1144051" y="592712"/>
                  </a:lnTo>
                  <a:lnTo>
                    <a:pt x="1151889" y="560069"/>
                  </a:lnTo>
                  <a:lnTo>
                    <a:pt x="1151889" y="88900"/>
                  </a:lnTo>
                  <a:lnTo>
                    <a:pt x="1144051" y="56257"/>
                  </a:lnTo>
                  <a:lnTo>
                    <a:pt x="1123473" y="27781"/>
                  </a:lnTo>
                  <a:lnTo>
                    <a:pt x="1094561" y="7639"/>
                  </a:lnTo>
                  <a:lnTo>
                    <a:pt x="1061720" y="0"/>
                  </a:lnTo>
                  <a:lnTo>
                    <a:pt x="90170" y="0"/>
                  </a:lnTo>
                  <a:close/>
                </a:path>
                <a:path w="1151889" h="648970">
                  <a:moveTo>
                    <a:pt x="0" y="0"/>
                  </a:moveTo>
                  <a:lnTo>
                    <a:pt x="0" y="0"/>
                  </a:lnTo>
                </a:path>
                <a:path w="1151889" h="648970">
                  <a:moveTo>
                    <a:pt x="1151889" y="648969"/>
                  </a:moveTo>
                  <a:lnTo>
                    <a:pt x="1151889" y="648969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403" name="object 403"/>
          <p:cNvSpPr txBox="1"/>
          <p:nvPr/>
        </p:nvSpPr>
        <p:spPr>
          <a:xfrm>
            <a:off x="3909612" y="3608506"/>
            <a:ext cx="993690" cy="891022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237734" marR="19019" indent="-229090">
              <a:spcBef>
                <a:spcPts val="68"/>
              </a:spcBef>
            </a:pPr>
            <a:r>
              <a:rPr sz="1225" b="1" spc="-3" dirty="0">
                <a:latin typeface="Arial"/>
                <a:cs typeface="Arial"/>
              </a:rPr>
              <a:t>Comp</a:t>
            </a:r>
            <a:r>
              <a:rPr sz="1225" b="1" spc="7" dirty="0">
                <a:latin typeface="Arial"/>
                <a:cs typeface="Arial"/>
              </a:rPr>
              <a:t>u</a:t>
            </a:r>
            <a:r>
              <a:rPr sz="1225" b="1" spc="-7" dirty="0">
                <a:latin typeface="Arial"/>
                <a:cs typeface="Arial"/>
              </a:rPr>
              <a:t>t</a:t>
            </a:r>
            <a:r>
              <a:rPr sz="1225" b="1" spc="-3" dirty="0">
                <a:latin typeface="Arial"/>
                <a:cs typeface="Arial"/>
              </a:rPr>
              <a:t>ati</a:t>
            </a:r>
            <a:r>
              <a:rPr sz="1225" b="1" spc="7" dirty="0">
                <a:latin typeface="Arial"/>
                <a:cs typeface="Arial"/>
              </a:rPr>
              <a:t>o</a:t>
            </a:r>
            <a:r>
              <a:rPr sz="1225" b="1" dirty="0">
                <a:latin typeface="Arial"/>
                <a:cs typeface="Arial"/>
              </a:rPr>
              <a:t>n  </a:t>
            </a:r>
            <a:r>
              <a:rPr sz="1225" b="1" u="heavy" dirty="0"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Modu</a:t>
            </a:r>
            <a:r>
              <a:rPr sz="1225" b="1" dirty="0">
                <a:latin typeface="Arial"/>
                <a:cs typeface="Arial"/>
              </a:rPr>
              <a:t>le</a:t>
            </a:r>
            <a:endParaRPr sz="1225">
              <a:latin typeface="Arial"/>
              <a:cs typeface="Arial"/>
            </a:endParaRPr>
          </a:p>
          <a:p>
            <a:pPr marL="531661">
              <a:spcBef>
                <a:spcPts val="980"/>
              </a:spcBef>
            </a:pPr>
            <a:r>
              <a:rPr sz="1225" b="1" spc="-7" dirty="0">
                <a:latin typeface="Arial"/>
                <a:cs typeface="Arial"/>
              </a:rPr>
              <a:t>CUDA</a:t>
            </a:r>
            <a:endParaRPr sz="1225">
              <a:latin typeface="Arial"/>
              <a:cs typeface="Arial"/>
            </a:endParaRPr>
          </a:p>
          <a:p>
            <a:pPr marL="527338"/>
            <a:r>
              <a:rPr sz="1225" b="1" spc="-7" dirty="0">
                <a:latin typeface="Arial"/>
                <a:cs typeface="Arial"/>
              </a:rPr>
              <a:t>kernel</a:t>
            </a:r>
            <a:endParaRPr sz="1225">
              <a:latin typeface="Arial"/>
              <a:cs typeface="Arial"/>
            </a:endParaRPr>
          </a:p>
        </p:txBody>
      </p:sp>
      <p:grpSp>
        <p:nvGrpSpPr>
          <p:cNvPr id="404" name="object 404"/>
          <p:cNvGrpSpPr/>
          <p:nvPr/>
        </p:nvGrpSpPr>
        <p:grpSpPr>
          <a:xfrm>
            <a:off x="5539107" y="3609370"/>
            <a:ext cx="426176" cy="685512"/>
            <a:chOff x="4414520" y="5148579"/>
            <a:chExt cx="626110" cy="1007110"/>
          </a:xfrm>
        </p:grpSpPr>
        <p:sp>
          <p:nvSpPr>
            <p:cNvPr id="405" name="object 405"/>
            <p:cNvSpPr/>
            <p:nvPr/>
          </p:nvSpPr>
          <p:spPr>
            <a:xfrm>
              <a:off x="4414520" y="5148579"/>
              <a:ext cx="481329" cy="7200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6" name="object 406"/>
            <p:cNvSpPr/>
            <p:nvPr/>
          </p:nvSpPr>
          <p:spPr>
            <a:xfrm>
              <a:off x="4485640" y="5292089"/>
              <a:ext cx="481329" cy="7200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07" name="object 407"/>
            <p:cNvSpPr/>
            <p:nvPr/>
          </p:nvSpPr>
          <p:spPr>
            <a:xfrm>
              <a:off x="4559300" y="5435599"/>
              <a:ext cx="481329" cy="7200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408" name="object 408"/>
          <p:cNvSpPr txBox="1"/>
          <p:nvPr/>
        </p:nvSpPr>
        <p:spPr>
          <a:xfrm>
            <a:off x="3060718" y="5016702"/>
            <a:ext cx="6223203" cy="155373"/>
          </a:xfrm>
          <a:prstGeom prst="rect">
            <a:avLst/>
          </a:prstGeom>
        </p:spPr>
        <p:txBody>
          <a:bodyPr vert="horz" wrap="square" lIns="0" tIns="8645" rIns="0" bIns="0" rtlCol="0">
            <a:spAutoFit/>
          </a:bodyPr>
          <a:lstStyle/>
          <a:p>
            <a:pPr marL="8645">
              <a:spcBef>
                <a:spcPts val="68"/>
              </a:spcBef>
            </a:pPr>
            <a:r>
              <a:rPr sz="953" spc="-3" dirty="0">
                <a:latin typeface="Arial"/>
                <a:cs typeface="Arial"/>
              </a:rPr>
              <a:t>Slides from </a:t>
            </a:r>
            <a:r>
              <a:rPr sz="953" spc="-27" dirty="0">
                <a:latin typeface="Arial"/>
                <a:cs typeface="Arial"/>
              </a:rPr>
              <a:t>W. </a:t>
            </a:r>
            <a:r>
              <a:rPr sz="953" spc="-3" dirty="0">
                <a:latin typeface="Arial"/>
                <a:cs typeface="Arial"/>
              </a:rPr>
              <a:t>Cheng, Kent </a:t>
            </a:r>
            <a:r>
              <a:rPr sz="953" dirty="0">
                <a:latin typeface="Arial"/>
                <a:cs typeface="Arial"/>
              </a:rPr>
              <a:t>State </a:t>
            </a:r>
            <a:r>
              <a:rPr sz="953" spc="-7" dirty="0">
                <a:latin typeface="Arial"/>
                <a:cs typeface="Arial"/>
              </a:rPr>
              <a:t>University,</a:t>
            </a:r>
            <a:r>
              <a:rPr sz="953" spc="204" dirty="0">
                <a:latin typeface="Arial"/>
                <a:cs typeface="Arial"/>
              </a:rPr>
              <a:t> </a:t>
            </a:r>
            <a:r>
              <a:rPr sz="953" spc="-3" dirty="0">
                <a:latin typeface="Arial"/>
                <a:cs typeface="Arial"/>
                <a:hlinkClick r:id="rId13"/>
              </a:rPr>
              <a:t>http://www.cs.kent.edu/~wcheng/Graphics%20Processing%20Unit.ppt</a:t>
            </a:r>
            <a:endParaRPr sz="953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372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5200" y="54254"/>
            <a:ext cx="5029200" cy="1116725"/>
          </a:xfrm>
          <a:prstGeom prst="rect">
            <a:avLst/>
          </a:prstGeom>
        </p:spPr>
        <p:txBody>
          <a:bodyPr vert="horz" wrap="square" lIns="0" tIns="8645" rIns="0" bIns="0" rtlCol="0" anchor="b">
            <a:spAutoFit/>
          </a:bodyPr>
          <a:lstStyle/>
          <a:p>
            <a:pPr marL="8645">
              <a:spcBef>
                <a:spcPts val="68"/>
              </a:spcBef>
              <a:tabLst>
                <a:tab pos="3707361" algn="l"/>
              </a:tabLst>
            </a:pPr>
            <a:r>
              <a:rPr sz="3600" spc="-3" dirty="0"/>
              <a:t>Comparison</a:t>
            </a:r>
            <a:r>
              <a:rPr sz="3600" dirty="0"/>
              <a:t> </a:t>
            </a:r>
            <a:r>
              <a:rPr sz="3600" spc="-3" dirty="0" smtClean="0"/>
              <a:t>between</a:t>
            </a:r>
            <a:r>
              <a:rPr lang="en-IN" sz="3600" spc="-3" dirty="0" smtClean="0"/>
              <a:t> </a:t>
            </a:r>
            <a:r>
              <a:rPr sz="3600" spc="-3" dirty="0" smtClean="0"/>
              <a:t>CPU </a:t>
            </a:r>
            <a:r>
              <a:rPr sz="3600" spc="-3" dirty="0"/>
              <a:t>and</a:t>
            </a:r>
            <a:r>
              <a:rPr sz="3600" spc="-54" dirty="0"/>
              <a:t> </a:t>
            </a:r>
            <a:r>
              <a:rPr sz="3600" spc="-3" dirty="0"/>
              <a:t>GPU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29000" y="1200567"/>
            <a:ext cx="5454703" cy="825273"/>
          </a:xfrm>
          <a:prstGeom prst="rect">
            <a:avLst/>
          </a:prstGeom>
        </p:spPr>
        <p:txBody>
          <a:bodyPr vert="horz" wrap="square" lIns="0" tIns="47545" rIns="0" bIns="0" rtlCol="0">
            <a:spAutoFit/>
          </a:bodyPr>
          <a:lstStyle/>
          <a:p>
            <a:pPr marL="8645">
              <a:spcBef>
                <a:spcPts val="374"/>
              </a:spcBef>
            </a:pPr>
            <a:r>
              <a:rPr sz="1634" spc="-37" dirty="0">
                <a:latin typeface="Arial"/>
                <a:cs typeface="Arial"/>
              </a:rPr>
              <a:t>Test: </a:t>
            </a:r>
            <a:r>
              <a:rPr sz="1634" spc="-3" dirty="0">
                <a:latin typeface="Arial"/>
                <a:cs typeface="Arial"/>
              </a:rPr>
              <a:t>Matrix</a:t>
            </a:r>
            <a:r>
              <a:rPr sz="1634" spc="34" dirty="0">
                <a:latin typeface="Arial"/>
                <a:cs typeface="Arial"/>
              </a:rPr>
              <a:t> </a:t>
            </a:r>
            <a:r>
              <a:rPr sz="1634" spc="-3" dirty="0">
                <a:latin typeface="Arial"/>
                <a:cs typeface="Arial"/>
              </a:rPr>
              <a:t>Multiplication</a:t>
            </a:r>
            <a:endParaRPr sz="1634">
              <a:latin typeface="Arial"/>
              <a:cs typeface="Arial"/>
            </a:endParaRPr>
          </a:p>
          <a:p>
            <a:pPr marL="8645" marR="3458">
              <a:lnSpc>
                <a:spcPts val="1817"/>
              </a:lnSpc>
              <a:spcBef>
                <a:spcPts val="487"/>
              </a:spcBef>
            </a:pPr>
            <a:r>
              <a:rPr sz="1634" spc="-3" dirty="0">
                <a:latin typeface="Arial"/>
                <a:cs typeface="Arial"/>
              </a:rPr>
              <a:t>1. Create two matrices with random floating </a:t>
            </a:r>
            <a:r>
              <a:rPr sz="1634" spc="-7" dirty="0">
                <a:latin typeface="Arial"/>
                <a:cs typeface="Arial"/>
              </a:rPr>
              <a:t>point </a:t>
            </a:r>
            <a:r>
              <a:rPr sz="1634" spc="-3" dirty="0">
                <a:latin typeface="Arial"/>
                <a:cs typeface="Arial"/>
              </a:rPr>
              <a:t>values. </a:t>
            </a:r>
            <a:r>
              <a:rPr sz="1634" spc="-7" dirty="0">
                <a:latin typeface="Arial"/>
                <a:cs typeface="Arial"/>
              </a:rPr>
              <a:t>2.  </a:t>
            </a:r>
            <a:r>
              <a:rPr sz="1634" spc="-3" dirty="0">
                <a:latin typeface="Arial"/>
                <a:cs typeface="Arial"/>
              </a:rPr>
              <a:t>Multiply</a:t>
            </a:r>
            <a:endParaRPr sz="1634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367678"/>
              </p:ext>
            </p:extLst>
          </p:nvPr>
        </p:nvGraphicFramePr>
        <p:xfrm>
          <a:off x="4134393" y="2280270"/>
          <a:ext cx="4764005" cy="2658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8002"/>
                <a:gridCol w="1588434"/>
                <a:gridCol w="1587569"/>
              </a:tblGrid>
              <a:tr h="297371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Dimensions</a:t>
                      </a:r>
                      <a:endParaRPr sz="1400" dirty="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CUDA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CPU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694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64x64</a:t>
                      </a:r>
                      <a:endParaRPr sz="1400" dirty="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0.417465</a:t>
                      </a:r>
                      <a:r>
                        <a:rPr sz="1400" spc="-8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</a:p>
                  </a:txBody>
                  <a:tcPr marL="0" marR="0" marT="19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18.0876</a:t>
                      </a:r>
                      <a:r>
                        <a:rPr sz="1400" spc="-8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7371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128x128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0.41691</a:t>
                      </a:r>
                      <a:r>
                        <a:rPr sz="1400" spc="-8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</a:p>
                  </a:txBody>
                  <a:tcPr marL="0" marR="0" marT="19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18.3007</a:t>
                      </a:r>
                      <a:r>
                        <a:rPr sz="1400" spc="-8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  <a:endParaRPr sz="1400" dirty="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694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256x256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2.146367</a:t>
                      </a:r>
                      <a:r>
                        <a:rPr sz="1400" spc="-8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145.6302</a:t>
                      </a:r>
                      <a:r>
                        <a:rPr sz="1400" spc="-8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  <a:endParaRPr sz="1400" dirty="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947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512x512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8.093004</a:t>
                      </a:r>
                      <a:r>
                        <a:rPr sz="1400" spc="-8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1494.7275</a:t>
                      </a:r>
                      <a:r>
                        <a:rPr sz="1400" spc="-8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  <a:endParaRPr sz="1400" dirty="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7371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768x768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25.97624</a:t>
                      </a:r>
                      <a:r>
                        <a:rPr sz="1400" spc="-8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4866.3246</a:t>
                      </a:r>
                      <a:r>
                        <a:rPr sz="1400" spc="-8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  <a:endParaRPr sz="1400" dirty="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694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1024x1024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52.42811</a:t>
                      </a:r>
                      <a:r>
                        <a:rPr sz="1400" spc="-8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66097.1688</a:t>
                      </a:r>
                      <a:r>
                        <a:rPr sz="1400" spc="-7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</a:p>
                  </a:txBody>
                  <a:tcPr marL="0" marR="0" marT="19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7372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2048x2048</a:t>
                      </a:r>
                      <a:endParaRPr sz="1400" dirty="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407.648</a:t>
                      </a:r>
                      <a:r>
                        <a:rPr sz="1400" spc="-8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ms</a:t>
                      </a:r>
                    </a:p>
                  </a:txBody>
                  <a:tcPr marL="0" marR="0" marT="19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rgbClr val="FFFF00"/>
                          </a:solidFill>
                          <a:latin typeface="DejaVu Sans"/>
                          <a:cs typeface="DejaVu Sans"/>
                        </a:rPr>
                        <a:t>Didn’t</a:t>
                      </a:r>
                      <a:r>
                        <a:rPr sz="1400" spc="-60" dirty="0">
                          <a:solidFill>
                            <a:srgbClr val="FFFF00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spc="-5" dirty="0">
                          <a:solidFill>
                            <a:srgbClr val="FFFF00"/>
                          </a:solidFill>
                          <a:latin typeface="DejaVu Sans"/>
                          <a:cs typeface="DejaVu Sans"/>
                        </a:rPr>
                        <a:t>finish</a:t>
                      </a:r>
                      <a:endParaRPr sz="1400" dirty="0">
                        <a:solidFill>
                          <a:srgbClr val="FFFF00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694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4096x4096</a:t>
                      </a:r>
                      <a:endParaRPr sz="140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3.1</a:t>
                      </a:r>
                      <a:r>
                        <a:rPr sz="1400" spc="-70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spc="-5" dirty="0">
                          <a:solidFill>
                            <a:schemeClr val="tx1"/>
                          </a:solidFill>
                          <a:latin typeface="DejaVu Sans"/>
                          <a:cs typeface="DejaVu Sans"/>
                        </a:rPr>
                        <a:t>seconds</a:t>
                      </a:r>
                      <a:endParaRPr sz="1400" dirty="0">
                        <a:solidFill>
                          <a:schemeClr val="tx1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spc="-5" dirty="0">
                          <a:solidFill>
                            <a:srgbClr val="FFFF00"/>
                          </a:solidFill>
                          <a:latin typeface="DejaVu Sans"/>
                          <a:cs typeface="DejaVu Sans"/>
                        </a:rPr>
                        <a:t>Didn’t</a:t>
                      </a:r>
                      <a:r>
                        <a:rPr sz="1400" spc="-60" dirty="0">
                          <a:solidFill>
                            <a:srgbClr val="FFFF00"/>
                          </a:solid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400" spc="-5" dirty="0">
                          <a:solidFill>
                            <a:srgbClr val="FFFF00"/>
                          </a:solidFill>
                          <a:latin typeface="DejaVu Sans"/>
                          <a:cs typeface="DejaVu Sans"/>
                        </a:rPr>
                        <a:t>finish</a:t>
                      </a:r>
                      <a:endParaRPr sz="1400" dirty="0">
                        <a:solidFill>
                          <a:srgbClr val="FFFF00"/>
                        </a:solidFill>
                        <a:latin typeface="DejaVu Sans"/>
                        <a:cs typeface="DejaVu Sans"/>
                      </a:endParaRPr>
                    </a:p>
                  </a:txBody>
                  <a:tcPr marL="0" marR="0" marT="19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27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6C2FF4A65BCA4C98CA0E5FCE415DB2" ma:contentTypeVersion="4" ma:contentTypeDescription="Create a new document." ma:contentTypeScope="" ma:versionID="ea602aa29029d417b8d18c21af9ecdb0">
  <xsd:schema xmlns:xsd="http://www.w3.org/2001/XMLSchema" xmlns:xs="http://www.w3.org/2001/XMLSchema" xmlns:p="http://schemas.microsoft.com/office/2006/metadata/properties" xmlns:ns2="58fe58fc-72d2-4402-86d5-224c40a3db1c" targetNamespace="http://schemas.microsoft.com/office/2006/metadata/properties" ma:root="true" ma:fieldsID="808c8ca2c768d626c28528b9d4e0bf56" ns2:_="">
    <xsd:import namespace="58fe58fc-72d2-4402-86d5-224c40a3db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fe58fc-72d2-4402-86d5-224c40a3db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D4DF18-F817-473F-9FD3-6FF763CECD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2EA95D-4359-4776-923A-6E728DC27990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0492725-765d-41cc-9a60-72654dfb5257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7A68EA5-D7A3-46A0-8645-4C52D09A38BE}"/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19636</TotalTime>
  <Words>5644</Words>
  <Application>Microsoft Office PowerPoint</Application>
  <PresentationFormat>On-screen Show (16:9)</PresentationFormat>
  <Paragraphs>1030</Paragraphs>
  <Slides>117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18" baseType="lpstr">
      <vt:lpstr>Perspective</vt:lpstr>
      <vt:lpstr>CSE4001 – Parallel and Distributed Computing</vt:lpstr>
      <vt:lpstr>Reference Books:</vt:lpstr>
      <vt:lpstr>Module 2:</vt:lpstr>
      <vt:lpstr>PowerPoint Presentation</vt:lpstr>
      <vt:lpstr>Basic Five – Stage Pipeline</vt:lpstr>
      <vt:lpstr>Pipeline Structure</vt:lpstr>
      <vt:lpstr>Pipeline Hazards</vt:lpstr>
      <vt:lpstr>Structural Hazards</vt:lpstr>
      <vt:lpstr>Data Hazards</vt:lpstr>
      <vt:lpstr>Data Hazards</vt:lpstr>
      <vt:lpstr>Control Hazards</vt:lpstr>
      <vt:lpstr>Performance Evaluation</vt:lpstr>
      <vt:lpstr>Processor Performance Equation</vt:lpstr>
      <vt:lpstr>Instruction Level Parallelism</vt:lpstr>
      <vt:lpstr>Instruction Level Parallelism</vt:lpstr>
      <vt:lpstr>Making Computers Think Parallel</vt:lpstr>
      <vt:lpstr>Two basic approach</vt:lpstr>
      <vt:lpstr>Program Challenges and Opportunities to ILP </vt:lpstr>
      <vt:lpstr>Dependencies and Hazards </vt:lpstr>
      <vt:lpstr>Data Dependencies</vt:lpstr>
      <vt:lpstr>Name Dependencies  (not true dependencies)</vt:lpstr>
      <vt:lpstr>Data Hazards </vt:lpstr>
      <vt:lpstr>Control Dependencies</vt:lpstr>
      <vt:lpstr>Compiler Techniques for Exposing ILP </vt:lpstr>
      <vt:lpstr>Advanced Branch Prediction</vt:lpstr>
      <vt:lpstr>Dynamic Scheduling</vt:lpstr>
      <vt:lpstr>PowerPoint Presentation</vt:lpstr>
      <vt:lpstr>The Limits of ILP </vt:lpstr>
      <vt:lpstr>Limits </vt:lpstr>
      <vt:lpstr>PowerPoint Presentation</vt:lpstr>
      <vt:lpstr>OpenMP</vt:lpstr>
      <vt:lpstr>Goals of OpenMP:</vt:lpstr>
      <vt:lpstr>Goals of OpenMP:</vt:lpstr>
      <vt:lpstr>OpenMP Programming Model</vt:lpstr>
      <vt:lpstr>Motivation for Using OpenMP in HPC:</vt:lpstr>
      <vt:lpstr>Thread Based Parallelism:</vt:lpstr>
      <vt:lpstr>Explicit Parallelism:</vt:lpstr>
      <vt:lpstr>Fork - Join Model:</vt:lpstr>
      <vt:lpstr>Fork - Join Model:</vt:lpstr>
      <vt:lpstr>Data Scoping:</vt:lpstr>
      <vt:lpstr>Nested Parallelism:</vt:lpstr>
      <vt:lpstr>Dynamic Threads:</vt:lpstr>
      <vt:lpstr> I/O:</vt:lpstr>
      <vt:lpstr>Three Components of OpenMP:</vt:lpstr>
      <vt:lpstr>Compiler Directives:</vt:lpstr>
      <vt:lpstr>Run-time Library Routines:</vt:lpstr>
      <vt:lpstr>Environment Variables:</vt:lpstr>
      <vt:lpstr>OpenMP Code Structure: Example</vt:lpstr>
      <vt:lpstr>OpenMP Programming Model</vt:lpstr>
      <vt:lpstr>OpenMP Programming Model </vt:lpstr>
      <vt:lpstr>OpenMP Programming Model </vt:lpstr>
      <vt:lpstr>Reduction Clause in OpenMP </vt:lpstr>
      <vt:lpstr>OpenMP Programming: Example</vt:lpstr>
      <vt:lpstr>Specifying Concurrent Tasks in OpenMP</vt:lpstr>
      <vt:lpstr>Specifying Concurrent Tasks in OpenMP: Example</vt:lpstr>
      <vt:lpstr>Assigning Iterations to Threads </vt:lpstr>
      <vt:lpstr>Assigning Iterations to Threads: Example</vt:lpstr>
      <vt:lpstr>Assigning Iterations to Threads: Example</vt:lpstr>
      <vt:lpstr>Parallel For Loops</vt:lpstr>
      <vt:lpstr>Parallel For Loops: Example</vt:lpstr>
      <vt:lpstr>The sections Directive</vt:lpstr>
      <vt:lpstr>The sections Directive: Example</vt:lpstr>
      <vt:lpstr>Nesting parallel Directives</vt:lpstr>
      <vt:lpstr>Synchronization Constructs in OpenMP</vt:lpstr>
      <vt:lpstr>OpenMP Library Functions</vt:lpstr>
      <vt:lpstr>OpenMP Library Functions</vt:lpstr>
      <vt:lpstr>Environment Variables in OpenMP</vt:lpstr>
      <vt:lpstr>Explicit Threads versus Directive Based Programming</vt:lpstr>
      <vt:lpstr>PowerPoint Presentation</vt:lpstr>
      <vt:lpstr>Data Level Parallelism</vt:lpstr>
      <vt:lpstr> VECTOR PROCESSORS </vt:lpstr>
      <vt:lpstr>PowerPoint Presentation</vt:lpstr>
      <vt:lpstr>VECTOR PROCESSORS …. </vt:lpstr>
      <vt:lpstr>Vector Architecture</vt:lpstr>
      <vt:lpstr>PowerPoint Presentation</vt:lpstr>
      <vt:lpstr>PowerPoint Presentation</vt:lpstr>
      <vt:lpstr>Vector Programming Model</vt:lpstr>
      <vt:lpstr>Vector Arithmetic Instructions</vt:lpstr>
      <vt:lpstr>Vector Load/Store Instructions</vt:lpstr>
      <vt:lpstr>Interleaved Vector Memory System</vt:lpstr>
      <vt:lpstr>Vector  Memory System</vt:lpstr>
      <vt:lpstr>Example</vt:lpstr>
      <vt:lpstr>Example</vt:lpstr>
      <vt:lpstr>Example Vector Microarchitecture</vt:lpstr>
      <vt:lpstr>Vector Architecture – Chaining</vt:lpstr>
      <vt:lpstr>Vector Execution Time</vt:lpstr>
      <vt:lpstr>Vector Instruction Execution</vt:lpstr>
      <vt:lpstr>Vector Instruction Execution</vt:lpstr>
      <vt:lpstr>Vector Architecture - Lane</vt:lpstr>
      <vt:lpstr>Vector Microarchitecture – Two Lanes</vt:lpstr>
      <vt:lpstr>Y =a× X +Y</vt:lpstr>
      <vt:lpstr>DAXPY</vt:lpstr>
      <vt:lpstr>Vector Stripmining</vt:lpstr>
      <vt:lpstr>Vector Stripmining</vt:lpstr>
      <vt:lpstr>PowerPoint Presentation</vt:lpstr>
      <vt:lpstr>Masked Vector Instructions</vt:lpstr>
      <vt:lpstr>Vector Load Store Units</vt:lpstr>
      <vt:lpstr>Gather–Scatter</vt:lpstr>
      <vt:lpstr>Cray 1 (1976)</vt:lpstr>
      <vt:lpstr>Vector Processor Limitations</vt:lpstr>
      <vt:lpstr>Applications of Vector Processing</vt:lpstr>
      <vt:lpstr>SIMD Instruction Set for Multimedia</vt:lpstr>
      <vt:lpstr>MMX Instructions</vt:lpstr>
      <vt:lpstr>Multimedia Extensions vs. Vectors</vt:lpstr>
      <vt:lpstr>PowerPoint Presentation</vt:lpstr>
      <vt:lpstr>Graphics Processing Units</vt:lpstr>
      <vt:lpstr>Graphics Processing Units</vt:lpstr>
      <vt:lpstr>Introduction to CUDA</vt:lpstr>
      <vt:lpstr>Introduction to CUDA</vt:lpstr>
      <vt:lpstr>NVIDIA GPU Computational Structures</vt:lpstr>
      <vt:lpstr>NVIDIA GPU Computational Structures</vt:lpstr>
      <vt:lpstr>Multithreaded SIMD Processor</vt:lpstr>
      <vt:lpstr>Fermi “Streaming  Processor” Core</vt:lpstr>
      <vt:lpstr>Hardware Execution Model</vt:lpstr>
      <vt:lpstr>NVIDIA Fermi</vt:lpstr>
      <vt:lpstr>Comparison between CPU and GPU</vt:lpstr>
      <vt:lpstr>Comparison between CPU and GPU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vitbpl</dc:creator>
  <cp:lastModifiedBy>Windows User</cp:lastModifiedBy>
  <cp:revision>247</cp:revision>
  <dcterms:created xsi:type="dcterms:W3CDTF">2006-08-16T00:00:00Z</dcterms:created>
  <dcterms:modified xsi:type="dcterms:W3CDTF">2022-08-18T10:51:28Z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0x0101008D6C2FF4A65BCA4C98CA0E5FCE415DB2</vt:lpwstr>
  </property>
</Properties>
</file>