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1678E-1558-4984-95FD-AEF85653E95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44316-B964-4554-A8DF-7AC2ABB47B7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044316-B964-4554-A8DF-7AC2ABB47B7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C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4DEFB-0D57-4F1D-97E5-13AEC74991C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  <p:sp>
        <p:nvSpPr>
          <p:cNvPr id="9" name="AutoShape 2" descr="CfP: Conference on Computing and Network Communications at VIT ...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0" name="AutoShape 6" descr="ICBCC"/>
          <p:cNvSpPr>
            <a:spLocks noChangeAspect="1" noChangeArrowheads="1"/>
          </p:cNvSpPr>
          <p:nvPr userDrawn="1"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8" descr="ICBCC"/>
          <p:cNvSpPr>
            <a:spLocks noChangeAspect="1" noChangeArrowheads="1"/>
          </p:cNvSpPr>
          <p:nvPr userDrawn="1"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AutoShape 10" descr="ICBCC"/>
          <p:cNvSpPr>
            <a:spLocks noChangeAspect="1" noChangeArrowheads="1"/>
          </p:cNvSpPr>
          <p:nvPr userDrawn="1"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3" name="AutoShape 12" descr="ICBCC"/>
          <p:cNvSpPr>
            <a:spLocks noChangeAspect="1" noChangeArrowheads="1"/>
          </p:cNvSpPr>
          <p:nvPr userDrawn="1"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0BF55-C6F8-4BFF-8D9C-FE2A9E0C65F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D3C30-29B7-4962-B75B-5783640B50E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F7B6E-7A76-4605-8460-39EA0A21C01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8FF41-C0AC-467C-9853-DF5A53C0A98B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56BE6-3AA5-4C89-AD53-5822ADA85691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AE605-B141-4AFB-B8F0-1A71BFFBA3D8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CC11A-0058-4E8A-AF5B-AB607988E8D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FF3AC-3CC4-4FF3-B0D7-4BEA08BA8D5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8BD9B-2B42-4E27-8D61-CF97076BA33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0898-003C-48C2-8C10-899F362D990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92875"/>
            <a:ext cx="1371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fld id="{82B37C8B-4B1B-4207-A6C2-8A23DA209E3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4600" y="6492875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SCOPE, VIT Chennai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6492875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922EF5B-2A28-4554-A318-1894A92BDB6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b="1" dirty="0"/>
              <a:t>Parallel and Distributed Computing</a:t>
            </a:r>
            <a:br>
              <a:rPr lang="en-IN" sz="4000" b="1" dirty="0"/>
            </a:br>
            <a:r>
              <a:rPr lang="en-IN" sz="4000" b="1" dirty="0"/>
              <a:t>Module 1-Parallelism Fundamentals</a:t>
            </a:r>
            <a:endParaRPr lang="en-US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0" y="3962400"/>
            <a:ext cx="5029200" cy="17526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Motivation </a:t>
            </a:r>
            <a:endParaRPr lang="en-IN" dirty="0"/>
          </a:p>
          <a:p>
            <a:r>
              <a:rPr lang="en-IN" dirty="0"/>
              <a:t>Key Concepts </a:t>
            </a:r>
            <a:endParaRPr lang="en-IN" dirty="0"/>
          </a:p>
          <a:p>
            <a:r>
              <a:rPr lang="en-IN" dirty="0"/>
              <a:t>Challenges </a:t>
            </a:r>
            <a:endParaRPr lang="en-IN" dirty="0"/>
          </a:p>
          <a:p>
            <a:r>
              <a:rPr lang="en-IN" dirty="0"/>
              <a:t>Parallel computing</a:t>
            </a:r>
            <a:endParaRPr lang="en-IN" dirty="0"/>
          </a:p>
          <a:p>
            <a:r>
              <a:rPr lang="en-IN" dirty="0"/>
              <a:t>Flynn‘s Taxonomy</a:t>
            </a:r>
            <a:endParaRPr lang="en-IN" dirty="0"/>
          </a:p>
          <a:p>
            <a:r>
              <a:rPr lang="en-IN" dirty="0"/>
              <a:t>Multi-core Processors,</a:t>
            </a:r>
            <a:endParaRPr lang="en-IN" dirty="0"/>
          </a:p>
          <a:p>
            <a:r>
              <a:rPr lang="en-IN" dirty="0"/>
              <a:t>Shared </a:t>
            </a:r>
            <a:r>
              <a:rPr lang="en-IN" dirty="0" err="1"/>
              <a:t>vs</a:t>
            </a:r>
            <a:r>
              <a:rPr lang="en-IN" dirty="0"/>
              <a:t> Distributed memory.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address computationally intensive problems and increase their response time</a:t>
            </a:r>
            <a:endParaRPr lang="en-IN" dirty="0"/>
          </a:p>
          <a:p>
            <a:r>
              <a:rPr lang="en-IN" dirty="0"/>
              <a:t>Weather Forecasting</a:t>
            </a:r>
            <a:endParaRPr lang="en-IN" dirty="0"/>
          </a:p>
          <a:p>
            <a:r>
              <a:rPr lang="en-IN" dirty="0"/>
              <a:t>Genome Sequencing</a:t>
            </a:r>
            <a:endParaRPr lang="en-IN" dirty="0"/>
          </a:p>
          <a:p>
            <a:r>
              <a:rPr lang="en-IN" dirty="0"/>
              <a:t>Crash Simulation Testing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Moore’s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Transistor count on a </a:t>
            </a:r>
            <a:r>
              <a:rPr lang="en-IN" dirty="0" err="1"/>
              <a:t>integerated</a:t>
            </a:r>
            <a:r>
              <a:rPr lang="en-IN" dirty="0"/>
              <a:t> chip doubles every 24 months independent of technology used</a:t>
            </a:r>
            <a:endParaRPr lang="en-IN" dirty="0"/>
          </a:p>
          <a:p>
            <a:pPr lvl="1"/>
            <a:r>
              <a:rPr lang="en-IN" dirty="0"/>
              <a:t>@Gordon Moore, Co-founder of Intel Corp (1965)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Moore’s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Pipelined  functional units: instruction level parallelism</a:t>
            </a:r>
            <a:endParaRPr lang="en-IN" dirty="0"/>
          </a:p>
          <a:p>
            <a:r>
              <a:rPr lang="en-IN" dirty="0"/>
              <a:t>Superscalar architecture</a:t>
            </a:r>
            <a:endParaRPr lang="en-IN" dirty="0"/>
          </a:p>
          <a:p>
            <a:r>
              <a:rPr lang="en-IN" dirty="0"/>
              <a:t>Out-of-order execution</a:t>
            </a:r>
            <a:endParaRPr lang="en-IN" dirty="0"/>
          </a:p>
          <a:p>
            <a:r>
              <a:rPr lang="en-IN" dirty="0"/>
              <a:t>Larger Caches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Moore’s 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200" dirty="0"/>
              <a:t>More complexity will not lead to more efficiency</a:t>
            </a:r>
            <a:endParaRPr lang="en-IN" sz="3200" dirty="0"/>
          </a:p>
          <a:p>
            <a:r>
              <a:rPr lang="en-IN" sz="3200" dirty="0"/>
              <a:t>More functional units are packed into CPU</a:t>
            </a:r>
            <a:endParaRPr lang="en-IN" sz="3200" dirty="0"/>
          </a:p>
          <a:p>
            <a:r>
              <a:rPr lang="en-IN" sz="3200" dirty="0"/>
              <a:t>The higher probability that the “average” code will not be able to use them</a:t>
            </a:r>
            <a:endParaRPr lang="en-IN" sz="3200" dirty="0"/>
          </a:p>
          <a:p>
            <a:pPr lvl="1"/>
            <a:r>
              <a:rPr lang="en-IN" sz="2400" dirty="0"/>
              <a:t>As the number of independent instructions in a sequential instruction stream is limited.</a:t>
            </a:r>
            <a:endParaRPr lang="en-IN" sz="2400" dirty="0"/>
          </a:p>
          <a:p>
            <a:r>
              <a:rPr lang="en-IN" sz="3200" dirty="0"/>
              <a:t>Faster clock boosts power dissipation making idling transistors useless</a:t>
            </a:r>
            <a:endParaRPr lang="en-IN" sz="3200" dirty="0"/>
          </a:p>
          <a:p>
            <a:endParaRPr lang="en-IN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Power-Performance Dilemma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Simplify processor design</a:t>
            </a:r>
            <a:endParaRPr lang="en-IN" dirty="0"/>
          </a:p>
          <a:p>
            <a:r>
              <a:rPr lang="en-IN" dirty="0"/>
              <a:t>Additional transistors for larger cache</a:t>
            </a:r>
            <a:endParaRPr lang="en-IN" dirty="0"/>
          </a:p>
          <a:p>
            <a:r>
              <a:rPr lang="en-IN" dirty="0"/>
              <a:t>So, multi-core processors came into existence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Parallelization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Misconception: More hardware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Faster Response Time</a:t>
            </a:r>
            <a:endParaRPr lang="en-IN" dirty="0"/>
          </a:p>
          <a:p>
            <a:r>
              <a:rPr lang="en-IN" dirty="0"/>
              <a:t>Billions of CPU hours wasted </a:t>
            </a:r>
            <a:endParaRPr lang="en-IN" dirty="0"/>
          </a:p>
          <a:p>
            <a:r>
              <a:rPr lang="en-IN" dirty="0"/>
              <a:t>Supercomputer users have no idea about limitations of parallel execution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Classes of Parallelism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Data-Level Parallelism (DLP) </a:t>
            </a:r>
            <a:r>
              <a:rPr lang="en-IN" dirty="0"/>
              <a:t>: Huge data can be operated in parallel</a:t>
            </a:r>
            <a:endParaRPr lang="en-IN" dirty="0"/>
          </a:p>
          <a:p>
            <a:r>
              <a:rPr lang="en-IN" i="1" dirty="0"/>
              <a:t>Task-Level Parallelism (TLP) </a:t>
            </a:r>
            <a:r>
              <a:rPr lang="en-IN" dirty="0"/>
              <a:t>: independent and large tasks in parallel on at the same time.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exploit parallelism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/>
              <a:t>Instruction-Level Parallelism: </a:t>
            </a:r>
            <a:endParaRPr lang="en-IN" i="1" dirty="0"/>
          </a:p>
          <a:p>
            <a:pPr lvl="1"/>
            <a:r>
              <a:rPr lang="en-IN" dirty="0"/>
              <a:t>Exploit data-level parallelism</a:t>
            </a:r>
            <a:endParaRPr lang="en-IN" dirty="0"/>
          </a:p>
          <a:p>
            <a:pPr lvl="1"/>
            <a:r>
              <a:rPr lang="en-IN" dirty="0"/>
              <a:t>Pipelining</a:t>
            </a:r>
            <a:endParaRPr lang="en-IN" dirty="0"/>
          </a:p>
          <a:p>
            <a:r>
              <a:rPr lang="en-IN" i="1" dirty="0"/>
              <a:t>Vector Architectures </a:t>
            </a:r>
            <a:r>
              <a:rPr lang="en-IN" dirty="0"/>
              <a:t>and </a:t>
            </a:r>
            <a:r>
              <a:rPr lang="en-IN" i="1" dirty="0"/>
              <a:t>Graphic Processor Units (GPUs) </a:t>
            </a:r>
            <a:endParaRPr lang="en-IN" i="1" dirty="0"/>
          </a:p>
          <a:p>
            <a:pPr lvl="1"/>
            <a:r>
              <a:rPr lang="en-IN" dirty="0"/>
              <a:t>Exploit data-level parallelism </a:t>
            </a:r>
            <a:endParaRPr lang="en-IN" dirty="0"/>
          </a:p>
          <a:p>
            <a:pPr lvl="1"/>
            <a:r>
              <a:rPr lang="en-IN" dirty="0"/>
              <a:t>Applies a single instruction to a collection of data in parallel.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exploit parallelism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i="1" dirty="0"/>
              <a:t>Thread-Level Parallelism </a:t>
            </a:r>
            <a:endParaRPr lang="en-IN" i="1" dirty="0"/>
          </a:p>
          <a:p>
            <a:pPr lvl="1"/>
            <a:r>
              <a:rPr lang="en-IN" dirty="0"/>
              <a:t>Exploits either data-level parallelism or task-level parallelism </a:t>
            </a:r>
            <a:endParaRPr lang="en-IN" dirty="0"/>
          </a:p>
          <a:p>
            <a:pPr lvl="1"/>
            <a:r>
              <a:rPr lang="en-IN" dirty="0"/>
              <a:t>Allows for interaction among parallel threads.</a:t>
            </a:r>
            <a:endParaRPr lang="en-IN" dirty="0"/>
          </a:p>
          <a:p>
            <a:r>
              <a:rPr lang="en-IN" i="1" dirty="0"/>
              <a:t>Request-Level Parallelism</a:t>
            </a:r>
            <a:endParaRPr lang="en-IN" i="1" dirty="0"/>
          </a:p>
          <a:p>
            <a:pPr lvl="1"/>
            <a:r>
              <a:rPr lang="en-IN" dirty="0"/>
              <a:t>Exploits parallelism among largely decoupled tasks</a:t>
            </a:r>
            <a:endParaRPr lang="en-IN" dirty="0"/>
          </a:p>
          <a:p>
            <a:pPr lvl="1"/>
            <a:r>
              <a:rPr lang="en-IN" dirty="0"/>
              <a:t>Specified by the programmer or the operating system.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Flynn’s Taxonomy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343400" cy="4800600"/>
          </a:xfrm>
        </p:spPr>
        <p:txBody>
          <a:bodyPr>
            <a:noAutofit/>
          </a:bodyPr>
          <a:lstStyle/>
          <a:p>
            <a:r>
              <a:rPr lang="en-IN" sz="2800" dirty="0"/>
              <a:t>These 4 ways to support the data-level parallelism and task-level parallelism for hardware [50 years back]. </a:t>
            </a:r>
            <a:endParaRPr lang="en-IN" sz="2800" dirty="0"/>
          </a:p>
          <a:p>
            <a:r>
              <a:rPr lang="en-IN" sz="2800" dirty="0"/>
              <a:t>When Michael Flynn [1966] found a simple classification whose abbreviations we still use today. </a:t>
            </a:r>
            <a:endParaRPr lang="en-IN" sz="2800" dirty="0"/>
          </a:p>
          <a:p>
            <a:endParaRPr lang="en-IN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257800" y="2754230"/>
            <a:ext cx="3312368" cy="2160240"/>
            <a:chOff x="5796136" y="4509120"/>
            <a:chExt cx="2016224" cy="1728192"/>
          </a:xfrm>
        </p:grpSpPr>
        <p:sp>
          <p:nvSpPr>
            <p:cNvPr id="8" name="Rectangle 7"/>
            <p:cNvSpPr/>
            <p:nvPr/>
          </p:nvSpPr>
          <p:spPr>
            <a:xfrm>
              <a:off x="5796136" y="4509120"/>
              <a:ext cx="1008112" cy="864096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dirty="0">
                  <a:solidFill>
                    <a:schemeClr val="bg1"/>
                  </a:solidFill>
                </a:rPr>
                <a:t>SISD</a:t>
              </a:r>
              <a:endParaRPr lang="en-IN" sz="44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04248" y="4509120"/>
              <a:ext cx="1008112" cy="864096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dirty="0">
                  <a:solidFill>
                    <a:schemeClr val="bg1"/>
                  </a:solidFill>
                </a:rPr>
                <a:t>SIMD</a:t>
              </a:r>
              <a:endParaRPr lang="en-IN" sz="44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96136" y="5373216"/>
              <a:ext cx="1008112" cy="864096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dirty="0">
                  <a:solidFill>
                    <a:schemeClr val="bg1"/>
                  </a:solidFill>
                </a:rPr>
                <a:t>MISD</a:t>
              </a:r>
              <a:endParaRPr lang="en-IN" sz="44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804248" y="5373216"/>
              <a:ext cx="1008112" cy="864096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dirty="0">
                  <a:solidFill>
                    <a:schemeClr val="bg1"/>
                  </a:solidFill>
                </a:rPr>
                <a:t>MIMD</a:t>
              </a:r>
              <a:endParaRPr lang="en-IN" sz="4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instruction stream, single data stream (SISD)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69768" cy="4572000"/>
          </a:xfrm>
        </p:spPr>
        <p:txBody>
          <a:bodyPr>
            <a:noAutofit/>
          </a:bodyPr>
          <a:lstStyle/>
          <a:p>
            <a:r>
              <a:rPr lang="en-IN" sz="3200" dirty="0"/>
              <a:t>This category is the uniprocessor. </a:t>
            </a:r>
            <a:endParaRPr lang="en-IN" sz="3200" dirty="0"/>
          </a:p>
          <a:p>
            <a:r>
              <a:rPr lang="en-IN" sz="3200" dirty="0"/>
              <a:t>No exploitation of parallelism</a:t>
            </a:r>
            <a:endParaRPr lang="en-IN" sz="3200" dirty="0"/>
          </a:p>
          <a:p>
            <a:r>
              <a:rPr lang="en-IN" sz="3200" dirty="0"/>
              <a:t>Can have concurrent processing</a:t>
            </a:r>
            <a:endParaRPr lang="en-IN" sz="3200" dirty="0"/>
          </a:p>
          <a:p>
            <a:r>
              <a:rPr lang="en-IN" sz="3200" dirty="0"/>
              <a:t>Pipelined and super scalar processors</a:t>
            </a:r>
            <a:endParaRPr lang="en-IN" sz="3200" dirty="0"/>
          </a:p>
          <a:p>
            <a:endParaRPr lang="en-IN" sz="3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86511" y="2017974"/>
            <a:ext cx="2328889" cy="100629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INSTRUCTION</a:t>
            </a:r>
            <a:r>
              <a:rPr lang="en-IN" sz="3200" dirty="0"/>
              <a:t> </a:t>
            </a:r>
            <a:endParaRPr lang="en-IN" sz="3200" dirty="0"/>
          </a:p>
          <a:p>
            <a:pPr algn="ctr"/>
            <a:r>
              <a:rPr lang="en-IN" sz="2800" dirty="0"/>
              <a:t>STREAM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5026968" y="3591812"/>
            <a:ext cx="1559544" cy="936104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DATA</a:t>
            </a:r>
            <a:endParaRPr lang="en-IN" sz="2800" dirty="0"/>
          </a:p>
          <a:p>
            <a:pPr algn="ctr"/>
            <a:r>
              <a:rPr lang="en-IN" sz="2800" dirty="0"/>
              <a:t>STREAM</a:t>
            </a:r>
            <a:endParaRPr lang="en-IN" sz="2800" dirty="0"/>
          </a:p>
        </p:txBody>
      </p:sp>
      <p:sp>
        <p:nvSpPr>
          <p:cNvPr id="9" name="Rectangle 8"/>
          <p:cNvSpPr/>
          <p:nvPr/>
        </p:nvSpPr>
        <p:spPr>
          <a:xfrm>
            <a:off x="7198581" y="3643211"/>
            <a:ext cx="1512168" cy="64807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0" name="Down Arrow 9"/>
          <p:cNvSpPr/>
          <p:nvPr/>
        </p:nvSpPr>
        <p:spPr>
          <a:xfrm>
            <a:off x="7558621" y="2995139"/>
            <a:ext cx="396044" cy="648072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>
            <a:off x="6586512" y="3793863"/>
            <a:ext cx="612070" cy="425325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instruction stream, multiple data streams (SIMD)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07903" y="1556792"/>
            <a:ext cx="5112569" cy="61893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INSTRUCTION STREAM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1547664" y="3034628"/>
            <a:ext cx="1343520" cy="93610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</a:t>
            </a:r>
            <a:endParaRPr lang="en-IN" sz="2000" dirty="0"/>
          </a:p>
          <a:p>
            <a:pPr algn="ctr"/>
            <a:r>
              <a:rPr lang="en-IN" sz="2000" dirty="0"/>
              <a:t>STREAM1</a:t>
            </a:r>
            <a:endParaRPr lang="en-IN" sz="2000" dirty="0"/>
          </a:p>
        </p:txBody>
      </p:sp>
      <p:sp>
        <p:nvSpPr>
          <p:cNvPr id="9" name="Rectangle 8"/>
          <p:cNvSpPr/>
          <p:nvPr/>
        </p:nvSpPr>
        <p:spPr>
          <a:xfrm>
            <a:off x="3590351" y="3178644"/>
            <a:ext cx="1512168" cy="64807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0" name="Down Arrow 9"/>
          <p:cNvSpPr/>
          <p:nvPr/>
        </p:nvSpPr>
        <p:spPr>
          <a:xfrm>
            <a:off x="4148413" y="2176212"/>
            <a:ext cx="198022" cy="1002431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>
            <a:off x="2915816" y="3396348"/>
            <a:ext cx="699167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547664" y="4212264"/>
            <a:ext cx="1343520" cy="93610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</a:t>
            </a:r>
            <a:endParaRPr lang="en-IN" sz="2000" dirty="0"/>
          </a:p>
          <a:p>
            <a:pPr algn="ctr"/>
            <a:r>
              <a:rPr lang="en-IN" sz="2000" dirty="0"/>
              <a:t>STREAM 2</a:t>
            </a:r>
            <a:endParaRPr lang="en-IN" sz="2000" dirty="0"/>
          </a:p>
        </p:txBody>
      </p:sp>
      <p:sp>
        <p:nvSpPr>
          <p:cNvPr id="13" name="Rectangle 12"/>
          <p:cNvSpPr/>
          <p:nvPr/>
        </p:nvSpPr>
        <p:spPr>
          <a:xfrm>
            <a:off x="1547664" y="5373216"/>
            <a:ext cx="1343520" cy="93610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</a:t>
            </a:r>
            <a:endParaRPr lang="en-IN" sz="2000" dirty="0"/>
          </a:p>
          <a:p>
            <a:pPr algn="ctr"/>
            <a:r>
              <a:rPr lang="en-IN" sz="2000" dirty="0"/>
              <a:t>STREAM 3</a:t>
            </a:r>
            <a:endParaRPr lang="en-IN" sz="2000" dirty="0"/>
          </a:p>
        </p:txBody>
      </p:sp>
      <p:sp>
        <p:nvSpPr>
          <p:cNvPr id="14" name="Right Arrow 13"/>
          <p:cNvSpPr/>
          <p:nvPr/>
        </p:nvSpPr>
        <p:spPr>
          <a:xfrm>
            <a:off x="2915816" y="4573983"/>
            <a:ext cx="2040857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ight Arrow 14"/>
          <p:cNvSpPr/>
          <p:nvPr/>
        </p:nvSpPr>
        <p:spPr>
          <a:xfrm>
            <a:off x="2879886" y="5688021"/>
            <a:ext cx="3963746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4932040" y="4356279"/>
            <a:ext cx="1512168" cy="648072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6827935" y="5405858"/>
            <a:ext cx="1512168" cy="648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8" name="Down Arrow 17"/>
          <p:cNvSpPr/>
          <p:nvPr/>
        </p:nvSpPr>
        <p:spPr>
          <a:xfrm>
            <a:off x="5589113" y="2175730"/>
            <a:ext cx="198022" cy="2180549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Down Arrow 18"/>
          <p:cNvSpPr/>
          <p:nvPr/>
        </p:nvSpPr>
        <p:spPr>
          <a:xfrm>
            <a:off x="7485008" y="2182164"/>
            <a:ext cx="198022" cy="3223694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323528" y="3034628"/>
            <a:ext cx="720080" cy="3274691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  <a:endParaRPr lang="en-IN" dirty="0"/>
          </a:p>
        </p:txBody>
      </p:sp>
      <p:sp>
        <p:nvSpPr>
          <p:cNvPr id="21" name="Right Arrow 20"/>
          <p:cNvSpPr/>
          <p:nvPr/>
        </p:nvSpPr>
        <p:spPr>
          <a:xfrm>
            <a:off x="1043609" y="3396348"/>
            <a:ext cx="504056" cy="21035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>
            <a:off x="1043608" y="4576293"/>
            <a:ext cx="504056" cy="21035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>
            <a:off x="1057937" y="5670490"/>
            <a:ext cx="504056" cy="21035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instruction streams, single data stream  (MISD)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89925" y="1529962"/>
            <a:ext cx="5349506" cy="61893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INSTRUCTION STREAM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685800" y="3270124"/>
            <a:ext cx="1775568" cy="3130676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DATA</a:t>
            </a:r>
            <a:endParaRPr lang="en-IN" sz="3200" dirty="0"/>
          </a:p>
          <a:p>
            <a:pPr algn="ctr"/>
            <a:r>
              <a:rPr lang="en-IN" sz="3200" dirty="0"/>
              <a:t>STREAM</a:t>
            </a:r>
            <a:endParaRPr lang="en-IN" sz="3200" dirty="0"/>
          </a:p>
        </p:txBody>
      </p:sp>
      <p:sp>
        <p:nvSpPr>
          <p:cNvPr id="9" name="Rectangle 8"/>
          <p:cNvSpPr/>
          <p:nvPr/>
        </p:nvSpPr>
        <p:spPr>
          <a:xfrm>
            <a:off x="3160535" y="3414140"/>
            <a:ext cx="1512168" cy="64807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0" name="Down Arrow 9"/>
          <p:cNvSpPr/>
          <p:nvPr/>
        </p:nvSpPr>
        <p:spPr>
          <a:xfrm>
            <a:off x="3710137" y="2640638"/>
            <a:ext cx="206482" cy="773501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>
            <a:off x="2486000" y="3631844"/>
            <a:ext cx="699167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>
            <a:off x="2486000" y="4809479"/>
            <a:ext cx="2040857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2450070" y="5923517"/>
            <a:ext cx="3963746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4502224" y="4591775"/>
            <a:ext cx="1512168" cy="648072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6398119" y="5641354"/>
            <a:ext cx="1512168" cy="648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6" name="Down Arrow 15"/>
          <p:cNvSpPr/>
          <p:nvPr/>
        </p:nvSpPr>
        <p:spPr>
          <a:xfrm>
            <a:off x="5159297" y="2640638"/>
            <a:ext cx="198022" cy="1951137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7022504" y="2640638"/>
            <a:ext cx="216024" cy="3000716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3160535" y="2579630"/>
            <a:ext cx="1239363" cy="544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InstructionStream1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4737637" y="2579630"/>
            <a:ext cx="1239363" cy="544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InstructionStream2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82172" y="2590800"/>
            <a:ext cx="1239363" cy="544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InstructionStream3</a:t>
            </a:r>
            <a:endParaRPr lang="en-IN" dirty="0"/>
          </a:p>
        </p:txBody>
      </p:sp>
      <p:sp>
        <p:nvSpPr>
          <p:cNvPr id="23" name="Down Arrow 22"/>
          <p:cNvSpPr/>
          <p:nvPr/>
        </p:nvSpPr>
        <p:spPr>
          <a:xfrm>
            <a:off x="7047392" y="2133600"/>
            <a:ext cx="191136" cy="44603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own Arrow 23"/>
          <p:cNvSpPr/>
          <p:nvPr/>
        </p:nvSpPr>
        <p:spPr>
          <a:xfrm>
            <a:off x="3684648" y="2133600"/>
            <a:ext cx="191136" cy="44603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Down Arrow 24"/>
          <p:cNvSpPr/>
          <p:nvPr/>
        </p:nvSpPr>
        <p:spPr>
          <a:xfrm>
            <a:off x="5232435" y="2148900"/>
            <a:ext cx="191136" cy="446030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581400" y="1453762"/>
            <a:ext cx="5349506" cy="61893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/>
              <a:t>INSTRUCTION STREAM</a:t>
            </a:r>
            <a:endParaRPr lang="en-IN" sz="2800" dirty="0"/>
          </a:p>
        </p:txBody>
      </p:sp>
      <p:sp>
        <p:nvSpPr>
          <p:cNvPr id="8" name="Rectangle 7"/>
          <p:cNvSpPr/>
          <p:nvPr/>
        </p:nvSpPr>
        <p:spPr>
          <a:xfrm>
            <a:off x="3590351" y="3178644"/>
            <a:ext cx="1512168" cy="64807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9" name="Down Arrow 8"/>
          <p:cNvSpPr/>
          <p:nvPr/>
        </p:nvSpPr>
        <p:spPr>
          <a:xfrm>
            <a:off x="4139953" y="2405142"/>
            <a:ext cx="206482" cy="773501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932040" y="4356279"/>
            <a:ext cx="1512168" cy="648072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6827935" y="5405858"/>
            <a:ext cx="1512168" cy="6480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Processing Unit</a:t>
            </a:r>
            <a:endParaRPr lang="en-IN" dirty="0"/>
          </a:p>
        </p:txBody>
      </p:sp>
      <p:sp>
        <p:nvSpPr>
          <p:cNvPr id="12" name="Down Arrow 11"/>
          <p:cNvSpPr/>
          <p:nvPr/>
        </p:nvSpPr>
        <p:spPr>
          <a:xfrm>
            <a:off x="5589113" y="2405142"/>
            <a:ext cx="198022" cy="1951137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7452320" y="2405142"/>
            <a:ext cx="216024" cy="3000716"/>
          </a:xfrm>
          <a:prstGeom prst="down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3590351" y="2427230"/>
            <a:ext cx="1239363" cy="544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InstructionStream1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5167453" y="2411483"/>
            <a:ext cx="1239363" cy="544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InstructionStream2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6911988" y="2411483"/>
            <a:ext cx="1239363" cy="54457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InstructionStream3</a:t>
            </a:r>
            <a:endParaRPr lang="en-IN" dirty="0"/>
          </a:p>
        </p:txBody>
      </p:sp>
      <p:sp>
        <p:nvSpPr>
          <p:cNvPr id="19" name="Down Arrow 18"/>
          <p:cNvSpPr/>
          <p:nvPr/>
        </p:nvSpPr>
        <p:spPr>
          <a:xfrm>
            <a:off x="7438867" y="2099686"/>
            <a:ext cx="121465" cy="33871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547664" y="3034628"/>
            <a:ext cx="1343520" cy="93610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</a:t>
            </a:r>
            <a:endParaRPr lang="en-IN" sz="2000" dirty="0"/>
          </a:p>
          <a:p>
            <a:pPr algn="ctr"/>
            <a:r>
              <a:rPr lang="en-IN" sz="2000" dirty="0"/>
              <a:t>STREAM1</a:t>
            </a:r>
            <a:endParaRPr lang="en-IN" sz="2000" dirty="0"/>
          </a:p>
        </p:txBody>
      </p:sp>
      <p:sp>
        <p:nvSpPr>
          <p:cNvPr id="21" name="Right Arrow 20"/>
          <p:cNvSpPr/>
          <p:nvPr/>
        </p:nvSpPr>
        <p:spPr>
          <a:xfrm>
            <a:off x="2915816" y="3396348"/>
            <a:ext cx="699167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547664" y="4212264"/>
            <a:ext cx="1343520" cy="93610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</a:t>
            </a:r>
            <a:endParaRPr lang="en-IN" sz="2000" dirty="0"/>
          </a:p>
          <a:p>
            <a:pPr algn="ctr"/>
            <a:r>
              <a:rPr lang="en-IN" sz="2000" dirty="0"/>
              <a:t>STREAM 2</a:t>
            </a:r>
            <a:endParaRPr lang="en-IN" sz="2000" dirty="0"/>
          </a:p>
        </p:txBody>
      </p:sp>
      <p:sp>
        <p:nvSpPr>
          <p:cNvPr id="23" name="Rectangle 22"/>
          <p:cNvSpPr/>
          <p:nvPr/>
        </p:nvSpPr>
        <p:spPr>
          <a:xfrm>
            <a:off x="1547664" y="5373216"/>
            <a:ext cx="1343520" cy="93610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</a:t>
            </a:r>
            <a:endParaRPr lang="en-IN" sz="2000" dirty="0"/>
          </a:p>
          <a:p>
            <a:pPr algn="ctr"/>
            <a:r>
              <a:rPr lang="en-IN" sz="2000" dirty="0"/>
              <a:t>STREAM 3</a:t>
            </a:r>
            <a:endParaRPr lang="en-IN" sz="2000" dirty="0"/>
          </a:p>
        </p:txBody>
      </p:sp>
      <p:sp>
        <p:nvSpPr>
          <p:cNvPr id="24" name="Right Arrow 23"/>
          <p:cNvSpPr/>
          <p:nvPr/>
        </p:nvSpPr>
        <p:spPr>
          <a:xfrm>
            <a:off x="2915816" y="4573983"/>
            <a:ext cx="2040857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>
            <a:off x="2879886" y="5688021"/>
            <a:ext cx="3963746" cy="212663"/>
          </a:xfrm>
          <a:prstGeom prst="rightArrow">
            <a:avLst/>
          </a:prstGeom>
          <a:solidFill>
            <a:srgbClr val="D636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323528" y="3034628"/>
            <a:ext cx="720080" cy="3274691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  <a:endParaRPr lang="en-IN" dirty="0"/>
          </a:p>
        </p:txBody>
      </p:sp>
      <p:sp>
        <p:nvSpPr>
          <p:cNvPr id="27" name="Right Arrow 26"/>
          <p:cNvSpPr/>
          <p:nvPr/>
        </p:nvSpPr>
        <p:spPr>
          <a:xfrm>
            <a:off x="1043609" y="3396348"/>
            <a:ext cx="504056" cy="21035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ight Arrow 27"/>
          <p:cNvSpPr/>
          <p:nvPr/>
        </p:nvSpPr>
        <p:spPr>
          <a:xfrm>
            <a:off x="1043608" y="4576293"/>
            <a:ext cx="504056" cy="21035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ight Arrow 28"/>
          <p:cNvSpPr/>
          <p:nvPr/>
        </p:nvSpPr>
        <p:spPr>
          <a:xfrm>
            <a:off x="1057937" y="5670490"/>
            <a:ext cx="504056" cy="210353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Down Arrow 29"/>
          <p:cNvSpPr/>
          <p:nvPr/>
        </p:nvSpPr>
        <p:spPr>
          <a:xfrm>
            <a:off x="4224970" y="2085414"/>
            <a:ext cx="121465" cy="33871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Down Arrow 30"/>
          <p:cNvSpPr/>
          <p:nvPr/>
        </p:nvSpPr>
        <p:spPr>
          <a:xfrm>
            <a:off x="5627391" y="2066428"/>
            <a:ext cx="121465" cy="338714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Parallel 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Factors limit parallel execution</a:t>
            </a:r>
            <a:endParaRPr lang="en-IN" dirty="0"/>
          </a:p>
          <a:p>
            <a:r>
              <a:rPr lang="en-IN" dirty="0"/>
              <a:t>Scalability metrics</a:t>
            </a:r>
            <a:endParaRPr lang="en-IN" dirty="0"/>
          </a:p>
          <a:p>
            <a:r>
              <a:rPr lang="en-IN" dirty="0"/>
              <a:t>Scalability Laws:</a:t>
            </a:r>
            <a:endParaRPr lang="en-IN" dirty="0"/>
          </a:p>
          <a:p>
            <a:pPr lvl="1"/>
            <a:r>
              <a:rPr lang="en-IN" dirty="0"/>
              <a:t>Amdahl’s Law</a:t>
            </a:r>
            <a:endParaRPr lang="en-IN" dirty="0"/>
          </a:p>
          <a:p>
            <a:pPr lvl="1"/>
            <a:r>
              <a:rPr lang="en-IN" dirty="0"/>
              <a:t>Gustafson’s Law</a:t>
            </a:r>
            <a:endParaRPr lang="en-IN" dirty="0"/>
          </a:p>
          <a:p>
            <a:r>
              <a:rPr lang="en-IN" dirty="0"/>
              <a:t>Parallel efficiency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that limit parallelism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01940" y="1982625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2123728" y="1970195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2771800" y="1994530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3419872" y="1994530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sp>
        <p:nvSpPr>
          <p:cNvPr id="11" name="Rounded Rectangle 10"/>
          <p:cNvSpPr/>
          <p:nvPr/>
        </p:nvSpPr>
        <p:spPr>
          <a:xfrm>
            <a:off x="4211960" y="1994530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4932040" y="1973570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  <a:endParaRPr lang="en-IN" dirty="0"/>
          </a:p>
        </p:txBody>
      </p:sp>
      <p:sp>
        <p:nvSpPr>
          <p:cNvPr id="13" name="Rounded Rectangle 12"/>
          <p:cNvSpPr/>
          <p:nvPr/>
        </p:nvSpPr>
        <p:spPr>
          <a:xfrm>
            <a:off x="1410633" y="196770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  <a:endParaRPr lang="en-IN" b="1" dirty="0"/>
          </a:p>
        </p:txBody>
      </p:sp>
      <p:sp>
        <p:nvSpPr>
          <p:cNvPr id="14" name="Rounded Rectangle 13"/>
          <p:cNvSpPr/>
          <p:nvPr/>
        </p:nvSpPr>
        <p:spPr>
          <a:xfrm>
            <a:off x="8388424" y="1959547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12</a:t>
            </a:r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7668344" y="1970195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  <a:endParaRPr lang="en-IN" dirty="0"/>
          </a:p>
        </p:txBody>
      </p:sp>
      <p:sp>
        <p:nvSpPr>
          <p:cNvPr id="16" name="Rounded Rectangle 15"/>
          <p:cNvSpPr/>
          <p:nvPr/>
        </p:nvSpPr>
        <p:spPr>
          <a:xfrm>
            <a:off x="7020272" y="1959716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  <a:endParaRPr lang="en-IN" dirty="0"/>
          </a:p>
        </p:txBody>
      </p:sp>
      <p:sp>
        <p:nvSpPr>
          <p:cNvPr id="17" name="Rounded Rectangle 16"/>
          <p:cNvSpPr/>
          <p:nvPr/>
        </p:nvSpPr>
        <p:spPr>
          <a:xfrm>
            <a:off x="6372200" y="1982625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  <a:endParaRPr lang="en-IN" dirty="0"/>
          </a:p>
        </p:txBody>
      </p:sp>
      <p:sp>
        <p:nvSpPr>
          <p:cNvPr id="18" name="Rounded Rectangle 17"/>
          <p:cNvSpPr/>
          <p:nvPr/>
        </p:nvSpPr>
        <p:spPr>
          <a:xfrm>
            <a:off x="5652120" y="1973570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  <a:endParaRPr lang="en-IN" dirty="0"/>
          </a:p>
        </p:txBody>
      </p:sp>
      <p:sp>
        <p:nvSpPr>
          <p:cNvPr id="19" name="Right Arrow 18"/>
          <p:cNvSpPr/>
          <p:nvPr/>
        </p:nvSpPr>
        <p:spPr>
          <a:xfrm>
            <a:off x="1205996" y="2052056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1926013" y="2063961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2627784" y="2028978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>
            <a:off x="3275856" y="2037133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>
            <a:off x="3923928" y="2037133"/>
            <a:ext cx="288032" cy="234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Arrow 23"/>
          <p:cNvSpPr/>
          <p:nvPr/>
        </p:nvSpPr>
        <p:spPr>
          <a:xfrm>
            <a:off x="4682640" y="2052056"/>
            <a:ext cx="249400" cy="219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>
            <a:off x="5436096" y="2037133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6163161" y="2052056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>
            <a:off x="6876256" y="2052056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ight Arrow 27"/>
          <p:cNvSpPr/>
          <p:nvPr/>
        </p:nvSpPr>
        <p:spPr>
          <a:xfrm>
            <a:off x="7524328" y="2063961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ight Arrow 28"/>
          <p:cNvSpPr/>
          <p:nvPr/>
        </p:nvSpPr>
        <p:spPr>
          <a:xfrm>
            <a:off x="8187573" y="2037133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9"/>
          <p:cNvSpPr/>
          <p:nvPr/>
        </p:nvSpPr>
        <p:spPr>
          <a:xfrm>
            <a:off x="755576" y="2939867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31" name="Rounded Rectangle 30"/>
          <p:cNvSpPr/>
          <p:nvPr/>
        </p:nvSpPr>
        <p:spPr>
          <a:xfrm>
            <a:off x="2177364" y="2927437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32" name="Rounded Rectangle 31"/>
          <p:cNvSpPr/>
          <p:nvPr/>
        </p:nvSpPr>
        <p:spPr>
          <a:xfrm>
            <a:off x="2825436" y="295177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33" name="Rounded Rectangle 32"/>
          <p:cNvSpPr/>
          <p:nvPr/>
        </p:nvSpPr>
        <p:spPr>
          <a:xfrm>
            <a:off x="1464269" y="2924944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  <a:endParaRPr lang="en-IN" b="1" dirty="0"/>
          </a:p>
        </p:txBody>
      </p:sp>
      <p:sp>
        <p:nvSpPr>
          <p:cNvPr id="34" name="Right Arrow 33"/>
          <p:cNvSpPr/>
          <p:nvPr/>
        </p:nvSpPr>
        <p:spPr>
          <a:xfrm>
            <a:off x="1259632" y="3009298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ight Arrow 34"/>
          <p:cNvSpPr/>
          <p:nvPr/>
        </p:nvSpPr>
        <p:spPr>
          <a:xfrm>
            <a:off x="1979649" y="3021203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ight Arrow 35"/>
          <p:cNvSpPr/>
          <p:nvPr/>
        </p:nvSpPr>
        <p:spPr>
          <a:xfrm>
            <a:off x="2681420" y="2986220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ounded Rectangle 36"/>
          <p:cNvSpPr/>
          <p:nvPr/>
        </p:nvSpPr>
        <p:spPr>
          <a:xfrm>
            <a:off x="755576" y="376790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sp>
        <p:nvSpPr>
          <p:cNvPr id="38" name="Rounded Rectangle 37"/>
          <p:cNvSpPr/>
          <p:nvPr/>
        </p:nvSpPr>
        <p:spPr>
          <a:xfrm>
            <a:off x="1547664" y="376790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39" name="Rounded Rectangle 38"/>
          <p:cNvSpPr/>
          <p:nvPr/>
        </p:nvSpPr>
        <p:spPr>
          <a:xfrm>
            <a:off x="2267744" y="374694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  <a:endParaRPr lang="en-IN" dirty="0"/>
          </a:p>
        </p:txBody>
      </p:sp>
      <p:sp>
        <p:nvSpPr>
          <p:cNvPr id="40" name="Rounded Rectangle 39"/>
          <p:cNvSpPr/>
          <p:nvPr/>
        </p:nvSpPr>
        <p:spPr>
          <a:xfrm>
            <a:off x="2987824" y="374694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  <a:endParaRPr lang="en-IN" dirty="0"/>
          </a:p>
        </p:txBody>
      </p:sp>
      <p:sp>
        <p:nvSpPr>
          <p:cNvPr id="41" name="Right Arrow 40"/>
          <p:cNvSpPr/>
          <p:nvPr/>
        </p:nvSpPr>
        <p:spPr>
          <a:xfrm>
            <a:off x="1259632" y="3810505"/>
            <a:ext cx="288032" cy="234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ight Arrow 41"/>
          <p:cNvSpPr/>
          <p:nvPr/>
        </p:nvSpPr>
        <p:spPr>
          <a:xfrm>
            <a:off x="2018344" y="3825428"/>
            <a:ext cx="249400" cy="219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ight Arrow 42"/>
          <p:cNvSpPr/>
          <p:nvPr/>
        </p:nvSpPr>
        <p:spPr>
          <a:xfrm>
            <a:off x="2771800" y="3810505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ounded Rectangle 43"/>
          <p:cNvSpPr/>
          <p:nvPr/>
        </p:nvSpPr>
        <p:spPr>
          <a:xfrm>
            <a:off x="2843808" y="4464904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12</a:t>
            </a:r>
            <a:endParaRPr lang="en-IN" dirty="0"/>
          </a:p>
        </p:txBody>
      </p:sp>
      <p:sp>
        <p:nvSpPr>
          <p:cNvPr id="45" name="Rounded Rectangle 44"/>
          <p:cNvSpPr/>
          <p:nvPr/>
        </p:nvSpPr>
        <p:spPr>
          <a:xfrm>
            <a:off x="2123728" y="447555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1475656" y="4465073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  <a:endParaRPr lang="en-IN" dirty="0"/>
          </a:p>
        </p:txBody>
      </p:sp>
      <p:sp>
        <p:nvSpPr>
          <p:cNvPr id="47" name="Rounded Rectangle 46"/>
          <p:cNvSpPr/>
          <p:nvPr/>
        </p:nvSpPr>
        <p:spPr>
          <a:xfrm>
            <a:off x="827584" y="448798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  <a:endParaRPr lang="en-IN" dirty="0"/>
          </a:p>
        </p:txBody>
      </p:sp>
      <p:sp>
        <p:nvSpPr>
          <p:cNvPr id="48" name="Right Arrow 47"/>
          <p:cNvSpPr/>
          <p:nvPr/>
        </p:nvSpPr>
        <p:spPr>
          <a:xfrm>
            <a:off x="1331640" y="4557413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ight Arrow 48"/>
          <p:cNvSpPr/>
          <p:nvPr/>
        </p:nvSpPr>
        <p:spPr>
          <a:xfrm>
            <a:off x="1979712" y="4569318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ight Arrow 49"/>
          <p:cNvSpPr/>
          <p:nvPr/>
        </p:nvSpPr>
        <p:spPr>
          <a:xfrm>
            <a:off x="2642957" y="4542490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/>
          <p:cNvSpPr txBox="1"/>
          <p:nvPr/>
        </p:nvSpPr>
        <p:spPr>
          <a:xfrm>
            <a:off x="258397" y="2942306"/>
            <a:ext cx="71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W1</a:t>
            </a:r>
            <a:endParaRPr lang="en-IN" sz="2000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258505" y="3748970"/>
            <a:ext cx="71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W2</a:t>
            </a:r>
            <a:endParaRPr lang="en-IN" sz="2000" b="1" dirty="0"/>
          </a:p>
        </p:txBody>
      </p:sp>
      <p:sp>
        <p:nvSpPr>
          <p:cNvPr id="53" name="TextBox 52"/>
          <p:cNvSpPr txBox="1"/>
          <p:nvPr/>
        </p:nvSpPr>
        <p:spPr>
          <a:xfrm>
            <a:off x="251520" y="4469050"/>
            <a:ext cx="71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W3</a:t>
            </a:r>
            <a:endParaRPr lang="en-IN" sz="2000" b="1" dirty="0"/>
          </a:p>
        </p:txBody>
      </p:sp>
      <p:sp>
        <p:nvSpPr>
          <p:cNvPr id="54" name="Right Arrow 53"/>
          <p:cNvSpPr/>
          <p:nvPr/>
        </p:nvSpPr>
        <p:spPr>
          <a:xfrm>
            <a:off x="608067" y="2433293"/>
            <a:ext cx="8356421" cy="27562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/>
          <p:cNvSpPr txBox="1"/>
          <p:nvPr/>
        </p:nvSpPr>
        <p:spPr>
          <a:xfrm>
            <a:off x="7733367" y="2639966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Time</a:t>
            </a:r>
            <a:endParaRPr lang="en-IN" b="1" dirty="0"/>
          </a:p>
        </p:txBody>
      </p:sp>
      <p:sp>
        <p:nvSpPr>
          <p:cNvPr id="56" name="Right Arrow 55"/>
          <p:cNvSpPr/>
          <p:nvPr/>
        </p:nvSpPr>
        <p:spPr>
          <a:xfrm>
            <a:off x="469611" y="5235402"/>
            <a:ext cx="3202289" cy="27562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/>
          <p:cNvSpPr txBox="1"/>
          <p:nvPr/>
        </p:nvSpPr>
        <p:spPr>
          <a:xfrm>
            <a:off x="2785939" y="5504777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Time</a:t>
            </a:r>
            <a:endParaRPr lang="en-IN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4736481" y="3578778"/>
            <a:ext cx="41571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Top: </a:t>
            </a:r>
            <a:r>
              <a:rPr lang="en-IN" sz="2400" b="1" dirty="0"/>
              <a:t>Sequence of tasks that needs to be parallelized</a:t>
            </a:r>
            <a:endParaRPr lang="en-IN" sz="2400" b="1" dirty="0"/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Bottom: </a:t>
            </a:r>
            <a:r>
              <a:rPr lang="en-IN" sz="2400" b="1" dirty="0"/>
              <a:t>3 workers (W1,W2,W3) are used to parallelize the tasks  with the time reduction</a:t>
            </a:r>
            <a:endParaRPr lang="en-IN" sz="2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But it will not be true and the factor is load imbalance</a:t>
            </a:r>
            <a:endParaRPr lang="en-IN" dirty="0"/>
          </a:p>
          <a:p>
            <a:r>
              <a:rPr lang="en-IN" dirty="0"/>
              <a:t>Some of the resources will be under utilized </a:t>
            </a:r>
            <a:endParaRPr lang="en-IN" dirty="0"/>
          </a:p>
          <a:p>
            <a:r>
              <a:rPr lang="en-IN" dirty="0"/>
              <a:t>Communication between co-workers</a:t>
            </a:r>
            <a:endParaRPr lang="en-IN" dirty="0"/>
          </a:p>
          <a:p>
            <a:r>
              <a:rPr lang="en-IN" dirty="0"/>
              <a:t>Tools to be shared by the co-workers</a:t>
            </a:r>
            <a:endParaRPr lang="en-IN" dirty="0"/>
          </a:p>
          <a:p>
            <a:r>
              <a:rPr lang="en-IN" dirty="0"/>
              <a:t>These factors will add overhead which will serialize some part of parallel execution 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 imbalance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1600200"/>
            <a:ext cx="3429000" cy="4525963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Tasks will be executed by the workers at different speeds because of load imbalance</a:t>
            </a:r>
            <a:endParaRPr lang="en-IN" dirty="0"/>
          </a:p>
          <a:p>
            <a:r>
              <a:rPr lang="en-IN" dirty="0"/>
              <a:t>Regions indicate that unused regions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55576" y="2939867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lang="en-IN" dirty="0"/>
          </a:p>
        </p:txBody>
      </p:sp>
      <p:sp>
        <p:nvSpPr>
          <p:cNvPr id="8" name="Rounded Rectangle 7"/>
          <p:cNvSpPr/>
          <p:nvPr/>
        </p:nvSpPr>
        <p:spPr>
          <a:xfrm>
            <a:off x="2576169" y="2927437"/>
            <a:ext cx="857841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  <a:endParaRPr lang="en-IN" dirty="0"/>
          </a:p>
        </p:txBody>
      </p:sp>
      <p:sp>
        <p:nvSpPr>
          <p:cNvPr id="9" name="Rounded Rectangle 8"/>
          <p:cNvSpPr/>
          <p:nvPr/>
        </p:nvSpPr>
        <p:spPr>
          <a:xfrm>
            <a:off x="3669788" y="2951772"/>
            <a:ext cx="540060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1464268" y="2924944"/>
            <a:ext cx="911487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</a:t>
            </a:r>
            <a:endParaRPr lang="en-IN" b="1" dirty="0"/>
          </a:p>
        </p:txBody>
      </p:sp>
      <p:sp>
        <p:nvSpPr>
          <p:cNvPr id="11" name="Right Arrow 10"/>
          <p:cNvSpPr/>
          <p:nvPr/>
        </p:nvSpPr>
        <p:spPr>
          <a:xfrm>
            <a:off x="1259632" y="3009298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Arrow 11"/>
          <p:cNvSpPr/>
          <p:nvPr/>
        </p:nvSpPr>
        <p:spPr>
          <a:xfrm>
            <a:off x="2375756" y="2994375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3460749" y="3009298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ounded Rectangle 13"/>
          <p:cNvSpPr/>
          <p:nvPr/>
        </p:nvSpPr>
        <p:spPr>
          <a:xfrm>
            <a:off x="755576" y="376790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  <a:endParaRPr lang="en-IN" dirty="0"/>
          </a:p>
        </p:txBody>
      </p:sp>
      <p:sp>
        <p:nvSpPr>
          <p:cNvPr id="15" name="Rounded Rectangle 14"/>
          <p:cNvSpPr/>
          <p:nvPr/>
        </p:nvSpPr>
        <p:spPr>
          <a:xfrm>
            <a:off x="1547664" y="376790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lang="en-IN" dirty="0"/>
          </a:p>
        </p:txBody>
      </p:sp>
      <p:sp>
        <p:nvSpPr>
          <p:cNvPr id="16" name="Rounded Rectangle 15"/>
          <p:cNvSpPr/>
          <p:nvPr/>
        </p:nvSpPr>
        <p:spPr>
          <a:xfrm>
            <a:off x="2267744" y="3746942"/>
            <a:ext cx="890298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  <a:endParaRPr lang="en-IN" dirty="0"/>
          </a:p>
        </p:txBody>
      </p:sp>
      <p:sp>
        <p:nvSpPr>
          <p:cNvPr id="17" name="Rounded Rectangle 16"/>
          <p:cNvSpPr/>
          <p:nvPr/>
        </p:nvSpPr>
        <p:spPr>
          <a:xfrm>
            <a:off x="3384492" y="3736996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  <a:endParaRPr lang="en-IN" dirty="0"/>
          </a:p>
        </p:txBody>
      </p:sp>
      <p:sp>
        <p:nvSpPr>
          <p:cNvPr id="18" name="Right Arrow 17"/>
          <p:cNvSpPr/>
          <p:nvPr/>
        </p:nvSpPr>
        <p:spPr>
          <a:xfrm>
            <a:off x="1259632" y="3810505"/>
            <a:ext cx="288032" cy="234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ight Arrow 18"/>
          <p:cNvSpPr/>
          <p:nvPr/>
        </p:nvSpPr>
        <p:spPr>
          <a:xfrm>
            <a:off x="2018344" y="3825428"/>
            <a:ext cx="249400" cy="219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3158042" y="3802350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ounded Rectangle 20"/>
          <p:cNvSpPr/>
          <p:nvPr/>
        </p:nvSpPr>
        <p:spPr>
          <a:xfrm>
            <a:off x="3536765" y="4491722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12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2533910" y="4475552"/>
            <a:ext cx="793815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  <a:endParaRPr lang="en-IN" dirty="0"/>
          </a:p>
        </p:txBody>
      </p:sp>
      <p:sp>
        <p:nvSpPr>
          <p:cNvPr id="23" name="Rounded Rectangle 22"/>
          <p:cNvSpPr/>
          <p:nvPr/>
        </p:nvSpPr>
        <p:spPr>
          <a:xfrm>
            <a:off x="1891016" y="4510546"/>
            <a:ext cx="504056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10</a:t>
            </a:r>
            <a:endParaRPr lang="en-IN" dirty="0"/>
          </a:p>
        </p:txBody>
      </p:sp>
      <p:sp>
        <p:nvSpPr>
          <p:cNvPr id="24" name="Rounded Rectangle 23"/>
          <p:cNvSpPr/>
          <p:nvPr/>
        </p:nvSpPr>
        <p:spPr>
          <a:xfrm>
            <a:off x="827583" y="4487982"/>
            <a:ext cx="854393" cy="381178"/>
          </a:xfrm>
          <a:prstGeom prst="roundRect">
            <a:avLst/>
          </a:prstGeom>
          <a:solidFill>
            <a:srgbClr val="D6367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</a:t>
            </a:r>
            <a:endParaRPr lang="en-IN" dirty="0"/>
          </a:p>
        </p:txBody>
      </p:sp>
      <p:sp>
        <p:nvSpPr>
          <p:cNvPr id="25" name="Right Arrow 24"/>
          <p:cNvSpPr/>
          <p:nvPr/>
        </p:nvSpPr>
        <p:spPr>
          <a:xfrm>
            <a:off x="1681977" y="4594721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2381804" y="4569318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>
            <a:off x="3327726" y="4569853"/>
            <a:ext cx="209039" cy="2423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258397" y="2942306"/>
            <a:ext cx="71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W1</a:t>
            </a:r>
            <a:endParaRPr lang="en-IN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58505" y="3748970"/>
            <a:ext cx="71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W2</a:t>
            </a:r>
            <a:endParaRPr lang="en-IN" sz="2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251520" y="4469050"/>
            <a:ext cx="713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W3</a:t>
            </a:r>
            <a:endParaRPr lang="en-IN" sz="2000" b="1" dirty="0"/>
          </a:p>
        </p:txBody>
      </p:sp>
      <p:sp>
        <p:nvSpPr>
          <p:cNvPr id="31" name="Right Arrow 30"/>
          <p:cNvSpPr/>
          <p:nvPr/>
        </p:nvSpPr>
        <p:spPr>
          <a:xfrm>
            <a:off x="469611" y="5235402"/>
            <a:ext cx="4318413" cy="26937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/>
          <p:cNvSpPr txBox="1"/>
          <p:nvPr/>
        </p:nvSpPr>
        <p:spPr>
          <a:xfrm>
            <a:off x="3877329" y="5504777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Time</a:t>
            </a:r>
            <a:endParaRPr lang="en-IN" b="1" dirty="0"/>
          </a:p>
        </p:txBody>
      </p:sp>
      <p:sp>
        <p:nvSpPr>
          <p:cNvPr id="33" name="Rectangle 32"/>
          <p:cNvSpPr/>
          <p:nvPr/>
        </p:nvSpPr>
        <p:spPr>
          <a:xfrm>
            <a:off x="3921816" y="3632678"/>
            <a:ext cx="288032" cy="516402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/>
          <p:cNvSpPr/>
          <p:nvPr/>
        </p:nvSpPr>
        <p:spPr>
          <a:xfrm>
            <a:off x="4067944" y="4424110"/>
            <a:ext cx="144016" cy="516402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4225993" y="2963378"/>
            <a:ext cx="0" cy="197713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Scalability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Algorithmic limitations because of mutual dependencies</a:t>
            </a:r>
            <a:endParaRPr lang="en-IN" dirty="0"/>
          </a:p>
          <a:p>
            <a:r>
              <a:rPr lang="en-IN" dirty="0"/>
              <a:t>Bottlenecks because of shared resources</a:t>
            </a:r>
            <a:endParaRPr lang="en-IN" dirty="0"/>
          </a:p>
          <a:p>
            <a:r>
              <a:rPr lang="en-IN" dirty="0" err="1"/>
              <a:t>Startup</a:t>
            </a:r>
            <a:r>
              <a:rPr lang="en-IN" dirty="0"/>
              <a:t> Overhead</a:t>
            </a:r>
            <a:endParaRPr lang="en-IN" dirty="0"/>
          </a:p>
          <a:p>
            <a:r>
              <a:rPr lang="en-IN" dirty="0"/>
              <a:t>Communication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Run-time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IN" sz="3200" dirty="0"/>
                  <a:t>For fixed problem to be solved by N workers,</a:t>
                </a:r>
                <a:endParaRPr lang="en-IN" sz="3200" dirty="0"/>
              </a:p>
              <a:p>
                <a:r>
                  <a:rPr lang="en-IN" sz="3200" dirty="0"/>
                  <a:t>The single worker run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IN" sz="32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IN" sz="3200" i="1">
                        <a:latin typeface="Cambria Math"/>
                      </a:rPr>
                      <m:t>=</m:t>
                    </m:r>
                    <m:r>
                      <a:rPr lang="en-IN" sz="3200" i="1">
                        <a:latin typeface="Cambria Math"/>
                      </a:rPr>
                      <m:t>𝑆</m:t>
                    </m:r>
                    <m:r>
                      <a:rPr lang="en-IN" sz="3200" i="1">
                        <a:latin typeface="Cambria Math"/>
                      </a:rPr>
                      <m:t>+</m:t>
                    </m:r>
                    <m:r>
                      <a:rPr lang="en-IN" sz="3200" i="1">
                        <a:latin typeface="Cambria Math"/>
                      </a:rPr>
                      <m:t>𝑃</m:t>
                    </m:r>
                  </m:oMath>
                </a14:m>
                <a:endParaRPr lang="en-IN" sz="3200" dirty="0"/>
              </a:p>
              <a:p>
                <a:r>
                  <a:rPr lang="en-IN" sz="3200" dirty="0"/>
                  <a:t>The N-workers run time,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IN" sz="3200" i="1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IN" sz="3200" i="1">
                        <a:latin typeface="Cambria Math"/>
                      </a:rPr>
                      <m:t>=</m:t>
                    </m:r>
                    <m:r>
                      <a:rPr lang="en-IN" sz="3200" i="1">
                        <a:latin typeface="Cambria Math"/>
                      </a:rPr>
                      <m:t>𝑆</m:t>
                    </m:r>
                    <m:r>
                      <a:rPr lang="en-IN" sz="3200" i="1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200" i="1">
                            <a:latin typeface="Cambria Math"/>
                          </a:rPr>
                          <m:t>𝑃</m:t>
                        </m:r>
                      </m:num>
                      <m:den>
                        <m:r>
                          <a:rPr lang="en-IN" sz="3200" i="1"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endParaRPr lang="en-IN" sz="3200" dirty="0"/>
              </a:p>
              <a:p>
                <a:r>
                  <a:rPr lang="en-IN" sz="3200" dirty="0"/>
                  <a:t>Where </a:t>
                </a:r>
                <a:r>
                  <a:rPr lang="en-IN" sz="3200" i="1" dirty="0"/>
                  <a:t>S</a:t>
                </a:r>
                <a:r>
                  <a:rPr lang="en-IN" sz="3200" dirty="0"/>
                  <a:t> is amount of work can be serialized and </a:t>
                </a:r>
                <a:r>
                  <a:rPr lang="en-IN" sz="3200" i="1" dirty="0"/>
                  <a:t>P</a:t>
                </a:r>
                <a:r>
                  <a:rPr lang="en-IN" sz="3200" dirty="0"/>
                  <a:t> is amount of work that can be parallelized</a:t>
                </a:r>
                <a:endParaRPr lang="en-IN" sz="3200" dirty="0"/>
              </a:p>
              <a:p>
                <a:endParaRPr lang="en-IN" sz="3200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-215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Scalability Laws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Application speed up is defined as quotient of parallel and serial performance for fixed problem size</a:t>
                </a:r>
                <a:endParaRPr lang="en-IN" dirty="0"/>
              </a:p>
              <a:p>
                <a:r>
                  <a:rPr lang="en-IN" dirty="0"/>
                  <a:t>Performance can be defined as “work done over time”</a:t>
                </a:r>
                <a:endParaRPr lang="en-IN" dirty="0"/>
              </a:p>
              <a:p>
                <a:r>
                  <a:rPr lang="en-IN" dirty="0"/>
                  <a:t>Serial Performance,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IN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𝑆</m:t>
                            </m:r>
                            <m:r>
                              <a:rPr lang="en-IN" i="1">
                                <a:latin typeface="Cambria Math"/>
                              </a:rPr>
                              <m:t>+</m:t>
                            </m:r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</m:e>
                      <m:sub>
                        <m:r>
                          <a:rPr lang="en-IN" i="1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 = 1</a:t>
                </a:r>
                <a:endParaRPr lang="en-IN" dirty="0"/>
              </a:p>
              <a:p>
                <a:r>
                  <a:rPr lang="en-IN" dirty="0"/>
                  <a:t>Parallel Performance,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sub>
                        </m:sSub>
                        <m:r>
                          <a:rPr lang="en-IN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𝑆</m:t>
                            </m:r>
                            <m:r>
                              <a:rPr lang="en-IN" i="1">
                                <a:latin typeface="Cambria Math"/>
                              </a:rPr>
                              <m:t>+</m:t>
                            </m:r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 (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)</m:t>
                                </m:r>
                              </m:sub>
                            </m:sSub>
                          </m:den>
                        </m:f>
                        <m:r>
                          <a:rPr lang="en-IN" i="1">
                            <a:latin typeface="Cambria Math"/>
                          </a:rPr>
                          <m:t>= 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  <m:r>
                              <a:rPr lang="en-IN" i="1">
                                <a:latin typeface="Cambria Math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/>
                                  </a:rPr>
                                  <m:t>𝑁</m:t>
                                </m:r>
                              </m:den>
                            </m:f>
                          </m:den>
                        </m:f>
                      </m:e>
                      <m:sub>
                        <m:r>
                          <a:rPr lang="en-IN" i="1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endParaRPr lang="en-I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687" b="-107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Amdahl’s Law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IN" dirty="0"/>
                  <a:t>Gene Amdahl, application speed up is limited to 1/s when N tends to infinite</a:t>
                </a:r>
                <a:endParaRPr lang="en-IN" dirty="0"/>
              </a:p>
              <a:p>
                <a:r>
                  <a:rPr lang="en-IN" dirty="0"/>
                  <a:t>“What is the improvement in runtime of an application run when the problem is put on </a:t>
                </a:r>
                <a:r>
                  <a:rPr lang="en-IN" i="1" dirty="0"/>
                  <a:t>N </a:t>
                </a:r>
                <a:r>
                  <a:rPr lang="en-IN" dirty="0"/>
                  <a:t>CPUs?”</a:t>
                </a:r>
                <a:endParaRPr lang="en-IN" dirty="0"/>
              </a:p>
              <a:p>
                <a:r>
                  <a:rPr lang="en-IN" dirty="0"/>
                  <a:t>Serial performance,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IN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den>
                        </m:f>
                        <m:r>
                          <a:rPr lang="en-IN" i="1">
                            <a:latin typeface="Cambria Math"/>
                          </a:rPr>
                          <m:t>=</m:t>
                        </m:r>
                        <m:r>
                          <a:rPr lang="en-IN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Parallel Performance,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sub>
                        </m:sSub>
                        <m:r>
                          <a:rPr lang="en-IN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 (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𝑁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)</m:t>
                                </m:r>
                              </m:sub>
                            </m:sSub>
                          </m:den>
                        </m:f>
                        <m:r>
                          <a:rPr lang="en-IN" i="1">
                            <a:latin typeface="Cambria Math"/>
                          </a:rPr>
                          <m:t>= 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1</m:t>
                            </m:r>
                            <m:r>
                              <a:rPr lang="en-IN" i="1">
                                <a:latin typeface="Cambria Math"/>
                              </a:rPr>
                              <m:t>−</m:t>
                            </m:r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</m:num>
                          <m:den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  <m:r>
                              <a:rPr lang="en-IN" i="1">
                                <a:latin typeface="Cambria Math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/>
                                  </a:rPr>
                                  <m:t>𝑁</m:t>
                                </m:r>
                              </m:den>
                            </m:f>
                          </m:den>
                        </m:f>
                      </m:e>
                      <m:sub>
                        <m:r>
                          <a:rPr lang="en-IN" i="1">
                            <a:latin typeface="Cambria Math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endParaRPr lang="en-IN" dirty="0"/>
              </a:p>
              <a:p>
                <a:r>
                  <a:rPr lang="en-IN" dirty="0"/>
                  <a:t>Speed up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den>
                    </m:f>
                    <m:r>
                      <a:rPr lang="en-IN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/>
                          </a:rPr>
                          <m:t>𝑠</m:t>
                        </m:r>
                        <m:r>
                          <a:rPr lang="en-IN" i="1">
                            <a:latin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/>
                              </a:rPr>
                              <m:t>1</m:t>
                            </m:r>
                            <m:r>
                              <a:rPr lang="en-IN" i="1">
                                <a:latin typeface="Cambria Math"/>
                              </a:rPr>
                              <m:t>−</m:t>
                            </m:r>
                            <m:r>
                              <a:rPr lang="en-IN" i="1">
                                <a:latin typeface="Cambria Math"/>
                              </a:rPr>
                              <m:t>𝑠</m:t>
                            </m:r>
                          </m:num>
                          <m:den>
                            <m:r>
                              <a:rPr lang="en-IN" i="1">
                                <a:latin typeface="Cambria Math"/>
                              </a:rPr>
                              <m:t>𝑁</m:t>
                            </m:r>
                          </m:den>
                        </m:f>
                      </m:den>
                    </m:f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393" b="-362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Bob is given the job to write a program that will get a speedup of 3.8 on 4 processors. </a:t>
            </a:r>
            <a:endParaRPr lang="en-IN" dirty="0"/>
          </a:p>
          <a:p>
            <a:r>
              <a:rPr lang="en-IN" dirty="0"/>
              <a:t>He makes it 95% parallel, and goes home dreaming of a big pay raise. </a:t>
            </a:r>
            <a:endParaRPr lang="en-IN" dirty="0"/>
          </a:p>
          <a:p>
            <a:r>
              <a:rPr lang="en-IN" dirty="0"/>
              <a:t>Using Amdahl’s law, and assuming the problem size is the same as the serial version, and ignoring communication costs, what speedup will Bob actually get?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Gustafson’s Law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dirty="0"/>
                  <a:t>“How much more work can my program do in a given amount of time when I put a larger problem on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𝑝</m:t>
                    </m:r>
                    <m:r>
                      <a:rPr lang="en-IN" i="1">
                        <a:latin typeface="Cambria Math"/>
                      </a:rPr>
                      <m:t> </m:t>
                    </m:r>
                  </m:oMath>
                </a14:m>
                <a:r>
                  <a:rPr lang="en-IN" dirty="0"/>
                  <a:t>CPUs?”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𝑆</m:t>
                    </m:r>
                    <m:r>
                      <a:rPr lang="en-IN" i="1">
                        <a:latin typeface="Cambria Math"/>
                      </a:rPr>
                      <m:t>=</m:t>
                    </m:r>
                    <m:r>
                      <a:rPr lang="en-IN" i="1">
                        <a:latin typeface="Cambria Math"/>
                      </a:rPr>
                      <m:t>𝑝</m:t>
                    </m:r>
                    <m:r>
                      <a:rPr lang="en-IN" i="1">
                        <a:latin typeface="Cambria Math"/>
                      </a:rPr>
                      <m:t>−</m:t>
                    </m:r>
                    <m:r>
                      <a:rPr lang="en-IN" i="1">
                        <a:latin typeface="Cambria Math"/>
                      </a:rPr>
                      <m:t>𝑎</m:t>
                    </m:r>
                    <m:r>
                      <a:rPr lang="en-IN" i="1">
                        <a:latin typeface="Cambria Math"/>
                      </a:rPr>
                      <m:t> (</m:t>
                    </m:r>
                    <m:r>
                      <a:rPr lang="en-IN" i="1">
                        <a:latin typeface="Cambria Math"/>
                      </a:rPr>
                      <m:t>𝑝</m:t>
                    </m:r>
                    <m:r>
                      <a:rPr lang="en-IN" i="1">
                        <a:latin typeface="Cambria Math"/>
                      </a:rPr>
                      <m:t>−</m:t>
                    </m:r>
                    <m:r>
                      <a:rPr lang="en-IN" i="1">
                        <a:latin typeface="Cambria Math"/>
                      </a:rPr>
                      <m:t>1</m:t>
                    </m:r>
                    <m:r>
                      <a:rPr lang="en-IN" i="1">
                        <a:latin typeface="Cambria Math"/>
                      </a:rPr>
                      <m:t>)</m:t>
                    </m:r>
                  </m:oMath>
                </a14:m>
                <a:endParaRPr lang="pt-BR" i="1" dirty="0"/>
              </a:p>
              <a:p>
                <a:r>
                  <a:rPr lang="pt-BR" dirty="0"/>
                  <a:t>Where</a:t>
                </a:r>
                <a:r>
                  <a:rPr lang="pt-BR" i="1" dirty="0"/>
                  <a:t> </a:t>
                </a:r>
                <a:r>
                  <a:rPr lang="pt-BR" dirty="0"/>
                  <a:t>0 &lt;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/>
                      </a:rPr>
                      <m:t>𝑎</m:t>
                    </m:r>
                    <m:r>
                      <a:rPr lang="en-IN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&lt; 1, </a:t>
                </a:r>
                <a14:m>
                  <m:oMath xmlns:m="http://schemas.openxmlformats.org/officeDocument/2006/math">
                    <m:r>
                      <a:rPr lang="en-IN">
                        <a:latin typeface="Cambria Math"/>
                      </a:rPr>
                      <m:t>𝑎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is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the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portion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of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work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that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can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be</m:t>
                    </m:r>
                    <m:r>
                      <a:rPr lang="en-IN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IN">
                        <a:latin typeface="Cambria Math"/>
                      </a:rPr>
                      <m:t>serialized</m:t>
                    </m:r>
                    <m:r>
                      <a:rPr lang="en-IN">
                        <a:latin typeface="Cambria Math"/>
                      </a:rPr>
                      <m:t>,  </m:t>
                    </m:r>
                    <m:r>
                      <a:rPr lang="en-IN">
                        <a:latin typeface="Cambria Math"/>
                      </a:rPr>
                      <m:t>𝑝</m:t>
                    </m:r>
                  </m:oMath>
                </a14:m>
                <a:r>
                  <a:rPr lang="pt-BR" dirty="0"/>
                  <a:t> is number of workers, </a:t>
                </a:r>
                <a:endParaRPr lang="en-I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547" r="-24884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Parallel Efficiency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/>
                      </a:rPr>
                      <m:t>𝐸</m:t>
                    </m:r>
                    <m:r>
                      <a:rPr lang="en-IN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/>
                          </a:rPr>
                          <m:t>𝑃𝑒𝑟𝑓𝑜𝑟𝑚𝑎𝑛𝑐𝑒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𝑜𝑛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𝑁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𝐶𝑃𝑈𝑠</m:t>
                        </m:r>
                      </m:num>
                      <m:den>
                        <m:r>
                          <a:rPr lang="en-IN" i="1">
                            <a:latin typeface="Cambria Math"/>
                          </a:rPr>
                          <m:t>𝑁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𝑥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𝑃𝑒𝑟𝑓𝑜𝑟𝑚𝑎𝑛𝑐𝑒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𝑜𝑛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𝑜𝑛𝑒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𝐶𝑃𝑈</m:t>
                        </m:r>
                      </m:den>
                    </m:f>
                    <m:r>
                      <a:rPr lang="en-IN" i="1"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/>
                          </a:rPr>
                          <m:t>𝑆𝑝𝑒𝑒𝑑</m:t>
                        </m:r>
                        <m:r>
                          <a:rPr lang="en-IN" i="1">
                            <a:latin typeface="Cambria Math"/>
                          </a:rPr>
                          <m:t> </m:t>
                        </m:r>
                        <m:r>
                          <a:rPr lang="en-IN" i="1">
                            <a:latin typeface="Cambria Math"/>
                          </a:rPr>
                          <m:t>𝑈𝑝</m:t>
                        </m:r>
                      </m:num>
                      <m:den>
                        <m:r>
                          <a:rPr lang="en-IN" i="1"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Multi-core Processors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Cores on a die can have separate caches or shared caches at certain levels</a:t>
            </a:r>
            <a:endParaRPr lang="en-IN" dirty="0"/>
          </a:p>
          <a:p>
            <a:r>
              <a:rPr lang="en-IN" dirty="0"/>
              <a:t>Sharing cache will reduce latency and improve bandwidth for communication between core</a:t>
            </a:r>
            <a:endParaRPr lang="en-IN" dirty="0"/>
          </a:p>
          <a:p>
            <a:r>
              <a:rPr lang="en-IN" dirty="0"/>
              <a:t>But it may lead to cache bandwidth bottlenecks</a:t>
            </a:r>
            <a:endParaRPr lang="en-IN" dirty="0"/>
          </a:p>
          <a:p>
            <a:r>
              <a:rPr lang="en-IN" dirty="0"/>
              <a:t>Recent multicore designs have integrated memory controller which is connected directly to memory modules without chipset</a:t>
            </a:r>
            <a:endParaRPr lang="en-IN" dirty="0"/>
          </a:p>
          <a:p>
            <a:r>
              <a:rPr lang="en-IN" dirty="0"/>
              <a:t>This reduce main memory latency and allows addition of Hyper Transport or Quick Path inter-socket networks</a:t>
            </a:r>
            <a:endParaRPr lang="en-IN" dirty="0"/>
          </a:p>
          <a:p>
            <a:r>
              <a:rPr lang="en-IN" dirty="0"/>
              <a:t>Efficient cache coherence communication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Dual core 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25963"/>
          </a:xfrm>
        </p:spPr>
        <p:txBody>
          <a:bodyPr/>
          <a:lstStyle/>
          <a:p>
            <a:r>
              <a:rPr lang="en-IN" dirty="0"/>
              <a:t>Separate L1, L2, and L3 </a:t>
            </a:r>
            <a:r>
              <a:rPr lang="en-IN" dirty="0" err="1"/>
              <a:t>Cahes</a:t>
            </a:r>
            <a:endParaRPr lang="en-IN" dirty="0"/>
          </a:p>
          <a:p>
            <a:r>
              <a:rPr lang="en-IN" dirty="0"/>
              <a:t>Intel </a:t>
            </a:r>
            <a:r>
              <a:rPr lang="en-IN" dirty="0" err="1"/>
              <a:t>Monticeto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89376" y="1687724"/>
            <a:ext cx="3816424" cy="3811252"/>
          </a:xfrm>
          <a:prstGeom prst="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705400" y="1958438"/>
            <a:ext cx="1440160" cy="2986608"/>
            <a:chOff x="3851920" y="1628800"/>
            <a:chExt cx="1440160" cy="2986608"/>
          </a:xfrm>
        </p:grpSpPr>
        <p:sp>
          <p:nvSpPr>
            <p:cNvPr id="9" name="Rectangle 8"/>
            <p:cNvSpPr/>
            <p:nvPr/>
          </p:nvSpPr>
          <p:spPr>
            <a:xfrm>
              <a:off x="3851920" y="1628800"/>
              <a:ext cx="1440160" cy="144016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b="1" dirty="0"/>
                <a:t>P</a:t>
              </a:r>
              <a:endParaRPr lang="en-IN" sz="44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51920" y="3034680"/>
              <a:ext cx="1440160" cy="538336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L1D</a:t>
              </a:r>
              <a:endParaRPr lang="en-IN" b="1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51920" y="3573016"/>
              <a:ext cx="1440160" cy="538336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L2</a:t>
              </a:r>
              <a:endParaRPr lang="en-IN" b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51920" y="4077072"/>
              <a:ext cx="1440160" cy="538336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L3</a:t>
              </a:r>
              <a:endParaRPr lang="en-IN" b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613612" y="1970584"/>
            <a:ext cx="1440160" cy="2986608"/>
            <a:chOff x="3851920" y="1628800"/>
            <a:chExt cx="1440160" cy="2986608"/>
          </a:xfrm>
        </p:grpSpPr>
        <p:sp>
          <p:nvSpPr>
            <p:cNvPr id="14" name="Rectangle 13"/>
            <p:cNvSpPr/>
            <p:nvPr/>
          </p:nvSpPr>
          <p:spPr>
            <a:xfrm>
              <a:off x="3851920" y="1628800"/>
              <a:ext cx="1440160" cy="144016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400" b="1" dirty="0"/>
                <a:t>P</a:t>
              </a:r>
              <a:endParaRPr lang="en-IN" sz="44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851920" y="3034680"/>
              <a:ext cx="1440160" cy="538336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L1D</a:t>
              </a:r>
              <a:endParaRPr lang="en-IN" b="1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851920" y="3573016"/>
              <a:ext cx="1440160" cy="538336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L2</a:t>
              </a:r>
              <a:endParaRPr lang="en-IN" b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851920" y="4077072"/>
              <a:ext cx="1440160" cy="538336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L3</a:t>
              </a:r>
              <a:endParaRPr lang="en-IN" b="1" dirty="0"/>
            </a:p>
          </p:txBody>
        </p:sp>
      </p:grpSp>
      <p:cxnSp>
        <p:nvCxnSpPr>
          <p:cNvPr id="18" name="Elbow Connector 17"/>
          <p:cNvCxnSpPr>
            <a:endCxn id="17" idx="2"/>
          </p:cNvCxnSpPr>
          <p:nvPr/>
        </p:nvCxnSpPr>
        <p:spPr>
          <a:xfrm>
            <a:off x="5425480" y="4945046"/>
            <a:ext cx="1908212" cy="12146"/>
          </a:xfrm>
          <a:prstGeom prst="bentConnector4">
            <a:avLst>
              <a:gd name="adj1" fmla="val -2266"/>
              <a:gd name="adj2" fmla="val 1982101"/>
            </a:avLst>
          </a:prstGeom>
          <a:ln w="539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79586" y="5210944"/>
            <a:ext cx="0" cy="5040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Quad Core 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>
            <a:normAutofit fontScale="92500"/>
          </a:bodyPr>
          <a:lstStyle/>
          <a:p>
            <a:r>
              <a:rPr lang="en-IN" dirty="0"/>
              <a:t>Two Dual core processors with Shared L1, Separate L2 (Intel </a:t>
            </a:r>
            <a:r>
              <a:rPr lang="en-IN" dirty="0" err="1"/>
              <a:t>Harpertown</a:t>
            </a:r>
            <a:r>
              <a:rPr lang="en-IN" dirty="0"/>
              <a:t>)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124200" y="2971800"/>
            <a:ext cx="5562808" cy="3258854"/>
            <a:chOff x="215962" y="1538298"/>
            <a:chExt cx="6588286" cy="4266966"/>
          </a:xfrm>
        </p:grpSpPr>
        <p:sp>
          <p:nvSpPr>
            <p:cNvPr id="8" name="Rectangle 7"/>
            <p:cNvSpPr/>
            <p:nvPr/>
          </p:nvSpPr>
          <p:spPr>
            <a:xfrm>
              <a:off x="215962" y="1538298"/>
              <a:ext cx="6588286" cy="3811252"/>
            </a:xfrm>
            <a:prstGeom prst="rect">
              <a:avLst/>
            </a:prstGeom>
            <a:solidFill>
              <a:schemeClr val="bg1"/>
            </a:solidFill>
            <a:ln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76924" y="1844824"/>
              <a:ext cx="6204520" cy="3960440"/>
              <a:chOff x="1115616" y="1988840"/>
              <a:chExt cx="6204520" cy="396044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115616" y="1992288"/>
                <a:ext cx="1440160" cy="1944216"/>
                <a:chOff x="3851920" y="1628800"/>
                <a:chExt cx="1440160" cy="1944216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3851920" y="1628800"/>
                  <a:ext cx="1440160" cy="1440160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400" b="1" dirty="0"/>
                    <a:t>P</a:t>
                  </a:r>
                  <a:endParaRPr lang="en-IN" sz="4400" b="1" dirty="0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3851920" y="3034680"/>
                  <a:ext cx="1440160" cy="53833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L1D</a:t>
                  </a:r>
                  <a:endParaRPr lang="en-IN" b="1" dirty="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1127448" y="1988840"/>
                <a:ext cx="6192688" cy="3960440"/>
                <a:chOff x="1115616" y="1988840"/>
                <a:chExt cx="6192688" cy="3960440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1115616" y="1988840"/>
                  <a:ext cx="2880320" cy="2482552"/>
                  <a:chOff x="2411760" y="1628800"/>
                  <a:chExt cx="2880320" cy="2482552"/>
                </a:xfrm>
              </p:grpSpPr>
              <p:sp>
                <p:nvSpPr>
                  <p:cNvPr id="23" name="Rectangle 22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4" name="Rectangle 23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2411760" y="3573016"/>
                    <a:ext cx="288032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4427984" y="1988840"/>
                  <a:ext cx="1440160" cy="1944216"/>
                  <a:chOff x="3851920" y="1628800"/>
                  <a:chExt cx="1440160" cy="1944216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2" name="Rectangle 21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4427984" y="1988840"/>
                  <a:ext cx="2880320" cy="2482552"/>
                  <a:chOff x="2411760" y="1628800"/>
                  <a:chExt cx="2880320" cy="248255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>
                    <a:off x="2411760" y="3573016"/>
                    <a:ext cx="288032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  <p:cxnSp>
              <p:nvCxnSpPr>
                <p:cNvPr id="15" name="Elbow Connector 14"/>
                <p:cNvCxnSpPr/>
                <p:nvPr/>
              </p:nvCxnSpPr>
              <p:spPr>
                <a:xfrm>
                  <a:off x="2522775" y="4471392"/>
                  <a:ext cx="1473161" cy="689494"/>
                </a:xfrm>
                <a:prstGeom prst="bentConnector3">
                  <a:avLst>
                    <a:gd name="adj1" fmla="val -1725"/>
                  </a:avLst>
                </a:prstGeom>
                <a:ln w="571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Elbow Connector 15"/>
                <p:cNvCxnSpPr>
                  <a:stCxn id="20" idx="2"/>
                </p:cNvCxnSpPr>
                <p:nvPr/>
              </p:nvCxnSpPr>
              <p:spPr>
                <a:xfrm rot="5400000">
                  <a:off x="4587294" y="3880036"/>
                  <a:ext cx="689494" cy="1872206"/>
                </a:xfrm>
                <a:prstGeom prst="bentConnector2">
                  <a:avLst/>
                </a:prstGeom>
                <a:ln w="571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>
                  <a:off x="4283968" y="5160886"/>
                  <a:ext cx="0" cy="788394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Hexa</a:t>
            </a:r>
            <a:r>
              <a:rPr lang="en-IN" dirty="0"/>
              <a:t> core 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Shared L2, separate L3</a:t>
            </a:r>
            <a:endParaRPr lang="en-IN" dirty="0"/>
          </a:p>
          <a:p>
            <a:r>
              <a:rPr lang="en-IN" dirty="0"/>
              <a:t>L2 groups are dual cores and L3 group is whole chip</a:t>
            </a:r>
            <a:endParaRPr lang="en-IN" dirty="0"/>
          </a:p>
          <a:p>
            <a:r>
              <a:rPr lang="en-IN" dirty="0"/>
              <a:t>Intel </a:t>
            </a:r>
            <a:r>
              <a:rPr lang="en-IN" dirty="0" err="1"/>
              <a:t>Dunnigton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733800" y="1886437"/>
            <a:ext cx="5136263" cy="3904763"/>
            <a:chOff x="2913911" y="2703643"/>
            <a:chExt cx="5886431" cy="4298960"/>
          </a:xfrm>
        </p:grpSpPr>
        <p:sp>
          <p:nvSpPr>
            <p:cNvPr id="8" name="Rectangle 7"/>
            <p:cNvSpPr/>
            <p:nvPr/>
          </p:nvSpPr>
          <p:spPr>
            <a:xfrm>
              <a:off x="2913911" y="2703643"/>
              <a:ext cx="5886431" cy="3811252"/>
            </a:xfrm>
            <a:prstGeom prst="rect">
              <a:avLst/>
            </a:prstGeom>
            <a:solidFill>
              <a:schemeClr val="bg1"/>
            </a:solidFill>
            <a:ln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399973" y="3060267"/>
              <a:ext cx="5328592" cy="3153942"/>
              <a:chOff x="611560" y="2233828"/>
              <a:chExt cx="4680520" cy="28425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267744" y="2233828"/>
                <a:ext cx="720080" cy="1850465"/>
                <a:chOff x="3851920" y="1628800"/>
                <a:chExt cx="1440160" cy="1944216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3851920" y="1628800"/>
                  <a:ext cx="1440160" cy="1440160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400" b="1" dirty="0"/>
                    <a:t>P</a:t>
                  </a:r>
                  <a:endParaRPr lang="en-IN" sz="4400" b="1" dirty="0"/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3851920" y="3034680"/>
                  <a:ext cx="1440160" cy="53833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L1D</a:t>
                  </a:r>
                  <a:endParaRPr lang="en-IN" b="1" dirty="0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3851920" y="2233828"/>
                <a:ext cx="720080" cy="1850465"/>
                <a:chOff x="3851920" y="1628800"/>
                <a:chExt cx="1440160" cy="1944216"/>
              </a:xfrm>
            </p:grpSpPr>
            <p:sp>
              <p:nvSpPr>
                <p:cNvPr id="30" name="Rectangle 29"/>
                <p:cNvSpPr/>
                <p:nvPr/>
              </p:nvSpPr>
              <p:spPr>
                <a:xfrm>
                  <a:off x="3851920" y="1628800"/>
                  <a:ext cx="1440160" cy="1440160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400" b="1" dirty="0"/>
                    <a:t>P</a:t>
                  </a:r>
                  <a:endParaRPr lang="en-IN" sz="4400" b="1" dirty="0"/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3851920" y="3034680"/>
                  <a:ext cx="1440160" cy="53833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L1D</a:t>
                  </a:r>
                  <a:endParaRPr lang="en-IN" b="1" dirty="0"/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611560" y="2233828"/>
                <a:ext cx="4680520" cy="2842592"/>
                <a:chOff x="611560" y="2233828"/>
                <a:chExt cx="4680520" cy="2842592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611560" y="2233828"/>
                  <a:ext cx="4680520" cy="2842592"/>
                  <a:chOff x="3851920" y="1628800"/>
                  <a:chExt cx="9361040" cy="2986608"/>
                </a:xfrm>
              </p:grpSpPr>
              <p:sp>
                <p:nvSpPr>
                  <p:cNvPr id="27" name="Rectangle 26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>
                  <a:xfrm>
                    <a:off x="3851920" y="4077072"/>
                    <a:ext cx="936104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L3</a:t>
                    </a:r>
                    <a:endParaRPr lang="en-IN" b="1" dirty="0"/>
                  </a:p>
                </p:txBody>
              </p: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611560" y="2233828"/>
                  <a:ext cx="1440160" cy="2362842"/>
                  <a:chOff x="2411760" y="1628800"/>
                  <a:chExt cx="2880320" cy="2482552"/>
                </a:xfrm>
              </p:grpSpPr>
              <p:sp>
                <p:nvSpPr>
                  <p:cNvPr id="24" name="Rectangle 23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6" name="Rectangle 25"/>
                  <p:cNvSpPr/>
                  <p:nvPr/>
                </p:nvSpPr>
                <p:spPr>
                  <a:xfrm>
                    <a:off x="2411760" y="3573016"/>
                    <a:ext cx="288032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  <p:grpSp>
              <p:nvGrpSpPr>
                <p:cNvPr id="16" name="Group 15"/>
                <p:cNvGrpSpPr/>
                <p:nvPr/>
              </p:nvGrpSpPr>
              <p:grpSpPr>
                <a:xfrm>
                  <a:off x="2267744" y="2233828"/>
                  <a:ext cx="1440160" cy="2362842"/>
                  <a:chOff x="2411760" y="1628800"/>
                  <a:chExt cx="2880320" cy="2482552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2" name="Rectangle 21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>
                    <a:off x="2411760" y="3573016"/>
                    <a:ext cx="288032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  <p:grpSp>
              <p:nvGrpSpPr>
                <p:cNvPr id="17" name="Group 16"/>
                <p:cNvGrpSpPr/>
                <p:nvPr/>
              </p:nvGrpSpPr>
              <p:grpSpPr>
                <a:xfrm>
                  <a:off x="3851920" y="2233828"/>
                  <a:ext cx="1440160" cy="2362842"/>
                  <a:chOff x="2411760" y="1628800"/>
                  <a:chExt cx="2880320" cy="2482552"/>
                </a:xfrm>
              </p:grpSpPr>
              <p:sp>
                <p:nvSpPr>
                  <p:cNvPr id="18" name="Rectangle 17"/>
                  <p:cNvSpPr/>
                  <p:nvPr/>
                </p:nvSpPr>
                <p:spPr>
                  <a:xfrm>
                    <a:off x="3851920" y="1628800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3851920" y="3034680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>
                    <a:off x="2411760" y="3573016"/>
                    <a:ext cx="288032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</p:grpSp>
        </p:grpSp>
        <p:cxnSp>
          <p:nvCxnSpPr>
            <p:cNvPr id="10" name="Straight Connector 9"/>
            <p:cNvCxnSpPr/>
            <p:nvPr/>
          </p:nvCxnSpPr>
          <p:spPr>
            <a:xfrm>
              <a:off x="6159460" y="6214209"/>
              <a:ext cx="0" cy="7883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Quad Core 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876800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Separate L1 and L2 caches</a:t>
            </a:r>
            <a:endParaRPr lang="en-IN" dirty="0"/>
          </a:p>
          <a:p>
            <a:r>
              <a:rPr lang="en-IN" dirty="0"/>
              <a:t>Shared L3 cache</a:t>
            </a:r>
            <a:endParaRPr lang="en-IN" dirty="0"/>
          </a:p>
          <a:p>
            <a:r>
              <a:rPr lang="en-IN" dirty="0"/>
              <a:t>L3 group is whole chip</a:t>
            </a:r>
            <a:endParaRPr lang="en-IN" dirty="0"/>
          </a:p>
          <a:p>
            <a:r>
              <a:rPr lang="en-IN" dirty="0"/>
              <a:t>Built-in memory interface allows to attach memory and other sockets without chipset</a:t>
            </a:r>
            <a:endParaRPr lang="en-IN" dirty="0"/>
          </a:p>
          <a:p>
            <a:r>
              <a:rPr lang="en-IN" dirty="0"/>
              <a:t>AMD </a:t>
            </a:r>
            <a:r>
              <a:rPr lang="en-IN" dirty="0" err="1"/>
              <a:t>Shangai</a:t>
            </a:r>
            <a:r>
              <a:rPr lang="en-IN" dirty="0"/>
              <a:t> and Intel Nehalem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206605" y="1600200"/>
            <a:ext cx="4228342" cy="4845340"/>
            <a:chOff x="4655733" y="1896028"/>
            <a:chExt cx="4228342" cy="4845340"/>
          </a:xfrm>
        </p:grpSpPr>
        <p:sp>
          <p:nvSpPr>
            <p:cNvPr id="8" name="Rectangle 7"/>
            <p:cNvSpPr/>
            <p:nvPr/>
          </p:nvSpPr>
          <p:spPr>
            <a:xfrm>
              <a:off x="4655733" y="1896028"/>
              <a:ext cx="4228342" cy="4670071"/>
            </a:xfrm>
            <a:prstGeom prst="rect">
              <a:avLst/>
            </a:prstGeom>
            <a:solidFill>
              <a:schemeClr val="bg1"/>
            </a:solidFill>
            <a:ln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bg1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007365" y="2204863"/>
              <a:ext cx="3525075" cy="3153942"/>
              <a:chOff x="2023454" y="1462874"/>
              <a:chExt cx="3096349" cy="2842592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3679640" y="1462874"/>
                <a:ext cx="720080" cy="1850465"/>
                <a:chOff x="6675710" y="818787"/>
                <a:chExt cx="1440159" cy="1944216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6675712" y="818787"/>
                  <a:ext cx="1440157" cy="1440160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4400" b="1" dirty="0"/>
                    <a:t>P</a:t>
                  </a:r>
                  <a:endParaRPr lang="en-IN" sz="4400" b="1" dirty="0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6675710" y="2224667"/>
                  <a:ext cx="1440159" cy="538336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b="1" dirty="0"/>
                    <a:t>L1D</a:t>
                  </a:r>
                  <a:endParaRPr lang="en-IN" b="1" dirty="0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2023454" y="1462874"/>
                <a:ext cx="3096349" cy="2842592"/>
                <a:chOff x="2023454" y="1462874"/>
                <a:chExt cx="3096349" cy="2842592"/>
              </a:xfrm>
            </p:grpSpPr>
            <p:grpSp>
              <p:nvGrpSpPr>
                <p:cNvPr id="13" name="Group 12"/>
                <p:cNvGrpSpPr/>
                <p:nvPr/>
              </p:nvGrpSpPr>
              <p:grpSpPr>
                <a:xfrm>
                  <a:off x="2023457" y="1462874"/>
                  <a:ext cx="3096346" cy="2842592"/>
                  <a:chOff x="6675711" y="818787"/>
                  <a:chExt cx="6192691" cy="2986608"/>
                </a:xfrm>
              </p:grpSpPr>
              <p:sp>
                <p:nvSpPr>
                  <p:cNvPr id="22" name="Rectangle 21"/>
                  <p:cNvSpPr/>
                  <p:nvPr/>
                </p:nvSpPr>
                <p:spPr>
                  <a:xfrm>
                    <a:off x="6675711" y="818787"/>
                    <a:ext cx="1440160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3" name="Rectangle 22"/>
                  <p:cNvSpPr/>
                  <p:nvPr/>
                </p:nvSpPr>
                <p:spPr>
                  <a:xfrm>
                    <a:off x="6675713" y="2224667"/>
                    <a:ext cx="1440160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4" name="Rectangle 23"/>
                  <p:cNvSpPr/>
                  <p:nvPr/>
                </p:nvSpPr>
                <p:spPr>
                  <a:xfrm>
                    <a:off x="6675711" y="3267059"/>
                    <a:ext cx="6192691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6"/>
                  </a:lnRef>
                  <a:fillRef idx="3">
                    <a:schemeClr val="accent6"/>
                  </a:fillRef>
                  <a:effectRef idx="3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L3</a:t>
                    </a:r>
                    <a:endParaRPr lang="en-IN" b="1" dirty="0"/>
                  </a:p>
                </p:txBody>
              </p:sp>
            </p:grpSp>
            <p:grpSp>
              <p:nvGrpSpPr>
                <p:cNvPr id="14" name="Group 13"/>
                <p:cNvGrpSpPr/>
                <p:nvPr/>
              </p:nvGrpSpPr>
              <p:grpSpPr>
                <a:xfrm>
                  <a:off x="2023454" y="1462874"/>
                  <a:ext cx="1440163" cy="2362842"/>
                  <a:chOff x="5235550" y="818787"/>
                  <a:chExt cx="2880324" cy="2482552"/>
                </a:xfrm>
              </p:grpSpPr>
              <p:sp>
                <p:nvSpPr>
                  <p:cNvPr id="19" name="Rectangle 18"/>
                  <p:cNvSpPr/>
                  <p:nvPr/>
                </p:nvSpPr>
                <p:spPr>
                  <a:xfrm>
                    <a:off x="6675713" y="818787"/>
                    <a:ext cx="1440161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20" name="Rectangle 19"/>
                  <p:cNvSpPr/>
                  <p:nvPr/>
                </p:nvSpPr>
                <p:spPr>
                  <a:xfrm>
                    <a:off x="6675709" y="2224667"/>
                    <a:ext cx="1440158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>
                  <a:xfrm>
                    <a:off x="5235550" y="2763003"/>
                    <a:ext cx="1440166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  <p:grpSp>
              <p:nvGrpSpPr>
                <p:cNvPr id="15" name="Group 14"/>
                <p:cNvGrpSpPr/>
                <p:nvPr/>
              </p:nvGrpSpPr>
              <p:grpSpPr>
                <a:xfrm>
                  <a:off x="3679638" y="1462874"/>
                  <a:ext cx="1440163" cy="2362842"/>
                  <a:chOff x="5235550" y="818787"/>
                  <a:chExt cx="2880324" cy="2482552"/>
                </a:xfrm>
              </p:grpSpPr>
              <p:sp>
                <p:nvSpPr>
                  <p:cNvPr id="16" name="Rectangle 15"/>
                  <p:cNvSpPr/>
                  <p:nvPr/>
                </p:nvSpPr>
                <p:spPr>
                  <a:xfrm>
                    <a:off x="6675713" y="818787"/>
                    <a:ext cx="1440161" cy="1440160"/>
                  </a:xfrm>
                  <a:prstGeom prst="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sz="4400" b="1" dirty="0"/>
                      <a:t>P</a:t>
                    </a:r>
                    <a:endParaRPr lang="en-IN" sz="4400" b="1" dirty="0"/>
                  </a:p>
                </p:txBody>
              </p:sp>
              <p:sp>
                <p:nvSpPr>
                  <p:cNvPr id="17" name="Rectangle 16"/>
                  <p:cNvSpPr/>
                  <p:nvPr/>
                </p:nvSpPr>
                <p:spPr>
                  <a:xfrm>
                    <a:off x="6675709" y="2224667"/>
                    <a:ext cx="1440158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3"/>
                  </a:lnRef>
                  <a:fillRef idx="3">
                    <a:schemeClr val="accent3"/>
                  </a:fillRef>
                  <a:effectRef idx="3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L1D</a:t>
                    </a:r>
                    <a:endParaRPr lang="en-IN" b="1" dirty="0"/>
                  </a:p>
                </p:txBody>
              </p:sp>
              <p:sp>
                <p:nvSpPr>
                  <p:cNvPr id="18" name="Rectangle 17"/>
                  <p:cNvSpPr/>
                  <p:nvPr/>
                </p:nvSpPr>
                <p:spPr>
                  <a:xfrm>
                    <a:off x="5235550" y="2763003"/>
                    <a:ext cx="1440163" cy="538336"/>
                  </a:xfrm>
                  <a:prstGeom prst="rect">
                    <a:avLst/>
                  </a:prstGeom>
                </p:spPr>
                <p:style>
                  <a:lnRef idx="0">
                    <a:schemeClr val="accent4"/>
                  </a:lnRef>
                  <a:fillRef idx="3">
                    <a:schemeClr val="accent4"/>
                  </a:fillRef>
                  <a:effectRef idx="3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 b="1" dirty="0"/>
                      <a:t>L2</a:t>
                    </a:r>
                    <a:endParaRPr lang="en-IN" b="1" dirty="0"/>
                  </a:p>
                </p:txBody>
              </p:sp>
            </p:grpSp>
          </p:grpSp>
        </p:grpSp>
        <p:cxnSp>
          <p:nvCxnSpPr>
            <p:cNvPr id="10" name="Straight Connector 9"/>
            <p:cNvCxnSpPr/>
            <p:nvPr/>
          </p:nvCxnSpPr>
          <p:spPr>
            <a:xfrm>
              <a:off x="6859612" y="6147211"/>
              <a:ext cx="0" cy="59415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/>
          <p:cNvSpPr/>
          <p:nvPr/>
        </p:nvSpPr>
        <p:spPr>
          <a:xfrm>
            <a:off x="4575320" y="5261622"/>
            <a:ext cx="3525072" cy="568498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 Interface</a:t>
            </a:r>
            <a:endParaRPr lang="en-IN" b="1" dirty="0"/>
          </a:p>
        </p:txBody>
      </p:sp>
      <p:cxnSp>
        <p:nvCxnSpPr>
          <p:cNvPr id="28" name="Straight Connector 27"/>
          <p:cNvCxnSpPr/>
          <p:nvPr/>
        </p:nvCxnSpPr>
        <p:spPr>
          <a:xfrm>
            <a:off x="8100392" y="5545871"/>
            <a:ext cx="57606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88424" y="4831653"/>
            <a:ext cx="57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HT/QPI</a:t>
            </a:r>
            <a:endParaRPr lang="en-IN" b="1" dirty="0"/>
          </a:p>
        </p:txBody>
      </p:sp>
      <p:sp>
        <p:nvSpPr>
          <p:cNvPr id="30" name="Rectangle 29"/>
          <p:cNvSpPr/>
          <p:nvPr/>
        </p:nvSpPr>
        <p:spPr>
          <a:xfrm>
            <a:off x="5378025" y="3962182"/>
            <a:ext cx="819788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31" name="Rectangle 30"/>
          <p:cNvSpPr/>
          <p:nvPr/>
        </p:nvSpPr>
        <p:spPr>
          <a:xfrm>
            <a:off x="7236296" y="3962182"/>
            <a:ext cx="819786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6316605" y="5062977"/>
            <a:ext cx="0" cy="19864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Shared-memory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system where the number of CPUs work on the physical address space</a:t>
            </a:r>
            <a:endParaRPr lang="en-IN" dirty="0"/>
          </a:p>
          <a:p>
            <a:r>
              <a:rPr lang="en-IN" dirty="0"/>
              <a:t>Two varieties: </a:t>
            </a:r>
            <a:endParaRPr lang="en-IN" dirty="0"/>
          </a:p>
          <a:p>
            <a:pPr lvl="1"/>
            <a:r>
              <a:rPr lang="en-IN" dirty="0"/>
              <a:t>Uniform Memory Access (UMA)</a:t>
            </a:r>
            <a:endParaRPr lang="en-IN" dirty="0"/>
          </a:p>
          <a:p>
            <a:pPr lvl="1"/>
            <a:r>
              <a:rPr lang="en-IN" dirty="0"/>
              <a:t>Cache Coherent Non-Uniform Memory Access (</a:t>
            </a:r>
            <a:r>
              <a:rPr lang="en-IN" dirty="0" err="1"/>
              <a:t>ccNUMA</a:t>
            </a:r>
            <a:r>
              <a:rPr lang="en-IN" dirty="0"/>
              <a:t>)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Known as Symmetric Multi Processing (SMP)</a:t>
            </a:r>
            <a:endParaRPr lang="en-IN" dirty="0"/>
          </a:p>
          <a:p>
            <a:r>
              <a:rPr lang="en-IN" dirty="0"/>
              <a:t>Latency and Bandwidth are the same for all the processors</a:t>
            </a:r>
            <a:endParaRPr lang="en-IN" dirty="0"/>
          </a:p>
          <a:p>
            <a:r>
              <a:rPr lang="en-IN" dirty="0"/>
              <a:t>Simplest implementation is Dual-core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UMA System with two Single-core chips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609" y="4847991"/>
            <a:ext cx="6666656" cy="538336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Chipset</a:t>
            </a:r>
            <a:endParaRPr lang="en-IN" b="1" dirty="0"/>
          </a:p>
        </p:txBody>
      </p:sp>
      <p:sp>
        <p:nvSpPr>
          <p:cNvPr id="8" name="Rectangle 7"/>
          <p:cNvSpPr/>
          <p:nvPr/>
        </p:nvSpPr>
        <p:spPr>
          <a:xfrm>
            <a:off x="683568" y="5786264"/>
            <a:ext cx="7560840" cy="538336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</a:t>
            </a:r>
            <a:endParaRPr lang="en-IN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697319" y="5386327"/>
            <a:ext cx="0" cy="4298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148064" y="5386327"/>
            <a:ext cx="0" cy="4298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60032" y="1587619"/>
            <a:ext cx="1800200" cy="283049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70449" y="1739916"/>
            <a:ext cx="1440160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3" name="Rectangle 12"/>
          <p:cNvSpPr/>
          <p:nvPr/>
        </p:nvSpPr>
        <p:spPr>
          <a:xfrm>
            <a:off x="4970449" y="3145796"/>
            <a:ext cx="1440160" cy="5383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4" name="Rectangle 13"/>
          <p:cNvSpPr/>
          <p:nvPr/>
        </p:nvSpPr>
        <p:spPr>
          <a:xfrm>
            <a:off x="4970449" y="3684132"/>
            <a:ext cx="1440160" cy="53833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15" name="Rectangle 14"/>
          <p:cNvSpPr/>
          <p:nvPr/>
        </p:nvSpPr>
        <p:spPr>
          <a:xfrm>
            <a:off x="1761283" y="1578491"/>
            <a:ext cx="1800200" cy="283049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871700" y="1730788"/>
            <a:ext cx="1440160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7" name="Rectangle 16"/>
          <p:cNvSpPr/>
          <p:nvPr/>
        </p:nvSpPr>
        <p:spPr>
          <a:xfrm>
            <a:off x="1871700" y="3136668"/>
            <a:ext cx="1440160" cy="5383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8" name="Rectangle 17"/>
          <p:cNvSpPr/>
          <p:nvPr/>
        </p:nvSpPr>
        <p:spPr>
          <a:xfrm>
            <a:off x="1871700" y="3675004"/>
            <a:ext cx="1440160" cy="53833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cxnSp>
        <p:nvCxnSpPr>
          <p:cNvPr id="19" name="Elbow Connector 18"/>
          <p:cNvCxnSpPr>
            <a:stCxn id="15" idx="2"/>
            <a:endCxn id="11" idx="2"/>
          </p:cNvCxnSpPr>
          <p:nvPr/>
        </p:nvCxnSpPr>
        <p:spPr>
          <a:xfrm rot="16200000" flipH="1">
            <a:off x="4206193" y="2864174"/>
            <a:ext cx="9128" cy="3098749"/>
          </a:xfrm>
          <a:prstGeom prst="bentConnector3">
            <a:avLst>
              <a:gd name="adj1" fmla="val 2604382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7" idx="0"/>
          </p:cNvCxnSpPr>
          <p:nvPr/>
        </p:nvCxnSpPr>
        <p:spPr>
          <a:xfrm>
            <a:off x="4376937" y="4634136"/>
            <a:ext cx="0" cy="21385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/>
          <p:nvPr/>
        </p:nvCxnSpPr>
        <p:spPr>
          <a:xfrm>
            <a:off x="6660232" y="2113856"/>
            <a:ext cx="534143" cy="531464"/>
          </a:xfrm>
          <a:prstGeom prst="curvedConnector3">
            <a:avLst/>
          </a:prstGeom>
          <a:ln w="28575">
            <a:solidFill>
              <a:schemeClr val="tx1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27303" y="268992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Socket</a:t>
            </a:r>
            <a:endParaRPr lang="en-IN" b="1" dirty="0"/>
          </a:p>
        </p:txBody>
      </p:sp>
      <p:cxnSp>
        <p:nvCxnSpPr>
          <p:cNvPr id="23" name="Curved Connector 22"/>
          <p:cNvCxnSpPr/>
          <p:nvPr/>
        </p:nvCxnSpPr>
        <p:spPr>
          <a:xfrm rot="16200000" flipV="1">
            <a:off x="3350188" y="3520335"/>
            <a:ext cx="1759551" cy="46805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48606" y="1951256"/>
            <a:ext cx="1162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Common Front Side Bus (FSB)</a:t>
            </a:r>
            <a:endParaRPr lang="en-IN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UMA System with two Dual-core chips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608" y="1611946"/>
            <a:ext cx="3096344" cy="283049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8511" y="1798523"/>
            <a:ext cx="1440160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9" name="Rectangle 8"/>
          <p:cNvSpPr/>
          <p:nvPr/>
        </p:nvSpPr>
        <p:spPr>
          <a:xfrm>
            <a:off x="1178511" y="3204403"/>
            <a:ext cx="1440160" cy="5383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0" name="Rectangle 9"/>
          <p:cNvSpPr/>
          <p:nvPr/>
        </p:nvSpPr>
        <p:spPr>
          <a:xfrm>
            <a:off x="2618671" y="1798523"/>
            <a:ext cx="1440160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1" name="Rectangle 10"/>
          <p:cNvSpPr/>
          <p:nvPr/>
        </p:nvSpPr>
        <p:spPr>
          <a:xfrm>
            <a:off x="2618671" y="3204403"/>
            <a:ext cx="1440160" cy="5383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2" name="Rectangle 11"/>
          <p:cNvSpPr/>
          <p:nvPr/>
        </p:nvSpPr>
        <p:spPr>
          <a:xfrm>
            <a:off x="1178511" y="3742739"/>
            <a:ext cx="2880320" cy="53833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1043609" y="4872318"/>
            <a:ext cx="6666656" cy="538336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Chipset</a:t>
            </a:r>
            <a:endParaRPr lang="en-IN" b="1" dirty="0"/>
          </a:p>
        </p:txBody>
      </p:sp>
      <p:sp>
        <p:nvSpPr>
          <p:cNvPr id="14" name="Rectangle 13"/>
          <p:cNvSpPr/>
          <p:nvPr/>
        </p:nvSpPr>
        <p:spPr>
          <a:xfrm>
            <a:off x="683568" y="5810591"/>
            <a:ext cx="7560840" cy="5383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</a:t>
            </a:r>
            <a:endParaRPr lang="en-IN" b="1" dirty="0"/>
          </a:p>
        </p:txBody>
      </p:sp>
      <p:sp>
        <p:nvSpPr>
          <p:cNvPr id="15" name="Rectangle 14"/>
          <p:cNvSpPr/>
          <p:nvPr/>
        </p:nvSpPr>
        <p:spPr>
          <a:xfrm>
            <a:off x="4613920" y="1600200"/>
            <a:ext cx="3096344" cy="283049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748823" y="1786777"/>
            <a:ext cx="1440160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7" name="Rectangle 16"/>
          <p:cNvSpPr/>
          <p:nvPr/>
        </p:nvSpPr>
        <p:spPr>
          <a:xfrm>
            <a:off x="4748823" y="3192657"/>
            <a:ext cx="1440160" cy="5383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8" name="Rectangle 17"/>
          <p:cNvSpPr/>
          <p:nvPr/>
        </p:nvSpPr>
        <p:spPr>
          <a:xfrm>
            <a:off x="6188983" y="1786777"/>
            <a:ext cx="1440160" cy="144016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9" name="Rectangle 18"/>
          <p:cNvSpPr/>
          <p:nvPr/>
        </p:nvSpPr>
        <p:spPr>
          <a:xfrm>
            <a:off x="6188983" y="3192657"/>
            <a:ext cx="1440160" cy="53833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4748823" y="3730993"/>
            <a:ext cx="2880320" cy="53833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591780" y="4442440"/>
            <a:ext cx="0" cy="4298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218490" y="4442440"/>
            <a:ext cx="0" cy="4298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697319" y="5410654"/>
            <a:ext cx="0" cy="4298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148064" y="5410654"/>
            <a:ext cx="0" cy="42987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>
            <a:off x="7710265" y="2138183"/>
            <a:ext cx="534143" cy="531464"/>
          </a:xfrm>
          <a:prstGeom prst="curvedConnector3">
            <a:avLst/>
          </a:prstGeom>
          <a:ln w="28575">
            <a:solidFill>
              <a:schemeClr val="tx1"/>
            </a:solidFill>
            <a:prstDash val="sysDot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77336" y="271424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Socket</a:t>
            </a:r>
            <a:endParaRPr lang="en-IN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Cache Coherence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Cache coherence mechanism is required</a:t>
            </a:r>
            <a:endParaRPr lang="en-IN" dirty="0"/>
          </a:p>
          <a:p>
            <a:r>
              <a:rPr lang="en-IN" dirty="0"/>
              <a:t>Because of same copy of cache line is resided in in several caches</a:t>
            </a:r>
            <a:endParaRPr lang="en-IN" dirty="0"/>
          </a:p>
          <a:p>
            <a:r>
              <a:rPr lang="en-IN" dirty="0"/>
              <a:t>If one of those caches get modified, other cache content needs to be reflected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MESI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525963"/>
          </a:xfrm>
        </p:spPr>
        <p:txBody>
          <a:bodyPr/>
          <a:lstStyle/>
          <a:p>
            <a:r>
              <a:rPr lang="en-IN" b="1" dirty="0"/>
              <a:t>M: </a:t>
            </a:r>
            <a:r>
              <a:rPr lang="en-IN" i="1" dirty="0"/>
              <a:t>modified</a:t>
            </a:r>
            <a:endParaRPr lang="en-IN" i="1" dirty="0"/>
          </a:p>
          <a:p>
            <a:r>
              <a:rPr lang="en-IN" b="1" dirty="0"/>
              <a:t>E: </a:t>
            </a:r>
            <a:r>
              <a:rPr lang="en-IN" i="1" dirty="0"/>
              <a:t>exclusive</a:t>
            </a:r>
            <a:endParaRPr lang="en-IN" dirty="0"/>
          </a:p>
          <a:p>
            <a:r>
              <a:rPr lang="en-IN" b="1" dirty="0"/>
              <a:t>S: </a:t>
            </a:r>
            <a:r>
              <a:rPr lang="en-IN" i="1" dirty="0"/>
              <a:t>shared </a:t>
            </a:r>
            <a:endParaRPr lang="en-IN" i="1" dirty="0"/>
          </a:p>
          <a:p>
            <a:r>
              <a:rPr lang="en-IN" b="1" dirty="0"/>
              <a:t>I: </a:t>
            </a:r>
            <a:r>
              <a:rPr lang="en-IN" i="1" dirty="0"/>
              <a:t>invalid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4439010" y="1828800"/>
            <a:ext cx="3104790" cy="4176464"/>
            <a:chOff x="1399425" y="1988840"/>
            <a:chExt cx="3104790" cy="4176464"/>
          </a:xfrm>
        </p:grpSpPr>
        <p:grpSp>
          <p:nvGrpSpPr>
            <p:cNvPr id="8" name="Group 7"/>
            <p:cNvGrpSpPr/>
            <p:nvPr/>
          </p:nvGrpSpPr>
          <p:grpSpPr>
            <a:xfrm>
              <a:off x="1399425" y="1988840"/>
              <a:ext cx="1300367" cy="2884512"/>
              <a:chOff x="1399425" y="1988840"/>
              <a:chExt cx="1300367" cy="2884512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403648" y="1988840"/>
                <a:ext cx="1296144" cy="115212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P1</a:t>
                </a:r>
                <a:endParaRPr lang="en-IN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403648" y="3140968"/>
                <a:ext cx="1296144" cy="432048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C1      </a:t>
                </a:r>
                <a:endParaRPr lang="en-IN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403648" y="3577208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399425" y="4009256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399425" y="4441304"/>
                <a:ext cx="1296144" cy="432048"/>
              </a:xfrm>
              <a:prstGeom prst="rect">
                <a:avLst/>
              </a:prstGeom>
              <a:solidFill>
                <a:srgbClr val="D63673"/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A1    A2</a:t>
                </a:r>
                <a:endParaRPr lang="en-IN" dirty="0"/>
              </a:p>
            </p:txBody>
          </p:sp>
        </p:grpSp>
        <p:cxnSp>
          <p:nvCxnSpPr>
            <p:cNvPr id="9" name="Straight Connector 8"/>
            <p:cNvCxnSpPr>
              <a:stCxn id="29" idx="2"/>
              <a:endCxn id="30" idx="2"/>
            </p:cNvCxnSpPr>
            <p:nvPr/>
          </p:nvCxnSpPr>
          <p:spPr>
            <a:xfrm>
              <a:off x="2047497" y="4441304"/>
              <a:ext cx="0" cy="43204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3203848" y="1988840"/>
              <a:ext cx="1300367" cy="2884512"/>
              <a:chOff x="1399425" y="1988840"/>
              <a:chExt cx="1300367" cy="2884512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403648" y="1988840"/>
                <a:ext cx="1296144" cy="115212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P2</a:t>
                </a:r>
                <a:endParaRPr lang="en-IN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03648" y="3140968"/>
                <a:ext cx="1296144" cy="432048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C2</a:t>
                </a:r>
                <a:endParaRPr lang="en-IN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403648" y="3577208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1399425" y="4009256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399425" y="4441304"/>
                <a:ext cx="1296144" cy="432048"/>
              </a:xfrm>
              <a:prstGeom prst="rect">
                <a:avLst/>
              </a:prstGeom>
              <a:solidFill>
                <a:srgbClr val="D63673"/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A1    A2</a:t>
                </a:r>
                <a:endParaRPr lang="en-IN" dirty="0"/>
              </a:p>
            </p:txBody>
          </p:sp>
        </p:grpSp>
        <p:cxnSp>
          <p:nvCxnSpPr>
            <p:cNvPr id="11" name="Straight Connector 10"/>
            <p:cNvCxnSpPr/>
            <p:nvPr/>
          </p:nvCxnSpPr>
          <p:spPr>
            <a:xfrm>
              <a:off x="3848944" y="4441304"/>
              <a:ext cx="0" cy="43204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403648" y="3618683"/>
              <a:ext cx="432048" cy="36004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  <a:endParaRPr lang="en-IN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067944" y="3618683"/>
              <a:ext cx="432048" cy="36004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  <a:endParaRPr lang="en-IN" dirty="0"/>
            </a:p>
          </p:txBody>
        </p:sp>
        <p:cxnSp>
          <p:nvCxnSpPr>
            <p:cNvPr id="14" name="Curved Connector 13"/>
            <p:cNvCxnSpPr/>
            <p:nvPr/>
          </p:nvCxnSpPr>
          <p:spPr>
            <a:xfrm rot="5400000">
              <a:off x="1165847" y="3272869"/>
              <a:ext cx="1881871" cy="465940"/>
            </a:xfrm>
            <a:prstGeom prst="curvedConnector3">
              <a:avLst>
                <a:gd name="adj1" fmla="val 55890"/>
              </a:avLst>
            </a:prstGeom>
            <a:ln w="28575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/>
            <p:nvPr/>
          </p:nvCxnSpPr>
          <p:spPr>
            <a:xfrm rot="16200000" flipH="1">
              <a:off x="2904623" y="3363352"/>
              <a:ext cx="1881871" cy="419325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403648" y="5229200"/>
              <a:ext cx="3100567" cy="93610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Memory</a:t>
              </a:r>
              <a:endParaRPr lang="en-IN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35696" y="5229200"/>
              <a:ext cx="1008112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" name="Straight Connector 17"/>
            <p:cNvCxnSpPr>
              <a:stCxn id="17" idx="0"/>
              <a:endCxn id="17" idx="2"/>
            </p:cNvCxnSpPr>
            <p:nvPr/>
          </p:nvCxnSpPr>
          <p:spPr>
            <a:xfrm>
              <a:off x="2339752" y="5229200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782746" y="5147900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A1</a:t>
              </a:r>
              <a:endParaRPr lang="en-IN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11760" y="5147900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A2</a:t>
              </a:r>
              <a:endParaRPr lang="en-IN" dirty="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3733800" cy="4525963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1. C1 requests exclusive CL ownership</a:t>
            </a:r>
            <a:endParaRPr lang="en-IN" dirty="0"/>
          </a:p>
          <a:p>
            <a:r>
              <a:rPr lang="en-IN" dirty="0"/>
              <a:t>2. set CL in C2 to state I</a:t>
            </a:r>
            <a:endParaRPr lang="en-IN" dirty="0"/>
          </a:p>
          <a:p>
            <a:r>
              <a:rPr lang="en-IN" dirty="0"/>
              <a:t>3. CL has state E in C1 → modify A1 in C1 and set to state M</a:t>
            </a:r>
            <a:endParaRPr lang="en-IN" dirty="0"/>
          </a:p>
          <a:p>
            <a:r>
              <a:rPr lang="en-IN" dirty="0"/>
              <a:t>4. C2 requests exclusive CL ownership</a:t>
            </a:r>
            <a:endParaRPr lang="en-IN" dirty="0"/>
          </a:p>
          <a:p>
            <a:r>
              <a:rPr lang="en-IN" dirty="0"/>
              <a:t>5. evict CL from C1 and set to state I</a:t>
            </a:r>
            <a:endParaRPr lang="en-IN" dirty="0"/>
          </a:p>
          <a:p>
            <a:r>
              <a:rPr lang="en-IN" dirty="0"/>
              <a:t>6. load CL to C2 and set to state E</a:t>
            </a:r>
            <a:endParaRPr lang="en-IN" dirty="0"/>
          </a:p>
          <a:p>
            <a:r>
              <a:rPr lang="en-IN" dirty="0"/>
              <a:t>7. modify A2 in C2 and set to state M in C2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257800" y="1547500"/>
            <a:ext cx="3104790" cy="4176464"/>
            <a:chOff x="1399425" y="1988840"/>
            <a:chExt cx="3104790" cy="4176464"/>
          </a:xfrm>
        </p:grpSpPr>
        <p:grpSp>
          <p:nvGrpSpPr>
            <p:cNvPr id="8" name="Group 7"/>
            <p:cNvGrpSpPr/>
            <p:nvPr/>
          </p:nvGrpSpPr>
          <p:grpSpPr>
            <a:xfrm>
              <a:off x="1399425" y="1988840"/>
              <a:ext cx="1300367" cy="2884512"/>
              <a:chOff x="1399425" y="1988840"/>
              <a:chExt cx="1300367" cy="2884512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403648" y="1988840"/>
                <a:ext cx="1296144" cy="115212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P1</a:t>
                </a:r>
                <a:endParaRPr lang="en-IN" dirty="0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1403648" y="3140968"/>
                <a:ext cx="1296144" cy="432048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C1      </a:t>
                </a:r>
                <a:endParaRPr lang="en-IN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403648" y="3577208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1399425" y="4009256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1399425" y="4441304"/>
                <a:ext cx="1296144" cy="432048"/>
              </a:xfrm>
              <a:prstGeom prst="rect">
                <a:avLst/>
              </a:prstGeom>
              <a:solidFill>
                <a:srgbClr val="D63673"/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A1    A2</a:t>
                </a:r>
                <a:endParaRPr lang="en-IN" dirty="0"/>
              </a:p>
            </p:txBody>
          </p:sp>
        </p:grpSp>
        <p:cxnSp>
          <p:nvCxnSpPr>
            <p:cNvPr id="9" name="Straight Connector 8"/>
            <p:cNvCxnSpPr>
              <a:stCxn id="29" idx="2"/>
              <a:endCxn id="30" idx="2"/>
            </p:cNvCxnSpPr>
            <p:nvPr/>
          </p:nvCxnSpPr>
          <p:spPr>
            <a:xfrm>
              <a:off x="2047497" y="4441304"/>
              <a:ext cx="0" cy="43204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/>
          </p:nvGrpSpPr>
          <p:grpSpPr>
            <a:xfrm>
              <a:off x="3203848" y="1988840"/>
              <a:ext cx="1300367" cy="2884512"/>
              <a:chOff x="1399425" y="1988840"/>
              <a:chExt cx="1300367" cy="2884512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403648" y="1988840"/>
                <a:ext cx="1296144" cy="115212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P2</a:t>
                </a:r>
                <a:endParaRPr lang="en-IN" dirty="0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403648" y="3140968"/>
                <a:ext cx="1296144" cy="432048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C2</a:t>
                </a:r>
                <a:endParaRPr lang="en-IN" dirty="0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1403648" y="3577208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1399425" y="4009256"/>
                <a:ext cx="1296144" cy="432048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1399425" y="4441304"/>
                <a:ext cx="1296144" cy="432048"/>
              </a:xfrm>
              <a:prstGeom prst="rect">
                <a:avLst/>
              </a:prstGeom>
              <a:solidFill>
                <a:srgbClr val="D63673"/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A1    A2</a:t>
                </a:r>
                <a:endParaRPr lang="en-IN" dirty="0"/>
              </a:p>
            </p:txBody>
          </p:sp>
        </p:grpSp>
        <p:cxnSp>
          <p:nvCxnSpPr>
            <p:cNvPr id="11" name="Straight Connector 10"/>
            <p:cNvCxnSpPr/>
            <p:nvPr/>
          </p:nvCxnSpPr>
          <p:spPr>
            <a:xfrm>
              <a:off x="3848944" y="4441304"/>
              <a:ext cx="0" cy="432048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403648" y="3618683"/>
              <a:ext cx="432048" cy="36004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  <a:endParaRPr lang="en-IN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4067944" y="3618683"/>
              <a:ext cx="432048" cy="36004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7</a:t>
              </a:r>
              <a:endParaRPr lang="en-IN" dirty="0"/>
            </a:p>
          </p:txBody>
        </p:sp>
        <p:cxnSp>
          <p:nvCxnSpPr>
            <p:cNvPr id="14" name="Curved Connector 13"/>
            <p:cNvCxnSpPr/>
            <p:nvPr/>
          </p:nvCxnSpPr>
          <p:spPr>
            <a:xfrm rot="5400000">
              <a:off x="1165847" y="3272869"/>
              <a:ext cx="1881871" cy="465940"/>
            </a:xfrm>
            <a:prstGeom prst="curvedConnector3">
              <a:avLst>
                <a:gd name="adj1" fmla="val 55890"/>
              </a:avLst>
            </a:prstGeom>
            <a:ln w="28575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/>
            <p:nvPr/>
          </p:nvCxnSpPr>
          <p:spPr>
            <a:xfrm rot="16200000" flipH="1">
              <a:off x="2904623" y="3363352"/>
              <a:ext cx="1881871" cy="419325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1403648" y="5229200"/>
              <a:ext cx="3100567" cy="93610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Memory</a:t>
              </a:r>
              <a:endParaRPr lang="en-IN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835696" y="5229200"/>
              <a:ext cx="1008112" cy="288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8" name="Straight Connector 17"/>
            <p:cNvCxnSpPr>
              <a:stCxn id="17" idx="0"/>
              <a:endCxn id="17" idx="2"/>
            </p:cNvCxnSpPr>
            <p:nvPr/>
          </p:nvCxnSpPr>
          <p:spPr>
            <a:xfrm>
              <a:off x="2339752" y="5229200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782746" y="5147900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A1</a:t>
              </a:r>
              <a:endParaRPr lang="en-IN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411760" y="5147900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A2</a:t>
              </a:r>
              <a:endParaRPr lang="en-IN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505201" y="5892225"/>
            <a:ext cx="5562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600" b="1" dirty="0"/>
              <a:t>Courtesy: Hager, G. (2017). Introduction To high performance computing for scientists and engineers: CRC press</a:t>
            </a:r>
            <a:endParaRPr lang="en-IN" sz="16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ccNUMA</a:t>
            </a:r>
            <a:r>
              <a:rPr lang="en-IN" dirty="0"/>
              <a:t> System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67841" y="1484784"/>
            <a:ext cx="3600400" cy="417646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68041" y="1628800"/>
            <a:ext cx="819783" cy="15208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0" name="Rectangle 9"/>
          <p:cNvSpPr/>
          <p:nvPr/>
        </p:nvSpPr>
        <p:spPr>
          <a:xfrm>
            <a:off x="2123728" y="3113449"/>
            <a:ext cx="819783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1" name="Rectangle 10"/>
          <p:cNvSpPr/>
          <p:nvPr/>
        </p:nvSpPr>
        <p:spPr>
          <a:xfrm>
            <a:off x="528394" y="1628800"/>
            <a:ext cx="819783" cy="152084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2" name="Rectangle 11"/>
          <p:cNvSpPr/>
          <p:nvPr/>
        </p:nvSpPr>
        <p:spPr>
          <a:xfrm>
            <a:off x="528394" y="3113449"/>
            <a:ext cx="819783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3" name="Rectangle 12"/>
          <p:cNvSpPr/>
          <p:nvPr/>
        </p:nvSpPr>
        <p:spPr>
          <a:xfrm>
            <a:off x="528394" y="4214244"/>
            <a:ext cx="3234902" cy="56849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L3</a:t>
            </a:r>
            <a:endParaRPr lang="en-IN" b="1" dirty="0"/>
          </a:p>
        </p:txBody>
      </p:sp>
      <p:sp>
        <p:nvSpPr>
          <p:cNvPr id="14" name="Rectangle 13"/>
          <p:cNvSpPr/>
          <p:nvPr/>
        </p:nvSpPr>
        <p:spPr>
          <a:xfrm>
            <a:off x="1348178" y="1628800"/>
            <a:ext cx="819784" cy="15208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5" name="Rectangle 14"/>
          <p:cNvSpPr/>
          <p:nvPr/>
        </p:nvSpPr>
        <p:spPr>
          <a:xfrm>
            <a:off x="1348178" y="3113449"/>
            <a:ext cx="819784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6" name="Rectangle 15"/>
          <p:cNvSpPr/>
          <p:nvPr/>
        </p:nvSpPr>
        <p:spPr>
          <a:xfrm>
            <a:off x="528394" y="3681947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17" name="Rectangle 16"/>
          <p:cNvSpPr/>
          <p:nvPr/>
        </p:nvSpPr>
        <p:spPr>
          <a:xfrm>
            <a:off x="2943512" y="1628800"/>
            <a:ext cx="819784" cy="15208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18" name="Rectangle 17"/>
          <p:cNvSpPr/>
          <p:nvPr/>
        </p:nvSpPr>
        <p:spPr>
          <a:xfrm>
            <a:off x="2943512" y="3113449"/>
            <a:ext cx="819784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19" name="Rectangle 18"/>
          <p:cNvSpPr/>
          <p:nvPr/>
        </p:nvSpPr>
        <p:spPr>
          <a:xfrm>
            <a:off x="2123728" y="3681947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20" name="Rectangle 19"/>
          <p:cNvSpPr/>
          <p:nvPr/>
        </p:nvSpPr>
        <p:spPr>
          <a:xfrm>
            <a:off x="1348177" y="3672113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21" name="Rectangle 20"/>
          <p:cNvSpPr/>
          <p:nvPr/>
        </p:nvSpPr>
        <p:spPr>
          <a:xfrm>
            <a:off x="2943513" y="3672113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22" name="Rectangle 21"/>
          <p:cNvSpPr/>
          <p:nvPr/>
        </p:nvSpPr>
        <p:spPr>
          <a:xfrm>
            <a:off x="507034" y="5013176"/>
            <a:ext cx="3256262" cy="5383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 Interface</a:t>
            </a:r>
            <a:endParaRPr lang="en-IN" b="1" dirty="0"/>
          </a:p>
        </p:txBody>
      </p:sp>
      <p:sp>
        <p:nvSpPr>
          <p:cNvPr id="23" name="Rectangle 22"/>
          <p:cNvSpPr/>
          <p:nvPr/>
        </p:nvSpPr>
        <p:spPr>
          <a:xfrm>
            <a:off x="507034" y="5791200"/>
            <a:ext cx="3256262" cy="720080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</a:t>
            </a:r>
            <a:endParaRPr lang="en-IN" b="1" dirty="0"/>
          </a:p>
        </p:txBody>
      </p:sp>
      <p:cxnSp>
        <p:nvCxnSpPr>
          <p:cNvPr id="24" name="Straight Connector 23"/>
          <p:cNvCxnSpPr>
            <a:stCxn id="22" idx="2"/>
            <a:endCxn id="23" idx="0"/>
          </p:cNvCxnSpPr>
          <p:nvPr/>
        </p:nvCxnSpPr>
        <p:spPr>
          <a:xfrm>
            <a:off x="2135165" y="5551512"/>
            <a:ext cx="0" cy="2396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2111438" y="4782742"/>
            <a:ext cx="1" cy="2304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220072" y="1484784"/>
            <a:ext cx="3600400" cy="4176464"/>
          </a:xfrm>
          <a:prstGeom prst="rect">
            <a:avLst/>
          </a:prstGeom>
          <a:solidFill>
            <a:schemeClr val="bg1"/>
          </a:solidFill>
          <a:ln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020272" y="1628800"/>
            <a:ext cx="819783" cy="15208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28" name="Rectangle 27"/>
          <p:cNvSpPr/>
          <p:nvPr/>
        </p:nvSpPr>
        <p:spPr>
          <a:xfrm>
            <a:off x="6975959" y="3113449"/>
            <a:ext cx="819783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29" name="Rectangle 28"/>
          <p:cNvSpPr/>
          <p:nvPr/>
        </p:nvSpPr>
        <p:spPr>
          <a:xfrm>
            <a:off x="5380625" y="1628800"/>
            <a:ext cx="819783" cy="152084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30" name="Rectangle 29"/>
          <p:cNvSpPr/>
          <p:nvPr/>
        </p:nvSpPr>
        <p:spPr>
          <a:xfrm>
            <a:off x="5380625" y="3113449"/>
            <a:ext cx="819783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31" name="Rectangle 30"/>
          <p:cNvSpPr/>
          <p:nvPr/>
        </p:nvSpPr>
        <p:spPr>
          <a:xfrm>
            <a:off x="5380625" y="4214244"/>
            <a:ext cx="3234902" cy="56849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L3</a:t>
            </a:r>
            <a:endParaRPr lang="en-IN" b="1" dirty="0"/>
          </a:p>
        </p:txBody>
      </p:sp>
      <p:sp>
        <p:nvSpPr>
          <p:cNvPr id="32" name="Rectangle 31"/>
          <p:cNvSpPr/>
          <p:nvPr/>
        </p:nvSpPr>
        <p:spPr>
          <a:xfrm>
            <a:off x="6200409" y="1628800"/>
            <a:ext cx="819784" cy="15208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33" name="Rectangle 32"/>
          <p:cNvSpPr/>
          <p:nvPr/>
        </p:nvSpPr>
        <p:spPr>
          <a:xfrm>
            <a:off x="6200409" y="3113449"/>
            <a:ext cx="819784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34" name="Rectangle 33"/>
          <p:cNvSpPr/>
          <p:nvPr/>
        </p:nvSpPr>
        <p:spPr>
          <a:xfrm>
            <a:off x="5380625" y="3681947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35" name="Rectangle 34"/>
          <p:cNvSpPr/>
          <p:nvPr/>
        </p:nvSpPr>
        <p:spPr>
          <a:xfrm>
            <a:off x="7795743" y="1628800"/>
            <a:ext cx="819784" cy="15208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b="1" dirty="0"/>
              <a:t>P</a:t>
            </a:r>
            <a:endParaRPr lang="en-IN" sz="4400" b="1" dirty="0"/>
          </a:p>
        </p:txBody>
      </p:sp>
      <p:sp>
        <p:nvSpPr>
          <p:cNvPr id="36" name="Rectangle 35"/>
          <p:cNvSpPr/>
          <p:nvPr/>
        </p:nvSpPr>
        <p:spPr>
          <a:xfrm>
            <a:off x="7795743" y="3113449"/>
            <a:ext cx="819784" cy="5684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L1D</a:t>
            </a:r>
            <a:endParaRPr lang="en-IN" b="1" dirty="0"/>
          </a:p>
        </p:txBody>
      </p:sp>
      <p:sp>
        <p:nvSpPr>
          <p:cNvPr id="37" name="Rectangle 36"/>
          <p:cNvSpPr/>
          <p:nvPr/>
        </p:nvSpPr>
        <p:spPr>
          <a:xfrm>
            <a:off x="6975959" y="3681947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38" name="Rectangle 37"/>
          <p:cNvSpPr/>
          <p:nvPr/>
        </p:nvSpPr>
        <p:spPr>
          <a:xfrm>
            <a:off x="6200408" y="3672113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39" name="Rectangle 38"/>
          <p:cNvSpPr/>
          <p:nvPr/>
        </p:nvSpPr>
        <p:spPr>
          <a:xfrm>
            <a:off x="7795744" y="3672113"/>
            <a:ext cx="819783" cy="56849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L2</a:t>
            </a:r>
            <a:endParaRPr lang="en-IN" b="1" dirty="0"/>
          </a:p>
        </p:txBody>
      </p:sp>
      <p:sp>
        <p:nvSpPr>
          <p:cNvPr id="40" name="Rectangle 39"/>
          <p:cNvSpPr/>
          <p:nvPr/>
        </p:nvSpPr>
        <p:spPr>
          <a:xfrm>
            <a:off x="5359265" y="5013176"/>
            <a:ext cx="3256262" cy="5383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 Interface</a:t>
            </a:r>
            <a:endParaRPr lang="en-IN" b="1" dirty="0"/>
          </a:p>
        </p:txBody>
      </p:sp>
      <p:sp>
        <p:nvSpPr>
          <p:cNvPr id="41" name="Rectangle 40"/>
          <p:cNvSpPr/>
          <p:nvPr/>
        </p:nvSpPr>
        <p:spPr>
          <a:xfrm>
            <a:off x="5359265" y="5791200"/>
            <a:ext cx="3256262" cy="720080"/>
          </a:xfrm>
          <a:prstGeom prst="rect">
            <a:avLst/>
          </a:prstGeom>
          <a:solidFill>
            <a:srgbClr val="E12B45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Memory</a:t>
            </a:r>
            <a:endParaRPr lang="en-IN" b="1" dirty="0"/>
          </a:p>
        </p:txBody>
      </p:sp>
      <p:cxnSp>
        <p:nvCxnSpPr>
          <p:cNvPr id="42" name="Straight Connector 41"/>
          <p:cNvCxnSpPr>
            <a:stCxn id="40" idx="2"/>
            <a:endCxn id="41" idx="0"/>
          </p:cNvCxnSpPr>
          <p:nvPr/>
        </p:nvCxnSpPr>
        <p:spPr>
          <a:xfrm>
            <a:off x="6987396" y="5551512"/>
            <a:ext cx="0" cy="2396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963669" y="4782742"/>
            <a:ext cx="1" cy="2304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40" idx="1"/>
          </p:cNvCxnSpPr>
          <p:nvPr/>
        </p:nvCxnSpPr>
        <p:spPr>
          <a:xfrm>
            <a:off x="3763296" y="5282344"/>
            <a:ext cx="159596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968241" y="4942909"/>
            <a:ext cx="1440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Coherent</a:t>
            </a:r>
            <a:endParaRPr lang="en-IN" b="1" dirty="0"/>
          </a:p>
          <a:p>
            <a:r>
              <a:rPr lang="en-IN" b="1" dirty="0"/>
              <a:t>Link</a:t>
            </a:r>
            <a:endParaRPr lang="en-IN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Distributed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51520" y="1487472"/>
            <a:ext cx="7128792" cy="4913328"/>
            <a:chOff x="755576" y="1684024"/>
            <a:chExt cx="7128792" cy="4913328"/>
          </a:xfrm>
        </p:grpSpPr>
        <p:grpSp>
          <p:nvGrpSpPr>
            <p:cNvPr id="8" name="Group 7"/>
            <p:cNvGrpSpPr/>
            <p:nvPr/>
          </p:nvGrpSpPr>
          <p:grpSpPr>
            <a:xfrm>
              <a:off x="2820055" y="1702086"/>
              <a:ext cx="1224136" cy="3744416"/>
              <a:chOff x="2771800" y="1844824"/>
              <a:chExt cx="1224136" cy="3744416"/>
            </a:xfrm>
          </p:grpSpPr>
          <p:sp>
            <p:nvSpPr>
              <p:cNvPr id="38" name="Rounded Rectangle 37"/>
              <p:cNvSpPr/>
              <p:nvPr/>
            </p:nvSpPr>
            <p:spPr>
              <a:xfrm>
                <a:off x="2771800" y="1844824"/>
                <a:ext cx="1224136" cy="3744416"/>
              </a:xfrm>
              <a:prstGeom prst="roundRect">
                <a:avLst/>
              </a:prstGeom>
              <a:solidFill>
                <a:srgbClr val="E12B4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879812" y="1925216"/>
                <a:ext cx="1008112" cy="11521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</a:t>
                </a:r>
                <a:endParaRPr lang="en-IN" dirty="0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879812" y="3077344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</a:t>
                </a:r>
                <a:endParaRPr lang="en-IN" dirty="0"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2915816" y="3837175"/>
                <a:ext cx="1008112" cy="10081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M</a:t>
                </a:r>
                <a:endParaRPr lang="en-IN" dirty="0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2879812" y="5093568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NI</a:t>
                </a:r>
                <a:endParaRPr lang="en-IN" dirty="0"/>
              </a:p>
            </p:txBody>
          </p:sp>
          <p:cxnSp>
            <p:nvCxnSpPr>
              <p:cNvPr id="43" name="Straight Connector 42"/>
              <p:cNvCxnSpPr>
                <a:endCxn id="41" idx="0"/>
              </p:cNvCxnSpPr>
              <p:nvPr/>
            </p:nvCxnSpPr>
            <p:spPr>
              <a:xfrm flipH="1">
                <a:off x="3419872" y="3509392"/>
                <a:ext cx="12251" cy="32778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>
                <a:off x="3432123" y="4845287"/>
                <a:ext cx="0" cy="2482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4427984" y="1717754"/>
              <a:ext cx="1224136" cy="3744416"/>
              <a:chOff x="2771800" y="1844824"/>
              <a:chExt cx="1224136" cy="3744416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2771800" y="1844824"/>
                <a:ext cx="1224136" cy="3744416"/>
              </a:xfrm>
              <a:prstGeom prst="roundRect">
                <a:avLst/>
              </a:prstGeom>
              <a:solidFill>
                <a:srgbClr val="E12B4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79812" y="1925216"/>
                <a:ext cx="1008112" cy="11521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</a:t>
                </a:r>
                <a:endParaRPr lang="en-IN" dirty="0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79812" y="3077344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</a:t>
                </a:r>
                <a:endParaRPr lang="en-IN" dirty="0"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2915816" y="3837175"/>
                <a:ext cx="1008112" cy="10081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M</a:t>
                </a:r>
                <a:endParaRPr lang="en-IN" dirty="0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2879812" y="5093568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NI</a:t>
                </a:r>
                <a:endParaRPr lang="en-IN" dirty="0"/>
              </a:p>
            </p:txBody>
          </p:sp>
          <p:cxnSp>
            <p:nvCxnSpPr>
              <p:cNvPr id="36" name="Straight Connector 35"/>
              <p:cNvCxnSpPr>
                <a:endCxn id="34" idx="0"/>
              </p:cNvCxnSpPr>
              <p:nvPr/>
            </p:nvCxnSpPr>
            <p:spPr>
              <a:xfrm flipH="1">
                <a:off x="3419872" y="3509392"/>
                <a:ext cx="12251" cy="32778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3432123" y="4845287"/>
                <a:ext cx="0" cy="2482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>
              <a:off x="1277469" y="1684024"/>
              <a:ext cx="1224136" cy="3744416"/>
              <a:chOff x="2771800" y="1844824"/>
              <a:chExt cx="1224136" cy="3744416"/>
            </a:xfrm>
          </p:grpSpPr>
          <p:sp>
            <p:nvSpPr>
              <p:cNvPr id="24" name="Rounded Rectangle 23"/>
              <p:cNvSpPr/>
              <p:nvPr/>
            </p:nvSpPr>
            <p:spPr>
              <a:xfrm>
                <a:off x="2771800" y="1844824"/>
                <a:ext cx="1224136" cy="3744416"/>
              </a:xfrm>
              <a:prstGeom prst="roundRect">
                <a:avLst/>
              </a:prstGeom>
              <a:solidFill>
                <a:srgbClr val="E12B4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879812" y="1925216"/>
                <a:ext cx="1008112" cy="11521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</a:t>
                </a:r>
                <a:endParaRPr lang="en-IN" dirty="0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879812" y="3077344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</a:t>
                </a:r>
                <a:endParaRPr lang="en-IN" dirty="0"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2915816" y="3837175"/>
                <a:ext cx="1008112" cy="10081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M</a:t>
                </a:r>
                <a:endParaRPr lang="en-IN" dirty="0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2879812" y="5093568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NI</a:t>
                </a:r>
                <a:endParaRPr lang="en-IN" dirty="0"/>
              </a:p>
            </p:txBody>
          </p:sp>
          <p:cxnSp>
            <p:nvCxnSpPr>
              <p:cNvPr id="29" name="Straight Connector 28"/>
              <p:cNvCxnSpPr>
                <a:endCxn id="27" idx="0"/>
              </p:cNvCxnSpPr>
              <p:nvPr/>
            </p:nvCxnSpPr>
            <p:spPr>
              <a:xfrm flipH="1">
                <a:off x="3419872" y="3509392"/>
                <a:ext cx="12251" cy="32778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432123" y="4845287"/>
                <a:ext cx="0" cy="2482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>
              <a:off x="5940152" y="1772816"/>
              <a:ext cx="1224136" cy="3744416"/>
              <a:chOff x="2771800" y="1844824"/>
              <a:chExt cx="1224136" cy="3744416"/>
            </a:xfrm>
          </p:grpSpPr>
          <p:sp>
            <p:nvSpPr>
              <p:cNvPr id="17" name="Rounded Rectangle 16"/>
              <p:cNvSpPr/>
              <p:nvPr/>
            </p:nvSpPr>
            <p:spPr>
              <a:xfrm>
                <a:off x="2771800" y="1844824"/>
                <a:ext cx="1224136" cy="3744416"/>
              </a:xfrm>
              <a:prstGeom prst="roundRect">
                <a:avLst/>
              </a:prstGeom>
              <a:solidFill>
                <a:srgbClr val="E12B4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2879812" y="1925216"/>
                <a:ext cx="1008112" cy="11521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P</a:t>
                </a:r>
                <a:endParaRPr lang="en-IN" dirty="0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2879812" y="3077344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C</a:t>
                </a:r>
                <a:endParaRPr lang="en-IN" dirty="0"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2915816" y="3837175"/>
                <a:ext cx="1008112" cy="1008112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M</a:t>
                </a:r>
                <a:endParaRPr lang="en-IN" dirty="0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2879812" y="5093568"/>
                <a:ext cx="1008112" cy="43204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/>
                  <a:t>NI</a:t>
                </a:r>
                <a:endParaRPr lang="en-IN" dirty="0"/>
              </a:p>
            </p:txBody>
          </p:sp>
          <p:cxnSp>
            <p:nvCxnSpPr>
              <p:cNvPr id="22" name="Straight Connector 21"/>
              <p:cNvCxnSpPr>
                <a:endCxn id="20" idx="0"/>
              </p:cNvCxnSpPr>
              <p:nvPr/>
            </p:nvCxnSpPr>
            <p:spPr>
              <a:xfrm flipH="1">
                <a:off x="3419872" y="3509392"/>
                <a:ext cx="12251" cy="32778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432123" y="4845287"/>
                <a:ext cx="0" cy="24828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11"/>
            <p:cNvSpPr/>
            <p:nvPr/>
          </p:nvSpPr>
          <p:spPr>
            <a:xfrm>
              <a:off x="755576" y="5949280"/>
              <a:ext cx="7128792" cy="6480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Communication Network</a:t>
              </a:r>
              <a:endParaRPr lang="en-IN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859984" y="5408046"/>
              <a:ext cx="0" cy="5412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421743" y="5446502"/>
              <a:ext cx="0" cy="5412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040052" y="5462170"/>
              <a:ext cx="0" cy="5412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552220" y="5517232"/>
              <a:ext cx="0" cy="5412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7236296" y="1900414"/>
            <a:ext cx="15121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P-Processor</a:t>
            </a:r>
            <a:endParaRPr lang="en-IN" b="1" dirty="0"/>
          </a:p>
          <a:p>
            <a:r>
              <a:rPr lang="en-IN" b="1" dirty="0"/>
              <a:t>C-Cache</a:t>
            </a:r>
            <a:endParaRPr lang="en-IN" b="1" dirty="0"/>
          </a:p>
          <a:p>
            <a:r>
              <a:rPr lang="en-IN" b="1" dirty="0"/>
              <a:t>NI-Network Interface</a:t>
            </a:r>
            <a:endParaRPr lang="en-IN" b="1" dirty="0"/>
          </a:p>
          <a:p>
            <a:r>
              <a:rPr lang="en-IN" b="1" dirty="0"/>
              <a:t>M-Memory</a:t>
            </a:r>
            <a:endParaRPr lang="en-IN" b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Hager, G. (2017). Introduction To high performance computing for scientists and engineers: CRC press.</a:t>
            </a:r>
            <a:endParaRPr lang="en-IN" dirty="0"/>
          </a:p>
          <a:p>
            <a:r>
              <a:rPr lang="en-IN" dirty="0"/>
              <a:t>Peterson and </a:t>
            </a:r>
            <a:r>
              <a:rPr lang="en-IN" dirty="0" err="1"/>
              <a:t>Hennesy</a:t>
            </a:r>
            <a:r>
              <a:rPr lang="en-IN" dirty="0"/>
              <a:t>. Computer architecture: a quantitative approach, 5th edition</a:t>
            </a:r>
            <a:endParaRPr lang="en-IN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SCOPE, VIT Chennai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8807</Words>
  <Application>WPS Presentation</Application>
  <PresentationFormat>On-screen Show (4:3)</PresentationFormat>
  <Paragraphs>813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4" baseType="lpstr">
      <vt:lpstr>Arial</vt:lpstr>
      <vt:lpstr>SimSun</vt:lpstr>
      <vt:lpstr>Wingdings</vt:lpstr>
      <vt:lpstr>Calibri</vt:lpstr>
      <vt:lpstr>Trebuchet MS</vt:lpstr>
      <vt:lpstr>Microsoft YaHei</vt:lpstr>
      <vt:lpstr>Droid Sans Fallback</vt:lpstr>
      <vt:lpstr>Arial Unicode MS</vt:lpstr>
      <vt:lpstr>Cambria Math</vt:lpstr>
      <vt:lpstr>DejaVu Math TeX Gyre</vt:lpstr>
      <vt:lpstr>Cambria Math</vt:lpstr>
      <vt:lpstr>Office Theme</vt:lpstr>
      <vt:lpstr>Parallel and Distributed Computing Module 1-Parallelism Fundamentals</vt:lpstr>
      <vt:lpstr>Outline</vt:lpstr>
      <vt:lpstr>Motivation </vt:lpstr>
      <vt:lpstr>Moore’s Law</vt:lpstr>
      <vt:lpstr>Moore’s Law</vt:lpstr>
      <vt:lpstr>Moore’s Law</vt:lpstr>
      <vt:lpstr>Power-Performance Dilemma</vt:lpstr>
      <vt:lpstr>Parallelization</vt:lpstr>
      <vt:lpstr>Classes of Parallelism </vt:lpstr>
      <vt:lpstr>Ways to exploit parallelism</vt:lpstr>
      <vt:lpstr>Ways to exploit parallelism</vt:lpstr>
      <vt:lpstr>Flynn’s Taxonomy</vt:lpstr>
      <vt:lpstr>Single instruction stream, single data stream (SISD)</vt:lpstr>
      <vt:lpstr>Single instruction stream, multiple data streams (SIMD)</vt:lpstr>
      <vt:lpstr>Multiple instruction streams, single data stream  (MISD)</vt:lpstr>
      <vt:lpstr>MIMD</vt:lpstr>
      <vt:lpstr>Parallel Scalability</vt:lpstr>
      <vt:lpstr>Factors that limit parallelism</vt:lpstr>
      <vt:lpstr>PowerPoint 演示文稿</vt:lpstr>
      <vt:lpstr>Load imbalance</vt:lpstr>
      <vt:lpstr>Scalability Metrics</vt:lpstr>
      <vt:lpstr>Run-time</vt:lpstr>
      <vt:lpstr>Scalability Laws</vt:lpstr>
      <vt:lpstr>Amdahl’s Law</vt:lpstr>
      <vt:lpstr>Problems </vt:lpstr>
      <vt:lpstr>Gustafson’s Law</vt:lpstr>
      <vt:lpstr>Parallel Efficiency</vt:lpstr>
      <vt:lpstr>Multi-core Processors</vt:lpstr>
      <vt:lpstr>Dual core Processor</vt:lpstr>
      <vt:lpstr>Quad Core Processor</vt:lpstr>
      <vt:lpstr>Hexa core processor</vt:lpstr>
      <vt:lpstr>Quad Core Processor</vt:lpstr>
      <vt:lpstr>Shared-memory</vt:lpstr>
      <vt:lpstr>UMA</vt:lpstr>
      <vt:lpstr>UMA System with two Single-core chips</vt:lpstr>
      <vt:lpstr>UMA System with two Dual-core chips</vt:lpstr>
      <vt:lpstr>Cache Coherence</vt:lpstr>
      <vt:lpstr>MESI Protocol</vt:lpstr>
      <vt:lpstr>PowerPoint 演示文稿</vt:lpstr>
      <vt:lpstr>ccNUMA System</vt:lpstr>
      <vt:lpstr>Distributed Memory</vt:lpstr>
      <vt:lpstr>Reference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abhishek_n_n_20bce1025</cp:lastModifiedBy>
  <cp:revision>24</cp:revision>
  <dcterms:created xsi:type="dcterms:W3CDTF">2022-08-31T18:08:41Z</dcterms:created>
  <dcterms:modified xsi:type="dcterms:W3CDTF">2022-08-31T18:08:41Z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0x0101008D6C2FF4A65BCA4C98CA0E5FCE415DB2</vt:lpwstr>
  </property>
  <property fmtid="{D5CDD505-2E9C-101B-9397-08002B2CF9AE}" pid="3" name="ICV">
    <vt:lpwstr/>
  </property>
  <property fmtid="{D5CDD505-2E9C-101B-9397-08002B2CF9AE}" pid="4" name="KSOProductBuildVer">
    <vt:lpwstr>1033-11.1.0.11664</vt:lpwstr>
  </property>
</Properties>
</file>