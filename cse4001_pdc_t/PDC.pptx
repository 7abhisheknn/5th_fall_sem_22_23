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5" r:id="rId3"/>
    <p:sldId id="267" r:id="rId4"/>
    <p:sldId id="274" r:id="rId5"/>
    <p:sldId id="264" r:id="rId6"/>
    <p:sldId id="258" r:id="rId7"/>
    <p:sldId id="257" r:id="rId8"/>
    <p:sldId id="269" r:id="rId9"/>
    <p:sldId id="270" r:id="rId10"/>
    <p:sldId id="271" r:id="rId11"/>
    <p:sldId id="273" r:id="rId12"/>
    <p:sldId id="272" r:id="rId13"/>
    <p:sldId id="275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9A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0" autoAdjust="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E224E-F826-42DB-B9C1-4FD35A222BC0}" type="datetimeFigureOut">
              <a:rPr lang="en-US" smtClean="0"/>
              <a:pPr/>
              <a:t>7/21/2022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82E56-7B45-4848-8EDE-8A27D3D42A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68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82E56-7B45-4848-8EDE-8A27D3D42AF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7/21/2022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7/21/2022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7/21/2022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7/21/2022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7/21/2022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7/21/2022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9306-1564-46E4-90E2-8320F5DCACB8}" type="datetimeFigureOut">
              <a:rPr lang="en-US" smtClean="0"/>
              <a:pPr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29306-1564-46E4-90E2-8320F5DCACB8}" type="datetimeFigureOut">
              <a:rPr lang="en-US" smtClean="0"/>
              <a:pPr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6E702-D477-44B4-894C-17EAE07C5A0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kumar.rangasamy@vit.ac.i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19200"/>
            <a:ext cx="7772400" cy="2457450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00B050"/>
                </a:solidFill>
              </a:rPr>
              <a:t>CSE4001</a:t>
            </a:r>
            <a:br>
              <a:rPr lang="en-GB" b="1" dirty="0" smtClean="0">
                <a:solidFill>
                  <a:srgbClr val="00B050"/>
                </a:solidFill>
              </a:rPr>
            </a:br>
            <a:r>
              <a:rPr lang="en-GB" b="1" dirty="0" smtClean="0">
                <a:solidFill>
                  <a:srgbClr val="0070C0"/>
                </a:solidFill>
              </a:rPr>
              <a:t> </a:t>
            </a:r>
            <a:r>
              <a:rPr lang="en-GB" b="1" dirty="0" smtClean="0">
                <a:solidFill>
                  <a:schemeClr val="accent1">
                    <a:lumMod val="50000"/>
                  </a:schemeClr>
                </a:solidFill>
              </a:rPr>
              <a:t>Parallel and Distributed Computing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33800" y="4953000"/>
            <a:ext cx="5257800" cy="1447800"/>
          </a:xfrm>
        </p:spPr>
        <p:txBody>
          <a:bodyPr>
            <a:noAutofit/>
          </a:bodyPr>
          <a:lstStyle/>
          <a:p>
            <a:pPr algn="r"/>
            <a:r>
              <a:rPr lang="en-US" sz="2000" dirty="0" smtClean="0">
                <a:solidFill>
                  <a:srgbClr val="119A06"/>
                </a:solidFill>
              </a:rPr>
              <a:t>				</a:t>
            </a:r>
            <a:r>
              <a:rPr lang="en-US" sz="2000" b="1" dirty="0" smtClean="0">
                <a:solidFill>
                  <a:srgbClr val="119A06"/>
                </a:solidFill>
                <a:latin typeface="Aparajita" pitchFamily="34" charset="0"/>
                <a:cs typeface="Aparajita" pitchFamily="34" charset="0"/>
              </a:rPr>
              <a:t>R. Kumar </a:t>
            </a:r>
          </a:p>
          <a:p>
            <a:pPr algn="r"/>
            <a:r>
              <a:rPr lang="en-US" sz="2000" b="1" dirty="0" smtClean="0">
                <a:solidFill>
                  <a:srgbClr val="119A06"/>
                </a:solidFill>
                <a:latin typeface="Aparajita" pitchFamily="34" charset="0"/>
                <a:cs typeface="Aparajita" pitchFamily="34" charset="0"/>
              </a:rPr>
              <a:t>Associate Professor</a:t>
            </a:r>
          </a:p>
          <a:p>
            <a:pPr algn="r"/>
            <a:r>
              <a:rPr lang="en-US" sz="2000" b="1" i="1" dirty="0" smtClean="0">
                <a:solidFill>
                  <a:srgbClr val="119A06"/>
                </a:solidFill>
                <a:latin typeface="Aparajita" pitchFamily="34" charset="0"/>
                <a:cs typeface="Aparajita" pitchFamily="34" charset="0"/>
              </a:rPr>
              <a:t>	SCOPE</a:t>
            </a:r>
            <a:endParaRPr lang="en-US" sz="2000" b="1" i="1" dirty="0">
              <a:solidFill>
                <a:srgbClr val="119A06"/>
              </a:solidFill>
              <a:latin typeface="Aparajita" pitchFamily="34" charset="0"/>
              <a:cs typeface="Aparajit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50"/>
                </a:solidFill>
              </a:rPr>
              <a:t>        General Information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E-mail: </a:t>
            </a:r>
            <a:r>
              <a:rPr lang="en-US" dirty="0" smtClean="0">
                <a:hlinkClick r:id="rId2"/>
              </a:rPr>
              <a:t>kumar.rangasamy@vit.ac.in</a:t>
            </a:r>
            <a:endParaRPr lang="en-US" dirty="0" smtClean="0"/>
          </a:p>
          <a:p>
            <a:r>
              <a:rPr lang="en-US" dirty="0" smtClean="0"/>
              <a:t>Slot </a:t>
            </a:r>
            <a:r>
              <a:rPr lang="en-US" dirty="0" smtClean="0"/>
              <a:t>:D2</a:t>
            </a:r>
          </a:p>
          <a:p>
            <a:r>
              <a:rPr lang="en-US" dirty="0" smtClean="0"/>
              <a:t>Venue : DB-105</a:t>
            </a:r>
          </a:p>
          <a:p>
            <a:r>
              <a:rPr lang="en-US" dirty="0" smtClean="0"/>
              <a:t>Office : AB1-614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50"/>
                </a:solidFill>
              </a:rPr>
              <a:t>Objectives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5259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To introduce the fundamentals of parallel and distributed computing including parallel and distributed architectures and paradigms</a:t>
            </a:r>
          </a:p>
          <a:p>
            <a:r>
              <a:rPr lang="en-US" sz="2800" dirty="0" smtClean="0"/>
              <a:t>To understand the technologies, system architecture, and communication architecture that propelled the growth of parallel and distributed computing systems</a:t>
            </a:r>
          </a:p>
          <a:p>
            <a:r>
              <a:rPr lang="en-US" sz="2800" dirty="0" smtClean="0"/>
              <a:t>To develop and execute basic parallel and distributed application using basic programming models and tools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Expected</a:t>
            </a:r>
            <a:r>
              <a:rPr lang="en-US" sz="3600" b="1" dirty="0">
                <a:solidFill>
                  <a:srgbClr val="00B050"/>
                </a:solidFill>
              </a:rPr>
              <a:t> </a:t>
            </a:r>
            <a:r>
              <a:rPr lang="en-US" sz="3600" dirty="0">
                <a:solidFill>
                  <a:srgbClr val="00B050"/>
                </a:solidFill>
              </a:rPr>
              <a:t>Course</a:t>
            </a:r>
            <a:r>
              <a:rPr lang="en-US" sz="3600" b="1" dirty="0">
                <a:solidFill>
                  <a:srgbClr val="00B050"/>
                </a:solidFill>
              </a:rPr>
              <a:t> </a:t>
            </a:r>
            <a:r>
              <a:rPr lang="en-US" sz="3600" dirty="0" smtClean="0">
                <a:solidFill>
                  <a:srgbClr val="00B050"/>
                </a:solidFill>
              </a:rPr>
              <a:t>Outcome</a:t>
            </a:r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334000"/>
          </a:xfrm>
        </p:spPr>
        <p:txBody>
          <a:bodyPr>
            <a:noAutofit/>
          </a:bodyPr>
          <a:lstStyle/>
          <a:p>
            <a:pPr lvl="0"/>
            <a:r>
              <a:rPr lang="en-US" sz="1800" dirty="0"/>
              <a:t>Identify and describe the physical organization of parallel platforms and remember the cost metrics that can be used for algorithm design.</a:t>
            </a:r>
          </a:p>
          <a:p>
            <a:pPr lvl="0"/>
            <a:r>
              <a:rPr lang="en-US" sz="1800" dirty="0"/>
              <a:t>Demonstrate knowledge of the core architectural aspects of Parallel Computing.</a:t>
            </a:r>
          </a:p>
          <a:p>
            <a:pPr lvl="0"/>
            <a:r>
              <a:rPr lang="en-US" sz="1800" dirty="0"/>
              <a:t>Indicate key factors that contribute to efficient parallel algorithms and apply a suite of techniques that can be applied across a wide range of applications.</a:t>
            </a:r>
          </a:p>
          <a:p>
            <a:pPr lvl="0"/>
            <a:r>
              <a:rPr lang="en-US" sz="1800" dirty="0"/>
              <a:t>Distinguish the architectural and fundamental models that underpin distributed systems and identify challenges in the construction of distributed systems.</a:t>
            </a:r>
          </a:p>
          <a:p>
            <a:pPr lvl="0"/>
            <a:r>
              <a:rPr lang="en-US" sz="1800" dirty="0"/>
              <a:t>Analyze the issues in synchronizing clocks in distributed systems apply suitable algorithms </a:t>
            </a:r>
            <a:r>
              <a:rPr lang="en-US" sz="1800" dirty="0" smtClean="0"/>
              <a:t>to solve </a:t>
            </a:r>
            <a:r>
              <a:rPr lang="en-US" sz="1800" dirty="0"/>
              <a:t>it effectively and examine how election algorithms can be implemented in a distributed system.</a:t>
            </a:r>
          </a:p>
          <a:p>
            <a:pPr lvl="0"/>
            <a:r>
              <a:rPr lang="en-US" sz="1800" dirty="0"/>
              <a:t>Discuss on how locking, timestamp ordering and optimistic concurrency control may be extended for use with distributed transactions.</a:t>
            </a:r>
          </a:p>
          <a:p>
            <a:pPr lvl="0"/>
            <a:r>
              <a:rPr lang="en-US" sz="1800" dirty="0"/>
              <a:t>Apply the concepts behind software architectures for large scale Web-based systems as well as to design, recognize and evaluate software architectures.</a:t>
            </a:r>
          </a:p>
          <a:p>
            <a:pPr lvl="0"/>
            <a:r>
              <a:rPr lang="en-US" sz="1800" dirty="0"/>
              <a:t>Design and build application programs on distributed Systems.</a:t>
            </a:r>
          </a:p>
          <a:p>
            <a:r>
              <a:rPr lang="en-US" sz="1800" dirty="0"/>
              <a:t>Analyze and Implement current distributed Computing research literature.</a:t>
            </a:r>
          </a:p>
        </p:txBody>
      </p:sp>
    </p:spTree>
    <p:extLst>
      <p:ext uri="{BB962C8B-B14F-4D97-AF65-F5344CB8AC3E}">
        <p14:creationId xmlns:p14="http://schemas.microsoft.com/office/powerpoint/2010/main" val="24550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solidFill>
                  <a:srgbClr val="00B050"/>
                </a:solidFill>
              </a:rPr>
              <a:t>Course Layout </a:t>
            </a:r>
            <a:endParaRPr lang="en-US" sz="4800" dirty="0">
              <a:solidFill>
                <a:srgbClr val="00B050"/>
              </a:solidFill>
            </a:endParaRPr>
          </a:p>
        </p:txBody>
      </p:sp>
      <p:pic>
        <p:nvPicPr>
          <p:cNvPr id="1026" name="Picture 2" descr="C:\Users\VITCC\Desktop\M.TECH-Data Clouds and Storage tech\index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600200"/>
            <a:ext cx="5029200" cy="4191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Module-1 : Parallelism Fundamentals</a:t>
            </a:r>
            <a:r>
              <a:rPr lang="en-US" sz="3200" dirty="0" smtClean="0">
                <a:solidFill>
                  <a:srgbClr val="7030A0"/>
                </a:solidFill>
              </a:rPr>
              <a:t/>
            </a:r>
            <a:br>
              <a:rPr lang="en-US" sz="3200" dirty="0" smtClean="0">
                <a:solidFill>
                  <a:srgbClr val="7030A0"/>
                </a:solidFill>
              </a:rPr>
            </a:b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95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 smtClean="0"/>
              <a:t>Motivation </a:t>
            </a:r>
            <a:r>
              <a:rPr lang="en-US" sz="2800" dirty="0"/>
              <a:t>– Key Concepts - Challenges - Overview: Parallel computing, Flynn‘s Taxonomy, Multi-core Processors</a:t>
            </a:r>
            <a:r>
              <a:rPr lang="en-US" sz="2800" dirty="0" smtClean="0"/>
              <a:t>, Shared </a:t>
            </a:r>
            <a:r>
              <a:rPr lang="en-US" sz="2800" dirty="0"/>
              <a:t>vs Distributed memory.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00B050"/>
                </a:solidFill>
              </a:rPr>
              <a:t>Module-2 </a:t>
            </a:r>
            <a:r>
              <a:rPr lang="en-US" sz="3200" dirty="0">
                <a:solidFill>
                  <a:srgbClr val="00B050"/>
                </a:solidFill>
              </a:rPr>
              <a:t>: Parallelism </a:t>
            </a:r>
            <a:r>
              <a:rPr lang="en-US" sz="3200" dirty="0" smtClean="0">
                <a:solidFill>
                  <a:srgbClr val="00B050"/>
                </a:solidFill>
              </a:rPr>
              <a:t>Architectures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175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Introduction </a:t>
            </a:r>
            <a:r>
              <a:rPr lang="en-US" sz="2800" dirty="0"/>
              <a:t>to </a:t>
            </a:r>
            <a:r>
              <a:rPr lang="en-US" sz="2800" dirty="0" err="1"/>
              <a:t>OpenMP</a:t>
            </a:r>
            <a:r>
              <a:rPr lang="en-US" sz="2800" dirty="0"/>
              <a:t> Programming - Instruction Level Support for Parallel Programming, SIMD – </a:t>
            </a:r>
            <a:r>
              <a:rPr lang="en-US" sz="2800" dirty="0" smtClean="0"/>
              <a:t>Vector Processing </a:t>
            </a:r>
            <a:r>
              <a:rPr lang="en-US" sz="2800" dirty="0"/>
              <a:t>- GPUs</a:t>
            </a:r>
            <a:endParaRPr lang="en-US" sz="2800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Module-3 : Parallel Algorithm and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1752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Preliminaries - Decomposition Techniques - Characteristics of Tasks and Interactions - Mapping techniques for </a:t>
            </a:r>
            <a:r>
              <a:rPr lang="en-US" sz="2800" dirty="0" smtClean="0"/>
              <a:t>Load balancing </a:t>
            </a:r>
            <a:r>
              <a:rPr lang="en-US" sz="2800" dirty="0"/>
              <a:t>- Parallel Algorithm Models.</a:t>
            </a:r>
            <a:endParaRPr lang="en-US" sz="28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75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Module-4 :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365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Introduction - Characterization of Distributed Systems - Distributed Shared Memory Approaches – </a:t>
            </a:r>
            <a:r>
              <a:rPr lang="en-US" sz="2800" dirty="0" smtClean="0"/>
              <a:t>Message Passing </a:t>
            </a:r>
            <a:r>
              <a:rPr lang="en-US" sz="2800" dirty="0"/>
              <a:t>- Programming Using the Message-Passing Paradigm - Group Communication - Case Study (RPC and </a:t>
            </a:r>
            <a:r>
              <a:rPr lang="en-US" sz="2800" dirty="0" smtClean="0"/>
              <a:t>Java RMI</a:t>
            </a:r>
            <a:r>
              <a:rPr lang="en-US" sz="2800" dirty="0"/>
              <a:t>)</a:t>
            </a:r>
            <a:endParaRPr lang="en-US" sz="28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75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Module-5 : Coordination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259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Time and Global States – Synchronizing physical clocks - Logical time and logical clock - Coordination </a:t>
            </a:r>
            <a:r>
              <a:rPr lang="en-US" sz="2800" dirty="0" smtClean="0"/>
              <a:t>and Agreement- </a:t>
            </a:r>
            <a:r>
              <a:rPr lang="en-US" sz="2800" dirty="0"/>
              <a:t>Distributed Mutual Exclusion, Election algorithms - Consensus and Related problems.</a:t>
            </a:r>
            <a:endParaRPr lang="en-US" sz="28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75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Module-6 : Distributed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8229600" cy="259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Transaction And Concurrency Control- Nested Transactions- Locks - Optimistic Concurrency Control- </a:t>
            </a:r>
            <a:r>
              <a:rPr lang="en-US" sz="2800" dirty="0" smtClean="0"/>
              <a:t>Timestamp Ordering</a:t>
            </a:r>
            <a:r>
              <a:rPr lang="en-US" sz="2800" dirty="0"/>
              <a:t> </a:t>
            </a:r>
          </a:p>
          <a:p>
            <a:pPr marL="0" indent="0">
              <a:buNone/>
            </a:pPr>
            <a:r>
              <a:rPr lang="en-US" sz="2800" dirty="0"/>
              <a:t>Distributed Transactions- Flat and Nested, Atomic, Two phase Commit </a:t>
            </a:r>
            <a:r>
              <a:rPr lang="en-US" sz="2800" dirty="0" smtClean="0"/>
              <a:t>protocol</a:t>
            </a:r>
            <a:endParaRPr lang="en-US" sz="28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38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Module-7 : Distributed System Architecture and its Variants                     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259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Distributed File System: Architecture – Processes </a:t>
            </a:r>
            <a:r>
              <a:rPr lang="en-US" sz="2800" dirty="0" smtClean="0"/>
              <a:t>– Communication 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Distributed Web-based System: Architecture – </a:t>
            </a:r>
            <a:r>
              <a:rPr lang="en-US" sz="2800" dirty="0" smtClean="0"/>
              <a:t> </a:t>
            </a:r>
            <a:r>
              <a:rPr lang="en-US" sz="2800" dirty="0"/>
              <a:t>Overview of Distributed </a:t>
            </a:r>
            <a:r>
              <a:rPr lang="en-US" sz="2800" dirty="0" smtClean="0"/>
              <a:t>Computing Platforms</a:t>
            </a:r>
            <a:endParaRPr lang="en-US" sz="28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38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Module-8 :  </a:t>
            </a:r>
            <a:r>
              <a:rPr lang="en-US" dirty="0">
                <a:solidFill>
                  <a:srgbClr val="00B050"/>
                </a:solidFill>
              </a:rPr>
              <a:t>Recent Trends 	</a:t>
            </a:r>
            <a:br>
              <a:rPr lang="en-US" dirty="0">
                <a:solidFill>
                  <a:srgbClr val="00B050"/>
                </a:solidFill>
              </a:rPr>
            </a:b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40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7030A0"/>
                </a:solidFill>
              </a:rPr>
              <a:t>Text/References Books</a:t>
            </a: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Autofit/>
          </a:bodyPr>
          <a:lstStyle/>
          <a:p>
            <a:r>
              <a:rPr lang="en-US" sz="2400" dirty="0" err="1" smtClean="0"/>
              <a:t>Grama</a:t>
            </a:r>
            <a:r>
              <a:rPr lang="en-US" sz="2400" dirty="0"/>
              <a:t>, A. (2013). Introduction to parallel computing. Harlow, England: </a:t>
            </a:r>
            <a:r>
              <a:rPr lang="en-US" sz="2400" dirty="0" err="1"/>
              <a:t>AddisonWesley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Coulouris</a:t>
            </a:r>
            <a:r>
              <a:rPr lang="en-US" sz="2400" dirty="0"/>
              <a:t>, G. (2012). Distributed systems. Boston: </a:t>
            </a:r>
            <a:r>
              <a:rPr lang="en-US" sz="2400" dirty="0" smtClean="0"/>
              <a:t>Addison-Wesley.</a:t>
            </a:r>
          </a:p>
          <a:p>
            <a:r>
              <a:rPr lang="en-US" sz="2400" dirty="0" smtClean="0"/>
              <a:t>Hwang</a:t>
            </a:r>
            <a:r>
              <a:rPr lang="en-US" sz="2400" dirty="0"/>
              <a:t>, K., &amp; Briggs, F. (1990). Computer Architecture and Parallel Processing (1st ed.). New York: </a:t>
            </a:r>
            <a:r>
              <a:rPr lang="en-US" sz="2400" dirty="0" smtClean="0"/>
              <a:t>McGraw- Hill</a:t>
            </a:r>
            <a:r>
              <a:rPr lang="en-US" sz="2400" dirty="0"/>
              <a:t>.</a:t>
            </a:r>
          </a:p>
          <a:p>
            <a:r>
              <a:rPr lang="en-US" sz="2400" dirty="0"/>
              <a:t>Hager, G. (2017). Introduction To high performance computing for scientists and engineers: CRC press.</a:t>
            </a:r>
          </a:p>
          <a:p>
            <a:r>
              <a:rPr lang="en-US" sz="2400" dirty="0"/>
              <a:t>Tanenbaum, A. (2007). Distributed Systems: Principles and Paradigms (2nd ed.). </a:t>
            </a:r>
            <a:r>
              <a:rPr lang="en-US" sz="2400" smtClean="0"/>
              <a:t>Pearson</a:t>
            </a:r>
            <a:endParaRPr lang="en-US" sz="2400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6C2FF4A65BCA4C98CA0E5FCE415DB2" ma:contentTypeVersion="0" ma:contentTypeDescription="Create a new document." ma:contentTypeScope="" ma:versionID="79920bdaaeea3276d5d5ed6d63be1c2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4f15b030d40ffca33e4aeb8eb001f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947AFE-8C9D-4762-813F-283B18DC5D03}"/>
</file>

<file path=customXml/itemProps2.xml><?xml version="1.0" encoding="utf-8"?>
<ds:datastoreItem xmlns:ds="http://schemas.openxmlformats.org/officeDocument/2006/customXml" ds:itemID="{DF1C6084-36DC-4DA3-955D-8557DBB92F29}"/>
</file>

<file path=docProps/app.xml><?xml version="1.0" encoding="utf-8"?>
<Properties xmlns="http://schemas.openxmlformats.org/officeDocument/2006/extended-properties" xmlns:vt="http://schemas.openxmlformats.org/officeDocument/2006/docPropsVTypes">
  <TotalTime>22818</TotalTime>
  <Words>548</Words>
  <Application>Microsoft Office PowerPoint</Application>
  <PresentationFormat>On-screen Show (4:3)</PresentationFormat>
  <Paragraphs>50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CSE4001  Parallel and Distributed Computing</vt:lpstr>
      <vt:lpstr>        General Information </vt:lpstr>
      <vt:lpstr>Objectives</vt:lpstr>
      <vt:lpstr>Expected Course Outcome</vt:lpstr>
      <vt:lpstr>Course Layout </vt:lpstr>
      <vt:lpstr>Module-1 : Parallelism Fundamentals </vt:lpstr>
      <vt:lpstr>Module-2 : Parallelism Architectures </vt:lpstr>
      <vt:lpstr>Module-3 : Parallel Algorithm and Design</vt:lpstr>
      <vt:lpstr>Module-4 : Communication</vt:lpstr>
      <vt:lpstr>Module-5 : Coordination </vt:lpstr>
      <vt:lpstr>Module-6 : Distributed Transactions</vt:lpstr>
      <vt:lpstr>Module-7 : Distributed System Architecture and its Variants                         </vt:lpstr>
      <vt:lpstr>Module-8 :  Recent Trends   </vt:lpstr>
      <vt:lpstr>Text/References Books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CSE101 COMPUTER PROGRAMMING AND PROBLEM SOLVING</dc:title>
  <dc:creator>VITCC</dc:creator>
  <cp:lastModifiedBy>Windows User</cp:lastModifiedBy>
  <cp:revision>123</cp:revision>
  <dcterms:created xsi:type="dcterms:W3CDTF">2012-07-10T02:41:48Z</dcterms:created>
  <dcterms:modified xsi:type="dcterms:W3CDTF">2022-07-21T08:09:50Z</dcterms:modified>
</cp:coreProperties>
</file>